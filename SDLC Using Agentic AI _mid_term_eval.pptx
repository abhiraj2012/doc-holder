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66" r:id="rId2"/>
    <p:sldId id="257" r:id="rId3"/>
    <p:sldId id="258" r:id="rId4"/>
    <p:sldId id="259" r:id="rId5"/>
    <p:sldId id="260" r:id="rId6"/>
    <p:sldId id="261" r:id="rId7"/>
    <p:sldId id="262" r:id="rId8"/>
    <p:sldId id="264" r:id="rId9"/>
    <p:sldId id="267" r:id="rId10"/>
    <p:sldId id="265" r:id="rId11"/>
  </p:sldIdLst>
  <p:sldSz cx="12192000" cy="6858000"/>
  <p:notesSz cx="6858000" cy="9144000"/>
  <p:embeddedFontLst>
    <p:embeddedFont>
      <p:font typeface="Inter"/>
      <p:italic r:id="rId1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AF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81" d="100"/>
          <a:sy n="81" d="100"/>
        </p:scale>
        <p:origin x="725"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0F15F73-FEC4-005B-FDC2-CDCCF0EBCF58}"/>
              </a:ext>
            </a:extLst>
          </p:cNvPr>
          <p:cNvSpPr/>
          <p:nvPr/>
        </p:nvSpPr>
        <p:spPr>
          <a:xfrm>
            <a:off x="-157316" y="-98323"/>
            <a:ext cx="12683613" cy="7098891"/>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TextBox 2"/>
          <p:cNvSpPr txBox="1"/>
          <p:nvPr/>
        </p:nvSpPr>
        <p:spPr>
          <a:xfrm>
            <a:off x="4467092" y="1538996"/>
            <a:ext cx="3257815" cy="246221"/>
          </a:xfrm>
          <a:prstGeom prst="rect">
            <a:avLst/>
          </a:prstGeom>
          <a:noFill/>
        </p:spPr>
        <p:txBody>
          <a:bodyPr wrap="none" lIns="0" tIns="0" rIns="0" bIns="0" anchor="t">
            <a:spAutoFit/>
          </a:bodyPr>
          <a:lstStyle/>
          <a:p>
            <a:pPr algn="l"/>
            <a:r>
              <a:rPr sz="1600" b="1" i="0" u="none" dirty="0">
                <a:solidFill>
                  <a:schemeClr val="tx2">
                    <a:lumMod val="75000"/>
                  </a:schemeClr>
                </a:solidFill>
                <a:latin typeface="JetBrains Mono"/>
              </a:rPr>
              <a:t>MID-SEM EVALUATION PRESENTATION</a:t>
            </a:r>
          </a:p>
        </p:txBody>
      </p:sp>
      <p:sp>
        <p:nvSpPr>
          <p:cNvPr id="4" name="TextBox 3"/>
          <p:cNvSpPr txBox="1"/>
          <p:nvPr/>
        </p:nvSpPr>
        <p:spPr>
          <a:xfrm>
            <a:off x="3410782" y="2873300"/>
            <a:ext cx="5547416" cy="705321"/>
          </a:xfrm>
          <a:prstGeom prst="rect">
            <a:avLst/>
          </a:prstGeom>
          <a:noFill/>
        </p:spPr>
        <p:txBody>
          <a:bodyPr wrap="none" lIns="0" tIns="0" rIns="0" bIns="0" anchor="t">
            <a:spAutoFit/>
          </a:bodyPr>
          <a:lstStyle/>
          <a:p>
            <a:pPr algn="ctr">
              <a:lnSpc>
                <a:spcPts val="5520"/>
              </a:lnSpc>
            </a:pPr>
            <a:r>
              <a:rPr sz="4800" b="1" i="0" u="none" dirty="0">
                <a:latin typeface="Plus Jakarta Sans"/>
              </a:rPr>
              <a:t>SDLC Using Agentic AI</a:t>
            </a:r>
          </a:p>
        </p:txBody>
      </p:sp>
      <p:sp>
        <p:nvSpPr>
          <p:cNvPr id="5" name="TextBox 4"/>
          <p:cNvSpPr txBox="1"/>
          <p:nvPr/>
        </p:nvSpPr>
        <p:spPr>
          <a:xfrm>
            <a:off x="2460362" y="3600943"/>
            <a:ext cx="7448256" cy="408253"/>
          </a:xfrm>
          <a:prstGeom prst="rect">
            <a:avLst/>
          </a:prstGeom>
          <a:noFill/>
        </p:spPr>
        <p:txBody>
          <a:bodyPr wrap="square" lIns="0" tIns="0" rIns="0" bIns="0" anchor="t">
            <a:spAutoFit/>
          </a:bodyPr>
          <a:lstStyle/>
          <a:p>
            <a:pPr algn="ctr">
              <a:lnSpc>
                <a:spcPts val="3359"/>
              </a:lnSpc>
            </a:pPr>
            <a:r>
              <a:rPr sz="2000" b="0" i="0" u="none" dirty="0">
                <a:solidFill>
                  <a:schemeClr val="tx2">
                    <a:lumMod val="75000"/>
                  </a:schemeClr>
                </a:solidFill>
                <a:latin typeface="Plus Jakarta Sans"/>
              </a:rPr>
              <a:t>Building an Adaptive AI Software Engineering Organization</a:t>
            </a:r>
          </a:p>
        </p:txBody>
      </p:sp>
      <p:sp>
        <p:nvSpPr>
          <p:cNvPr id="6" name="TextBox 5"/>
          <p:cNvSpPr txBox="1"/>
          <p:nvPr/>
        </p:nvSpPr>
        <p:spPr>
          <a:xfrm>
            <a:off x="792405" y="5528573"/>
            <a:ext cx="841577" cy="161583"/>
          </a:xfrm>
          <a:prstGeom prst="rect">
            <a:avLst/>
          </a:prstGeom>
          <a:noFill/>
        </p:spPr>
        <p:txBody>
          <a:bodyPr wrap="none" lIns="0" tIns="0" rIns="0" bIns="0" anchor="t">
            <a:spAutoFit/>
          </a:bodyPr>
          <a:lstStyle/>
          <a:p>
            <a:pPr algn="l"/>
            <a:r>
              <a:rPr sz="1050" b="1" i="0" u="none" dirty="0">
                <a:latin typeface="Plus Jakarta Sans"/>
              </a:rPr>
              <a:t>SUBMITTED BY</a:t>
            </a:r>
          </a:p>
        </p:txBody>
      </p:sp>
      <p:sp>
        <p:nvSpPr>
          <p:cNvPr id="7" name="TextBox 6"/>
          <p:cNvSpPr txBox="1"/>
          <p:nvPr/>
        </p:nvSpPr>
        <p:spPr>
          <a:xfrm>
            <a:off x="792405" y="5776223"/>
            <a:ext cx="2276264" cy="276999"/>
          </a:xfrm>
          <a:prstGeom prst="rect">
            <a:avLst/>
          </a:prstGeom>
          <a:noFill/>
        </p:spPr>
        <p:txBody>
          <a:bodyPr wrap="none" lIns="0" tIns="0" rIns="0" bIns="0" anchor="t">
            <a:spAutoFit/>
          </a:bodyPr>
          <a:lstStyle/>
          <a:p>
            <a:pPr algn="l"/>
            <a:r>
              <a:rPr sz="1800" b="1" i="0" u="none" dirty="0">
                <a:latin typeface="Plus Jakarta Sans"/>
              </a:rPr>
              <a:t>Abhishek Raj </a:t>
            </a:r>
            <a:r>
              <a:rPr sz="1800" b="0" i="0" u="none" dirty="0">
                <a:latin typeface="Plus Jakarta Sans"/>
              </a:rPr>
              <a:t>(25-26-15)</a:t>
            </a:r>
          </a:p>
        </p:txBody>
      </p:sp>
      <p:sp>
        <p:nvSpPr>
          <p:cNvPr id="8" name="TextBox 7"/>
          <p:cNvSpPr txBox="1"/>
          <p:nvPr/>
        </p:nvSpPr>
        <p:spPr>
          <a:xfrm>
            <a:off x="3447442" y="893814"/>
            <a:ext cx="5547415" cy="369332"/>
          </a:xfrm>
          <a:prstGeom prst="rect">
            <a:avLst/>
          </a:prstGeom>
          <a:noFill/>
        </p:spPr>
        <p:txBody>
          <a:bodyPr wrap="square" lIns="0" tIns="0" rIns="0" bIns="0" anchor="t">
            <a:spAutoFit/>
          </a:bodyPr>
          <a:lstStyle/>
          <a:p>
            <a:pPr algn="l"/>
            <a:r>
              <a:rPr sz="2400" b="1" i="0" u="sng" dirty="0" err="1">
                <a:latin typeface="Plus Jakarta Sans"/>
              </a:rPr>
              <a:t>Defence</a:t>
            </a:r>
            <a:r>
              <a:rPr sz="2400" b="1" i="0" u="sng" dirty="0">
                <a:latin typeface="Plus Jakarta Sans"/>
              </a:rPr>
              <a:t> Institute of Advanced Technology</a:t>
            </a:r>
          </a:p>
        </p:txBody>
      </p:sp>
      <p:sp>
        <p:nvSpPr>
          <p:cNvPr id="9" name="TextBox 8"/>
          <p:cNvSpPr txBox="1"/>
          <p:nvPr/>
        </p:nvSpPr>
        <p:spPr>
          <a:xfrm>
            <a:off x="8135499" y="5528573"/>
            <a:ext cx="424796" cy="161583"/>
          </a:xfrm>
          <a:prstGeom prst="rect">
            <a:avLst/>
          </a:prstGeom>
          <a:noFill/>
        </p:spPr>
        <p:txBody>
          <a:bodyPr wrap="none" lIns="0" tIns="0" rIns="0" bIns="0" anchor="t">
            <a:spAutoFit/>
          </a:bodyPr>
          <a:lstStyle/>
          <a:p>
            <a:pPr algn="l"/>
            <a:r>
              <a:rPr sz="1050" b="1" i="0" u="none" dirty="0">
                <a:solidFill>
                  <a:schemeClr val="tx2">
                    <a:lumMod val="75000"/>
                  </a:schemeClr>
                </a:solidFill>
                <a:latin typeface="Plus Jakarta Sans"/>
              </a:rPr>
              <a:t>GUIDES</a:t>
            </a:r>
          </a:p>
        </p:txBody>
      </p:sp>
      <p:sp>
        <p:nvSpPr>
          <p:cNvPr id="10" name="TextBox 9"/>
          <p:cNvSpPr txBox="1"/>
          <p:nvPr/>
        </p:nvSpPr>
        <p:spPr>
          <a:xfrm>
            <a:off x="8135499" y="5776223"/>
            <a:ext cx="1542987" cy="276999"/>
          </a:xfrm>
          <a:prstGeom prst="rect">
            <a:avLst/>
          </a:prstGeom>
          <a:noFill/>
        </p:spPr>
        <p:txBody>
          <a:bodyPr wrap="none" lIns="0" tIns="0" rIns="0" bIns="0" anchor="t">
            <a:spAutoFit/>
          </a:bodyPr>
          <a:lstStyle/>
          <a:p>
            <a:pPr algn="l"/>
            <a:r>
              <a:rPr b="1" i="0" u="none" dirty="0">
                <a:latin typeface="Plus Jakarta Sans"/>
              </a:rPr>
              <a:t>Prof. CRS Kumar</a:t>
            </a:r>
          </a:p>
        </p:txBody>
      </p:sp>
      <p:sp>
        <p:nvSpPr>
          <p:cNvPr id="11" name="TextBox 10"/>
          <p:cNvSpPr txBox="1"/>
          <p:nvPr/>
        </p:nvSpPr>
        <p:spPr>
          <a:xfrm>
            <a:off x="8135499" y="6090548"/>
            <a:ext cx="3738844" cy="276999"/>
          </a:xfrm>
          <a:prstGeom prst="rect">
            <a:avLst/>
          </a:prstGeom>
          <a:noFill/>
        </p:spPr>
        <p:txBody>
          <a:bodyPr wrap="none" lIns="0" tIns="0" rIns="0" bIns="0" anchor="t">
            <a:spAutoFit/>
          </a:bodyPr>
          <a:lstStyle/>
          <a:p>
            <a:pPr algn="l"/>
            <a:r>
              <a:rPr b="1" i="0" u="none" dirty="0">
                <a:latin typeface="Plus Jakarta Sans"/>
              </a:rPr>
              <a:t>M.B. Sai Charan (Scientist C, RCI DRDO)</a:t>
            </a:r>
          </a:p>
        </p:txBody>
      </p:sp>
      <p:pic>
        <p:nvPicPr>
          <p:cNvPr id="14" name="Picture 13">
            <a:extLst>
              <a:ext uri="{FF2B5EF4-FFF2-40B4-BE49-F238E27FC236}">
                <a16:creationId xmlns:a16="http://schemas.microsoft.com/office/drawing/2014/main" id="{348150E7-1A80-CD1B-8D52-1E49BFB9C00B}"/>
              </a:ext>
            </a:extLst>
          </p:cNvPr>
          <p:cNvPicPr>
            <a:picLocks noChangeAspect="1"/>
          </p:cNvPicPr>
          <p:nvPr/>
        </p:nvPicPr>
        <p:blipFill>
          <a:blip r:embed="rId2"/>
          <a:stretch>
            <a:fillRect/>
          </a:stretch>
        </p:blipFill>
        <p:spPr>
          <a:xfrm>
            <a:off x="648072" y="532559"/>
            <a:ext cx="1493553" cy="1493553"/>
          </a:xfrm>
          <a:prstGeom prst="rect">
            <a:avLst/>
          </a:prstGeom>
        </p:spPr>
      </p:pic>
      <p:pic>
        <p:nvPicPr>
          <p:cNvPr id="16" name="Picture 15">
            <a:extLst>
              <a:ext uri="{FF2B5EF4-FFF2-40B4-BE49-F238E27FC236}">
                <a16:creationId xmlns:a16="http://schemas.microsoft.com/office/drawing/2014/main" id="{7A4BF223-B58D-4436-EC89-208C445AAA92}"/>
              </a:ext>
            </a:extLst>
          </p:cNvPr>
          <p:cNvPicPr>
            <a:picLocks noChangeAspect="1"/>
          </p:cNvPicPr>
          <p:nvPr/>
        </p:nvPicPr>
        <p:blipFill>
          <a:blip r:embed="rId3"/>
          <a:stretch>
            <a:fillRect/>
          </a:stretch>
        </p:blipFill>
        <p:spPr>
          <a:xfrm>
            <a:off x="10500852" y="503286"/>
            <a:ext cx="1373491" cy="13734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6096000" cy="6858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6000" y="0"/>
            <a:ext cx="6096000"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600" y="1442759"/>
            <a:ext cx="609600" cy="571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80687" y="3910788"/>
            <a:ext cx="5177298" cy="1673942"/>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44137" y="3910787"/>
            <a:ext cx="45719" cy="1673941"/>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6767973" y="779695"/>
            <a:ext cx="4876800" cy="457200"/>
          </a:xfrm>
          <a:prstGeom prst="rect">
            <a:avLst/>
          </a:prstGeom>
        </p:spPr>
      </p:pic>
      <p:sp>
        <p:nvSpPr>
          <p:cNvPr id="8" name="TextBox 7"/>
          <p:cNvSpPr txBox="1"/>
          <p:nvPr/>
        </p:nvSpPr>
        <p:spPr>
          <a:xfrm>
            <a:off x="609600" y="2427766"/>
            <a:ext cx="4748981" cy="2954655"/>
          </a:xfrm>
          <a:prstGeom prst="rect">
            <a:avLst/>
          </a:prstGeom>
          <a:noFill/>
        </p:spPr>
        <p:txBody>
          <a:bodyPr wrap="square" lIns="0" tIns="0" rIns="0" bIns="0" anchor="t">
            <a:spAutoFit/>
          </a:bodyPr>
          <a:lstStyle/>
          <a:p>
            <a:pPr lvl="0"/>
            <a:r>
              <a:rPr lang="en-IN" sz="2400" b="1" dirty="0">
                <a:solidFill>
                  <a:schemeClr val="bg1"/>
                </a:solidFill>
              </a:rPr>
              <a:t>1. The Cloud Barrier:</a:t>
            </a:r>
          </a:p>
          <a:p>
            <a:pPr lvl="0"/>
            <a:r>
              <a:rPr lang="en-IN" sz="1600" dirty="0" err="1">
                <a:solidFill>
                  <a:schemeClr val="bg1"/>
                </a:solidFill>
              </a:rPr>
              <a:t>Defense</a:t>
            </a:r>
            <a:r>
              <a:rPr lang="en-IN" sz="1600" dirty="0">
                <a:solidFill>
                  <a:schemeClr val="bg1"/>
                </a:solidFill>
              </a:rPr>
              <a:t> and enterprise organizations cannot expose proprietary, sensitive source code to external third-party cloud LLMs due to strict data privacy mandates.</a:t>
            </a:r>
          </a:p>
          <a:p>
            <a:pPr lvl="0"/>
            <a:endParaRPr lang="en-IN" sz="1600" dirty="0">
              <a:solidFill>
                <a:schemeClr val="bg1"/>
              </a:solidFill>
            </a:endParaRPr>
          </a:p>
          <a:p>
            <a:pPr lvl="0"/>
            <a:endParaRPr lang="en-IN" sz="1600" dirty="0">
              <a:solidFill>
                <a:schemeClr val="bg1"/>
              </a:solidFill>
            </a:endParaRPr>
          </a:p>
          <a:p>
            <a:pPr lvl="0"/>
            <a:r>
              <a:rPr lang="en-IN" sz="2400" b="1" dirty="0">
                <a:solidFill>
                  <a:schemeClr val="bg1"/>
                </a:solidFill>
              </a:rPr>
              <a:t>2. The Project Goal:</a:t>
            </a:r>
          </a:p>
          <a:p>
            <a:pPr lvl="0"/>
            <a:r>
              <a:rPr lang="en-IN" sz="1600" dirty="0">
                <a:solidFill>
                  <a:schemeClr val="bg1"/>
                </a:solidFill>
              </a:rPr>
              <a:t>Build an autonomous Software Development Lifecycle (SDLC) framework that operates entirely offline, keeping all code and execution securely within local infrastructure.</a:t>
            </a:r>
          </a:p>
        </p:txBody>
      </p:sp>
      <p:sp>
        <p:nvSpPr>
          <p:cNvPr id="13" name="TextBox 12">
            <a:extLst>
              <a:ext uri="{FF2B5EF4-FFF2-40B4-BE49-F238E27FC236}">
                <a16:creationId xmlns:a16="http://schemas.microsoft.com/office/drawing/2014/main" id="{76D2A11F-9720-7634-1363-85E09DF512BB}"/>
              </a:ext>
            </a:extLst>
          </p:cNvPr>
          <p:cNvSpPr txBox="1"/>
          <p:nvPr/>
        </p:nvSpPr>
        <p:spPr>
          <a:xfrm>
            <a:off x="6767973" y="1825727"/>
            <a:ext cx="4748981" cy="3447098"/>
          </a:xfrm>
          <a:prstGeom prst="rect">
            <a:avLst/>
          </a:prstGeom>
          <a:noFill/>
        </p:spPr>
        <p:txBody>
          <a:bodyPr wrap="square" lIns="0" tIns="0" rIns="0" bIns="0" anchor="t">
            <a:spAutoFit/>
          </a:bodyPr>
          <a:lstStyle/>
          <a:p>
            <a:pPr lvl="0"/>
            <a:r>
              <a:rPr lang="en-IN" sz="2400" b="1" dirty="0"/>
              <a:t>3. The Local Hardware Wall:</a:t>
            </a:r>
          </a:p>
          <a:p>
            <a:pPr lvl="0"/>
            <a:r>
              <a:rPr lang="en-IN" sz="1600" dirty="0"/>
              <a:t>While the goal is local execution, taking current multi-agent architectures away from massive cloud servers and deploying them on constrained local hardware (like a single GPU) breaks them completely.</a:t>
            </a:r>
          </a:p>
          <a:p>
            <a:pPr lvl="0"/>
            <a:endParaRPr lang="en-IN" sz="1600" dirty="0"/>
          </a:p>
          <a:p>
            <a:pPr lvl="0"/>
            <a:endParaRPr lang="en-IN" sz="1600" dirty="0"/>
          </a:p>
          <a:p>
            <a:pPr lvl="0"/>
            <a:endParaRPr lang="en-IN" sz="1600" dirty="0"/>
          </a:p>
          <a:p>
            <a:pPr lvl="0"/>
            <a:endParaRPr lang="en-IN" sz="1600" dirty="0"/>
          </a:p>
          <a:p>
            <a:pPr lvl="0"/>
            <a:r>
              <a:rPr lang="en-IN" sz="2400" b="1" dirty="0"/>
              <a:t>The Result:</a:t>
            </a:r>
          </a:p>
          <a:p>
            <a:pPr lvl="0"/>
            <a:r>
              <a:rPr lang="en-IN" sz="1600" dirty="0"/>
              <a:t>Because local models lack massive context windows, feeding them entire repositories causes memory exhaustion, high latency, and severe logic hallucinations.</a:t>
            </a:r>
          </a:p>
        </p:txBody>
      </p:sp>
      <p:sp>
        <p:nvSpPr>
          <p:cNvPr id="14" name="TextBox 13">
            <a:extLst>
              <a:ext uri="{FF2B5EF4-FFF2-40B4-BE49-F238E27FC236}">
                <a16:creationId xmlns:a16="http://schemas.microsoft.com/office/drawing/2014/main" id="{3644CFAD-19CD-370E-BB8F-DD0A387E5BC5}"/>
              </a:ext>
            </a:extLst>
          </p:cNvPr>
          <p:cNvSpPr txBox="1"/>
          <p:nvPr/>
        </p:nvSpPr>
        <p:spPr>
          <a:xfrm>
            <a:off x="507899" y="608265"/>
            <a:ext cx="4984955" cy="830997"/>
          </a:xfrm>
          <a:prstGeom prst="rect">
            <a:avLst/>
          </a:prstGeom>
          <a:noFill/>
        </p:spPr>
        <p:txBody>
          <a:bodyPr wrap="square" rtlCol="0">
            <a:spAutoFit/>
          </a:bodyPr>
          <a:lstStyle/>
          <a:p>
            <a:r>
              <a:rPr lang="en-IN" sz="2400" b="1" dirty="0">
                <a:solidFill>
                  <a:schemeClr val="bg1"/>
                </a:solidFill>
              </a:rPr>
              <a:t>Problem Statement and Hidden Challenges</a:t>
            </a:r>
            <a:r>
              <a:rPr lang="en-IN" sz="2400" dirty="0">
                <a:solidFill>
                  <a:schemeClr val="bg1"/>
                </a:solidFil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9" name="TextBox 8"/>
          <p:cNvSpPr txBox="1"/>
          <p:nvPr/>
        </p:nvSpPr>
        <p:spPr>
          <a:xfrm>
            <a:off x="685186" y="460888"/>
            <a:ext cx="11430000" cy="561975"/>
          </a:xfrm>
          <a:prstGeom prst="rect">
            <a:avLst/>
          </a:prstGeom>
          <a:noFill/>
        </p:spPr>
        <p:txBody>
          <a:bodyPr wrap="none" lIns="0" tIns="0" rIns="0" bIns="0" anchor="t">
            <a:spAutoFit/>
          </a:bodyPr>
          <a:lstStyle/>
          <a:p>
            <a:pPr algn="l"/>
            <a:r>
              <a:rPr sz="3600" b="1" i="0" u="none" dirty="0">
                <a:solidFill>
                  <a:srgbClr val="0F172A"/>
                </a:solidFill>
                <a:latin typeface="Inter"/>
              </a:rPr>
              <a:t>Literature Review &amp; Core Gaps</a:t>
            </a:r>
          </a:p>
        </p:txBody>
      </p:sp>
      <p:sp>
        <p:nvSpPr>
          <p:cNvPr id="23" name="TextBox 22">
            <a:extLst>
              <a:ext uri="{FF2B5EF4-FFF2-40B4-BE49-F238E27FC236}">
                <a16:creationId xmlns:a16="http://schemas.microsoft.com/office/drawing/2014/main" id="{BAF59531-9320-51F0-3B2D-4F32C4EA2D43}"/>
              </a:ext>
            </a:extLst>
          </p:cNvPr>
          <p:cNvSpPr txBox="1"/>
          <p:nvPr/>
        </p:nvSpPr>
        <p:spPr>
          <a:xfrm>
            <a:off x="608064" y="1051963"/>
            <a:ext cx="10936543" cy="523220"/>
          </a:xfrm>
          <a:prstGeom prst="rect">
            <a:avLst/>
          </a:prstGeom>
          <a:noFill/>
        </p:spPr>
        <p:txBody>
          <a:bodyPr wrap="square">
            <a:spAutoFit/>
          </a:bodyPr>
          <a:lstStyle/>
          <a:p>
            <a:r>
              <a:rPr lang="en-IN" sz="1400" dirty="0"/>
              <a:t>To solve the local deployment bottlenecks, we first analyzed the theoretical foundations and limitations of current AI workflows to understand exactly what our architecture needed to fix.</a:t>
            </a:r>
          </a:p>
        </p:txBody>
      </p:sp>
      <p:sp>
        <p:nvSpPr>
          <p:cNvPr id="25" name="TextBox 24">
            <a:extLst>
              <a:ext uri="{FF2B5EF4-FFF2-40B4-BE49-F238E27FC236}">
                <a16:creationId xmlns:a16="http://schemas.microsoft.com/office/drawing/2014/main" id="{E513E744-998E-AD7E-3625-5C9A6E02E058}"/>
              </a:ext>
            </a:extLst>
          </p:cNvPr>
          <p:cNvSpPr txBox="1"/>
          <p:nvPr/>
        </p:nvSpPr>
        <p:spPr>
          <a:xfrm>
            <a:off x="519573" y="1663892"/>
            <a:ext cx="11025034" cy="4832092"/>
          </a:xfrm>
          <a:prstGeom prst="rect">
            <a:avLst/>
          </a:prstGeom>
          <a:noFill/>
        </p:spPr>
        <p:txBody>
          <a:bodyPr wrap="square">
            <a:spAutoFit/>
          </a:bodyPr>
          <a:lstStyle/>
          <a:p>
            <a:pPr marL="342900" lvl="0" indent="-342900">
              <a:spcAft>
                <a:spcPts val="600"/>
              </a:spcAft>
              <a:buFont typeface="Arial" panose="020B0604020202020204" pitchFamily="34" charset="0"/>
              <a:buChar char="•"/>
            </a:pPr>
            <a:r>
              <a:rPr lang="en-IN" sz="1600" b="1" dirty="0"/>
              <a:t>LLM-Based Multi-Agent Systems for Software Engineering: Literature Review, Vision, and the Road Ahead (He, J., </a:t>
            </a:r>
            <a:r>
              <a:rPr lang="en-IN" sz="1600" b="1" dirty="0" err="1"/>
              <a:t>Treude</a:t>
            </a:r>
            <a:r>
              <a:rPr lang="en-IN" sz="1600" b="1" dirty="0"/>
              <a:t>, C., &amp; Lo, D., 2025):</a:t>
            </a:r>
            <a:r>
              <a:rPr lang="en-IN" sz="1600" dirty="0"/>
              <a:t> </a:t>
            </a:r>
            <a:r>
              <a:rPr lang="en-IN" sz="1600" b="1" dirty="0"/>
              <a:t>(Multi-Agent Task Delegation):</a:t>
            </a:r>
            <a:r>
              <a:rPr lang="en-IN" sz="1600" dirty="0"/>
              <a:t> Establishes the necessity of dividing SDLC workflows among specialized agents. It identifies long-term memory and context limits as the primary blockers for enterprise adoption, validating our need for a token-efficient project graph.</a:t>
            </a:r>
          </a:p>
          <a:p>
            <a:pPr marL="342900" lvl="0" indent="-342900">
              <a:spcAft>
                <a:spcPts val="600"/>
              </a:spcAft>
              <a:buFont typeface="Arial" panose="020B0604020202020204" pitchFamily="34" charset="0"/>
              <a:buChar char="•"/>
            </a:pPr>
            <a:r>
              <a:rPr lang="en-IN" sz="1600" b="1" dirty="0"/>
              <a:t>Assistance to Autonomy: A Systematic Literature Review of Agentic AI across the SDLC (Apostolou, S. A., et al., 2026):</a:t>
            </a:r>
            <a:r>
              <a:rPr lang="en-IN" sz="1600" dirty="0"/>
              <a:t> (</a:t>
            </a:r>
            <a:r>
              <a:rPr lang="en-IN" sz="1600" b="1" dirty="0"/>
              <a:t>The Verifiability Principle) :</a:t>
            </a:r>
            <a:r>
              <a:rPr lang="en-IN" sz="1600" dirty="0"/>
              <a:t> Highlights that software automation only works if the outputs can be systematically verified. The paper notes that current agents lack robust evaluation harnesses, driving our integration of a self-correcting Reflexion loop.</a:t>
            </a:r>
          </a:p>
          <a:p>
            <a:pPr marL="342900" lvl="0" indent="-342900">
              <a:spcAft>
                <a:spcPts val="600"/>
              </a:spcAft>
              <a:buFont typeface="Arial" panose="020B0604020202020204" pitchFamily="34" charset="0"/>
              <a:buChar char="•"/>
            </a:pPr>
            <a:r>
              <a:rPr lang="en-IN" sz="1600" b="1" dirty="0"/>
              <a:t>Agentic AI in the Software Development Lifecycle: Architecture, Empirical Evidence, and Operational Mechanics (2026):</a:t>
            </a:r>
            <a:r>
              <a:rPr lang="en-IN" sz="1600" dirty="0"/>
              <a:t> </a:t>
            </a:r>
            <a:r>
              <a:rPr lang="en-IN" sz="1600" b="1" dirty="0"/>
              <a:t>(Empirical Failure Benchmarks):</a:t>
            </a:r>
            <a:r>
              <a:rPr lang="en-IN" sz="1600" dirty="0"/>
              <a:t> Real-world benchmarking reveals that agents quickly lose architectural consistency during extended sessions. This proved that standard generative prompting is insufficient, pointing us directly toward isolated, surgical code editing.</a:t>
            </a:r>
          </a:p>
          <a:p>
            <a:pPr marL="342900" lvl="0" indent="-342900">
              <a:spcAft>
                <a:spcPts val="600"/>
              </a:spcAft>
              <a:buFont typeface="Arial" panose="020B0604020202020204" pitchFamily="34" charset="0"/>
              <a:buChar char="•"/>
            </a:pPr>
            <a:r>
              <a:rPr lang="en-IN" sz="1600" b="1" dirty="0"/>
              <a:t>The Hitchhiker's Guide to Agentic AI: From Foundations to Systems(Roitman, H., 2025) : (Agentic Harness Engineering) :</a:t>
            </a:r>
            <a:r>
              <a:rPr lang="en-IN" sz="1600" dirty="0"/>
              <a:t> Provides the theoretical blueprint for separating an LLM’s raw reasoning from its physical execution environment. We translated these concepts—like state management and loop engineering—into our offline </a:t>
            </a:r>
            <a:r>
              <a:rPr lang="en-IN" sz="1600" dirty="0" err="1"/>
              <a:t>LangGraph</a:t>
            </a:r>
            <a:r>
              <a:rPr lang="en-IN" sz="1600" dirty="0"/>
              <a:t> pipeline.</a:t>
            </a:r>
          </a:p>
          <a:p>
            <a:pPr marL="342900" indent="-342900">
              <a:spcAft>
                <a:spcPts val="600"/>
              </a:spcAft>
              <a:buFont typeface="Arial" panose="020B0604020202020204" pitchFamily="34" charset="0"/>
              <a:buChar char="•"/>
            </a:pPr>
            <a:r>
              <a:rPr lang="en-IN" sz="1600" b="1" dirty="0"/>
              <a:t>Codebase-Memory: Tree-Sitter-Based Knowledge Graphs for LLM Code Exploration via MCP (2026): Tree-Sitter Knowledge Graphs:</a:t>
            </a:r>
            <a:r>
              <a:rPr lang="en-IN" sz="1600" dirty="0"/>
              <a:t> Demonstrates how to map entire repositories without exceeding token limits by parsing Abstract Syntax Trees (AST) and scoring dependencies. This methodology directly inspired the structural foundation of our Hierarchical Software Knowledge Graph (HSKG).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Rounded Rectangle 1"/>
          <p:cNvSpPr/>
          <p:nvPr/>
        </p:nvSpPr>
        <p:spPr>
          <a:xfrm>
            <a:off x="762000" y="1641740"/>
            <a:ext cx="10668000" cy="1219200"/>
          </a:xfrm>
          <a:prstGeom prst="roundRect">
            <a:avLst>
              <a:gd name="adj" fmla="val 1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62000" y="3070681"/>
            <a:ext cx="10668000" cy="1576631"/>
          </a:xfrm>
          <a:prstGeom prst="roundRect">
            <a:avLst>
              <a:gd name="adj" fmla="val 1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62000" y="4867274"/>
            <a:ext cx="10668000" cy="1656073"/>
          </a:xfrm>
          <a:prstGeom prst="roundRect">
            <a:avLst>
              <a:gd name="adj" fmla="val 1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1066800" y="1805136"/>
            <a:ext cx="609600" cy="609600"/>
          </a:xfrm>
          <a:prstGeom prst="rect">
            <a:avLst/>
          </a:prstGeom>
        </p:spPr>
      </p:pic>
      <p:pic>
        <p:nvPicPr>
          <p:cNvPr id="6" name="Picture 5" descr="image.png"/>
          <p:cNvPicPr>
            <a:picLocks noChangeAspect="1"/>
          </p:cNvPicPr>
          <p:nvPr/>
        </p:nvPicPr>
        <p:blipFill>
          <a:blip r:embed="rId3"/>
          <a:stretch>
            <a:fillRect/>
          </a:stretch>
        </p:blipFill>
        <p:spPr>
          <a:xfrm>
            <a:off x="1066800" y="3318922"/>
            <a:ext cx="609600" cy="609600"/>
          </a:xfrm>
          <a:prstGeom prst="rect">
            <a:avLst/>
          </a:prstGeom>
        </p:spPr>
      </p:pic>
      <p:pic>
        <p:nvPicPr>
          <p:cNvPr id="7" name="Picture 6" descr="image.png"/>
          <p:cNvPicPr>
            <a:picLocks noChangeAspect="1"/>
          </p:cNvPicPr>
          <p:nvPr/>
        </p:nvPicPr>
        <p:blipFill>
          <a:blip r:embed="rId4"/>
          <a:stretch>
            <a:fillRect/>
          </a:stretch>
        </p:blipFill>
        <p:spPr>
          <a:xfrm>
            <a:off x="1066800" y="5172075"/>
            <a:ext cx="609600" cy="609600"/>
          </a:xfrm>
          <a:prstGeom prst="rect">
            <a:avLst/>
          </a:prstGeom>
        </p:spPr>
      </p:pic>
      <p:pic>
        <p:nvPicPr>
          <p:cNvPr id="8" name="Picture 7" descr="image.png"/>
          <p:cNvPicPr>
            <a:picLocks noChangeAspect="1"/>
          </p:cNvPicPr>
          <p:nvPr/>
        </p:nvPicPr>
        <p:blipFill>
          <a:blip r:embed="rId5"/>
          <a:stretch>
            <a:fillRect/>
          </a:stretch>
        </p:blipFill>
        <p:spPr>
          <a:xfrm>
            <a:off x="1257300" y="1995636"/>
            <a:ext cx="228600" cy="228600"/>
          </a:xfrm>
          <a:prstGeom prst="rect">
            <a:avLst/>
          </a:prstGeom>
        </p:spPr>
      </p:pic>
      <p:pic>
        <p:nvPicPr>
          <p:cNvPr id="9" name="Picture 8" descr="image.png"/>
          <p:cNvPicPr>
            <a:picLocks noChangeAspect="1"/>
          </p:cNvPicPr>
          <p:nvPr/>
        </p:nvPicPr>
        <p:blipFill>
          <a:blip r:embed="rId6"/>
          <a:stretch>
            <a:fillRect/>
          </a:stretch>
        </p:blipFill>
        <p:spPr>
          <a:xfrm>
            <a:off x="1257300" y="3509422"/>
            <a:ext cx="228600" cy="228600"/>
          </a:xfrm>
          <a:prstGeom prst="rect">
            <a:avLst/>
          </a:prstGeom>
        </p:spPr>
      </p:pic>
      <p:pic>
        <p:nvPicPr>
          <p:cNvPr id="10" name="Picture 9" descr="image.png"/>
          <p:cNvPicPr>
            <a:picLocks noChangeAspect="1"/>
          </p:cNvPicPr>
          <p:nvPr/>
        </p:nvPicPr>
        <p:blipFill>
          <a:blip r:embed="rId7"/>
          <a:stretch>
            <a:fillRect/>
          </a:stretch>
        </p:blipFill>
        <p:spPr>
          <a:xfrm>
            <a:off x="1285875" y="5362575"/>
            <a:ext cx="171450" cy="228600"/>
          </a:xfrm>
          <a:prstGeom prst="rect">
            <a:avLst/>
          </a:prstGeom>
        </p:spPr>
      </p:pic>
      <p:sp>
        <p:nvSpPr>
          <p:cNvPr id="11" name="TextBox 10"/>
          <p:cNvSpPr txBox="1"/>
          <p:nvPr/>
        </p:nvSpPr>
        <p:spPr>
          <a:xfrm>
            <a:off x="762000" y="609600"/>
            <a:ext cx="11430000" cy="190500"/>
          </a:xfrm>
          <a:prstGeom prst="rect">
            <a:avLst/>
          </a:prstGeom>
          <a:noFill/>
        </p:spPr>
        <p:txBody>
          <a:bodyPr wrap="none" lIns="0" tIns="0" rIns="0" bIns="0" anchor="t">
            <a:spAutoFit/>
          </a:bodyPr>
          <a:lstStyle/>
          <a:p>
            <a:pPr algn="l"/>
            <a:r>
              <a:rPr sz="1200" b="1" i="0" u="none">
                <a:solidFill>
                  <a:srgbClr val="2563EB"/>
                </a:solidFill>
                <a:latin typeface="Inter"/>
              </a:rPr>
              <a:t>THE CHALLENGE</a:t>
            </a:r>
          </a:p>
        </p:txBody>
      </p:sp>
      <p:sp>
        <p:nvSpPr>
          <p:cNvPr id="12" name="TextBox 11"/>
          <p:cNvSpPr txBox="1"/>
          <p:nvPr/>
        </p:nvSpPr>
        <p:spPr>
          <a:xfrm>
            <a:off x="762000" y="905365"/>
            <a:ext cx="11430000" cy="561975"/>
          </a:xfrm>
          <a:prstGeom prst="rect">
            <a:avLst/>
          </a:prstGeom>
          <a:noFill/>
        </p:spPr>
        <p:txBody>
          <a:bodyPr wrap="none" lIns="0" tIns="0" rIns="0" bIns="0" anchor="t">
            <a:spAutoFit/>
          </a:bodyPr>
          <a:lstStyle/>
          <a:p>
            <a:pPr algn="l"/>
            <a:r>
              <a:rPr sz="3600" b="1" i="0" u="none" dirty="0">
                <a:solidFill>
                  <a:srgbClr val="0F172A"/>
                </a:solidFill>
                <a:latin typeface="Inter"/>
              </a:rPr>
              <a:t>Local Hardware Constraints</a:t>
            </a:r>
          </a:p>
        </p:txBody>
      </p:sp>
      <p:sp>
        <p:nvSpPr>
          <p:cNvPr id="13" name="TextBox 12"/>
          <p:cNvSpPr txBox="1"/>
          <p:nvPr/>
        </p:nvSpPr>
        <p:spPr>
          <a:xfrm>
            <a:off x="1981200" y="1819423"/>
            <a:ext cx="10210800" cy="276225"/>
          </a:xfrm>
          <a:prstGeom prst="rect">
            <a:avLst/>
          </a:prstGeom>
          <a:noFill/>
        </p:spPr>
        <p:txBody>
          <a:bodyPr wrap="none" lIns="0" tIns="0" rIns="0" bIns="0" anchor="t">
            <a:spAutoFit/>
          </a:bodyPr>
          <a:lstStyle/>
          <a:p>
            <a:pPr algn="l"/>
            <a:r>
              <a:rPr sz="1800" b="1" i="0" u="none">
                <a:solidFill>
                  <a:srgbClr val="0F172A"/>
                </a:solidFill>
                <a:latin typeface="Inter"/>
              </a:rPr>
              <a:t>The Context Window Bottleneck</a:t>
            </a:r>
          </a:p>
        </p:txBody>
      </p:sp>
      <p:sp>
        <p:nvSpPr>
          <p:cNvPr id="14" name="TextBox 13"/>
          <p:cNvSpPr txBox="1"/>
          <p:nvPr/>
        </p:nvSpPr>
        <p:spPr>
          <a:xfrm>
            <a:off x="1981201" y="2171848"/>
            <a:ext cx="9144000" cy="492443"/>
          </a:xfrm>
          <a:prstGeom prst="rect">
            <a:avLst/>
          </a:prstGeom>
          <a:noFill/>
        </p:spPr>
        <p:txBody>
          <a:bodyPr wrap="square" lIns="0" tIns="0" rIns="0" bIns="0" anchor="t">
            <a:spAutoFit/>
          </a:bodyPr>
          <a:lstStyle/>
          <a:p>
            <a:r>
              <a:rPr lang="en-IN" sz="1600" dirty="0"/>
              <a:t>Local models cannot process massive amounts of code at once. Flooding their limited context window with full repository text leads to high latency, severe memory degradation, and logic hallucinations.</a:t>
            </a:r>
            <a:endParaRPr sz="1500" b="0" i="0" u="none" dirty="0">
              <a:solidFill>
                <a:srgbClr val="475569"/>
              </a:solidFill>
              <a:latin typeface="Inter"/>
            </a:endParaRPr>
          </a:p>
        </p:txBody>
      </p:sp>
      <p:sp>
        <p:nvSpPr>
          <p:cNvPr id="15" name="TextBox 14"/>
          <p:cNvSpPr txBox="1"/>
          <p:nvPr/>
        </p:nvSpPr>
        <p:spPr>
          <a:xfrm>
            <a:off x="1981200" y="3333209"/>
            <a:ext cx="9276159" cy="276225"/>
          </a:xfrm>
          <a:prstGeom prst="rect">
            <a:avLst/>
          </a:prstGeom>
          <a:noFill/>
        </p:spPr>
        <p:txBody>
          <a:bodyPr wrap="none" lIns="0" tIns="0" rIns="0" bIns="0" anchor="t">
            <a:spAutoFit/>
          </a:bodyPr>
          <a:lstStyle/>
          <a:p>
            <a:pPr algn="l"/>
            <a:r>
              <a:rPr sz="1800" b="1" i="0" u="none">
                <a:solidFill>
                  <a:srgbClr val="0F172A"/>
                </a:solidFill>
                <a:latin typeface="Inter"/>
              </a:rPr>
              <a:t>Absence of Topological Memory</a:t>
            </a:r>
          </a:p>
        </p:txBody>
      </p:sp>
      <p:sp>
        <p:nvSpPr>
          <p:cNvPr id="16" name="TextBox 15"/>
          <p:cNvSpPr txBox="1"/>
          <p:nvPr/>
        </p:nvSpPr>
        <p:spPr>
          <a:xfrm>
            <a:off x="1981201" y="3685634"/>
            <a:ext cx="9144000" cy="738664"/>
          </a:xfrm>
          <a:prstGeom prst="rect">
            <a:avLst/>
          </a:prstGeom>
          <a:noFill/>
        </p:spPr>
        <p:txBody>
          <a:bodyPr wrap="square" lIns="0" tIns="0" rIns="0" bIns="0" anchor="t">
            <a:spAutoFit/>
          </a:bodyPr>
          <a:lstStyle/>
          <a:p>
            <a:r>
              <a:rPr lang="en-IN" sz="1600" dirty="0"/>
              <a:t>Standard RAG relies on flat keyword searches, lacking any real structural understanding of the project. It frequently misses distant structural dependencies, like how a backend database update might break a frontend controller. </a:t>
            </a:r>
            <a:endParaRPr sz="1500" b="0" i="0" u="none" dirty="0">
              <a:solidFill>
                <a:srgbClr val="475569"/>
              </a:solidFill>
              <a:latin typeface="Inter"/>
            </a:endParaRPr>
          </a:p>
        </p:txBody>
      </p:sp>
      <p:sp>
        <p:nvSpPr>
          <p:cNvPr id="17" name="TextBox 16"/>
          <p:cNvSpPr txBox="1"/>
          <p:nvPr/>
        </p:nvSpPr>
        <p:spPr>
          <a:xfrm>
            <a:off x="1981200" y="5186362"/>
            <a:ext cx="9526190" cy="276225"/>
          </a:xfrm>
          <a:prstGeom prst="rect">
            <a:avLst/>
          </a:prstGeom>
          <a:noFill/>
        </p:spPr>
        <p:txBody>
          <a:bodyPr wrap="none" lIns="0" tIns="0" rIns="0" bIns="0" anchor="t">
            <a:spAutoFit/>
          </a:bodyPr>
          <a:lstStyle/>
          <a:p>
            <a:pPr algn="l"/>
            <a:r>
              <a:rPr sz="1800" b="1" i="0" u="none">
                <a:solidFill>
                  <a:srgbClr val="0F172A"/>
                </a:solidFill>
                <a:latin typeface="Inter"/>
              </a:rPr>
              <a:t>Generative Rewriting</a:t>
            </a:r>
          </a:p>
        </p:txBody>
      </p:sp>
      <p:sp>
        <p:nvSpPr>
          <p:cNvPr id="18" name="TextBox 17"/>
          <p:cNvSpPr txBox="1"/>
          <p:nvPr/>
        </p:nvSpPr>
        <p:spPr>
          <a:xfrm>
            <a:off x="1981200" y="5538787"/>
            <a:ext cx="9144001" cy="738664"/>
          </a:xfrm>
          <a:prstGeom prst="rect">
            <a:avLst/>
          </a:prstGeom>
          <a:noFill/>
        </p:spPr>
        <p:txBody>
          <a:bodyPr wrap="square" lIns="0" tIns="0" rIns="0" bIns="0" anchor="t">
            <a:spAutoFit/>
          </a:bodyPr>
          <a:lstStyle/>
          <a:p>
            <a:r>
              <a:rPr lang="en-IN" sz="1600" dirty="0"/>
              <a:t>Current frameworks tend to rewrite entire files from scratch just to implement minor feature requests. This approach is highly inefficient for local models and risks the accidental deletion of untouched, perfectly working code.</a:t>
            </a:r>
            <a:endParaRPr sz="1500" b="0" i="0" u="none" dirty="0">
              <a:solidFill>
                <a:srgbClr val="475569"/>
              </a:solidFill>
              <a:latin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830AFB51-32A8-EC40-F8C1-E85426306505}"/>
              </a:ext>
            </a:extLst>
          </p:cNvPr>
          <p:cNvPicPr>
            <a:picLocks noChangeAspect="1"/>
          </p:cNvPicPr>
          <p:nvPr/>
        </p:nvPicPr>
        <p:blipFill>
          <a:blip r:embed="rId2"/>
          <a:stretch>
            <a:fillRect/>
          </a:stretch>
        </p:blipFill>
        <p:spPr>
          <a:xfrm>
            <a:off x="2273589" y="549372"/>
            <a:ext cx="9886582" cy="5760736"/>
          </a:xfrm>
          <a:prstGeom prst="rect">
            <a:avLst/>
          </a:prstGeom>
        </p:spPr>
      </p:pic>
      <p:sp>
        <p:nvSpPr>
          <p:cNvPr id="7" name="TextBox 6"/>
          <p:cNvSpPr txBox="1"/>
          <p:nvPr/>
        </p:nvSpPr>
        <p:spPr>
          <a:xfrm>
            <a:off x="535858" y="337125"/>
            <a:ext cx="786497" cy="184666"/>
          </a:xfrm>
          <a:prstGeom prst="rect">
            <a:avLst/>
          </a:prstGeom>
          <a:noFill/>
        </p:spPr>
        <p:txBody>
          <a:bodyPr wrap="none" lIns="0" tIns="0" rIns="0" bIns="0" anchor="t">
            <a:spAutoFit/>
          </a:bodyPr>
          <a:lstStyle/>
          <a:p>
            <a:pPr algn="l"/>
            <a:r>
              <a:rPr sz="1200" b="1" i="0" u="none" dirty="0">
                <a:solidFill>
                  <a:srgbClr val="2563EB"/>
                </a:solidFill>
                <a:latin typeface="Inter"/>
              </a:rPr>
              <a:t>APPROACH</a:t>
            </a:r>
            <a:r>
              <a:rPr lang="en-IN" sz="1200" b="1" i="0" u="none" dirty="0">
                <a:solidFill>
                  <a:srgbClr val="2563EB"/>
                </a:solidFill>
                <a:latin typeface="Inter"/>
              </a:rPr>
              <a:t>S</a:t>
            </a:r>
            <a:endParaRPr sz="1200" b="1" i="0" u="none" dirty="0">
              <a:solidFill>
                <a:srgbClr val="2563EB"/>
              </a:solidFill>
              <a:latin typeface="Inter"/>
            </a:endParaRPr>
          </a:p>
        </p:txBody>
      </p:sp>
      <p:sp>
        <p:nvSpPr>
          <p:cNvPr id="9" name="TextBox 8"/>
          <p:cNvSpPr txBox="1"/>
          <p:nvPr/>
        </p:nvSpPr>
        <p:spPr>
          <a:xfrm>
            <a:off x="535858" y="3852151"/>
            <a:ext cx="3270969" cy="352276"/>
          </a:xfrm>
          <a:prstGeom prst="rect">
            <a:avLst/>
          </a:prstGeom>
          <a:noFill/>
        </p:spPr>
        <p:txBody>
          <a:bodyPr wrap="square" lIns="0" tIns="0" rIns="0" bIns="0" anchor="t">
            <a:spAutoFit/>
          </a:bodyPr>
          <a:lstStyle/>
          <a:p>
            <a:pPr algn="l">
              <a:lnSpc>
                <a:spcPts val="3120"/>
              </a:lnSpc>
            </a:pPr>
            <a:r>
              <a:rPr sz="1600" b="1" i="0" u="none" dirty="0">
                <a:solidFill>
                  <a:srgbClr val="0F172A"/>
                </a:solidFill>
                <a:latin typeface="Inter"/>
              </a:rPr>
              <a:t>Context-aware project memory.</a:t>
            </a:r>
          </a:p>
        </p:txBody>
      </p:sp>
      <p:sp>
        <p:nvSpPr>
          <p:cNvPr id="10" name="TextBox 9"/>
          <p:cNvSpPr txBox="1"/>
          <p:nvPr/>
        </p:nvSpPr>
        <p:spPr>
          <a:xfrm>
            <a:off x="6400800" y="4695825"/>
            <a:ext cx="4572000" cy="276225"/>
          </a:xfrm>
          <a:prstGeom prst="rect">
            <a:avLst/>
          </a:prstGeom>
          <a:noFill/>
        </p:spPr>
        <p:txBody>
          <a:bodyPr wrap="none" lIns="0" tIns="0" rIns="0" bIns="0" anchor="t">
            <a:spAutoFit/>
          </a:bodyPr>
          <a:lstStyle/>
          <a:p>
            <a:pPr algn="ctr"/>
            <a:r>
              <a:rPr sz="1800" b="1" i="0" u="none">
                <a:solidFill>
                  <a:srgbClr val="F8FAFC"/>
                </a:solidFill>
                <a:latin typeface="Inter"/>
              </a:rPr>
              <a:t>Drastic token footprint reduction.</a:t>
            </a:r>
          </a:p>
        </p:txBody>
      </p:sp>
      <p:sp>
        <p:nvSpPr>
          <p:cNvPr id="11" name="TextBox 10"/>
          <p:cNvSpPr txBox="1"/>
          <p:nvPr/>
        </p:nvSpPr>
        <p:spPr>
          <a:xfrm>
            <a:off x="483149" y="4309436"/>
            <a:ext cx="3012591" cy="2211439"/>
          </a:xfrm>
          <a:prstGeom prst="rect">
            <a:avLst/>
          </a:prstGeom>
          <a:noFill/>
        </p:spPr>
        <p:txBody>
          <a:bodyPr wrap="square" lIns="0" tIns="0" rIns="0" bIns="0" anchor="t">
            <a:spAutoFit/>
          </a:bodyPr>
          <a:lstStyle/>
          <a:p>
            <a:pPr marL="285750" indent="-285750" algn="l">
              <a:lnSpc>
                <a:spcPts val="2475"/>
              </a:lnSpc>
              <a:buFont typeface="Arial" panose="020B0604020202020204" pitchFamily="34" charset="0"/>
              <a:buChar char="•"/>
            </a:pPr>
            <a:r>
              <a:rPr sz="1400" b="1" i="0" u="none" dirty="0">
                <a:solidFill>
                  <a:srgbClr val="334155"/>
                </a:solidFill>
                <a:latin typeface="Inter"/>
              </a:rPr>
              <a:t>AST Parsing:</a:t>
            </a:r>
            <a:r>
              <a:rPr sz="1400" b="0" i="0" u="none" dirty="0">
                <a:solidFill>
                  <a:srgbClr val="334155"/>
                </a:solidFill>
                <a:latin typeface="Inter"/>
              </a:rPr>
              <a:t> Models codebase as a directed, attributed multigraph.</a:t>
            </a:r>
            <a:endParaRPr lang="en-IN" sz="1400" b="0" i="0" u="none" dirty="0">
              <a:solidFill>
                <a:srgbClr val="334155"/>
              </a:solidFill>
              <a:latin typeface="Inter"/>
            </a:endParaRPr>
          </a:p>
          <a:p>
            <a:pPr marL="285750" indent="-285750">
              <a:lnSpc>
                <a:spcPts val="2475"/>
              </a:lnSpc>
              <a:buFont typeface="Arial" panose="020B0604020202020204" pitchFamily="34" charset="0"/>
              <a:buChar char="•"/>
            </a:pPr>
            <a:r>
              <a:rPr lang="en-US" sz="1400" b="1" dirty="0">
                <a:solidFill>
                  <a:srgbClr val="334155"/>
                </a:solidFill>
                <a:latin typeface="Inter"/>
              </a:rPr>
              <a:t>Nodes &amp; Edges:</a:t>
            </a:r>
            <a:r>
              <a:rPr lang="en-US" sz="1400" dirty="0">
                <a:solidFill>
                  <a:srgbClr val="334155"/>
                </a:solidFill>
                <a:latin typeface="Inter"/>
              </a:rPr>
              <a:t> Tracks modules, functions, and semantic relationships (calls, modifies).</a:t>
            </a:r>
          </a:p>
          <a:p>
            <a:pPr marL="285750" indent="-285750">
              <a:lnSpc>
                <a:spcPts val="2475"/>
              </a:lnSpc>
              <a:buFont typeface="Arial" panose="020B0604020202020204" pitchFamily="34" charset="0"/>
              <a:buChar char="•"/>
            </a:pPr>
            <a:r>
              <a:rPr lang="en-US" sz="1400" b="1" dirty="0">
                <a:solidFill>
                  <a:srgbClr val="334155"/>
                </a:solidFill>
                <a:latin typeface="Inter"/>
              </a:rPr>
              <a:t>Topology:</a:t>
            </a:r>
            <a:r>
              <a:rPr lang="en-US" sz="1400" dirty="0">
                <a:solidFill>
                  <a:srgbClr val="334155"/>
                </a:solidFill>
                <a:latin typeface="Inter"/>
              </a:rPr>
              <a:t> Retrieves strict k-hop subgraphs instead of flat text files.</a:t>
            </a:r>
          </a:p>
        </p:txBody>
      </p:sp>
      <p:sp>
        <p:nvSpPr>
          <p:cNvPr id="8" name="TextBox 7"/>
          <p:cNvSpPr txBox="1"/>
          <p:nvPr/>
        </p:nvSpPr>
        <p:spPr>
          <a:xfrm>
            <a:off x="535858" y="577253"/>
            <a:ext cx="4409768" cy="861774"/>
          </a:xfrm>
          <a:prstGeom prst="rect">
            <a:avLst/>
          </a:prstGeom>
          <a:noFill/>
        </p:spPr>
        <p:txBody>
          <a:bodyPr wrap="square" lIns="0" tIns="0" rIns="0" bIns="0" anchor="t">
            <a:spAutoFit/>
          </a:bodyPr>
          <a:lstStyle/>
          <a:p>
            <a:pPr algn="l"/>
            <a:r>
              <a:rPr sz="2800" b="1" i="0" u="none" dirty="0">
                <a:solidFill>
                  <a:srgbClr val="0F172A"/>
                </a:solidFill>
                <a:latin typeface="Inter"/>
              </a:rPr>
              <a:t>Hierarchical Software Knowledge Graph</a:t>
            </a:r>
          </a:p>
        </p:txBody>
      </p:sp>
      <p:sp>
        <p:nvSpPr>
          <p:cNvPr id="16" name="Rectangle 15">
            <a:extLst>
              <a:ext uri="{FF2B5EF4-FFF2-40B4-BE49-F238E27FC236}">
                <a16:creationId xmlns:a16="http://schemas.microsoft.com/office/drawing/2014/main" id="{3C08CA25-C639-D4C0-2038-340729AAF7BF}"/>
              </a:ext>
            </a:extLst>
          </p:cNvPr>
          <p:cNvSpPr/>
          <p:nvPr/>
        </p:nvSpPr>
        <p:spPr>
          <a:xfrm>
            <a:off x="8522825" y="4737904"/>
            <a:ext cx="1554866" cy="524719"/>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2743200"/>
            <a:ext cx="3352800" cy="3505200"/>
          </a:xfrm>
          <a:prstGeom prst="roundRect">
            <a:avLst>
              <a:gd name="adj" fmla="val 454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19600" y="2743200"/>
            <a:ext cx="3352800" cy="3505200"/>
          </a:xfrm>
          <a:prstGeom prst="roundRect">
            <a:avLst>
              <a:gd name="adj" fmla="val 454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2743200"/>
            <a:ext cx="3352800" cy="3505200"/>
          </a:xfrm>
          <a:prstGeom prst="roundRect">
            <a:avLst>
              <a:gd name="adj" fmla="val 454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62000" y="2743200"/>
            <a:ext cx="3352800" cy="5715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419600" y="2743200"/>
            <a:ext cx="3352800" cy="571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77200" y="2743200"/>
            <a:ext cx="3352800" cy="571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2000" y="609600"/>
            <a:ext cx="786497" cy="184666"/>
          </a:xfrm>
          <a:prstGeom prst="rect">
            <a:avLst/>
          </a:prstGeom>
          <a:noFill/>
        </p:spPr>
        <p:txBody>
          <a:bodyPr wrap="none" lIns="0" tIns="0" rIns="0" bIns="0" anchor="t">
            <a:spAutoFit/>
          </a:bodyPr>
          <a:lstStyle/>
          <a:p>
            <a:pPr algn="l"/>
            <a:r>
              <a:rPr sz="1200" b="1" i="0" u="none" dirty="0">
                <a:solidFill>
                  <a:srgbClr val="2563EB"/>
                </a:solidFill>
                <a:latin typeface="Inter"/>
              </a:rPr>
              <a:t>APPROACH</a:t>
            </a:r>
            <a:r>
              <a:rPr lang="en-IN" sz="1200" b="1" i="0" u="none" dirty="0">
                <a:solidFill>
                  <a:srgbClr val="2563EB"/>
                </a:solidFill>
                <a:latin typeface="Inter"/>
              </a:rPr>
              <a:t>S</a:t>
            </a:r>
            <a:endParaRPr sz="1200" b="1" i="0" u="none" dirty="0">
              <a:solidFill>
                <a:srgbClr val="2563EB"/>
              </a:solidFill>
              <a:latin typeface="Inter"/>
            </a:endParaRPr>
          </a:p>
        </p:txBody>
      </p:sp>
      <p:sp>
        <p:nvSpPr>
          <p:cNvPr id="9" name="TextBox 8"/>
          <p:cNvSpPr txBox="1"/>
          <p:nvPr/>
        </p:nvSpPr>
        <p:spPr>
          <a:xfrm>
            <a:off x="762000" y="1028700"/>
            <a:ext cx="7734425" cy="492443"/>
          </a:xfrm>
          <a:prstGeom prst="rect">
            <a:avLst/>
          </a:prstGeom>
          <a:noFill/>
        </p:spPr>
        <p:txBody>
          <a:bodyPr wrap="none" lIns="0" tIns="0" rIns="0" bIns="0" anchor="t">
            <a:spAutoFit/>
          </a:bodyPr>
          <a:lstStyle/>
          <a:p>
            <a:r>
              <a:rPr lang="en-IN" sz="3200" b="1" dirty="0"/>
              <a:t>Surgical Patching via Stack-Based Editor Loop</a:t>
            </a:r>
            <a:r>
              <a:rPr lang="en-IN" sz="3200" dirty="0"/>
              <a:t> </a:t>
            </a:r>
            <a:endParaRPr sz="3200" b="1" i="0" u="none" dirty="0">
              <a:solidFill>
                <a:srgbClr val="0F172A"/>
              </a:solidFill>
              <a:latin typeface="Inter"/>
            </a:endParaRPr>
          </a:p>
        </p:txBody>
      </p:sp>
      <p:sp>
        <p:nvSpPr>
          <p:cNvPr id="10" name="TextBox 9"/>
          <p:cNvSpPr txBox="1"/>
          <p:nvPr/>
        </p:nvSpPr>
        <p:spPr>
          <a:xfrm>
            <a:off x="762000" y="1706404"/>
            <a:ext cx="8849026" cy="246221"/>
          </a:xfrm>
          <a:prstGeom prst="rect">
            <a:avLst/>
          </a:prstGeom>
          <a:noFill/>
        </p:spPr>
        <p:txBody>
          <a:bodyPr wrap="none" lIns="0" tIns="0" rIns="0" bIns="0" anchor="t">
            <a:spAutoFit/>
          </a:bodyPr>
          <a:lstStyle/>
          <a:p>
            <a:r>
              <a:rPr lang="en-IN" sz="1600" dirty="0"/>
              <a:t>Eliminating full-file generative rewrites by breaking complex requests into atomic, memory-efficient steps. </a:t>
            </a:r>
            <a:endParaRPr sz="1650" b="1" i="0" u="none" dirty="0">
              <a:solidFill>
                <a:srgbClr val="334155"/>
              </a:solidFill>
              <a:latin typeface="Inter"/>
            </a:endParaRPr>
          </a:p>
        </p:txBody>
      </p:sp>
      <p:sp>
        <p:nvSpPr>
          <p:cNvPr id="11" name="TextBox 10"/>
          <p:cNvSpPr txBox="1"/>
          <p:nvPr/>
        </p:nvSpPr>
        <p:spPr>
          <a:xfrm>
            <a:off x="1143000" y="3181350"/>
            <a:ext cx="1172565" cy="276999"/>
          </a:xfrm>
          <a:prstGeom prst="rect">
            <a:avLst/>
          </a:prstGeom>
          <a:noFill/>
        </p:spPr>
        <p:txBody>
          <a:bodyPr wrap="none" lIns="0" tIns="0" rIns="0" bIns="0" anchor="t">
            <a:spAutoFit/>
          </a:bodyPr>
          <a:lstStyle/>
          <a:p>
            <a:pPr algn="l"/>
            <a:r>
              <a:rPr sz="1800" b="1" i="0" u="none" dirty="0">
                <a:solidFill>
                  <a:srgbClr val="0F172A"/>
                </a:solidFill>
                <a:latin typeface="Inter"/>
              </a:rPr>
              <a:t>01. </a:t>
            </a:r>
            <a:r>
              <a:rPr lang="en-IN" sz="1800" b="1" i="0" u="none" dirty="0">
                <a:solidFill>
                  <a:srgbClr val="0F172A"/>
                </a:solidFill>
                <a:latin typeface="Inter"/>
              </a:rPr>
              <a:t>Analyzer</a:t>
            </a:r>
            <a:endParaRPr sz="1800" b="1" i="0" u="none" dirty="0">
              <a:solidFill>
                <a:srgbClr val="0F172A"/>
              </a:solidFill>
              <a:latin typeface="Inter"/>
            </a:endParaRPr>
          </a:p>
        </p:txBody>
      </p:sp>
      <p:sp>
        <p:nvSpPr>
          <p:cNvPr id="12" name="TextBox 11"/>
          <p:cNvSpPr txBox="1"/>
          <p:nvPr/>
        </p:nvSpPr>
        <p:spPr>
          <a:xfrm>
            <a:off x="1143000" y="3609975"/>
            <a:ext cx="2686050" cy="1723549"/>
          </a:xfrm>
          <a:prstGeom prst="rect">
            <a:avLst/>
          </a:prstGeom>
          <a:noFill/>
        </p:spPr>
        <p:txBody>
          <a:bodyPr wrap="square" lIns="0" tIns="0" rIns="0" bIns="0" anchor="t">
            <a:spAutoFit/>
          </a:bodyPr>
          <a:lstStyle/>
          <a:p>
            <a:r>
              <a:rPr lang="en-IN" sz="1600" dirty="0"/>
              <a:t>Breaks the user's large request into a "stack" of bite-sized, step-by-step tasks. By forcing the AI to deal with only one small task at a time, we completely avoid overwhelming the local model's limited memory.</a:t>
            </a:r>
            <a:endParaRPr sz="1650" b="0" i="0" u="none" dirty="0">
              <a:solidFill>
                <a:srgbClr val="334155"/>
              </a:solidFill>
              <a:latin typeface="Inter"/>
            </a:endParaRPr>
          </a:p>
        </p:txBody>
      </p:sp>
      <p:sp>
        <p:nvSpPr>
          <p:cNvPr id="13" name="TextBox 12"/>
          <p:cNvSpPr txBox="1"/>
          <p:nvPr/>
        </p:nvSpPr>
        <p:spPr>
          <a:xfrm>
            <a:off x="4800600" y="3181350"/>
            <a:ext cx="3400425" cy="276225"/>
          </a:xfrm>
          <a:prstGeom prst="rect">
            <a:avLst/>
          </a:prstGeom>
          <a:noFill/>
        </p:spPr>
        <p:txBody>
          <a:bodyPr wrap="none" lIns="0" tIns="0" rIns="0" bIns="0" anchor="t">
            <a:spAutoFit/>
          </a:bodyPr>
          <a:lstStyle/>
          <a:p>
            <a:pPr algn="l"/>
            <a:r>
              <a:rPr sz="1800" b="1" i="0" u="none">
                <a:solidFill>
                  <a:srgbClr val="0F172A"/>
                </a:solidFill>
                <a:latin typeface="Inter"/>
              </a:rPr>
              <a:t>02. Editor</a:t>
            </a:r>
          </a:p>
        </p:txBody>
      </p:sp>
      <p:sp>
        <p:nvSpPr>
          <p:cNvPr id="14" name="TextBox 13"/>
          <p:cNvSpPr txBox="1"/>
          <p:nvPr/>
        </p:nvSpPr>
        <p:spPr>
          <a:xfrm>
            <a:off x="4800600" y="3609975"/>
            <a:ext cx="2686050" cy="1969770"/>
          </a:xfrm>
          <a:prstGeom prst="rect">
            <a:avLst/>
          </a:prstGeom>
          <a:noFill/>
        </p:spPr>
        <p:txBody>
          <a:bodyPr wrap="square" lIns="0" tIns="0" rIns="0" bIns="0" anchor="t">
            <a:spAutoFit/>
          </a:bodyPr>
          <a:lstStyle/>
          <a:p>
            <a:r>
              <a:rPr lang="en-IN" sz="1600" dirty="0"/>
              <a:t>Picks up the top task from the stack, loads just the exact code it needs from the graph, and performs a precise "search-and-replace" edit. It never rewrites an entire file from scratch, protecting the untouched, working code.</a:t>
            </a:r>
            <a:endParaRPr sz="1650" b="0" i="0" u="none" dirty="0">
              <a:solidFill>
                <a:srgbClr val="334155"/>
              </a:solidFill>
              <a:latin typeface="Inter"/>
            </a:endParaRPr>
          </a:p>
        </p:txBody>
      </p:sp>
      <p:sp>
        <p:nvSpPr>
          <p:cNvPr id="15" name="TextBox 14"/>
          <p:cNvSpPr txBox="1"/>
          <p:nvPr/>
        </p:nvSpPr>
        <p:spPr>
          <a:xfrm>
            <a:off x="8458200" y="3181350"/>
            <a:ext cx="3400425" cy="276225"/>
          </a:xfrm>
          <a:prstGeom prst="rect">
            <a:avLst/>
          </a:prstGeom>
          <a:noFill/>
        </p:spPr>
        <p:txBody>
          <a:bodyPr wrap="none" lIns="0" tIns="0" rIns="0" bIns="0" anchor="t">
            <a:spAutoFit/>
          </a:bodyPr>
          <a:lstStyle/>
          <a:p>
            <a:pPr algn="l"/>
            <a:r>
              <a:rPr sz="1800" b="1" i="0" u="none">
                <a:solidFill>
                  <a:srgbClr val="0F172A"/>
                </a:solidFill>
                <a:latin typeface="Inter"/>
              </a:rPr>
              <a:t>03. Reviewer</a:t>
            </a:r>
          </a:p>
        </p:txBody>
      </p:sp>
      <p:sp>
        <p:nvSpPr>
          <p:cNvPr id="16" name="TextBox 15"/>
          <p:cNvSpPr txBox="1"/>
          <p:nvPr/>
        </p:nvSpPr>
        <p:spPr>
          <a:xfrm>
            <a:off x="8458200" y="3609975"/>
            <a:ext cx="2686050" cy="1969770"/>
          </a:xfrm>
          <a:prstGeom prst="rect">
            <a:avLst/>
          </a:prstGeom>
          <a:noFill/>
        </p:spPr>
        <p:txBody>
          <a:bodyPr wrap="square" lIns="0" tIns="0" rIns="0" bIns="0" anchor="t">
            <a:spAutoFit/>
          </a:bodyPr>
          <a:lstStyle/>
          <a:p>
            <a:r>
              <a:rPr lang="en-IN" sz="1600" dirty="0"/>
              <a:t>Checks the newly patched code against the project requirements to ensure it actually works. If it spots a mistake, it sends an error report right back to the Editor so the AI can learn from it and fix it immediately.</a:t>
            </a:r>
            <a:endParaRPr sz="1650" b="0" i="0" u="none" dirty="0">
              <a:solidFill>
                <a:srgbClr val="334155"/>
              </a:solidFill>
              <a:latin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5F9"/>
        </a:solidFill>
        <a:effectLst/>
      </p:bgPr>
    </p:bg>
    <p:spTree>
      <p:nvGrpSpPr>
        <p:cNvPr id="1" name=""/>
        <p:cNvGrpSpPr/>
        <p:nvPr/>
      </p:nvGrpSpPr>
      <p:grpSpPr>
        <a:xfrm>
          <a:off x="0" y="0"/>
          <a:ext cx="0" cy="0"/>
          <a:chOff x="0" y="0"/>
          <a:chExt cx="0" cy="0"/>
        </a:xfrm>
      </p:grpSpPr>
      <p:sp>
        <p:nvSpPr>
          <p:cNvPr id="2" name="Rectangle 1"/>
          <p:cNvSpPr/>
          <p:nvPr/>
        </p:nvSpPr>
        <p:spPr>
          <a:xfrm>
            <a:off x="762000" y="1971675"/>
            <a:ext cx="609600" cy="5715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08385" y="2830447"/>
            <a:ext cx="5105400" cy="1133475"/>
          </a:xfrm>
          <a:prstGeom prst="roundRect">
            <a:avLst>
              <a:gd name="adj" fmla="val 1344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08385" y="4211787"/>
            <a:ext cx="5105400" cy="1581150"/>
          </a:xfrm>
          <a:prstGeom prst="roundRect">
            <a:avLst>
              <a:gd name="adj" fmla="val 1344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324600" y="1971675"/>
            <a:ext cx="609600" cy="571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62000" y="609600"/>
            <a:ext cx="11430000" cy="190500"/>
          </a:xfrm>
          <a:prstGeom prst="rect">
            <a:avLst/>
          </a:prstGeom>
          <a:noFill/>
        </p:spPr>
        <p:txBody>
          <a:bodyPr wrap="none" lIns="0" tIns="0" rIns="0" bIns="0" anchor="t">
            <a:spAutoFit/>
          </a:bodyPr>
          <a:lstStyle/>
          <a:p>
            <a:pPr algn="l"/>
            <a:r>
              <a:rPr sz="1200" b="1" i="0" u="none">
                <a:solidFill>
                  <a:srgbClr val="2563EB"/>
                </a:solidFill>
                <a:latin typeface="Inter"/>
              </a:rPr>
              <a:t>PROGRESS</a:t>
            </a:r>
          </a:p>
        </p:txBody>
      </p:sp>
      <p:sp>
        <p:nvSpPr>
          <p:cNvPr id="7" name="TextBox 6"/>
          <p:cNvSpPr txBox="1"/>
          <p:nvPr/>
        </p:nvSpPr>
        <p:spPr>
          <a:xfrm>
            <a:off x="762000" y="952500"/>
            <a:ext cx="11430000" cy="561975"/>
          </a:xfrm>
          <a:prstGeom prst="rect">
            <a:avLst/>
          </a:prstGeom>
          <a:noFill/>
        </p:spPr>
        <p:txBody>
          <a:bodyPr wrap="none" lIns="0" tIns="0" rIns="0" bIns="0" anchor="t">
            <a:spAutoFit/>
          </a:bodyPr>
          <a:lstStyle/>
          <a:p>
            <a:pPr algn="l"/>
            <a:r>
              <a:rPr sz="3600" b="1" i="0" u="none">
                <a:solidFill>
                  <a:srgbClr val="0F172A"/>
                </a:solidFill>
                <a:latin typeface="Inter"/>
              </a:rPr>
              <a:t>Implementation &amp; Preliminary Results</a:t>
            </a:r>
          </a:p>
        </p:txBody>
      </p:sp>
      <p:sp>
        <p:nvSpPr>
          <p:cNvPr id="8" name="TextBox 7"/>
          <p:cNvSpPr txBox="1"/>
          <p:nvPr/>
        </p:nvSpPr>
        <p:spPr>
          <a:xfrm>
            <a:off x="708385" y="2286000"/>
            <a:ext cx="6700837" cy="323850"/>
          </a:xfrm>
          <a:prstGeom prst="rect">
            <a:avLst/>
          </a:prstGeom>
          <a:noFill/>
        </p:spPr>
        <p:txBody>
          <a:bodyPr wrap="none" lIns="0" tIns="0" rIns="0" bIns="0" anchor="t">
            <a:spAutoFit/>
          </a:bodyPr>
          <a:lstStyle/>
          <a:p>
            <a:pPr algn="l"/>
            <a:r>
              <a:rPr sz="2100" b="1" i="0" u="none" dirty="0">
                <a:solidFill>
                  <a:srgbClr val="0F172A"/>
                </a:solidFill>
                <a:latin typeface="Inter"/>
              </a:rPr>
              <a:t>Implementation Tracks</a:t>
            </a:r>
          </a:p>
        </p:txBody>
      </p:sp>
      <p:sp>
        <p:nvSpPr>
          <p:cNvPr id="9" name="TextBox 8"/>
          <p:cNvSpPr txBox="1"/>
          <p:nvPr/>
        </p:nvSpPr>
        <p:spPr>
          <a:xfrm>
            <a:off x="6324600" y="2172042"/>
            <a:ext cx="1741631" cy="323165"/>
          </a:xfrm>
          <a:prstGeom prst="rect">
            <a:avLst/>
          </a:prstGeom>
          <a:noFill/>
        </p:spPr>
        <p:txBody>
          <a:bodyPr wrap="none" lIns="0" tIns="0" rIns="0" bIns="0" anchor="t">
            <a:spAutoFit/>
          </a:bodyPr>
          <a:lstStyle/>
          <a:p>
            <a:pPr algn="l"/>
            <a:r>
              <a:rPr sz="2100" b="1" i="0" u="none" dirty="0">
                <a:solidFill>
                  <a:srgbClr val="0F172A"/>
                </a:solidFill>
                <a:latin typeface="Inter"/>
              </a:rPr>
              <a:t>Results &amp; </a:t>
            </a:r>
            <a:r>
              <a:rPr lang="en-IN" sz="2100" b="1" i="0" u="none" dirty="0">
                <a:solidFill>
                  <a:srgbClr val="0F172A"/>
                </a:solidFill>
                <a:latin typeface="Inter"/>
              </a:rPr>
              <a:t>Focus</a:t>
            </a:r>
            <a:endParaRPr sz="2100" b="1" i="0" u="none" dirty="0">
              <a:solidFill>
                <a:srgbClr val="0F172A"/>
              </a:solidFill>
              <a:latin typeface="Inter"/>
            </a:endParaRPr>
          </a:p>
        </p:txBody>
      </p:sp>
      <p:sp>
        <p:nvSpPr>
          <p:cNvPr id="10" name="TextBox 9"/>
          <p:cNvSpPr txBox="1"/>
          <p:nvPr/>
        </p:nvSpPr>
        <p:spPr>
          <a:xfrm>
            <a:off x="936986" y="2955350"/>
            <a:ext cx="4618348" cy="2585323"/>
          </a:xfrm>
          <a:prstGeom prst="rect">
            <a:avLst/>
          </a:prstGeom>
          <a:noFill/>
        </p:spPr>
        <p:txBody>
          <a:bodyPr wrap="square" lIns="0" tIns="0" rIns="0" bIns="0" anchor="t">
            <a:spAutoFit/>
          </a:bodyPr>
          <a:lstStyle/>
          <a:p>
            <a:pPr lvl="0"/>
            <a:r>
              <a:rPr lang="en-IN" sz="1400" b="1" dirty="0"/>
              <a:t>1. Demonstration Prototype</a:t>
            </a:r>
          </a:p>
          <a:p>
            <a:pPr lvl="0"/>
            <a:r>
              <a:rPr lang="en-IN" sz="1400" dirty="0"/>
              <a:t>We built a functional, simplified workflow to prove the concept. It successfully takes a user request and autonomously generates complete mini web applications (HTML/JS/CSS).</a:t>
            </a:r>
          </a:p>
          <a:p>
            <a:pPr marL="342900" lvl="0" indent="-342900">
              <a:buAutoNum type="arabicPeriod"/>
            </a:pPr>
            <a:endParaRPr lang="en-IN" sz="1400" dirty="0"/>
          </a:p>
          <a:p>
            <a:pPr marL="342900" lvl="0" indent="-342900">
              <a:buAutoNum type="arabicPeriod"/>
            </a:pPr>
            <a:endParaRPr lang="en-IN" sz="1400" dirty="0"/>
          </a:p>
          <a:p>
            <a:pPr marL="342900" lvl="0" indent="-342900">
              <a:buAutoNum type="arabicPeriod"/>
            </a:pPr>
            <a:endParaRPr lang="en-IN" sz="1400" dirty="0"/>
          </a:p>
          <a:p>
            <a:pPr lvl="0"/>
            <a:r>
              <a:rPr lang="en-IN" sz="1400" b="1" dirty="0"/>
              <a:t>2. Enterprise Scale (In Progress)</a:t>
            </a:r>
          </a:p>
          <a:p>
            <a:pPr lvl="0"/>
            <a:r>
              <a:rPr lang="en-IN" sz="1400" dirty="0"/>
              <a:t>For real-world codebases, we are actively developing the core Analyzer node. This parses the repository to create the Knowledge Graph and builds a visual UI so humans can understand the AI's map.</a:t>
            </a:r>
          </a:p>
        </p:txBody>
      </p:sp>
      <p:sp>
        <p:nvSpPr>
          <p:cNvPr id="14" name="TextBox 13"/>
          <p:cNvSpPr txBox="1"/>
          <p:nvPr/>
        </p:nvSpPr>
        <p:spPr>
          <a:xfrm>
            <a:off x="6324600" y="2656790"/>
            <a:ext cx="4996992" cy="3108543"/>
          </a:xfrm>
          <a:prstGeom prst="rect">
            <a:avLst/>
          </a:prstGeom>
          <a:noFill/>
        </p:spPr>
        <p:txBody>
          <a:bodyPr wrap="square" lIns="0" tIns="0" rIns="0" bIns="0" anchor="t">
            <a:spAutoFit/>
          </a:bodyPr>
          <a:lstStyle/>
          <a:p>
            <a:pPr>
              <a:spcBef>
                <a:spcPts val="600"/>
              </a:spcBef>
            </a:pPr>
            <a:r>
              <a:rPr lang="en-IN" sz="1400" b="1" dirty="0"/>
              <a:t>Core Planner Node Built:</a:t>
            </a:r>
            <a:r>
              <a:rPr lang="en-IN" sz="1400" dirty="0"/>
              <a:t> The foundational logic that acts as our "Analyzer Node” is complete. The system can now analyse the entire repo and form the knowledge graph of it as well as receive a user request and attempt to break it down into a step-by-step task stack.</a:t>
            </a:r>
          </a:p>
          <a:p>
            <a:pPr>
              <a:spcBef>
                <a:spcPts val="600"/>
              </a:spcBef>
            </a:pPr>
            <a:r>
              <a:rPr lang="en-IN" sz="1400" b="1" dirty="0"/>
              <a:t>Active Optimization:</a:t>
            </a:r>
            <a:r>
              <a:rPr lang="en-IN" sz="1400" dirty="0"/>
              <a:t> Our immediate priority is fine-tuning this Analyzer node to hit a strict accuracy threshold before finalizing the Editor and Reviewer nodes.</a:t>
            </a:r>
          </a:p>
          <a:p>
            <a:pPr>
              <a:spcBef>
                <a:spcPts val="600"/>
              </a:spcBef>
            </a:pPr>
            <a:r>
              <a:rPr lang="en-IN" sz="1400" b="1" dirty="0"/>
              <a:t>Current Engineering Goals:</a:t>
            </a:r>
            <a:endParaRPr lang="en-IN" sz="1400" dirty="0"/>
          </a:p>
          <a:p>
            <a:pPr marL="285750" indent="-285750">
              <a:spcBef>
                <a:spcPts val="600"/>
              </a:spcBef>
              <a:buFont typeface="Arial" panose="020B0604020202020204" pitchFamily="34" charset="0"/>
              <a:buChar char="•"/>
            </a:pPr>
            <a:r>
              <a:rPr lang="en-IN" sz="1400" dirty="0"/>
              <a:t>Accurate Repository Mapping: Ensuring the AI perfectly reads and understands the existing codebase without missing context.</a:t>
            </a:r>
          </a:p>
          <a:p>
            <a:pPr marL="285750" indent="-285750">
              <a:spcBef>
                <a:spcPts val="600"/>
              </a:spcBef>
              <a:buFont typeface="Arial" panose="020B0604020202020204" pitchFamily="34" charset="0"/>
              <a:buChar char="•"/>
            </a:pPr>
            <a:r>
              <a:rPr lang="en-IN" sz="1400" dirty="0"/>
              <a:t>Flawless Task Stacks: Training the Analyzer to generate a completely logical, ordered stack of edits that doesn't break hidden dependencies.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1186206" y="1109219"/>
            <a:ext cx="609600" cy="571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67352" y="1273208"/>
            <a:ext cx="3985706" cy="430887"/>
          </a:xfrm>
          <a:prstGeom prst="rect">
            <a:avLst/>
          </a:prstGeom>
          <a:noFill/>
        </p:spPr>
        <p:txBody>
          <a:bodyPr wrap="none" lIns="0" tIns="0" rIns="0" bIns="0" anchor="t">
            <a:spAutoFit/>
          </a:bodyPr>
          <a:lstStyle/>
          <a:p>
            <a:r>
              <a:rPr lang="en-IN" sz="2800" b="1" dirty="0"/>
              <a:t>Conclusion &amp; Future Scope</a:t>
            </a:r>
            <a:endParaRPr sz="2800" b="1" i="0" u="none" dirty="0">
              <a:solidFill>
                <a:srgbClr val="0F172A"/>
              </a:solidFill>
              <a:latin typeface="Inter"/>
            </a:endParaRPr>
          </a:p>
        </p:txBody>
      </p:sp>
      <p:sp>
        <p:nvSpPr>
          <p:cNvPr id="5" name="TextBox 4"/>
          <p:cNvSpPr txBox="1"/>
          <p:nvPr/>
        </p:nvSpPr>
        <p:spPr>
          <a:xfrm>
            <a:off x="1066799" y="1990724"/>
            <a:ext cx="9585489" cy="1477328"/>
          </a:xfrm>
          <a:prstGeom prst="rect">
            <a:avLst/>
          </a:prstGeom>
          <a:noFill/>
        </p:spPr>
        <p:txBody>
          <a:bodyPr wrap="square" lIns="114300" tIns="0" rIns="0" bIns="0" anchor="t">
            <a:spAutoFit/>
          </a:bodyPr>
          <a:lstStyle/>
          <a:p>
            <a:pPr algn="just"/>
            <a:r>
              <a:rPr lang="en-IN" sz="1600" dirty="0"/>
              <a:t>The integration of the Hierarchical Software Knowledge Graph (HSKG) and stack-based execution successfully addresses the memory and context limitations of local, offline LLMs. Moving toward the end-semester evaluation, our primary focus is stabilizing the workflow to ensure the generated code patches are highly accurate and functionally coherent. Additionally, we will fully automate the codebase mapping using Tree-sitter for native AST parsing, finalize a visual dashboard for human oversight, and integrate Agent-to-Agent (A2A) protocols to seamlessly delegate testing and deployment tasks to isolated containerized agents.</a:t>
            </a:r>
            <a:endParaRPr sz="1600" b="0" i="0" u="none" dirty="0">
              <a:solidFill>
                <a:srgbClr val="334155"/>
              </a:solidFill>
              <a:latin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FB838FD7-D9DB-D41D-C798-1B2A2C844CB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0008921-473E-ABC4-646F-CC8AB145B497}"/>
              </a:ext>
            </a:extLst>
          </p:cNvPr>
          <p:cNvSpPr/>
          <p:nvPr/>
        </p:nvSpPr>
        <p:spPr>
          <a:xfrm>
            <a:off x="762000" y="609600"/>
            <a:ext cx="609600" cy="571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E51248C-5FE1-5C7B-7D89-95A664B62E18}"/>
              </a:ext>
            </a:extLst>
          </p:cNvPr>
          <p:cNvSpPr txBox="1"/>
          <p:nvPr/>
        </p:nvSpPr>
        <p:spPr>
          <a:xfrm>
            <a:off x="762000" y="971550"/>
            <a:ext cx="11430000" cy="561975"/>
          </a:xfrm>
          <a:prstGeom prst="rect">
            <a:avLst/>
          </a:prstGeom>
          <a:noFill/>
        </p:spPr>
        <p:txBody>
          <a:bodyPr wrap="none" lIns="0" tIns="0" rIns="0" bIns="0" anchor="t">
            <a:spAutoFit/>
          </a:bodyPr>
          <a:lstStyle/>
          <a:p>
            <a:pPr algn="l"/>
            <a:r>
              <a:rPr sz="3600" b="1" i="0" u="none">
                <a:solidFill>
                  <a:srgbClr val="0F172A"/>
                </a:solidFill>
                <a:latin typeface="Inter"/>
              </a:rPr>
              <a:t>Key References</a:t>
            </a:r>
          </a:p>
        </p:txBody>
      </p:sp>
      <p:sp>
        <p:nvSpPr>
          <p:cNvPr id="4" name="TextBox 3">
            <a:extLst>
              <a:ext uri="{FF2B5EF4-FFF2-40B4-BE49-F238E27FC236}">
                <a16:creationId xmlns:a16="http://schemas.microsoft.com/office/drawing/2014/main" id="{543AEC69-97C1-2AC8-6091-B17F2341020F}"/>
              </a:ext>
            </a:extLst>
          </p:cNvPr>
          <p:cNvSpPr txBox="1"/>
          <p:nvPr/>
        </p:nvSpPr>
        <p:spPr>
          <a:xfrm>
            <a:off x="952500" y="1991677"/>
            <a:ext cx="114300" cy="238125"/>
          </a:xfrm>
          <a:prstGeom prst="rect">
            <a:avLst/>
          </a:prstGeom>
          <a:noFill/>
        </p:spPr>
        <p:txBody>
          <a:bodyPr wrap="none" lIns="0" tIns="0" rIns="0" bIns="0" anchor="t">
            <a:spAutoFit/>
          </a:bodyPr>
          <a:lstStyle/>
          <a:p>
            <a:pPr algn="l"/>
            <a:r>
              <a:rPr sz="1350" b="0" i="0" u="none">
                <a:solidFill>
                  <a:srgbClr val="334155"/>
                </a:solidFill>
                <a:latin typeface="Inter"/>
              </a:rPr>
              <a:t>1.</a:t>
            </a:r>
          </a:p>
        </p:txBody>
      </p:sp>
      <p:sp>
        <p:nvSpPr>
          <p:cNvPr id="5" name="TextBox 4">
            <a:extLst>
              <a:ext uri="{FF2B5EF4-FFF2-40B4-BE49-F238E27FC236}">
                <a16:creationId xmlns:a16="http://schemas.microsoft.com/office/drawing/2014/main" id="{B79FCDF0-45CA-FB77-D7EA-398283FECA5E}"/>
              </a:ext>
            </a:extLst>
          </p:cNvPr>
          <p:cNvSpPr txBox="1"/>
          <p:nvPr/>
        </p:nvSpPr>
        <p:spPr>
          <a:xfrm>
            <a:off x="1066800" y="1990725"/>
            <a:ext cx="10458450" cy="479821"/>
          </a:xfrm>
          <a:prstGeom prst="rect">
            <a:avLst/>
          </a:prstGeom>
          <a:noFill/>
        </p:spPr>
        <p:txBody>
          <a:bodyPr wrap="square" lIns="114300" tIns="0" rIns="0" bIns="0" anchor="t">
            <a:spAutoFit/>
          </a:bodyPr>
          <a:lstStyle/>
          <a:p>
            <a:pPr algn="l">
              <a:lnSpc>
                <a:spcPts val="1889"/>
              </a:lnSpc>
            </a:pPr>
            <a:r>
              <a:rPr sz="1350" b="0" i="0" u="none">
                <a:solidFill>
                  <a:srgbClr val="334155"/>
                </a:solidFill>
                <a:latin typeface="Inter"/>
              </a:rPr>
              <a:t>He, J., Treude, C., &amp; Lo, D. "LLM-based multi-agent systems for software engineering: Literature review, vision, and the road ahead," </a:t>
            </a:r>
            <a:r>
              <a:rPr sz="1350" b="0" i="1" u="none">
                <a:solidFill>
                  <a:srgbClr val="334155"/>
                </a:solidFill>
                <a:latin typeface="Inter"/>
              </a:rPr>
              <a:t>ACM Trans. Softw. Eng. Methodol.</a:t>
            </a:r>
            <a:r>
              <a:rPr sz="1350" b="0" i="0" u="none">
                <a:solidFill>
                  <a:srgbClr val="334155"/>
                </a:solidFill>
                <a:latin typeface="Inter"/>
              </a:rPr>
              <a:t>, 2025.</a:t>
            </a:r>
          </a:p>
        </p:txBody>
      </p:sp>
      <p:sp>
        <p:nvSpPr>
          <p:cNvPr id="6" name="TextBox 5">
            <a:extLst>
              <a:ext uri="{FF2B5EF4-FFF2-40B4-BE49-F238E27FC236}">
                <a16:creationId xmlns:a16="http://schemas.microsoft.com/office/drawing/2014/main" id="{0B54C927-BD13-F1BC-F408-7AE691B6EFFC}"/>
              </a:ext>
            </a:extLst>
          </p:cNvPr>
          <p:cNvSpPr txBox="1"/>
          <p:nvPr/>
        </p:nvSpPr>
        <p:spPr>
          <a:xfrm>
            <a:off x="914400" y="2700099"/>
            <a:ext cx="152400" cy="238125"/>
          </a:xfrm>
          <a:prstGeom prst="rect">
            <a:avLst/>
          </a:prstGeom>
          <a:noFill/>
        </p:spPr>
        <p:txBody>
          <a:bodyPr wrap="none" lIns="0" tIns="0" rIns="0" bIns="0" anchor="t">
            <a:spAutoFit/>
          </a:bodyPr>
          <a:lstStyle/>
          <a:p>
            <a:pPr algn="l"/>
            <a:r>
              <a:rPr sz="1350" b="0" i="0" u="none">
                <a:solidFill>
                  <a:srgbClr val="334155"/>
                </a:solidFill>
                <a:latin typeface="Inter"/>
              </a:rPr>
              <a:t>2.</a:t>
            </a:r>
          </a:p>
        </p:txBody>
      </p:sp>
      <p:sp>
        <p:nvSpPr>
          <p:cNvPr id="7" name="TextBox 6">
            <a:extLst>
              <a:ext uri="{FF2B5EF4-FFF2-40B4-BE49-F238E27FC236}">
                <a16:creationId xmlns:a16="http://schemas.microsoft.com/office/drawing/2014/main" id="{CA16DDCC-B394-CBCF-E133-589BEAF49B57}"/>
              </a:ext>
            </a:extLst>
          </p:cNvPr>
          <p:cNvSpPr txBox="1"/>
          <p:nvPr/>
        </p:nvSpPr>
        <p:spPr>
          <a:xfrm>
            <a:off x="1066800" y="2699146"/>
            <a:ext cx="10458450" cy="479821"/>
          </a:xfrm>
          <a:prstGeom prst="rect">
            <a:avLst/>
          </a:prstGeom>
          <a:noFill/>
        </p:spPr>
        <p:txBody>
          <a:bodyPr wrap="square" lIns="152400" tIns="0" rIns="0" bIns="0" anchor="t">
            <a:spAutoFit/>
          </a:bodyPr>
          <a:lstStyle/>
          <a:p>
            <a:pPr algn="l">
              <a:lnSpc>
                <a:spcPts val="1889"/>
              </a:lnSpc>
            </a:pPr>
            <a:r>
              <a:rPr sz="1350" b="0" i="0" u="none">
                <a:solidFill>
                  <a:srgbClr val="334155"/>
                </a:solidFill>
                <a:latin typeface="Inter"/>
              </a:rPr>
              <a:t>Apostolou, S. A. et al., "Assistance to autonomy: A systematic literature review of agentic AI across the SDLC," </a:t>
            </a:r>
            <a:r>
              <a:rPr sz="1350" b="0" i="1" u="none">
                <a:solidFill>
                  <a:srgbClr val="334155"/>
                </a:solidFill>
                <a:latin typeface="Inter"/>
              </a:rPr>
              <a:t>arXiv preprint</a:t>
            </a:r>
            <a:r>
              <a:rPr sz="1350" b="0" i="0" u="none">
                <a:solidFill>
                  <a:srgbClr val="334155"/>
                </a:solidFill>
                <a:latin typeface="Inter"/>
              </a:rPr>
              <a:t>, 2026.</a:t>
            </a:r>
          </a:p>
        </p:txBody>
      </p:sp>
      <p:sp>
        <p:nvSpPr>
          <p:cNvPr id="8" name="TextBox 7">
            <a:extLst>
              <a:ext uri="{FF2B5EF4-FFF2-40B4-BE49-F238E27FC236}">
                <a16:creationId xmlns:a16="http://schemas.microsoft.com/office/drawing/2014/main" id="{05FA554D-FD91-DE17-1B84-C6DF8B049686}"/>
              </a:ext>
            </a:extLst>
          </p:cNvPr>
          <p:cNvSpPr txBox="1"/>
          <p:nvPr/>
        </p:nvSpPr>
        <p:spPr>
          <a:xfrm>
            <a:off x="914400" y="3408521"/>
            <a:ext cx="152400" cy="238125"/>
          </a:xfrm>
          <a:prstGeom prst="rect">
            <a:avLst/>
          </a:prstGeom>
          <a:noFill/>
        </p:spPr>
        <p:txBody>
          <a:bodyPr wrap="none" lIns="0" tIns="0" rIns="0" bIns="0" anchor="t">
            <a:spAutoFit/>
          </a:bodyPr>
          <a:lstStyle/>
          <a:p>
            <a:pPr algn="l"/>
            <a:r>
              <a:rPr sz="1350" b="0" i="0" u="none">
                <a:solidFill>
                  <a:srgbClr val="334155"/>
                </a:solidFill>
                <a:latin typeface="Inter"/>
              </a:rPr>
              <a:t>3.</a:t>
            </a:r>
          </a:p>
        </p:txBody>
      </p:sp>
      <p:sp>
        <p:nvSpPr>
          <p:cNvPr id="9" name="TextBox 8">
            <a:extLst>
              <a:ext uri="{FF2B5EF4-FFF2-40B4-BE49-F238E27FC236}">
                <a16:creationId xmlns:a16="http://schemas.microsoft.com/office/drawing/2014/main" id="{E377DA2F-2D58-2AF7-C0EA-0D6A65F61BFB}"/>
              </a:ext>
            </a:extLst>
          </p:cNvPr>
          <p:cNvSpPr txBox="1"/>
          <p:nvPr/>
        </p:nvSpPr>
        <p:spPr>
          <a:xfrm>
            <a:off x="1066800" y="3407568"/>
            <a:ext cx="10458450" cy="479821"/>
          </a:xfrm>
          <a:prstGeom prst="rect">
            <a:avLst/>
          </a:prstGeom>
          <a:noFill/>
        </p:spPr>
        <p:txBody>
          <a:bodyPr wrap="square" lIns="152400" tIns="0" rIns="0" bIns="0" anchor="t">
            <a:spAutoFit/>
          </a:bodyPr>
          <a:lstStyle/>
          <a:p>
            <a:pPr algn="l">
              <a:lnSpc>
                <a:spcPts val="1889"/>
              </a:lnSpc>
            </a:pPr>
            <a:r>
              <a:rPr sz="1350" b="0" i="0" u="none">
                <a:solidFill>
                  <a:srgbClr val="334155"/>
                </a:solidFill>
                <a:latin typeface="Inter"/>
              </a:rPr>
              <a:t>Anonymous et al., "Agentic AI in the software development lifecycle: Architecture, empirical evidence, and operational mechanics," </a:t>
            </a:r>
            <a:r>
              <a:rPr sz="1350" b="0" i="1" u="none">
                <a:solidFill>
                  <a:srgbClr val="334155"/>
                </a:solidFill>
                <a:latin typeface="Inter"/>
              </a:rPr>
              <a:t>arXiv preprint</a:t>
            </a:r>
            <a:r>
              <a:rPr sz="1350" b="0" i="0" u="none">
                <a:solidFill>
                  <a:srgbClr val="334155"/>
                </a:solidFill>
                <a:latin typeface="Inter"/>
              </a:rPr>
              <a:t>, 2026.</a:t>
            </a:r>
          </a:p>
        </p:txBody>
      </p:sp>
      <p:sp>
        <p:nvSpPr>
          <p:cNvPr id="10" name="TextBox 9">
            <a:extLst>
              <a:ext uri="{FF2B5EF4-FFF2-40B4-BE49-F238E27FC236}">
                <a16:creationId xmlns:a16="http://schemas.microsoft.com/office/drawing/2014/main" id="{D21F61E2-9FF1-F1AE-47B0-BD945E8F07DA}"/>
              </a:ext>
            </a:extLst>
          </p:cNvPr>
          <p:cNvSpPr txBox="1"/>
          <p:nvPr/>
        </p:nvSpPr>
        <p:spPr>
          <a:xfrm>
            <a:off x="914400" y="4116943"/>
            <a:ext cx="152400" cy="238125"/>
          </a:xfrm>
          <a:prstGeom prst="rect">
            <a:avLst/>
          </a:prstGeom>
          <a:noFill/>
        </p:spPr>
        <p:txBody>
          <a:bodyPr wrap="none" lIns="0" tIns="0" rIns="0" bIns="0" anchor="t">
            <a:spAutoFit/>
          </a:bodyPr>
          <a:lstStyle/>
          <a:p>
            <a:pPr algn="l"/>
            <a:r>
              <a:rPr sz="1350" b="0" i="0" u="none">
                <a:solidFill>
                  <a:srgbClr val="334155"/>
                </a:solidFill>
                <a:latin typeface="Inter"/>
              </a:rPr>
              <a:t>4.</a:t>
            </a:r>
          </a:p>
        </p:txBody>
      </p:sp>
      <p:sp>
        <p:nvSpPr>
          <p:cNvPr id="11" name="TextBox 10">
            <a:extLst>
              <a:ext uri="{FF2B5EF4-FFF2-40B4-BE49-F238E27FC236}">
                <a16:creationId xmlns:a16="http://schemas.microsoft.com/office/drawing/2014/main" id="{9F8B5553-D781-C699-08C5-AC20AB8A068B}"/>
              </a:ext>
            </a:extLst>
          </p:cNvPr>
          <p:cNvSpPr txBox="1"/>
          <p:nvPr/>
        </p:nvSpPr>
        <p:spPr>
          <a:xfrm>
            <a:off x="1066800" y="4115990"/>
            <a:ext cx="10458450" cy="479821"/>
          </a:xfrm>
          <a:prstGeom prst="rect">
            <a:avLst/>
          </a:prstGeom>
          <a:noFill/>
        </p:spPr>
        <p:txBody>
          <a:bodyPr wrap="square" lIns="152400" tIns="0" rIns="0" bIns="0" anchor="t">
            <a:spAutoFit/>
          </a:bodyPr>
          <a:lstStyle/>
          <a:p>
            <a:pPr algn="l">
              <a:lnSpc>
                <a:spcPts val="1889"/>
              </a:lnSpc>
            </a:pPr>
            <a:r>
              <a:rPr sz="1350" b="0" i="0" u="none">
                <a:solidFill>
                  <a:srgbClr val="334155"/>
                </a:solidFill>
                <a:latin typeface="Inter"/>
              </a:rPr>
              <a:t>Anonymous et al., "Codebase-Memory: Tree-Sitter-Based Knowledge Graphs for LLM Code Exploration via MCP," </a:t>
            </a:r>
            <a:r>
              <a:rPr sz="1350" b="0" i="1" u="none">
                <a:solidFill>
                  <a:srgbClr val="334155"/>
                </a:solidFill>
                <a:latin typeface="Inter"/>
              </a:rPr>
              <a:t>arXiv preprint</a:t>
            </a:r>
            <a:r>
              <a:rPr sz="1350" b="0" i="0" u="none">
                <a:solidFill>
                  <a:srgbClr val="334155"/>
                </a:solidFill>
                <a:latin typeface="Inter"/>
              </a:rPr>
              <a:t>, 2026.</a:t>
            </a:r>
          </a:p>
        </p:txBody>
      </p:sp>
      <p:sp>
        <p:nvSpPr>
          <p:cNvPr id="12" name="TextBox 11">
            <a:extLst>
              <a:ext uri="{FF2B5EF4-FFF2-40B4-BE49-F238E27FC236}">
                <a16:creationId xmlns:a16="http://schemas.microsoft.com/office/drawing/2014/main" id="{9CC189D6-698A-2AC4-DA49-DD5F49DB1E67}"/>
              </a:ext>
            </a:extLst>
          </p:cNvPr>
          <p:cNvSpPr txBox="1"/>
          <p:nvPr/>
        </p:nvSpPr>
        <p:spPr>
          <a:xfrm>
            <a:off x="914400" y="4825365"/>
            <a:ext cx="152400" cy="238125"/>
          </a:xfrm>
          <a:prstGeom prst="rect">
            <a:avLst/>
          </a:prstGeom>
          <a:noFill/>
        </p:spPr>
        <p:txBody>
          <a:bodyPr wrap="none" lIns="0" tIns="0" rIns="0" bIns="0" anchor="t">
            <a:spAutoFit/>
          </a:bodyPr>
          <a:lstStyle/>
          <a:p>
            <a:pPr algn="l"/>
            <a:r>
              <a:rPr sz="1350" b="0" i="0" u="none">
                <a:solidFill>
                  <a:srgbClr val="334155"/>
                </a:solidFill>
                <a:latin typeface="Inter"/>
              </a:rPr>
              <a:t>5.</a:t>
            </a:r>
          </a:p>
        </p:txBody>
      </p:sp>
      <p:sp>
        <p:nvSpPr>
          <p:cNvPr id="13" name="TextBox 12">
            <a:extLst>
              <a:ext uri="{FF2B5EF4-FFF2-40B4-BE49-F238E27FC236}">
                <a16:creationId xmlns:a16="http://schemas.microsoft.com/office/drawing/2014/main" id="{149D12A4-9E8B-25A4-68E5-45462E93913F}"/>
              </a:ext>
            </a:extLst>
          </p:cNvPr>
          <p:cNvSpPr txBox="1"/>
          <p:nvPr/>
        </p:nvSpPr>
        <p:spPr>
          <a:xfrm>
            <a:off x="1066800" y="4824412"/>
            <a:ext cx="11125200" cy="239910"/>
          </a:xfrm>
          <a:prstGeom prst="rect">
            <a:avLst/>
          </a:prstGeom>
          <a:noFill/>
        </p:spPr>
        <p:txBody>
          <a:bodyPr wrap="none" lIns="152400" tIns="0" rIns="0" bIns="0" anchor="t">
            <a:spAutoFit/>
          </a:bodyPr>
          <a:lstStyle/>
          <a:p>
            <a:pPr algn="l">
              <a:lnSpc>
                <a:spcPts val="1889"/>
              </a:lnSpc>
            </a:pPr>
            <a:r>
              <a:rPr sz="1350" b="0" i="0" u="none">
                <a:solidFill>
                  <a:srgbClr val="334155"/>
                </a:solidFill>
                <a:latin typeface="Inter"/>
              </a:rPr>
              <a:t>Roitman, H., </a:t>
            </a:r>
            <a:r>
              <a:rPr sz="1350" b="0" i="1" u="none">
                <a:solidFill>
                  <a:srgbClr val="334155"/>
                </a:solidFill>
                <a:latin typeface="Inter"/>
              </a:rPr>
              <a:t>The Hitchhiker's Guide to Agentic AI: From Foundations to Systems</a:t>
            </a:r>
            <a:r>
              <a:rPr sz="1350" b="0" i="0" u="none">
                <a:solidFill>
                  <a:srgbClr val="334155"/>
                </a:solidFill>
                <a:latin typeface="Inter"/>
              </a:rPr>
              <a:t>, 1st ed. New York, NY: TechPress, 2025.</a:t>
            </a:r>
          </a:p>
        </p:txBody>
      </p:sp>
    </p:spTree>
    <p:extLst>
      <p:ext uri="{BB962C8B-B14F-4D97-AF65-F5344CB8AC3E}">
        <p14:creationId xmlns:p14="http://schemas.microsoft.com/office/powerpoint/2010/main" val="2889553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91200" y="2117377"/>
            <a:ext cx="609600" cy="609600"/>
          </a:xfrm>
          <a:prstGeom prst="rect">
            <a:avLst/>
          </a:prstGeom>
        </p:spPr>
      </p:pic>
      <p:sp>
        <p:nvSpPr>
          <p:cNvPr id="3" name="TextBox 2"/>
          <p:cNvSpPr txBox="1"/>
          <p:nvPr/>
        </p:nvSpPr>
        <p:spPr>
          <a:xfrm>
            <a:off x="4067644" y="3107977"/>
            <a:ext cx="4056561" cy="670470"/>
          </a:xfrm>
          <a:prstGeom prst="rect">
            <a:avLst/>
          </a:prstGeom>
          <a:noFill/>
        </p:spPr>
        <p:txBody>
          <a:bodyPr wrap="none" lIns="0" tIns="0" rIns="0" bIns="0" anchor="t">
            <a:spAutoFit/>
          </a:bodyPr>
          <a:lstStyle/>
          <a:p>
            <a:pPr algn="ctr">
              <a:lnSpc>
                <a:spcPts val="5280"/>
              </a:lnSpc>
            </a:pPr>
            <a:r>
              <a:rPr sz="4800" b="1" i="0" u="none">
                <a:solidFill>
                  <a:srgbClr val="F8FAFC"/>
                </a:solidFill>
                <a:latin typeface="Inter"/>
              </a:rPr>
              <a:t>Thank You</a:t>
            </a:r>
          </a:p>
        </p:txBody>
      </p:sp>
      <p:sp>
        <p:nvSpPr>
          <p:cNvPr id="4" name="TextBox 3"/>
          <p:cNvSpPr txBox="1"/>
          <p:nvPr/>
        </p:nvSpPr>
        <p:spPr>
          <a:xfrm>
            <a:off x="4500562" y="4007048"/>
            <a:ext cx="3190875" cy="276225"/>
          </a:xfrm>
          <a:prstGeom prst="rect">
            <a:avLst/>
          </a:prstGeom>
          <a:noFill/>
        </p:spPr>
        <p:txBody>
          <a:bodyPr wrap="none" lIns="0" tIns="0" rIns="0" bIns="0" anchor="t">
            <a:spAutoFit/>
          </a:bodyPr>
          <a:lstStyle/>
          <a:p>
            <a:pPr algn="ctr"/>
            <a:r>
              <a:rPr sz="1800" b="0" i="0" u="none">
                <a:solidFill>
                  <a:srgbClr val="CBD5E1"/>
                </a:solidFill>
                <a:latin typeface="Inter"/>
              </a:rP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166</TotalTime>
  <Words>1334</Words>
  <Application>Microsoft Office PowerPoint</Application>
  <PresentationFormat>Widescreen</PresentationFormat>
  <Paragraphs>86</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Calibri</vt:lpstr>
      <vt:lpstr>Arial</vt:lpstr>
      <vt:lpstr>JetBrains Mono</vt:lpstr>
      <vt:lpstr>Plus Jakarta Sans</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Abhishek Raj</cp:lastModifiedBy>
  <cp:revision>4</cp:revision>
  <dcterms:created xsi:type="dcterms:W3CDTF">2013-01-27T09:14:16Z</dcterms:created>
  <dcterms:modified xsi:type="dcterms:W3CDTF">2026-10-04T17:03:30Z</dcterms:modified>
  <cp:category/>
</cp:coreProperties>
</file>