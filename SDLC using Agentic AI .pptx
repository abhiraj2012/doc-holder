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70" r:id="rId3"/>
    <p:sldId id="282" r:id="rId4"/>
    <p:sldId id="274" r:id="rId5"/>
    <p:sldId id="286" r:id="rId6"/>
    <p:sldId id="283" r:id="rId7"/>
    <p:sldId id="281" r:id="rId8"/>
    <p:sldId id="275" r:id="rId9"/>
    <p:sldId id="280" r:id="rId10"/>
    <p:sldId id="288" r:id="rId11"/>
    <p:sldId id="289" r:id="rId12"/>
    <p:sldId id="285" r:id="rId13"/>
    <p:sldId id="287" r:id="rId14"/>
    <p:sldId id="290" r:id="rId15"/>
    <p:sldId id="284" r:id="rId16"/>
    <p:sldId id="257" r:id="rId17"/>
    <p:sldId id="261" r:id="rId18"/>
    <p:sldId id="276" r:id="rId19"/>
    <p:sldId id="262" r:id="rId20"/>
    <p:sldId id="267" r:id="rId21"/>
    <p:sldId id="260" r:id="rId22"/>
    <p:sldId id="259" r:id="rId23"/>
    <p:sldId id="264" r:id="rId24"/>
    <p:sldId id="265" r:id="rId25"/>
    <p:sldId id="277" r:id="rId26"/>
    <p:sldId id="268"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AFF"/>
    <a:srgbClr val="E0F2FE"/>
    <a:srgbClr val="83A7EF"/>
    <a:srgbClr val="2563E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94660"/>
  </p:normalViewPr>
  <p:slideViewPr>
    <p:cSldViewPr snapToGrid="0" snapToObjects="1">
      <p:cViewPr>
        <p:scale>
          <a:sx n="79" d="100"/>
          <a:sy n="79" d="100"/>
        </p:scale>
        <p:origin x="571"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FA4A4F-6DE4-4020-9306-941990ECF1ED}" type="datetimeFigureOut">
              <a:rPr lang="en-IN" smtClean="0"/>
              <a:t>13-08-2026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3646CC-1C58-4C51-BD13-7005EB5322C4}" type="slidenum">
              <a:rPr lang="en-IN" smtClean="0"/>
              <a:t>‹#›</a:t>
            </a:fld>
            <a:endParaRPr lang="en-IN"/>
          </a:p>
        </p:txBody>
      </p:sp>
    </p:spTree>
    <p:extLst>
      <p:ext uri="{BB962C8B-B14F-4D97-AF65-F5344CB8AC3E}">
        <p14:creationId xmlns:p14="http://schemas.microsoft.com/office/powerpoint/2010/main" val="1639065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CF8A-73E8-149D-0872-C8E2C01A88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0A533-471C-FBB6-B7DF-A9361E717C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066E3E-6BA7-C7AB-8AA2-F2878C579FF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C88811-C671-2A92-DD27-C2B741E90707}"/>
              </a:ext>
            </a:extLst>
          </p:cNvPr>
          <p:cNvSpPr>
            <a:spLocks noGrp="1"/>
          </p:cNvSpPr>
          <p:nvPr>
            <p:ph type="sldNum" sz="quarter" idx="5"/>
          </p:nvPr>
        </p:nvSpPr>
        <p:spPr/>
        <p:txBody>
          <a:bodyPr/>
          <a:lstStyle/>
          <a:p>
            <a:fld id="{2D3646CC-1C58-4C51-BD13-7005EB5322C4}" type="slidenum">
              <a:rPr lang="en-IN" smtClean="0"/>
              <a:t>3</a:t>
            </a:fld>
            <a:endParaRPr lang="en-IN"/>
          </a:p>
        </p:txBody>
      </p:sp>
    </p:spTree>
    <p:extLst>
      <p:ext uri="{BB962C8B-B14F-4D97-AF65-F5344CB8AC3E}">
        <p14:creationId xmlns:p14="http://schemas.microsoft.com/office/powerpoint/2010/main" val="2640849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D3646CC-1C58-4C51-BD13-7005EB5322C4}" type="slidenum">
              <a:rPr lang="en-IN" smtClean="0"/>
              <a:t>4</a:t>
            </a:fld>
            <a:endParaRPr lang="en-IN"/>
          </a:p>
        </p:txBody>
      </p:sp>
    </p:spTree>
    <p:extLst>
      <p:ext uri="{BB962C8B-B14F-4D97-AF65-F5344CB8AC3E}">
        <p14:creationId xmlns:p14="http://schemas.microsoft.com/office/powerpoint/2010/main" val="32152635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D4E44-D37D-9B1D-3528-877532A81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5B3BB-7A1C-D4C0-FF74-90640B299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A53CE-EE70-F93E-3BD2-FFA4B9E210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5B7659-0A0A-04C6-8A6A-F4AFCAB397C7}"/>
              </a:ext>
            </a:extLst>
          </p:cNvPr>
          <p:cNvSpPr>
            <a:spLocks noGrp="1"/>
          </p:cNvSpPr>
          <p:nvPr>
            <p:ph type="sldNum" sz="quarter" idx="5"/>
          </p:nvPr>
        </p:nvSpPr>
        <p:spPr/>
        <p:txBody>
          <a:bodyPr/>
          <a:lstStyle/>
          <a:p>
            <a:fld id="{2D3646CC-1C58-4C51-BD13-7005EB5322C4}" type="slidenum">
              <a:rPr lang="en-IN" smtClean="0"/>
              <a:t>5</a:t>
            </a:fld>
            <a:endParaRPr lang="en-IN"/>
          </a:p>
        </p:txBody>
      </p:sp>
    </p:spTree>
    <p:extLst>
      <p:ext uri="{BB962C8B-B14F-4D97-AF65-F5344CB8AC3E}">
        <p14:creationId xmlns:p14="http://schemas.microsoft.com/office/powerpoint/2010/main" val="27780237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353FD-EF86-11E7-1659-84976105A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009293-47BA-C732-A254-2C5088F88A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719BF4-0856-8C9D-5BAB-3E53DF31E7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606E23-75FF-41C3-F3F7-7E194C5B5F21}"/>
              </a:ext>
            </a:extLst>
          </p:cNvPr>
          <p:cNvSpPr>
            <a:spLocks noGrp="1"/>
          </p:cNvSpPr>
          <p:nvPr>
            <p:ph type="sldNum" sz="quarter" idx="5"/>
          </p:nvPr>
        </p:nvSpPr>
        <p:spPr/>
        <p:txBody>
          <a:bodyPr/>
          <a:lstStyle/>
          <a:p>
            <a:fld id="{2D3646CC-1C58-4C51-BD13-7005EB5322C4}" type="slidenum">
              <a:rPr lang="en-IN" smtClean="0"/>
              <a:t>6</a:t>
            </a:fld>
            <a:endParaRPr lang="en-IN"/>
          </a:p>
        </p:txBody>
      </p:sp>
    </p:spTree>
    <p:extLst>
      <p:ext uri="{BB962C8B-B14F-4D97-AF65-F5344CB8AC3E}">
        <p14:creationId xmlns:p14="http://schemas.microsoft.com/office/powerpoint/2010/main" val="6009679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FF192-0167-C838-CDA4-10F78CF093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5A80E-C9D0-3938-BD62-E0A92F3ED0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BC86A7-2616-E23C-9D18-367A5405F2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C927B9-BC98-7C27-A0DD-E67D8EBDD11C}"/>
              </a:ext>
            </a:extLst>
          </p:cNvPr>
          <p:cNvSpPr>
            <a:spLocks noGrp="1"/>
          </p:cNvSpPr>
          <p:nvPr>
            <p:ph type="sldNum" sz="quarter" idx="5"/>
          </p:nvPr>
        </p:nvSpPr>
        <p:spPr/>
        <p:txBody>
          <a:bodyPr/>
          <a:lstStyle/>
          <a:p>
            <a:fld id="{2D3646CC-1C58-4C51-BD13-7005EB5322C4}" type="slidenum">
              <a:rPr lang="en-IN" smtClean="0"/>
              <a:t>7</a:t>
            </a:fld>
            <a:endParaRPr lang="en-IN"/>
          </a:p>
        </p:txBody>
      </p:sp>
    </p:spTree>
    <p:extLst>
      <p:ext uri="{BB962C8B-B14F-4D97-AF65-F5344CB8AC3E}">
        <p14:creationId xmlns:p14="http://schemas.microsoft.com/office/powerpoint/2010/main" val="249331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png"/><Relationship Id="rId7" Type="http://schemas.microsoft.com/office/2007/relationships/hdphoto" Target="../media/hdphoto3.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png"/><Relationship Id="rId5" Type="http://schemas.microsoft.com/office/2007/relationships/hdphoto" Target="../media/hdphoto2.wdp"/><Relationship Id="rId4" Type="http://schemas.openxmlformats.org/officeDocument/2006/relationships/image" Target="../media/image17.png"/><Relationship Id="rId9" Type="http://schemas.openxmlformats.org/officeDocument/2006/relationships/image" Target="../media/image20.png"/></Relationships>
</file>

<file path=ppt/slides/_rels/slide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1.png"/><Relationship Id="rId7"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 Id="rId6" Type="http://schemas.microsoft.com/office/2007/relationships/hdphoto" Target="../media/hdphoto5.wdp"/><Relationship Id="rId5" Type="http://schemas.openxmlformats.org/officeDocument/2006/relationships/image" Target="../media/image22.png"/><Relationship Id="rId4" Type="http://schemas.microsoft.com/office/2007/relationships/hdphoto" Target="../media/hdphoto4.wdp"/></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6.wdp"/></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7.wdp"/></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8.wdp"/></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9.wdp"/></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7.png"/><Relationship Id="rId11" Type="http://schemas.openxmlformats.org/officeDocument/2006/relationships/image" Target="../media/image52.png"/><Relationship Id="rId5" Type="http://schemas.openxmlformats.org/officeDocument/2006/relationships/image" Target="../media/image46.png"/><Relationship Id="rId10" Type="http://schemas.openxmlformats.org/officeDocument/2006/relationships/image" Target="../media/image51.png"/><Relationship Id="rId4" Type="http://schemas.openxmlformats.org/officeDocument/2006/relationships/image" Target="../media/image45.png"/><Relationship Id="rId9" Type="http://schemas.openxmlformats.org/officeDocument/2006/relationships/image" Target="../media/image50.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hyperlink" Target="https://arxiv.org/search/cs?searchtype=author&amp;query=Roitman,+H"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216617" y="2476429"/>
            <a:ext cx="11601450" cy="705321"/>
          </a:xfrm>
          <a:prstGeom prst="rect">
            <a:avLst/>
          </a:prstGeom>
          <a:noFill/>
        </p:spPr>
        <p:txBody>
          <a:bodyPr wrap="square" lIns="0" tIns="0" rIns="0" bIns="0" anchor="t">
            <a:spAutoFit/>
          </a:bodyPr>
          <a:lstStyle/>
          <a:p>
            <a:pPr algn="ctr">
              <a:lnSpc>
                <a:spcPts val="5520"/>
              </a:lnSpc>
            </a:pPr>
            <a:r>
              <a:rPr sz="4800" b="1" i="0" u="none" dirty="0">
                <a:solidFill>
                  <a:srgbClr val="0F172A"/>
                </a:solidFill>
                <a:latin typeface="Inter"/>
              </a:rPr>
              <a:t>SDLC</a:t>
            </a:r>
            <a:r>
              <a:rPr lang="en-IN" sz="4800" b="1" i="0" u="none" dirty="0">
                <a:solidFill>
                  <a:srgbClr val="0F172A"/>
                </a:solidFill>
                <a:latin typeface="Inter"/>
              </a:rPr>
              <a:t> </a:t>
            </a:r>
            <a:r>
              <a:rPr lang="en-IN" sz="4800" b="1" dirty="0">
                <a:solidFill>
                  <a:srgbClr val="0F172A"/>
                </a:solidFill>
                <a:latin typeface="Inter"/>
              </a:rPr>
              <a:t>U</a:t>
            </a:r>
            <a:r>
              <a:rPr sz="4800" b="1" i="0" u="none" dirty="0">
                <a:solidFill>
                  <a:srgbClr val="0F172A"/>
                </a:solidFill>
                <a:latin typeface="Inter"/>
              </a:rPr>
              <a:t>sing </a:t>
            </a:r>
            <a:r>
              <a:rPr sz="4800" b="1" i="0" u="none" dirty="0">
                <a:solidFill>
                  <a:srgbClr val="2563EB"/>
                </a:solidFill>
                <a:latin typeface="Inter"/>
              </a:rPr>
              <a:t>Agentic AI</a:t>
            </a:r>
          </a:p>
        </p:txBody>
      </p:sp>
      <p:sp>
        <p:nvSpPr>
          <p:cNvPr id="4" name="TextBox 3"/>
          <p:cNvSpPr txBox="1"/>
          <p:nvPr/>
        </p:nvSpPr>
        <p:spPr>
          <a:xfrm>
            <a:off x="571500" y="3230910"/>
            <a:ext cx="11049000" cy="396180"/>
          </a:xfrm>
          <a:prstGeom prst="rect">
            <a:avLst/>
          </a:prstGeom>
          <a:noFill/>
        </p:spPr>
        <p:txBody>
          <a:bodyPr wrap="square" lIns="0" tIns="0" rIns="0" bIns="0" anchor="t">
            <a:spAutoFit/>
          </a:bodyPr>
          <a:lstStyle/>
          <a:p>
            <a:pPr algn="ctr">
              <a:lnSpc>
                <a:spcPts val="3120"/>
              </a:lnSpc>
            </a:pPr>
            <a:r>
              <a:rPr sz="1950" b="0" i="0" u="none" dirty="0">
                <a:solidFill>
                  <a:srgbClr val="64748B"/>
                </a:solidFill>
                <a:latin typeface="Inter Medium"/>
              </a:rPr>
              <a:t>Building an Adaptive AI Software Engineering Organization</a:t>
            </a:r>
          </a:p>
        </p:txBody>
      </p:sp>
      <p:sp>
        <p:nvSpPr>
          <p:cNvPr id="6" name="TextBox 5">
            <a:extLst>
              <a:ext uri="{FF2B5EF4-FFF2-40B4-BE49-F238E27FC236}">
                <a16:creationId xmlns:a16="http://schemas.microsoft.com/office/drawing/2014/main" id="{10BC449C-DBD9-236B-C1B9-FEF4B80F7E53}"/>
              </a:ext>
            </a:extLst>
          </p:cNvPr>
          <p:cNvSpPr txBox="1"/>
          <p:nvPr/>
        </p:nvSpPr>
        <p:spPr>
          <a:xfrm>
            <a:off x="989371" y="5455177"/>
            <a:ext cx="3936590" cy="761683"/>
          </a:xfrm>
          <a:prstGeom prst="rect">
            <a:avLst/>
          </a:prstGeom>
          <a:noFill/>
        </p:spPr>
        <p:txBody>
          <a:bodyPr wrap="square" lIns="0" tIns="0" rIns="0" bIns="0" anchor="t">
            <a:spAutoFit/>
          </a:bodyPr>
          <a:lstStyle/>
          <a:p>
            <a:pPr>
              <a:lnSpc>
                <a:spcPts val="3120"/>
              </a:lnSpc>
            </a:pPr>
            <a:r>
              <a:rPr lang="en-IN" sz="1950" b="1" i="0" u="none" dirty="0">
                <a:solidFill>
                  <a:srgbClr val="64748B"/>
                </a:solidFill>
                <a:latin typeface="Inter Medium"/>
              </a:rPr>
              <a:t>Presented By:</a:t>
            </a:r>
          </a:p>
          <a:p>
            <a:pPr>
              <a:lnSpc>
                <a:spcPts val="3120"/>
              </a:lnSpc>
            </a:pPr>
            <a:r>
              <a:rPr lang="en-IN" sz="1950" dirty="0">
                <a:latin typeface="Inter Medium"/>
              </a:rPr>
              <a:t>Abhishek Raj (</a:t>
            </a:r>
            <a:r>
              <a:rPr lang="en-IN" sz="1950" dirty="0" err="1">
                <a:latin typeface="Inter Medium"/>
              </a:rPr>
              <a:t>M.Tech</a:t>
            </a:r>
            <a:r>
              <a:rPr lang="en-IN" sz="1950" dirty="0">
                <a:latin typeface="Inter Medium"/>
              </a:rPr>
              <a:t> Intern)</a:t>
            </a:r>
            <a:endParaRPr sz="1950" b="0" i="0" u="none" dirty="0">
              <a:latin typeface="Inter Medium"/>
            </a:endParaRPr>
          </a:p>
        </p:txBody>
      </p:sp>
      <p:sp>
        <p:nvSpPr>
          <p:cNvPr id="8" name="TextBox 7">
            <a:extLst>
              <a:ext uri="{FF2B5EF4-FFF2-40B4-BE49-F238E27FC236}">
                <a16:creationId xmlns:a16="http://schemas.microsoft.com/office/drawing/2014/main" id="{AC8C9C62-C2EA-FF0A-565F-413C1CE45600}"/>
              </a:ext>
            </a:extLst>
          </p:cNvPr>
          <p:cNvSpPr txBox="1"/>
          <p:nvPr/>
        </p:nvSpPr>
        <p:spPr>
          <a:xfrm>
            <a:off x="8407810" y="5455176"/>
            <a:ext cx="3936590" cy="761683"/>
          </a:xfrm>
          <a:prstGeom prst="rect">
            <a:avLst/>
          </a:prstGeom>
          <a:noFill/>
        </p:spPr>
        <p:txBody>
          <a:bodyPr wrap="square" lIns="0" tIns="0" rIns="0" bIns="0" anchor="t">
            <a:spAutoFit/>
          </a:bodyPr>
          <a:lstStyle/>
          <a:p>
            <a:pPr>
              <a:lnSpc>
                <a:spcPts val="3120"/>
              </a:lnSpc>
            </a:pPr>
            <a:r>
              <a:rPr lang="en-IN" sz="1950" b="1" dirty="0">
                <a:solidFill>
                  <a:srgbClr val="64748B"/>
                </a:solidFill>
                <a:latin typeface="Inter Medium"/>
              </a:rPr>
              <a:t>Guide</a:t>
            </a:r>
            <a:r>
              <a:rPr lang="en-IN" sz="1950" b="1" i="0" u="none" dirty="0">
                <a:solidFill>
                  <a:srgbClr val="64748B"/>
                </a:solidFill>
                <a:latin typeface="Inter Medium"/>
              </a:rPr>
              <a:t>:</a:t>
            </a:r>
          </a:p>
          <a:p>
            <a:pPr>
              <a:lnSpc>
                <a:spcPts val="3120"/>
              </a:lnSpc>
            </a:pPr>
            <a:r>
              <a:rPr lang="en-IN" sz="1950" dirty="0">
                <a:latin typeface="Inter Medium"/>
              </a:rPr>
              <a:t>M.B. Sai Charan (Scientist C)</a:t>
            </a:r>
            <a:endParaRPr sz="1950" b="0" i="0" u="none" dirty="0">
              <a:latin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image.png">
            <a:extLst>
              <a:ext uri="{FF2B5EF4-FFF2-40B4-BE49-F238E27FC236}">
                <a16:creationId xmlns:a16="http://schemas.microsoft.com/office/drawing/2014/main" id="{CCB9C80C-55A6-57DA-D61D-7FFC77EE37F9}"/>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p:cNvSpPr txBox="1"/>
          <p:nvPr/>
        </p:nvSpPr>
        <p:spPr>
          <a:xfrm>
            <a:off x="571500" y="483009"/>
            <a:ext cx="11601450" cy="484748"/>
          </a:xfrm>
          <a:prstGeom prst="rect">
            <a:avLst/>
          </a:prstGeom>
          <a:noFill/>
        </p:spPr>
        <p:txBody>
          <a:bodyPr wrap="square" lIns="0" tIns="0" rIns="0" bIns="0" anchor="t">
            <a:spAutoFit/>
          </a:bodyPr>
          <a:lstStyle/>
          <a:p>
            <a:pPr algn="l"/>
            <a:r>
              <a:rPr sz="3150" b="1" i="0" u="none" dirty="0">
                <a:solidFill>
                  <a:srgbClr val="0F172A"/>
                </a:solidFill>
                <a:latin typeface="Inter"/>
              </a:rPr>
              <a:t>What is an </a:t>
            </a:r>
            <a:r>
              <a:rPr sz="3150" b="1" i="0" u="none" dirty="0">
                <a:solidFill>
                  <a:schemeClr val="tx2"/>
                </a:solidFill>
                <a:latin typeface="Inter"/>
              </a:rPr>
              <a:t>AI Agent</a:t>
            </a:r>
            <a:r>
              <a:rPr sz="3150" b="1" i="0" u="none" dirty="0">
                <a:solidFill>
                  <a:srgbClr val="0F172A"/>
                </a:solidFill>
                <a:latin typeface="Inter"/>
              </a:rPr>
              <a:t>?</a:t>
            </a:r>
          </a:p>
        </p:txBody>
      </p:sp>
      <p:sp>
        <p:nvSpPr>
          <p:cNvPr id="8" name="Rectangle 7"/>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1433601"/>
            <a:ext cx="11048998" cy="692497"/>
          </a:xfrm>
          <a:prstGeom prst="rect">
            <a:avLst/>
          </a:prstGeom>
          <a:noFill/>
        </p:spPr>
        <p:txBody>
          <a:bodyPr wrap="square" lIns="0" tIns="0" rIns="0" bIns="0" anchor="t">
            <a:spAutoFit/>
          </a:bodyPr>
          <a:lstStyle/>
          <a:p>
            <a:pPr algn="just">
              <a:spcBef>
                <a:spcPts val="1200"/>
              </a:spcBef>
            </a:pPr>
            <a:r>
              <a:rPr lang="en-IN" sz="1500" dirty="0">
                <a:latin typeface="Inter"/>
              </a:rPr>
              <a:t>An AI agent is a system where an LLM operates in a loop: it receives observations from an environment (user messages, tool outputs, sensor data), reasons about what to do next, takes actions (tool calls, code execution, API requests), and iterates until a goal is achieved or it explicitly asks for human input.</a:t>
            </a:r>
          </a:p>
        </p:txBody>
      </p:sp>
      <p:pic>
        <p:nvPicPr>
          <p:cNvPr id="24" name="Picture 23">
            <a:extLst>
              <a:ext uri="{FF2B5EF4-FFF2-40B4-BE49-F238E27FC236}">
                <a16:creationId xmlns:a16="http://schemas.microsoft.com/office/drawing/2014/main" id="{5F2BCF82-A88A-4CD9-F6B6-B3742FDED85C}"/>
              </a:ext>
            </a:extLst>
          </p:cNvPr>
          <p:cNvPicPr>
            <a:picLocks noChangeAspect="1"/>
          </p:cNvPicPr>
          <p:nvPr/>
        </p:nvPicPr>
        <p:blipFill>
          <a:blip r:embed="rId3">
            <a:duotone>
              <a:schemeClr val="accent5">
                <a:shade val="45000"/>
                <a:satMod val="135000"/>
              </a:schemeClr>
              <a:prstClr val="white"/>
            </a:duotone>
            <a:extLst>
              <a:ext uri="{BEBA8EAE-BF5A-486C-A8C5-ECC9F3942E4B}">
                <a14:imgProps xmlns:a14="http://schemas.microsoft.com/office/drawing/2010/main">
                  <a14:imgLayer r:embed="rId4">
                    <a14:imgEffect>
                      <a14:saturation sat="400000"/>
                    </a14:imgEffect>
                  </a14:imgLayer>
                </a14:imgProps>
              </a:ext>
            </a:extLst>
          </a:blip>
          <a:srcRect/>
          <a:stretch/>
        </p:blipFill>
        <p:spPr>
          <a:xfrm>
            <a:off x="5881508" y="2500488"/>
            <a:ext cx="6015699" cy="3490496"/>
          </a:xfrm>
          <a:prstGeom prst="rect">
            <a:avLst/>
          </a:prstGeom>
        </p:spPr>
      </p:pic>
      <p:sp>
        <p:nvSpPr>
          <p:cNvPr id="2" name="TextBox 1">
            <a:extLst>
              <a:ext uri="{FF2B5EF4-FFF2-40B4-BE49-F238E27FC236}">
                <a16:creationId xmlns:a16="http://schemas.microsoft.com/office/drawing/2014/main" id="{4D696E5F-9329-E44F-D5F2-CBCC3F7A1BF6}"/>
              </a:ext>
            </a:extLst>
          </p:cNvPr>
          <p:cNvSpPr txBox="1"/>
          <p:nvPr/>
        </p:nvSpPr>
        <p:spPr>
          <a:xfrm>
            <a:off x="571500" y="2268990"/>
            <a:ext cx="5088520" cy="4231928"/>
          </a:xfrm>
          <a:prstGeom prst="rect">
            <a:avLst/>
          </a:prstGeom>
          <a:noFill/>
        </p:spPr>
        <p:txBody>
          <a:bodyPr wrap="square" lIns="0" tIns="0" rIns="0" bIns="0" anchor="t">
            <a:spAutoFit/>
          </a:bodyPr>
          <a:lstStyle/>
          <a:p>
            <a:pPr algn="just">
              <a:spcBef>
                <a:spcPts val="1200"/>
              </a:spcBef>
            </a:pPr>
            <a:r>
              <a:rPr lang="en-IN" sz="1500" dirty="0">
                <a:latin typeface="Inter"/>
              </a:rPr>
              <a:t>An AI agent should have the following characteristics:</a:t>
            </a:r>
          </a:p>
          <a:p>
            <a:pPr marL="285750" lvl="0" indent="-285750" algn="just">
              <a:spcBef>
                <a:spcPts val="1200"/>
              </a:spcBef>
              <a:buFont typeface="Arial" panose="020B0604020202020204" pitchFamily="34" charset="0"/>
              <a:buChar char="•"/>
            </a:pPr>
            <a:r>
              <a:rPr lang="en-IN" sz="1500" b="1" dirty="0">
                <a:latin typeface="Inter"/>
              </a:rPr>
              <a:t>Persistence:</a:t>
            </a:r>
            <a:r>
              <a:rPr lang="en-IN" sz="1500" dirty="0">
                <a:latin typeface="Inter"/>
              </a:rPr>
              <a:t> An agent must remember what it has done, what failed, and what context was established—across turns, sessions, and even days.</a:t>
            </a:r>
          </a:p>
          <a:p>
            <a:pPr marL="285750" lvl="0" indent="-285750" algn="just">
              <a:spcBef>
                <a:spcPts val="1200"/>
              </a:spcBef>
              <a:buFont typeface="Arial" panose="020B0604020202020204" pitchFamily="34" charset="0"/>
              <a:buChar char="•"/>
            </a:pPr>
            <a:r>
              <a:rPr lang="en-IN" sz="1500" b="1" dirty="0">
                <a:latin typeface="Inter"/>
              </a:rPr>
              <a:t>Grounding:</a:t>
            </a:r>
            <a:r>
              <a:rPr lang="en-IN" sz="1500" dirty="0">
                <a:latin typeface="Inter"/>
              </a:rPr>
              <a:t> The agent must access up-to-date, domain-specific knowledge that was not present in its training data.</a:t>
            </a:r>
          </a:p>
          <a:p>
            <a:pPr marL="285750" lvl="0" indent="-285750" algn="just">
              <a:spcBef>
                <a:spcPts val="1200"/>
              </a:spcBef>
              <a:buFont typeface="Arial" panose="020B0604020202020204" pitchFamily="34" charset="0"/>
              <a:buChar char="•"/>
            </a:pPr>
            <a:r>
              <a:rPr lang="en-IN" sz="1500" b="1" dirty="0">
                <a:latin typeface="Inter"/>
              </a:rPr>
              <a:t>Action:</a:t>
            </a:r>
            <a:r>
              <a:rPr lang="en-IN" sz="1500" dirty="0">
                <a:latin typeface="Inter"/>
              </a:rPr>
              <a:t> The agent must interact with external systems—databases, APIs, file systems, browsers—through well-defined interfaces.</a:t>
            </a:r>
          </a:p>
          <a:p>
            <a:pPr marL="285750" lvl="0" indent="-285750" algn="just">
              <a:spcBef>
                <a:spcPts val="1200"/>
              </a:spcBef>
              <a:buFont typeface="Arial" panose="020B0604020202020204" pitchFamily="34" charset="0"/>
              <a:buChar char="•"/>
            </a:pPr>
            <a:r>
              <a:rPr lang="en-IN" sz="1500" b="1" dirty="0">
                <a:latin typeface="Inter"/>
              </a:rPr>
              <a:t>Coordination:</a:t>
            </a:r>
            <a:r>
              <a:rPr lang="en-IN" sz="1500" dirty="0">
                <a:latin typeface="Inter"/>
              </a:rPr>
              <a:t> Complex tasks often exceed what a single agent can handle; multiple specialized agents must collaborate, delegate, and negotiate.</a:t>
            </a:r>
          </a:p>
          <a:p>
            <a:pPr marL="285750" lvl="0" indent="-285750" algn="just">
              <a:spcBef>
                <a:spcPts val="1200"/>
              </a:spcBef>
              <a:buFont typeface="Arial" panose="020B0604020202020204" pitchFamily="34" charset="0"/>
              <a:buChar char="•"/>
            </a:pPr>
            <a:r>
              <a:rPr lang="en-IN" sz="1500" b="1" dirty="0">
                <a:latin typeface="Inter"/>
              </a:rPr>
              <a:t>Safety:</a:t>
            </a:r>
            <a:r>
              <a:rPr lang="en-IN" sz="1500" dirty="0">
                <a:latin typeface="Inter"/>
              </a:rPr>
              <a:t> Autonomous action requires guardrails, human oversight, and graceful degradation when the agent is uncertain.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5C708-D246-1A55-22B8-6471DCD0C8FC}"/>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231D5387-7F6D-3F35-B6C9-037EE7C58063}"/>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23" name="Picture 22" descr="image.png">
            <a:extLst>
              <a:ext uri="{FF2B5EF4-FFF2-40B4-BE49-F238E27FC236}">
                <a16:creationId xmlns:a16="http://schemas.microsoft.com/office/drawing/2014/main" id="{721D4E72-7536-3439-7474-2993C54C0C2C}"/>
              </a:ext>
            </a:extLst>
          </p:cNvPr>
          <p:cNvPicPr>
            <a:picLocks noChangeAspect="1"/>
          </p:cNvPicPr>
          <p:nvPr/>
        </p:nvPicPr>
        <p:blipFill>
          <a:blip r:embed="rId4"/>
          <a:stretch>
            <a:fillRect/>
          </a:stretch>
        </p:blipFill>
        <p:spPr>
          <a:xfrm>
            <a:off x="571500" y="1896814"/>
            <a:ext cx="5381625" cy="4132027"/>
          </a:xfrm>
          <a:prstGeom prst="rect">
            <a:avLst/>
          </a:prstGeom>
        </p:spPr>
      </p:pic>
      <p:pic>
        <p:nvPicPr>
          <p:cNvPr id="38" name="Picture 37" descr="image.png">
            <a:extLst>
              <a:ext uri="{FF2B5EF4-FFF2-40B4-BE49-F238E27FC236}">
                <a16:creationId xmlns:a16="http://schemas.microsoft.com/office/drawing/2014/main" id="{0ED52A92-2C0E-F365-6B10-44F50BE7BB77}"/>
              </a:ext>
            </a:extLst>
          </p:cNvPr>
          <p:cNvPicPr>
            <a:picLocks noChangeAspect="1"/>
          </p:cNvPicPr>
          <p:nvPr/>
        </p:nvPicPr>
        <p:blipFill>
          <a:blip r:embed="rId5"/>
          <a:stretch>
            <a:fillRect/>
          </a:stretch>
        </p:blipFill>
        <p:spPr>
          <a:xfrm>
            <a:off x="6238875" y="1896814"/>
            <a:ext cx="5381625" cy="4132027"/>
          </a:xfrm>
          <a:prstGeom prst="rect">
            <a:avLst/>
          </a:prstGeom>
        </p:spPr>
      </p:pic>
      <p:sp>
        <p:nvSpPr>
          <p:cNvPr id="55" name="Rectangle 54">
            <a:extLst>
              <a:ext uri="{FF2B5EF4-FFF2-40B4-BE49-F238E27FC236}">
                <a16:creationId xmlns:a16="http://schemas.microsoft.com/office/drawing/2014/main" id="{3A4513D3-CF14-ADC6-C075-03E6DB8B11D5}"/>
              </a:ext>
            </a:extLst>
          </p:cNvPr>
          <p:cNvSpPr/>
          <p:nvPr/>
        </p:nvSpPr>
        <p:spPr>
          <a:xfrm>
            <a:off x="847725" y="4886622"/>
            <a:ext cx="4829175" cy="9483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8" name="TextBox 57">
            <a:extLst>
              <a:ext uri="{FF2B5EF4-FFF2-40B4-BE49-F238E27FC236}">
                <a16:creationId xmlns:a16="http://schemas.microsoft.com/office/drawing/2014/main" id="{FA9B1DD8-080F-5AAE-0C6D-628E031C3D1B}"/>
              </a:ext>
            </a:extLst>
          </p:cNvPr>
          <p:cNvSpPr txBox="1"/>
          <p:nvPr/>
        </p:nvSpPr>
        <p:spPr>
          <a:xfrm>
            <a:off x="1122044" y="4981872"/>
            <a:ext cx="4421506" cy="646331"/>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Prompt Chaining, Sequential Workflows, Routing, Parallelization, Orchestrator-Workers, Evaluator-Optimizer.</a:t>
            </a:r>
          </a:p>
        </p:txBody>
      </p:sp>
      <p:sp>
        <p:nvSpPr>
          <p:cNvPr id="60" name="Rectangle 59">
            <a:extLst>
              <a:ext uri="{FF2B5EF4-FFF2-40B4-BE49-F238E27FC236}">
                <a16:creationId xmlns:a16="http://schemas.microsoft.com/office/drawing/2014/main" id="{6D47A4BF-AB4E-68E3-1A1E-A22B89FB6196}"/>
              </a:ext>
            </a:extLst>
          </p:cNvPr>
          <p:cNvSpPr/>
          <p:nvPr/>
        </p:nvSpPr>
        <p:spPr>
          <a:xfrm>
            <a:off x="847725" y="4886621"/>
            <a:ext cx="45719" cy="881063"/>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2" name="Rectangle 61">
            <a:extLst>
              <a:ext uri="{FF2B5EF4-FFF2-40B4-BE49-F238E27FC236}">
                <a16:creationId xmlns:a16="http://schemas.microsoft.com/office/drawing/2014/main" id="{EC2EE370-B509-B885-DB08-8DF87F154483}"/>
              </a:ext>
            </a:extLst>
          </p:cNvPr>
          <p:cNvSpPr/>
          <p:nvPr/>
        </p:nvSpPr>
        <p:spPr>
          <a:xfrm>
            <a:off x="6515100" y="4886622"/>
            <a:ext cx="4829175" cy="84772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5" name="TextBox 64">
            <a:extLst>
              <a:ext uri="{FF2B5EF4-FFF2-40B4-BE49-F238E27FC236}">
                <a16:creationId xmlns:a16="http://schemas.microsoft.com/office/drawing/2014/main" id="{A41EC876-1A30-87CB-3DF5-0AD2B6B2EDCA}"/>
              </a:ext>
            </a:extLst>
          </p:cNvPr>
          <p:cNvSpPr txBox="1"/>
          <p:nvPr/>
        </p:nvSpPr>
        <p:spPr>
          <a:xfrm>
            <a:off x="6789419" y="5070360"/>
            <a:ext cx="4421506" cy="430887"/>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a:t>
            </a:r>
            <a:r>
              <a:rPr sz="1400" b="0" i="0" u="none" dirty="0" err="1">
                <a:solidFill>
                  <a:srgbClr val="334155"/>
                </a:solidFill>
                <a:latin typeface="Inter"/>
              </a:rPr>
              <a:t>ReAct</a:t>
            </a:r>
            <a:r>
              <a:rPr sz="1400" b="0" i="0" u="none" dirty="0">
                <a:solidFill>
                  <a:srgbClr val="334155"/>
                </a:solidFill>
                <a:latin typeface="Inter"/>
              </a:rPr>
              <a:t> (</a:t>
            </a:r>
            <a:r>
              <a:rPr sz="1400" b="0" i="0" u="none" dirty="0" err="1">
                <a:solidFill>
                  <a:srgbClr val="334155"/>
                </a:solidFill>
                <a:latin typeface="Inter"/>
              </a:rPr>
              <a:t>Reason+Act</a:t>
            </a:r>
            <a:r>
              <a:rPr sz="1400" b="0" i="0" u="none" dirty="0">
                <a:solidFill>
                  <a:srgbClr val="334155"/>
                </a:solidFill>
                <a:latin typeface="Inter"/>
              </a:rPr>
              <a:t>), Planning Agents, Reflection / Self-Critique, Multi-Agent Collaboration.</a:t>
            </a:r>
          </a:p>
        </p:txBody>
      </p:sp>
      <p:sp>
        <p:nvSpPr>
          <p:cNvPr id="67" name="Rectangle 66">
            <a:extLst>
              <a:ext uri="{FF2B5EF4-FFF2-40B4-BE49-F238E27FC236}">
                <a16:creationId xmlns:a16="http://schemas.microsoft.com/office/drawing/2014/main" id="{DEF1FFA9-1982-AB46-8A29-EFF9985E6DBA}"/>
              </a:ext>
            </a:extLst>
          </p:cNvPr>
          <p:cNvSpPr/>
          <p:nvPr/>
        </p:nvSpPr>
        <p:spPr>
          <a:xfrm flipH="1">
            <a:off x="6469381" y="4886622"/>
            <a:ext cx="45719" cy="7835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9" name="TextBox 68">
            <a:extLst>
              <a:ext uri="{FF2B5EF4-FFF2-40B4-BE49-F238E27FC236}">
                <a16:creationId xmlns:a16="http://schemas.microsoft.com/office/drawing/2014/main" id="{531B7F07-18D6-8DA5-45C0-42C84731A1AA}"/>
              </a:ext>
            </a:extLst>
          </p:cNvPr>
          <p:cNvSpPr txBox="1"/>
          <p:nvPr/>
        </p:nvSpPr>
        <p:spPr>
          <a:xfrm>
            <a:off x="893444" y="2372023"/>
            <a:ext cx="5114925"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Workflow Patterns</a:t>
            </a:r>
            <a:endParaRPr sz="2400" b="0" i="0" u="none" dirty="0">
              <a:solidFill>
                <a:srgbClr val="1E293B"/>
              </a:solidFill>
              <a:latin typeface="Poppins SemiBold"/>
            </a:endParaRPr>
          </a:p>
        </p:txBody>
      </p:sp>
      <p:sp>
        <p:nvSpPr>
          <p:cNvPr id="71" name="Rectangle 70">
            <a:extLst>
              <a:ext uri="{FF2B5EF4-FFF2-40B4-BE49-F238E27FC236}">
                <a16:creationId xmlns:a16="http://schemas.microsoft.com/office/drawing/2014/main" id="{FC10E5B5-3F42-B6F6-9AC5-662778E15EA0}"/>
              </a:ext>
            </a:extLst>
          </p:cNvPr>
          <p:cNvSpPr/>
          <p:nvPr/>
        </p:nvSpPr>
        <p:spPr>
          <a:xfrm>
            <a:off x="847725"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EAEC2E4F-1885-82B2-02A6-6F1F7EE7D834}"/>
              </a:ext>
            </a:extLst>
          </p:cNvPr>
          <p:cNvSpPr txBox="1"/>
          <p:nvPr/>
        </p:nvSpPr>
        <p:spPr>
          <a:xfrm>
            <a:off x="847725"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Execution paths, step ordering, and condition gates are explicitly defined in code. LLM calls serve as reliable processing nodes within the system pipeline.</a:t>
            </a:r>
            <a:r>
              <a:rPr lang="en-IN" sz="1400" dirty="0">
                <a:solidFill>
                  <a:srgbClr val="475569"/>
                </a:solidFill>
                <a:latin typeface="Inter"/>
              </a:rPr>
              <a:t> [6]</a:t>
            </a:r>
            <a:endParaRPr sz="1400" b="0" i="0" u="none" dirty="0">
              <a:solidFill>
                <a:srgbClr val="475569"/>
              </a:solidFill>
              <a:latin typeface="Inter"/>
            </a:endParaRPr>
          </a:p>
        </p:txBody>
      </p:sp>
      <p:sp>
        <p:nvSpPr>
          <p:cNvPr id="75" name="TextBox 74">
            <a:extLst>
              <a:ext uri="{FF2B5EF4-FFF2-40B4-BE49-F238E27FC236}">
                <a16:creationId xmlns:a16="http://schemas.microsoft.com/office/drawing/2014/main" id="{3C3B8455-B146-D1D8-BE92-5F7380BA0FD9}"/>
              </a:ext>
            </a:extLst>
          </p:cNvPr>
          <p:cNvSpPr txBox="1"/>
          <p:nvPr/>
        </p:nvSpPr>
        <p:spPr>
          <a:xfrm>
            <a:off x="6515100" y="2349168"/>
            <a:ext cx="5070633"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Autonomous Agent Pattern</a:t>
            </a:r>
            <a:endParaRPr sz="2400" b="0" i="0" u="none" dirty="0">
              <a:solidFill>
                <a:srgbClr val="1E293B"/>
              </a:solidFill>
              <a:latin typeface="Poppins SemiBold"/>
            </a:endParaRPr>
          </a:p>
        </p:txBody>
      </p:sp>
      <p:sp>
        <p:nvSpPr>
          <p:cNvPr id="77" name="Rectangle 76">
            <a:extLst>
              <a:ext uri="{FF2B5EF4-FFF2-40B4-BE49-F238E27FC236}">
                <a16:creationId xmlns:a16="http://schemas.microsoft.com/office/drawing/2014/main" id="{2C747C0E-440B-FA09-C368-AE46E9C1F931}"/>
              </a:ext>
            </a:extLst>
          </p:cNvPr>
          <p:cNvSpPr/>
          <p:nvPr/>
        </p:nvSpPr>
        <p:spPr>
          <a:xfrm>
            <a:off x="6515100"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14FEB93B-9EEA-CAE4-A969-3A5DA80EAF3E}"/>
              </a:ext>
            </a:extLst>
          </p:cNvPr>
          <p:cNvSpPr txBox="1"/>
          <p:nvPr/>
        </p:nvSpPr>
        <p:spPr>
          <a:xfrm>
            <a:off x="6515100"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The agent autonomously determines its execution path based on environment feedback, goal planning, reflection, and tool execution.</a:t>
            </a:r>
            <a:r>
              <a:rPr lang="en-IN" sz="1400" dirty="0">
                <a:solidFill>
                  <a:srgbClr val="475569"/>
                </a:solidFill>
                <a:latin typeface="Inter"/>
              </a:rPr>
              <a:t> [6]</a:t>
            </a:r>
            <a:endParaRPr sz="1400" b="0" i="0" u="none" dirty="0">
              <a:solidFill>
                <a:srgbClr val="475569"/>
              </a:solidFill>
              <a:latin typeface="Inter"/>
            </a:endParaRPr>
          </a:p>
        </p:txBody>
      </p:sp>
      <p:pic>
        <p:nvPicPr>
          <p:cNvPr id="83" name="Picture 82" descr="image.png">
            <a:extLst>
              <a:ext uri="{FF2B5EF4-FFF2-40B4-BE49-F238E27FC236}">
                <a16:creationId xmlns:a16="http://schemas.microsoft.com/office/drawing/2014/main" id="{CC2CD42F-7E8F-E5FB-AADD-9FFDFD60B182}"/>
              </a:ext>
            </a:extLst>
          </p:cNvPr>
          <p:cNvPicPr>
            <a:picLocks noChangeAspect="1"/>
          </p:cNvPicPr>
          <p:nvPr/>
        </p:nvPicPr>
        <p:blipFill>
          <a:blip r:embed="rId6"/>
          <a:stretch>
            <a:fillRect/>
          </a:stretch>
        </p:blipFill>
        <p:spPr>
          <a:xfrm>
            <a:off x="5329237" y="2324937"/>
            <a:ext cx="214313" cy="238125"/>
          </a:xfrm>
          <a:prstGeom prst="rect">
            <a:avLst/>
          </a:prstGeom>
        </p:spPr>
      </p:pic>
      <p:sp>
        <p:nvSpPr>
          <p:cNvPr id="85" name="TextBox 84">
            <a:extLst>
              <a:ext uri="{FF2B5EF4-FFF2-40B4-BE49-F238E27FC236}">
                <a16:creationId xmlns:a16="http://schemas.microsoft.com/office/drawing/2014/main" id="{24C4D24F-DBC5-A82B-BBE1-D8D930724BF3}"/>
              </a:ext>
            </a:extLst>
          </p:cNvPr>
          <p:cNvSpPr txBox="1"/>
          <p:nvPr/>
        </p:nvSpPr>
        <p:spPr>
          <a:xfrm>
            <a:off x="1076325" y="3805535"/>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Higher predictability and testability</a:t>
            </a:r>
          </a:p>
        </p:txBody>
      </p:sp>
      <p:sp>
        <p:nvSpPr>
          <p:cNvPr id="87" name="TextBox 86">
            <a:extLst>
              <a:ext uri="{FF2B5EF4-FFF2-40B4-BE49-F238E27FC236}">
                <a16:creationId xmlns:a16="http://schemas.microsoft.com/office/drawing/2014/main" id="{4B1DCA67-B544-4F89-F2C7-13E4678A85E7}"/>
              </a:ext>
            </a:extLst>
          </p:cNvPr>
          <p:cNvSpPr txBox="1"/>
          <p:nvPr/>
        </p:nvSpPr>
        <p:spPr>
          <a:xfrm>
            <a:off x="1076325" y="4134147"/>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Lower latency and controlled token expenditure</a:t>
            </a:r>
          </a:p>
        </p:txBody>
      </p:sp>
      <p:sp>
        <p:nvSpPr>
          <p:cNvPr id="89" name="TextBox 88">
            <a:extLst>
              <a:ext uri="{FF2B5EF4-FFF2-40B4-BE49-F238E27FC236}">
                <a16:creationId xmlns:a16="http://schemas.microsoft.com/office/drawing/2014/main" id="{7B1F7585-1FE2-B28C-83D0-D9923B134AFC}"/>
              </a:ext>
            </a:extLst>
          </p:cNvPr>
          <p:cNvSpPr txBox="1"/>
          <p:nvPr/>
        </p:nvSpPr>
        <p:spPr>
          <a:xfrm>
            <a:off x="1076325"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Ideal for standardized, step-by-step transformations</a:t>
            </a:r>
          </a:p>
        </p:txBody>
      </p:sp>
      <p:pic>
        <p:nvPicPr>
          <p:cNvPr id="93" name="Picture 92" descr="image.png">
            <a:extLst>
              <a:ext uri="{FF2B5EF4-FFF2-40B4-BE49-F238E27FC236}">
                <a16:creationId xmlns:a16="http://schemas.microsoft.com/office/drawing/2014/main" id="{7A0D2E31-DCA1-BCAA-586D-94718D142CC0}"/>
              </a:ext>
            </a:extLst>
          </p:cNvPr>
          <p:cNvPicPr>
            <a:picLocks noChangeAspect="1"/>
          </p:cNvPicPr>
          <p:nvPr/>
        </p:nvPicPr>
        <p:blipFill>
          <a:blip r:embed="rId7">
            <a:duotone>
              <a:prstClr val="black"/>
              <a:schemeClr val="accent1">
                <a:tint val="45000"/>
                <a:satMod val="400000"/>
              </a:schemeClr>
            </a:duotone>
          </a:blip>
          <a:stretch>
            <a:fillRect/>
          </a:stretch>
        </p:blipFill>
        <p:spPr>
          <a:xfrm>
            <a:off x="10995630" y="2337393"/>
            <a:ext cx="297983" cy="238386"/>
          </a:xfrm>
          <a:prstGeom prst="rect">
            <a:avLst/>
          </a:prstGeom>
        </p:spPr>
      </p:pic>
      <p:sp>
        <p:nvSpPr>
          <p:cNvPr id="95" name="TextBox 94">
            <a:extLst>
              <a:ext uri="{FF2B5EF4-FFF2-40B4-BE49-F238E27FC236}">
                <a16:creationId xmlns:a16="http://schemas.microsoft.com/office/drawing/2014/main" id="{A100D71F-F331-18CD-29B5-EE1A369B3561}"/>
              </a:ext>
            </a:extLst>
          </p:cNvPr>
          <p:cNvSpPr txBox="1"/>
          <p:nvPr/>
        </p:nvSpPr>
        <p:spPr>
          <a:xfrm>
            <a:off x="6743700" y="3805535"/>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High adaptability to open-ended goals</a:t>
            </a:r>
          </a:p>
        </p:txBody>
      </p:sp>
      <p:sp>
        <p:nvSpPr>
          <p:cNvPr id="97" name="TextBox 96">
            <a:extLst>
              <a:ext uri="{FF2B5EF4-FFF2-40B4-BE49-F238E27FC236}">
                <a16:creationId xmlns:a16="http://schemas.microsoft.com/office/drawing/2014/main" id="{A9E10581-1512-0A08-C1DF-D4E7343E3CB5}"/>
              </a:ext>
            </a:extLst>
          </p:cNvPr>
          <p:cNvSpPr txBox="1"/>
          <p:nvPr/>
        </p:nvSpPr>
        <p:spPr>
          <a:xfrm>
            <a:off x="6743700" y="4134147"/>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Dynamic tool selection and runtime recovery</a:t>
            </a:r>
          </a:p>
        </p:txBody>
      </p:sp>
      <p:sp>
        <p:nvSpPr>
          <p:cNvPr id="99" name="TextBox 98">
            <a:extLst>
              <a:ext uri="{FF2B5EF4-FFF2-40B4-BE49-F238E27FC236}">
                <a16:creationId xmlns:a16="http://schemas.microsoft.com/office/drawing/2014/main" id="{C8E86033-6E6B-8C07-2E69-D659B6F5C836}"/>
              </a:ext>
            </a:extLst>
          </p:cNvPr>
          <p:cNvSpPr txBox="1"/>
          <p:nvPr/>
        </p:nvSpPr>
        <p:spPr>
          <a:xfrm>
            <a:off x="6743700"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Handles complex multi-step reasoning environments</a:t>
            </a:r>
          </a:p>
        </p:txBody>
      </p:sp>
      <p:sp>
        <p:nvSpPr>
          <p:cNvPr id="101" name="TextBox 100">
            <a:extLst>
              <a:ext uri="{FF2B5EF4-FFF2-40B4-BE49-F238E27FC236}">
                <a16:creationId xmlns:a16="http://schemas.microsoft.com/office/drawing/2014/main" id="{475B35D0-FAA3-DED0-394F-87D065B94343}"/>
              </a:ext>
            </a:extLst>
          </p:cNvPr>
          <p:cNvSpPr txBox="1"/>
          <p:nvPr/>
        </p:nvSpPr>
        <p:spPr>
          <a:xfrm>
            <a:off x="847725" y="3824585"/>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3" name="TextBox 102">
            <a:extLst>
              <a:ext uri="{FF2B5EF4-FFF2-40B4-BE49-F238E27FC236}">
                <a16:creationId xmlns:a16="http://schemas.microsoft.com/office/drawing/2014/main" id="{D64816DF-60DF-AE72-DB3F-321DDF66457E}"/>
              </a:ext>
            </a:extLst>
          </p:cNvPr>
          <p:cNvSpPr txBox="1"/>
          <p:nvPr/>
        </p:nvSpPr>
        <p:spPr>
          <a:xfrm>
            <a:off x="847725" y="4153197"/>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5" name="TextBox 104">
            <a:extLst>
              <a:ext uri="{FF2B5EF4-FFF2-40B4-BE49-F238E27FC236}">
                <a16:creationId xmlns:a16="http://schemas.microsoft.com/office/drawing/2014/main" id="{9DEAADE7-C040-C497-AC0D-020B3D332383}"/>
              </a:ext>
            </a:extLst>
          </p:cNvPr>
          <p:cNvSpPr txBox="1"/>
          <p:nvPr/>
        </p:nvSpPr>
        <p:spPr>
          <a:xfrm>
            <a:off x="847725"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7" name="TextBox 106">
            <a:extLst>
              <a:ext uri="{FF2B5EF4-FFF2-40B4-BE49-F238E27FC236}">
                <a16:creationId xmlns:a16="http://schemas.microsoft.com/office/drawing/2014/main" id="{B7D69916-1D77-94C8-3AA9-30429A72FCC6}"/>
              </a:ext>
            </a:extLst>
          </p:cNvPr>
          <p:cNvSpPr txBox="1"/>
          <p:nvPr/>
        </p:nvSpPr>
        <p:spPr>
          <a:xfrm>
            <a:off x="6515100" y="3824585"/>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09" name="TextBox 108">
            <a:extLst>
              <a:ext uri="{FF2B5EF4-FFF2-40B4-BE49-F238E27FC236}">
                <a16:creationId xmlns:a16="http://schemas.microsoft.com/office/drawing/2014/main" id="{A666694A-C4AF-EA5B-2BFA-6081D9C7729E}"/>
              </a:ext>
            </a:extLst>
          </p:cNvPr>
          <p:cNvSpPr txBox="1"/>
          <p:nvPr/>
        </p:nvSpPr>
        <p:spPr>
          <a:xfrm>
            <a:off x="6515100" y="4153197"/>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11" name="TextBox 110">
            <a:extLst>
              <a:ext uri="{FF2B5EF4-FFF2-40B4-BE49-F238E27FC236}">
                <a16:creationId xmlns:a16="http://schemas.microsoft.com/office/drawing/2014/main" id="{77CFDEC3-BA52-68E4-3068-7A7732B63AF4}"/>
              </a:ext>
            </a:extLst>
          </p:cNvPr>
          <p:cNvSpPr txBox="1"/>
          <p:nvPr/>
        </p:nvSpPr>
        <p:spPr>
          <a:xfrm>
            <a:off x="6515100"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13" name="TextBox 112">
            <a:extLst>
              <a:ext uri="{FF2B5EF4-FFF2-40B4-BE49-F238E27FC236}">
                <a16:creationId xmlns:a16="http://schemas.microsoft.com/office/drawing/2014/main" id="{F42E5BF5-7DBC-48C3-5780-0E5C984B6C24}"/>
              </a:ext>
            </a:extLst>
          </p:cNvPr>
          <p:cNvSpPr txBox="1"/>
          <p:nvPr/>
        </p:nvSpPr>
        <p:spPr>
          <a:xfrm>
            <a:off x="733886" y="1213022"/>
            <a:ext cx="6148695" cy="376000"/>
          </a:xfrm>
          <a:prstGeom prst="rect">
            <a:avLst/>
          </a:prstGeom>
          <a:noFill/>
        </p:spPr>
        <p:txBody>
          <a:bodyPr wrap="square" lIns="0" tIns="0" rIns="0" bIns="0" anchor="ctr">
            <a:spAutoFit/>
          </a:bodyPr>
          <a:lstStyle/>
          <a:p>
            <a:pPr algn="l">
              <a:lnSpc>
                <a:spcPts val="3240"/>
              </a:lnSpc>
            </a:pPr>
            <a:r>
              <a:rPr sz="1900" i="0" u="none" dirty="0">
                <a:solidFill>
                  <a:schemeClr val="tx1">
                    <a:lumMod val="75000"/>
                    <a:lumOff val="25000"/>
                  </a:schemeClr>
                </a:solidFill>
                <a:latin typeface="Poppins SemiBold"/>
              </a:rPr>
              <a:t>Workflow vs Autonomous</a:t>
            </a:r>
            <a:r>
              <a:rPr lang="en-IN" sz="1900" i="0" u="none" dirty="0">
                <a:solidFill>
                  <a:schemeClr val="tx1">
                    <a:lumMod val="75000"/>
                    <a:lumOff val="25000"/>
                  </a:schemeClr>
                </a:solidFill>
                <a:latin typeface="Poppins SemiBold"/>
              </a:rPr>
              <a:t> Agent Design Patterns</a:t>
            </a:r>
            <a:endParaRPr sz="1900" i="0" u="none" dirty="0">
              <a:solidFill>
                <a:schemeClr val="tx1">
                  <a:lumMod val="75000"/>
                  <a:lumOff val="25000"/>
                </a:schemeClr>
              </a:solidFill>
              <a:latin typeface="Poppins SemiBold"/>
            </a:endParaRPr>
          </a:p>
        </p:txBody>
      </p:sp>
      <p:sp>
        <p:nvSpPr>
          <p:cNvPr id="115" name="TextBox 114">
            <a:extLst>
              <a:ext uri="{FF2B5EF4-FFF2-40B4-BE49-F238E27FC236}">
                <a16:creationId xmlns:a16="http://schemas.microsoft.com/office/drawing/2014/main" id="{DA0505E4-98EA-A9A8-C34A-6172B5E481F3}"/>
              </a:ext>
            </a:extLst>
          </p:cNvPr>
          <p:cNvSpPr txBox="1"/>
          <p:nvPr/>
        </p:nvSpPr>
        <p:spPr>
          <a:xfrm>
            <a:off x="714836" y="550025"/>
            <a:ext cx="4150127" cy="677108"/>
          </a:xfrm>
          <a:prstGeom prst="rect">
            <a:avLst/>
          </a:prstGeom>
          <a:noFill/>
        </p:spPr>
        <p:txBody>
          <a:bodyPr wrap="square" lIns="0" tIns="0" rIns="0" bIns="0" anchor="t">
            <a:spAutoFit/>
          </a:bodyPr>
          <a:lstStyle/>
          <a:p>
            <a:pPr algn="l"/>
            <a:r>
              <a:rPr sz="4400" b="1" i="0" u="none" dirty="0">
                <a:solidFill>
                  <a:srgbClr val="0F172A"/>
                </a:solidFill>
                <a:latin typeface="Inter"/>
              </a:rPr>
              <a:t>Architectures</a:t>
            </a:r>
          </a:p>
        </p:txBody>
      </p:sp>
    </p:spTree>
    <p:extLst>
      <p:ext uri="{BB962C8B-B14F-4D97-AF65-F5344CB8AC3E}">
        <p14:creationId xmlns:p14="http://schemas.microsoft.com/office/powerpoint/2010/main" val="2479041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364B87-57FD-92D9-238E-F5AA79144D9E}"/>
              </a:ext>
            </a:extLst>
          </p:cNvPr>
          <p:cNvPicPr>
            <a:picLocks noChangeAspect="1"/>
          </p:cNvPicPr>
          <p:nvPr/>
        </p:nvPicPr>
        <p:blipFill>
          <a:blip r:embed="rId3"/>
          <a:stretch>
            <a:fillRect/>
          </a:stretch>
        </p:blipFill>
        <p:spPr>
          <a:xfrm>
            <a:off x="-48854" y="-615"/>
            <a:ext cx="12289708" cy="7277417"/>
          </a:xfrm>
          <a:prstGeom prst="rect">
            <a:avLst/>
          </a:prstGeom>
        </p:spPr>
      </p:pic>
      <p:pic>
        <p:nvPicPr>
          <p:cNvPr id="37" name="Picture 36" descr="image.png">
            <a:extLst>
              <a:ext uri="{FF2B5EF4-FFF2-40B4-BE49-F238E27FC236}">
                <a16:creationId xmlns:a16="http://schemas.microsoft.com/office/drawing/2014/main" id="{7E95A2BB-B24A-ED54-C124-6E4F0C398EA9}"/>
              </a:ext>
            </a:extLst>
          </p:cNvPr>
          <p:cNvPicPr>
            <a:picLocks noChangeAspect="1"/>
          </p:cNvPicPr>
          <p:nvPr/>
        </p:nvPicPr>
        <p:blipFill>
          <a:blip r:embed="rId4">
            <a:grayscl/>
          </a:blip>
          <a:stretch>
            <a:fillRect/>
          </a:stretch>
        </p:blipFill>
        <p:spPr>
          <a:xfrm>
            <a:off x="571500" y="656242"/>
            <a:ext cx="10915650" cy="3016247"/>
          </a:xfrm>
          <a:prstGeom prst="rect">
            <a:avLst/>
          </a:prstGeom>
        </p:spPr>
      </p:pic>
      <p:pic>
        <p:nvPicPr>
          <p:cNvPr id="54" name="Picture 53">
            <a:extLst>
              <a:ext uri="{FF2B5EF4-FFF2-40B4-BE49-F238E27FC236}">
                <a16:creationId xmlns:a16="http://schemas.microsoft.com/office/drawing/2014/main" id="{C9929F5E-829D-C07F-E9CD-28E7AFCFDF4F}"/>
              </a:ext>
            </a:extLst>
          </p:cNvPr>
          <p:cNvPicPr>
            <a:picLocks noChangeAspect="1"/>
          </p:cNvPicPr>
          <p:nvPr/>
        </p:nvPicPr>
        <p:blipFill>
          <a:blip r:embed="rId5">
            <a:duotone>
              <a:schemeClr val="accent1">
                <a:shade val="45000"/>
                <a:satMod val="135000"/>
              </a:schemeClr>
              <a:prstClr val="white"/>
            </a:duotone>
          </a:blip>
          <a:srcRect l="4084" r="8381"/>
          <a:stretch>
            <a:fillRect/>
          </a:stretch>
        </p:blipFill>
        <p:spPr>
          <a:xfrm>
            <a:off x="4835237" y="1819325"/>
            <a:ext cx="6353876" cy="1132003"/>
          </a:xfrm>
          <a:prstGeom prst="rect">
            <a:avLst/>
          </a:prstGeom>
        </p:spPr>
      </p:pic>
      <p:sp>
        <p:nvSpPr>
          <p:cNvPr id="59" name="Rectangle 58">
            <a:extLst>
              <a:ext uri="{FF2B5EF4-FFF2-40B4-BE49-F238E27FC236}">
                <a16:creationId xmlns:a16="http://schemas.microsoft.com/office/drawing/2014/main" id="{3A617B88-4E86-A5DA-062F-A953C0C88342}"/>
              </a:ext>
            </a:extLst>
          </p:cNvPr>
          <p:cNvSpPr/>
          <p:nvPr/>
        </p:nvSpPr>
        <p:spPr>
          <a:xfrm>
            <a:off x="867896" y="2730283"/>
            <a:ext cx="3739769" cy="64253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9D17A182-D893-A12A-9463-60BDBCCD534A}"/>
              </a:ext>
            </a:extLst>
          </p:cNvPr>
          <p:cNvSpPr txBox="1"/>
          <p:nvPr/>
        </p:nvSpPr>
        <p:spPr>
          <a:xfrm>
            <a:off x="1001246" y="2825533"/>
            <a:ext cx="3358375" cy="430887"/>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Multi-stage reasoning, document analysis,</a:t>
            </a:r>
            <a:r>
              <a:rPr lang="en-IN" sz="1400" dirty="0">
                <a:solidFill>
                  <a:srgbClr val="334155"/>
                </a:solidFill>
                <a:latin typeface="Inter"/>
              </a:rPr>
              <a:t> </a:t>
            </a:r>
            <a:r>
              <a:rPr sz="1400" b="0" i="0" u="none" dirty="0">
                <a:solidFill>
                  <a:srgbClr val="334155"/>
                </a:solidFill>
                <a:latin typeface="Inter"/>
              </a:rPr>
              <a:t>data transformation.</a:t>
            </a:r>
          </a:p>
        </p:txBody>
      </p:sp>
      <p:sp>
        <p:nvSpPr>
          <p:cNvPr id="64" name="Rectangle 63">
            <a:extLst>
              <a:ext uri="{FF2B5EF4-FFF2-40B4-BE49-F238E27FC236}">
                <a16:creationId xmlns:a16="http://schemas.microsoft.com/office/drawing/2014/main" id="{CD70C941-7534-4906-6231-567B1A0A659F}"/>
              </a:ext>
            </a:extLst>
          </p:cNvPr>
          <p:cNvSpPr/>
          <p:nvPr/>
        </p:nvSpPr>
        <p:spPr>
          <a:xfrm flipH="1">
            <a:off x="841841" y="2730282"/>
            <a:ext cx="45719" cy="64252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a:extLst>
              <a:ext uri="{FF2B5EF4-FFF2-40B4-BE49-F238E27FC236}">
                <a16:creationId xmlns:a16="http://schemas.microsoft.com/office/drawing/2014/main" id="{C346E723-8DE0-20EA-8B4D-52747F7D63E2}"/>
              </a:ext>
            </a:extLst>
          </p:cNvPr>
          <p:cNvSpPr txBox="1"/>
          <p:nvPr/>
        </p:nvSpPr>
        <p:spPr>
          <a:xfrm>
            <a:off x="866774" y="1280288"/>
            <a:ext cx="10263341" cy="451342"/>
          </a:xfrm>
          <a:prstGeom prst="rect">
            <a:avLst/>
          </a:prstGeom>
          <a:noFill/>
        </p:spPr>
        <p:txBody>
          <a:bodyPr wrap="square" lIns="0" tIns="0" rIns="0" bIns="0" anchor="t">
            <a:spAutoFit/>
          </a:bodyPr>
          <a:lstStyle/>
          <a:p>
            <a:pPr>
              <a:lnSpc>
                <a:spcPts val="1800"/>
              </a:lnSpc>
            </a:pPr>
            <a:r>
              <a:rPr sz="1400" b="0" i="0" u="none" dirty="0">
                <a:latin typeface="Inter"/>
              </a:rPr>
              <a:t>Decomposes a task into a fixed sequence of LLM calls where the output of one step becomes the input context for the next, with validation gates</a:t>
            </a:r>
            <a:r>
              <a:rPr lang="en-IN" sz="1400" dirty="0">
                <a:latin typeface="Inter"/>
              </a:rPr>
              <a:t>, ensuring higher precision and intermediate quality control at each stage.</a:t>
            </a:r>
            <a:r>
              <a:rPr lang="en-IN" sz="1400" b="0" i="0" u="none" dirty="0">
                <a:latin typeface="Inter"/>
              </a:rPr>
              <a:t> </a:t>
            </a:r>
            <a:r>
              <a:rPr lang="en-IN" sz="1400" b="0" i="0" u="none" dirty="0">
                <a:solidFill>
                  <a:srgbClr val="475569"/>
                </a:solidFill>
                <a:latin typeface="Inter"/>
              </a:rPr>
              <a:t>[6]</a:t>
            </a:r>
            <a:endParaRPr sz="1400" b="0" i="0" u="none" dirty="0">
              <a:solidFill>
                <a:srgbClr val="475569"/>
              </a:solidFill>
              <a:latin typeface="Inter"/>
            </a:endParaRPr>
          </a:p>
        </p:txBody>
      </p:sp>
      <p:sp>
        <p:nvSpPr>
          <p:cNvPr id="82" name="TextBox 81">
            <a:extLst>
              <a:ext uri="{FF2B5EF4-FFF2-40B4-BE49-F238E27FC236}">
                <a16:creationId xmlns:a16="http://schemas.microsoft.com/office/drawing/2014/main" id="{79489C8C-F456-32F4-8F84-D82FB3CA692A}"/>
              </a:ext>
            </a:extLst>
          </p:cNvPr>
          <p:cNvSpPr txBox="1"/>
          <p:nvPr/>
        </p:nvSpPr>
        <p:spPr>
          <a:xfrm>
            <a:off x="867896" y="909135"/>
            <a:ext cx="2170271" cy="251370"/>
          </a:xfrm>
          <a:prstGeom prst="rect">
            <a:avLst/>
          </a:prstGeom>
          <a:noFill/>
        </p:spPr>
        <p:txBody>
          <a:bodyPr wrap="square" lIns="0" tIns="0" rIns="0" bIns="0" anchor="t">
            <a:spAutoFit/>
          </a:bodyPr>
          <a:lstStyle/>
          <a:p>
            <a:pPr algn="l">
              <a:lnSpc>
                <a:spcPts val="1979"/>
              </a:lnSpc>
            </a:pPr>
            <a:r>
              <a:rPr sz="1650" b="0" i="0" u="none">
                <a:solidFill>
                  <a:schemeClr val="tx2"/>
                </a:solidFill>
                <a:latin typeface="Poppins SemiBold"/>
              </a:rPr>
              <a:t>1. Prompt Chaining</a:t>
            </a:r>
          </a:p>
        </p:txBody>
      </p:sp>
      <p:sp>
        <p:nvSpPr>
          <p:cNvPr id="127" name="TextBox 126">
            <a:extLst>
              <a:ext uri="{FF2B5EF4-FFF2-40B4-BE49-F238E27FC236}">
                <a16:creationId xmlns:a16="http://schemas.microsoft.com/office/drawing/2014/main" id="{6D93F815-CE54-BE85-CFB9-CD59DB4A8D6A}"/>
              </a:ext>
            </a:extLst>
          </p:cNvPr>
          <p:cNvSpPr txBox="1"/>
          <p:nvPr/>
        </p:nvSpPr>
        <p:spPr>
          <a:xfrm>
            <a:off x="617948" y="247190"/>
            <a:ext cx="4155719" cy="369332"/>
          </a:xfrm>
          <a:prstGeom prst="rect">
            <a:avLst/>
          </a:prstGeom>
          <a:noFill/>
        </p:spPr>
        <p:txBody>
          <a:bodyPr wrap="square" lIns="0" tIns="0" rIns="0" bIns="0" anchor="t">
            <a:spAutoFit/>
          </a:bodyPr>
          <a:lstStyle/>
          <a:p>
            <a:r>
              <a:rPr lang="en-IN" sz="2400" b="1" dirty="0">
                <a:solidFill>
                  <a:srgbClr val="0F172A"/>
                </a:solidFill>
                <a:latin typeface="Poppins"/>
              </a:rPr>
              <a:t>Workflow </a:t>
            </a:r>
            <a:r>
              <a:rPr lang="en-IN" sz="2400" b="1" dirty="0">
                <a:solidFill>
                  <a:schemeClr val="tx2"/>
                </a:solidFill>
                <a:latin typeface="Poppins"/>
              </a:rPr>
              <a:t>Patterns</a:t>
            </a:r>
            <a:endParaRPr sz="2400" b="1" i="0" u="none" dirty="0">
              <a:solidFill>
                <a:schemeClr val="tx2"/>
              </a:solidFill>
              <a:latin typeface="Inter"/>
            </a:endParaRPr>
          </a:p>
        </p:txBody>
      </p:sp>
      <p:sp>
        <p:nvSpPr>
          <p:cNvPr id="4" name="TextBox 3">
            <a:extLst>
              <a:ext uri="{FF2B5EF4-FFF2-40B4-BE49-F238E27FC236}">
                <a16:creationId xmlns:a16="http://schemas.microsoft.com/office/drawing/2014/main" id="{32C7EF2B-2820-46DD-64E9-DA4C85D786DB}"/>
              </a:ext>
            </a:extLst>
          </p:cNvPr>
          <p:cNvSpPr txBox="1"/>
          <p:nvPr/>
        </p:nvSpPr>
        <p:spPr>
          <a:xfrm>
            <a:off x="4921749" y="2995723"/>
            <a:ext cx="6254309" cy="461665"/>
          </a:xfrm>
          <a:prstGeom prst="rect">
            <a:avLst/>
          </a:prstGeom>
          <a:noFill/>
        </p:spPr>
        <p:txBody>
          <a:bodyPr wrap="square">
            <a:spAutoFit/>
          </a:bodyPr>
          <a:lstStyle/>
          <a:p>
            <a:r>
              <a:rPr lang="en-IN" sz="1200" b="1" dirty="0"/>
              <a:t>Fig: </a:t>
            </a:r>
            <a:r>
              <a:rPr lang="en-IN" sz="1200" dirty="0"/>
              <a:t>Prompt chaining with quality gates. Each step is a separate LLM call. Gates can be LLM-based or programmatic.[6]</a:t>
            </a:r>
          </a:p>
        </p:txBody>
      </p:sp>
      <p:sp>
        <p:nvSpPr>
          <p:cNvPr id="5" name="TextBox 4">
            <a:extLst>
              <a:ext uri="{FF2B5EF4-FFF2-40B4-BE49-F238E27FC236}">
                <a16:creationId xmlns:a16="http://schemas.microsoft.com/office/drawing/2014/main" id="{E648B986-B1F8-0386-21CE-1F06133977BF}"/>
              </a:ext>
            </a:extLst>
          </p:cNvPr>
          <p:cNvSpPr txBox="1"/>
          <p:nvPr/>
        </p:nvSpPr>
        <p:spPr>
          <a:xfrm>
            <a:off x="867896" y="1847445"/>
            <a:ext cx="4064739" cy="682174"/>
          </a:xfrm>
          <a:prstGeom prst="rect">
            <a:avLst/>
          </a:prstGeom>
          <a:noFill/>
        </p:spPr>
        <p:txBody>
          <a:bodyPr wrap="square" lIns="0" tIns="0" rIns="0" bIns="0" anchor="t">
            <a:spAutoFit/>
          </a:bodyPr>
          <a:lstStyle/>
          <a:p>
            <a:pPr>
              <a:lnSpc>
                <a:spcPts val="1800"/>
              </a:lnSpc>
            </a:pPr>
            <a:r>
              <a:rPr lang="en-IN" sz="1400" b="1" dirty="0"/>
              <a:t>When to use: </a:t>
            </a:r>
            <a:r>
              <a:rPr lang="en-IN" sz="1400" dirty="0"/>
              <a:t>Tasks that are naturally sequential—content generation, data transformation, multi-stage analysis.</a:t>
            </a:r>
            <a:endParaRPr sz="1400" b="0" i="0" u="none" dirty="0">
              <a:solidFill>
                <a:srgbClr val="475569"/>
              </a:solidFill>
              <a:latin typeface="Inter"/>
            </a:endParaRPr>
          </a:p>
        </p:txBody>
      </p:sp>
      <p:pic>
        <p:nvPicPr>
          <p:cNvPr id="7" name="Picture 6" descr="image.png">
            <a:extLst>
              <a:ext uri="{FF2B5EF4-FFF2-40B4-BE49-F238E27FC236}">
                <a16:creationId xmlns:a16="http://schemas.microsoft.com/office/drawing/2014/main" id="{44D7F377-5E77-433D-193E-90EFB600B408}"/>
              </a:ext>
            </a:extLst>
          </p:cNvPr>
          <p:cNvPicPr>
            <a:picLocks noChangeAspect="1"/>
          </p:cNvPicPr>
          <p:nvPr/>
        </p:nvPicPr>
        <p:blipFill>
          <a:blip r:embed="rId6"/>
          <a:stretch>
            <a:fillRect/>
          </a:stretch>
        </p:blipFill>
        <p:spPr>
          <a:xfrm>
            <a:off x="578166" y="3717594"/>
            <a:ext cx="10908984" cy="3256506"/>
          </a:xfrm>
          <a:prstGeom prst="rect">
            <a:avLst/>
          </a:prstGeom>
        </p:spPr>
      </p:pic>
      <p:sp>
        <p:nvSpPr>
          <p:cNvPr id="12" name="Rectangle 11">
            <a:extLst>
              <a:ext uri="{FF2B5EF4-FFF2-40B4-BE49-F238E27FC236}">
                <a16:creationId xmlns:a16="http://schemas.microsoft.com/office/drawing/2014/main" id="{FB2FBE30-02B9-745F-EC19-DA67CF303662}"/>
              </a:ext>
            </a:extLst>
          </p:cNvPr>
          <p:cNvSpPr/>
          <p:nvPr/>
        </p:nvSpPr>
        <p:spPr>
          <a:xfrm>
            <a:off x="816290" y="6281662"/>
            <a:ext cx="4389273"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CF833EC7-DD34-DBB4-CDFB-22B685CE06A6}"/>
              </a:ext>
            </a:extLst>
          </p:cNvPr>
          <p:cNvSpPr txBox="1"/>
          <p:nvPr/>
        </p:nvSpPr>
        <p:spPr>
          <a:xfrm>
            <a:off x="988970" y="6423642"/>
            <a:ext cx="4389274" cy="215444"/>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Customer support triage, query classification</a:t>
            </a:r>
          </a:p>
        </p:txBody>
      </p:sp>
      <p:sp>
        <p:nvSpPr>
          <p:cNvPr id="16" name="Rectangle 15">
            <a:extLst>
              <a:ext uri="{FF2B5EF4-FFF2-40B4-BE49-F238E27FC236}">
                <a16:creationId xmlns:a16="http://schemas.microsoft.com/office/drawing/2014/main" id="{B08E47B6-A4D6-479A-6D35-CF59B18EECBB}"/>
              </a:ext>
            </a:extLst>
          </p:cNvPr>
          <p:cNvSpPr/>
          <p:nvPr/>
        </p:nvSpPr>
        <p:spPr>
          <a:xfrm>
            <a:off x="816292" y="6281662"/>
            <a:ext cx="78495" cy="4953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20" name="TextBox 19">
            <a:extLst>
              <a:ext uri="{FF2B5EF4-FFF2-40B4-BE49-F238E27FC236}">
                <a16:creationId xmlns:a16="http://schemas.microsoft.com/office/drawing/2014/main" id="{1D557B7B-5ADB-BDB2-150A-418EFAA18624}"/>
              </a:ext>
            </a:extLst>
          </p:cNvPr>
          <p:cNvSpPr txBox="1"/>
          <p:nvPr/>
        </p:nvSpPr>
        <p:spPr>
          <a:xfrm>
            <a:off x="854392" y="4004584"/>
            <a:ext cx="2278786" cy="251370"/>
          </a:xfrm>
          <a:prstGeom prst="rect">
            <a:avLst/>
          </a:prstGeom>
          <a:noFill/>
        </p:spPr>
        <p:txBody>
          <a:bodyPr wrap="square" lIns="0" tIns="0" rIns="0" bIns="0" anchor="t">
            <a:spAutoFit/>
          </a:bodyPr>
          <a:lstStyle/>
          <a:p>
            <a:pPr algn="l">
              <a:lnSpc>
                <a:spcPts val="1979"/>
              </a:lnSpc>
            </a:pPr>
            <a:r>
              <a:rPr lang="en-IN" sz="1650" dirty="0">
                <a:solidFill>
                  <a:schemeClr val="tx2"/>
                </a:solidFill>
                <a:latin typeface="Poppins SemiBold"/>
              </a:rPr>
              <a:t>2</a:t>
            </a:r>
            <a:r>
              <a:rPr sz="1650" b="0" i="0" u="none" dirty="0">
                <a:solidFill>
                  <a:schemeClr val="tx2"/>
                </a:solidFill>
                <a:latin typeface="Poppins SemiBold"/>
              </a:rPr>
              <a:t>. Routing</a:t>
            </a:r>
          </a:p>
        </p:txBody>
      </p:sp>
      <p:pic>
        <p:nvPicPr>
          <p:cNvPr id="22" name="Picture 21">
            <a:extLst>
              <a:ext uri="{FF2B5EF4-FFF2-40B4-BE49-F238E27FC236}">
                <a16:creationId xmlns:a16="http://schemas.microsoft.com/office/drawing/2014/main" id="{1A88C30E-C632-5E60-1BD1-50B604F69A76}"/>
              </a:ext>
            </a:extLst>
          </p:cNvPr>
          <p:cNvPicPr>
            <a:picLocks noChangeAspect="1"/>
          </p:cNvPicPr>
          <p:nvPr/>
        </p:nvPicPr>
        <p:blipFill>
          <a:blip r:embed="rId7">
            <a:duotone>
              <a:schemeClr val="accent1">
                <a:shade val="45000"/>
                <a:satMod val="135000"/>
              </a:schemeClr>
              <a:prstClr val="white"/>
            </a:duotone>
          </a:blip>
          <a:srcRect l="940" r="3982"/>
          <a:stretch>
            <a:fillRect/>
          </a:stretch>
        </p:blipFill>
        <p:spPr>
          <a:xfrm>
            <a:off x="5732206" y="4181566"/>
            <a:ext cx="5397909" cy="2103302"/>
          </a:xfrm>
          <a:prstGeom prst="rect">
            <a:avLst/>
          </a:prstGeom>
        </p:spPr>
      </p:pic>
      <p:sp>
        <p:nvSpPr>
          <p:cNvPr id="18" name="TextBox 17">
            <a:extLst>
              <a:ext uri="{FF2B5EF4-FFF2-40B4-BE49-F238E27FC236}">
                <a16:creationId xmlns:a16="http://schemas.microsoft.com/office/drawing/2014/main" id="{E6794D7C-3468-9AC1-6636-2DF873297949}"/>
              </a:ext>
            </a:extLst>
          </p:cNvPr>
          <p:cNvSpPr txBox="1"/>
          <p:nvPr/>
        </p:nvSpPr>
        <p:spPr>
          <a:xfrm>
            <a:off x="816291" y="4353091"/>
            <a:ext cx="4748767" cy="1143839"/>
          </a:xfrm>
          <a:prstGeom prst="rect">
            <a:avLst/>
          </a:prstGeom>
          <a:noFill/>
        </p:spPr>
        <p:txBody>
          <a:bodyPr wrap="square" lIns="0" tIns="0" rIns="0" bIns="0" anchor="t">
            <a:spAutoFit/>
          </a:bodyPr>
          <a:lstStyle/>
          <a:p>
            <a:pPr algn="just">
              <a:lnSpc>
                <a:spcPts val="1800"/>
              </a:lnSpc>
            </a:pPr>
            <a:r>
              <a:rPr sz="1400" b="0" i="0" u="none" dirty="0">
                <a:latin typeface="Inter"/>
              </a:rPr>
              <a:t>Uses an initial router or classifier to direct incoming requests to specialized agents or processing paths with tailored prompts and tools</a:t>
            </a:r>
            <a:r>
              <a:rPr lang="en-IN" sz="1400" dirty="0">
                <a:latin typeface="Inter"/>
              </a:rPr>
              <a:t> , optimizing latency and cost by serving simple requests quickly and reserving larger, specialized models for complex tasks. [6]</a:t>
            </a:r>
            <a:endParaRPr sz="1400" b="0" i="0" u="none" dirty="0">
              <a:latin typeface="Inter"/>
            </a:endParaRPr>
          </a:p>
        </p:txBody>
      </p:sp>
      <p:sp>
        <p:nvSpPr>
          <p:cNvPr id="23" name="TextBox 22">
            <a:extLst>
              <a:ext uri="{FF2B5EF4-FFF2-40B4-BE49-F238E27FC236}">
                <a16:creationId xmlns:a16="http://schemas.microsoft.com/office/drawing/2014/main" id="{0DB2FA14-1EFB-634D-18E4-046C6A379447}"/>
              </a:ext>
            </a:extLst>
          </p:cNvPr>
          <p:cNvSpPr txBox="1"/>
          <p:nvPr/>
        </p:nvSpPr>
        <p:spPr>
          <a:xfrm>
            <a:off x="816292" y="5511438"/>
            <a:ext cx="4748767" cy="695703"/>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Distinct task types with different optimal prompts, tools, or models. Customer support triage, multi-modal input handling.</a:t>
            </a:r>
            <a:endParaRPr sz="1400" b="0" i="0" u="none" dirty="0">
              <a:latin typeface="Inter"/>
            </a:endParaRPr>
          </a:p>
        </p:txBody>
      </p:sp>
      <p:sp>
        <p:nvSpPr>
          <p:cNvPr id="25" name="TextBox 24">
            <a:extLst>
              <a:ext uri="{FF2B5EF4-FFF2-40B4-BE49-F238E27FC236}">
                <a16:creationId xmlns:a16="http://schemas.microsoft.com/office/drawing/2014/main" id="{E1EB1D51-6B99-6C5C-7225-F0C543631B30}"/>
              </a:ext>
            </a:extLst>
          </p:cNvPr>
          <p:cNvSpPr txBox="1"/>
          <p:nvPr/>
        </p:nvSpPr>
        <p:spPr>
          <a:xfrm>
            <a:off x="5928125" y="6368886"/>
            <a:ext cx="5009143" cy="276999"/>
          </a:xfrm>
          <a:prstGeom prst="rect">
            <a:avLst/>
          </a:prstGeom>
          <a:noFill/>
        </p:spPr>
        <p:txBody>
          <a:bodyPr wrap="square">
            <a:spAutoFit/>
          </a:bodyPr>
          <a:lstStyle/>
          <a:p>
            <a:r>
              <a:rPr lang="en-IN" sz="1200" b="1" dirty="0"/>
              <a:t>Fig: </a:t>
            </a:r>
            <a:r>
              <a:rPr lang="en-IN" sz="1200" dirty="0"/>
              <a:t>Routing pattern: input is classified once, then handled by a specialist.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35EEA-5425-C2AC-9608-C49D7DD66369}"/>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C141EC27-4BCE-AA12-DCBF-F0BFE9A655CC}"/>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90" name="Picture 89" descr="image.png">
            <a:extLst>
              <a:ext uri="{FF2B5EF4-FFF2-40B4-BE49-F238E27FC236}">
                <a16:creationId xmlns:a16="http://schemas.microsoft.com/office/drawing/2014/main" id="{79328161-629E-DD92-1206-748F28757CA1}"/>
              </a:ext>
            </a:extLst>
          </p:cNvPr>
          <p:cNvPicPr>
            <a:picLocks noChangeAspect="1"/>
          </p:cNvPicPr>
          <p:nvPr/>
        </p:nvPicPr>
        <p:blipFill>
          <a:blip r:embed="rId4"/>
          <a:stretch>
            <a:fillRect/>
          </a:stretch>
        </p:blipFill>
        <p:spPr>
          <a:xfrm>
            <a:off x="685800" y="1123771"/>
            <a:ext cx="10796286" cy="5439073"/>
          </a:xfrm>
          <a:prstGeom prst="rect">
            <a:avLst/>
          </a:prstGeom>
        </p:spPr>
      </p:pic>
      <p:sp>
        <p:nvSpPr>
          <p:cNvPr id="102" name="Rectangle 101">
            <a:extLst>
              <a:ext uri="{FF2B5EF4-FFF2-40B4-BE49-F238E27FC236}">
                <a16:creationId xmlns:a16="http://schemas.microsoft.com/office/drawing/2014/main" id="{78393D68-599D-5A62-D83B-C8E93A47DE7D}"/>
              </a:ext>
            </a:extLst>
          </p:cNvPr>
          <p:cNvSpPr/>
          <p:nvPr/>
        </p:nvSpPr>
        <p:spPr>
          <a:xfrm>
            <a:off x="1199811" y="5552491"/>
            <a:ext cx="5384278" cy="5766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a:extLst>
              <a:ext uri="{FF2B5EF4-FFF2-40B4-BE49-F238E27FC236}">
                <a16:creationId xmlns:a16="http://schemas.microsoft.com/office/drawing/2014/main" id="{B7B44CC1-FB2C-CA81-53D5-1BFC164B1896}"/>
              </a:ext>
            </a:extLst>
          </p:cNvPr>
          <p:cNvSpPr txBox="1"/>
          <p:nvPr/>
        </p:nvSpPr>
        <p:spPr>
          <a:xfrm>
            <a:off x="1483655" y="5716488"/>
            <a:ext cx="4667250" cy="246221"/>
          </a:xfrm>
          <a:prstGeom prst="rect">
            <a:avLst/>
          </a:prstGeom>
          <a:noFill/>
        </p:spPr>
        <p:txBody>
          <a:bodyPr wrap="square" lIns="0" tIns="0" rIns="0" bIns="0" anchor="t">
            <a:spAutoFit/>
          </a:bodyPr>
          <a:lstStyle/>
          <a:p>
            <a:pPr algn="l"/>
            <a:r>
              <a:rPr sz="1600" b="1" i="0" u="none" dirty="0">
                <a:solidFill>
                  <a:srgbClr val="0F172A"/>
                </a:solidFill>
                <a:latin typeface="Inter"/>
              </a:rPr>
              <a:t>Use Cases:</a:t>
            </a:r>
            <a:r>
              <a:rPr sz="1600" b="0" i="0" u="none" dirty="0">
                <a:solidFill>
                  <a:srgbClr val="334155"/>
                </a:solidFill>
                <a:latin typeface="Inter"/>
              </a:rPr>
              <a:t> Multi-aspect code reviews, guardrail checks</a:t>
            </a:r>
            <a:r>
              <a:rPr lang="en-IN" sz="1600" b="0" i="0" u="none" dirty="0">
                <a:solidFill>
                  <a:srgbClr val="334155"/>
                </a:solidFill>
                <a:latin typeface="Inter"/>
              </a:rPr>
              <a:t>.</a:t>
            </a:r>
            <a:endParaRPr sz="1600" b="0" i="0" u="none" dirty="0">
              <a:solidFill>
                <a:srgbClr val="334155"/>
              </a:solidFill>
              <a:latin typeface="Inter"/>
            </a:endParaRPr>
          </a:p>
        </p:txBody>
      </p:sp>
      <p:sp>
        <p:nvSpPr>
          <p:cNvPr id="106" name="Rectangle 105">
            <a:extLst>
              <a:ext uri="{FF2B5EF4-FFF2-40B4-BE49-F238E27FC236}">
                <a16:creationId xmlns:a16="http://schemas.microsoft.com/office/drawing/2014/main" id="{F74852EB-638F-058B-CFD9-82D1872C7051}"/>
              </a:ext>
            </a:extLst>
          </p:cNvPr>
          <p:cNvSpPr/>
          <p:nvPr/>
        </p:nvSpPr>
        <p:spPr>
          <a:xfrm>
            <a:off x="1199811" y="5552493"/>
            <a:ext cx="45719" cy="57667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a:extLst>
              <a:ext uri="{FF2B5EF4-FFF2-40B4-BE49-F238E27FC236}">
                <a16:creationId xmlns:a16="http://schemas.microsoft.com/office/drawing/2014/main" id="{0EC64FA5-9B42-204B-3D20-7CE5C3B7B296}"/>
              </a:ext>
            </a:extLst>
          </p:cNvPr>
          <p:cNvSpPr txBox="1"/>
          <p:nvPr/>
        </p:nvSpPr>
        <p:spPr>
          <a:xfrm>
            <a:off x="1199811" y="1880772"/>
            <a:ext cx="9712831" cy="692497"/>
          </a:xfrm>
          <a:prstGeom prst="rect">
            <a:avLst/>
          </a:prstGeom>
          <a:noFill/>
        </p:spPr>
        <p:txBody>
          <a:bodyPr wrap="square" lIns="0" tIns="0" rIns="0" bIns="0" anchor="t">
            <a:spAutoFit/>
          </a:bodyPr>
          <a:lstStyle/>
          <a:p>
            <a:pPr>
              <a:lnSpc>
                <a:spcPts val="1800"/>
              </a:lnSpc>
            </a:pPr>
            <a:r>
              <a:rPr sz="1600" b="0" i="0" u="none" dirty="0">
                <a:latin typeface="Inter"/>
              </a:rPr>
              <a:t>Distributes independent subtasks across concurrent LLM calls. Executes simultaneously and aggregates outputs to reduce total system latency</a:t>
            </a:r>
            <a:r>
              <a:rPr lang="en-IN" sz="1600" dirty="0">
                <a:latin typeface="Inter"/>
              </a:rPr>
              <a:t> , making it ideal for independent evaluation tasks, majority-voting consensus mechanisms, and multi-perspective verification. [6]</a:t>
            </a:r>
            <a:endParaRPr sz="1600" b="0" i="0" u="none" dirty="0">
              <a:latin typeface="Inter"/>
            </a:endParaRPr>
          </a:p>
        </p:txBody>
      </p:sp>
      <p:sp>
        <p:nvSpPr>
          <p:cNvPr id="122" name="TextBox 121">
            <a:extLst>
              <a:ext uri="{FF2B5EF4-FFF2-40B4-BE49-F238E27FC236}">
                <a16:creationId xmlns:a16="http://schemas.microsoft.com/office/drawing/2014/main" id="{AABF357F-E3F1-EE87-C429-394314AAE22B}"/>
              </a:ext>
            </a:extLst>
          </p:cNvPr>
          <p:cNvSpPr txBox="1"/>
          <p:nvPr/>
        </p:nvSpPr>
        <p:spPr>
          <a:xfrm>
            <a:off x="1199811" y="1455662"/>
            <a:ext cx="2067166" cy="260286"/>
          </a:xfrm>
          <a:prstGeom prst="rect">
            <a:avLst/>
          </a:prstGeom>
          <a:noFill/>
        </p:spPr>
        <p:txBody>
          <a:bodyPr wrap="square" lIns="0" tIns="0" rIns="0" bIns="0" anchor="t">
            <a:spAutoFit/>
          </a:bodyPr>
          <a:lstStyle/>
          <a:p>
            <a:pPr algn="l">
              <a:lnSpc>
                <a:spcPts val="1979"/>
              </a:lnSpc>
            </a:pPr>
            <a:r>
              <a:rPr b="0" i="0" u="none" dirty="0">
                <a:solidFill>
                  <a:schemeClr val="tx2"/>
                </a:solidFill>
                <a:latin typeface="Poppins SemiBold"/>
              </a:rPr>
              <a:t>4. Parallelization</a:t>
            </a:r>
          </a:p>
        </p:txBody>
      </p:sp>
      <p:sp>
        <p:nvSpPr>
          <p:cNvPr id="3" name="TextBox 2">
            <a:extLst>
              <a:ext uri="{FF2B5EF4-FFF2-40B4-BE49-F238E27FC236}">
                <a16:creationId xmlns:a16="http://schemas.microsoft.com/office/drawing/2014/main" id="{4F7F5203-071E-B493-CA5B-8FEDD8A0B0B0}"/>
              </a:ext>
            </a:extLst>
          </p:cNvPr>
          <p:cNvSpPr txBox="1"/>
          <p:nvPr/>
        </p:nvSpPr>
        <p:spPr>
          <a:xfrm>
            <a:off x="760535" y="394236"/>
            <a:ext cx="5856699"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sp>
        <p:nvSpPr>
          <p:cNvPr id="4" name="TextBox 3">
            <a:extLst>
              <a:ext uri="{FF2B5EF4-FFF2-40B4-BE49-F238E27FC236}">
                <a16:creationId xmlns:a16="http://schemas.microsoft.com/office/drawing/2014/main" id="{15321072-F84B-69EE-A08C-00A96B4152F7}"/>
              </a:ext>
            </a:extLst>
          </p:cNvPr>
          <p:cNvSpPr txBox="1"/>
          <p:nvPr/>
        </p:nvSpPr>
        <p:spPr>
          <a:xfrm>
            <a:off x="1199811" y="2924719"/>
            <a:ext cx="4896189" cy="2231380"/>
          </a:xfrm>
          <a:prstGeom prst="rect">
            <a:avLst/>
          </a:prstGeom>
          <a:noFill/>
        </p:spPr>
        <p:txBody>
          <a:bodyPr wrap="square" lIns="0" tIns="0" rIns="0" bIns="0" anchor="t">
            <a:spAutoFit/>
          </a:bodyPr>
          <a:lstStyle/>
          <a:p>
            <a:pPr algn="just">
              <a:lnSpc>
                <a:spcPts val="1800"/>
              </a:lnSpc>
              <a:spcBef>
                <a:spcPts val="600"/>
              </a:spcBef>
            </a:pPr>
            <a:r>
              <a:rPr lang="en-IN" sz="1600" dirty="0"/>
              <a:t>It has two sub-patterns:</a:t>
            </a:r>
          </a:p>
          <a:p>
            <a:pPr algn="just">
              <a:lnSpc>
                <a:spcPts val="1800"/>
              </a:lnSpc>
              <a:spcBef>
                <a:spcPts val="600"/>
              </a:spcBef>
            </a:pPr>
            <a:r>
              <a:rPr lang="en-IN" sz="1600" b="1" dirty="0"/>
              <a:t>Sectioning (fan-out): </a:t>
            </a:r>
            <a:r>
              <a:rPr lang="en-IN" sz="1600" dirty="0"/>
              <a:t>Partition the input into disjoint chunks and process each independently— e.g., run security, performance, and style checks on a codebase simultaneously.</a:t>
            </a:r>
          </a:p>
          <a:p>
            <a:pPr algn="just">
              <a:lnSpc>
                <a:spcPts val="1800"/>
              </a:lnSpc>
              <a:spcBef>
                <a:spcPts val="600"/>
              </a:spcBef>
            </a:pPr>
            <a:r>
              <a:rPr lang="en-IN" sz="1600" b="1" dirty="0"/>
              <a:t>Voting (redundancy): </a:t>
            </a:r>
            <a:r>
              <a:rPr lang="en-IN" sz="1600" dirty="0"/>
              <a:t>Issue the same prompt N times with different seeds or temperatures, then select the best result via majority vote [368], reward-model scoring, or LLM-as-judge.</a:t>
            </a:r>
            <a:endParaRPr sz="1600" b="0" i="0" u="none" dirty="0">
              <a:latin typeface="Inter"/>
            </a:endParaRPr>
          </a:p>
        </p:txBody>
      </p:sp>
      <p:pic>
        <p:nvPicPr>
          <p:cNvPr id="8" name="Picture 7">
            <a:extLst>
              <a:ext uri="{FF2B5EF4-FFF2-40B4-BE49-F238E27FC236}">
                <a16:creationId xmlns:a16="http://schemas.microsoft.com/office/drawing/2014/main" id="{E06370C5-B418-A907-A440-579BB1F20692}"/>
              </a:ext>
            </a:extLst>
          </p:cNvPr>
          <p:cNvPicPr>
            <a:picLocks noChangeAspect="1"/>
          </p:cNvPicPr>
          <p:nvPr/>
        </p:nvPicPr>
        <p:blipFill>
          <a:blip r:embed="rId5">
            <a:duotone>
              <a:schemeClr val="accent1">
                <a:shade val="45000"/>
                <a:satMod val="135000"/>
              </a:schemeClr>
              <a:prstClr val="white"/>
            </a:duotone>
          </a:blip>
          <a:stretch>
            <a:fillRect/>
          </a:stretch>
        </p:blipFill>
        <p:spPr>
          <a:xfrm>
            <a:off x="6762750" y="3104128"/>
            <a:ext cx="4082391" cy="2201872"/>
          </a:xfrm>
          <a:prstGeom prst="rect">
            <a:avLst/>
          </a:prstGeom>
        </p:spPr>
      </p:pic>
    </p:spTree>
    <p:extLst>
      <p:ext uri="{BB962C8B-B14F-4D97-AF65-F5344CB8AC3E}">
        <p14:creationId xmlns:p14="http://schemas.microsoft.com/office/powerpoint/2010/main" val="35343056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74988-6125-B2B8-735C-56FAC4379E76}"/>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AE50AC93-064D-9A12-EC02-A3C484D81B80}"/>
              </a:ext>
            </a:extLst>
          </p:cNvPr>
          <p:cNvPicPr>
            <a:picLocks noChangeAspect="1"/>
          </p:cNvPicPr>
          <p:nvPr/>
        </p:nvPicPr>
        <p:blipFill>
          <a:blip r:embed="rId3"/>
          <a:stretch>
            <a:fillRect/>
          </a:stretch>
        </p:blipFill>
        <p:spPr>
          <a:xfrm>
            <a:off x="0" y="0"/>
            <a:ext cx="12204544" cy="6858000"/>
          </a:xfrm>
          <a:prstGeom prst="rect">
            <a:avLst/>
          </a:prstGeom>
        </p:spPr>
      </p:pic>
      <p:sp>
        <p:nvSpPr>
          <p:cNvPr id="127" name="TextBox 126">
            <a:extLst>
              <a:ext uri="{FF2B5EF4-FFF2-40B4-BE49-F238E27FC236}">
                <a16:creationId xmlns:a16="http://schemas.microsoft.com/office/drawing/2014/main" id="{96DB3ABB-B42C-552D-0972-413F4233828F}"/>
              </a:ext>
            </a:extLst>
          </p:cNvPr>
          <p:cNvSpPr txBox="1"/>
          <p:nvPr/>
        </p:nvSpPr>
        <p:spPr>
          <a:xfrm>
            <a:off x="603094" y="421249"/>
            <a:ext cx="11601450"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pic>
        <p:nvPicPr>
          <p:cNvPr id="3" name="Picture 2" descr="image.png">
            <a:extLst>
              <a:ext uri="{FF2B5EF4-FFF2-40B4-BE49-F238E27FC236}">
                <a16:creationId xmlns:a16="http://schemas.microsoft.com/office/drawing/2014/main" id="{53623F76-1937-AF55-52B4-2E322FE1E614}"/>
              </a:ext>
            </a:extLst>
          </p:cNvPr>
          <p:cNvPicPr>
            <a:picLocks noChangeAspect="1"/>
          </p:cNvPicPr>
          <p:nvPr/>
        </p:nvPicPr>
        <p:blipFill>
          <a:blip r:embed="rId4"/>
          <a:stretch>
            <a:fillRect/>
          </a:stretch>
        </p:blipFill>
        <p:spPr>
          <a:xfrm>
            <a:off x="571500" y="1126298"/>
            <a:ext cx="5381625" cy="5522983"/>
          </a:xfrm>
          <a:prstGeom prst="rect">
            <a:avLst/>
          </a:prstGeom>
        </p:spPr>
      </p:pic>
      <p:pic>
        <p:nvPicPr>
          <p:cNvPr id="5" name="Picture 4" descr="image.png">
            <a:extLst>
              <a:ext uri="{FF2B5EF4-FFF2-40B4-BE49-F238E27FC236}">
                <a16:creationId xmlns:a16="http://schemas.microsoft.com/office/drawing/2014/main" id="{A834B13C-C477-E42F-D022-9EFD0354DA43}"/>
              </a:ext>
            </a:extLst>
          </p:cNvPr>
          <p:cNvPicPr>
            <a:picLocks noChangeAspect="1"/>
          </p:cNvPicPr>
          <p:nvPr/>
        </p:nvPicPr>
        <p:blipFill>
          <a:blip r:embed="rId5"/>
          <a:stretch>
            <a:fillRect/>
          </a:stretch>
        </p:blipFill>
        <p:spPr>
          <a:xfrm>
            <a:off x="6238875" y="1134980"/>
            <a:ext cx="5381625" cy="5080614"/>
          </a:xfrm>
          <a:prstGeom prst="rect">
            <a:avLst/>
          </a:prstGeom>
        </p:spPr>
      </p:pic>
      <p:sp>
        <p:nvSpPr>
          <p:cNvPr id="12" name="Rectangle 11">
            <a:extLst>
              <a:ext uri="{FF2B5EF4-FFF2-40B4-BE49-F238E27FC236}">
                <a16:creationId xmlns:a16="http://schemas.microsoft.com/office/drawing/2014/main" id="{5DD216FB-61B2-7AF4-5651-8D9CE26A8071}"/>
              </a:ext>
            </a:extLst>
          </p:cNvPr>
          <p:cNvSpPr/>
          <p:nvPr/>
        </p:nvSpPr>
        <p:spPr>
          <a:xfrm>
            <a:off x="888648" y="5873156"/>
            <a:ext cx="4641998" cy="554904"/>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1134ED0B-D160-9DE1-79A2-073686FBF760}"/>
              </a:ext>
            </a:extLst>
          </p:cNvPr>
          <p:cNvSpPr txBox="1"/>
          <p:nvPr/>
        </p:nvSpPr>
        <p:spPr>
          <a:xfrm>
            <a:off x="1021998" y="5968406"/>
            <a:ext cx="4355328"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Complex software development, multi-domain compliance analysis.</a:t>
            </a:r>
          </a:p>
        </p:txBody>
      </p:sp>
      <p:sp>
        <p:nvSpPr>
          <p:cNvPr id="16" name="Rectangle 15">
            <a:extLst>
              <a:ext uri="{FF2B5EF4-FFF2-40B4-BE49-F238E27FC236}">
                <a16:creationId xmlns:a16="http://schemas.microsoft.com/office/drawing/2014/main" id="{75E52725-9DE1-43F8-D00A-355033A42933}"/>
              </a:ext>
            </a:extLst>
          </p:cNvPr>
          <p:cNvSpPr/>
          <p:nvPr/>
        </p:nvSpPr>
        <p:spPr>
          <a:xfrm>
            <a:off x="888647" y="5873156"/>
            <a:ext cx="45719" cy="5549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a:extLst>
              <a:ext uri="{FF2B5EF4-FFF2-40B4-BE49-F238E27FC236}">
                <a16:creationId xmlns:a16="http://schemas.microsoft.com/office/drawing/2014/main" id="{FF4D3BF0-0AD2-86AC-11BD-AF147682E3B2}"/>
              </a:ext>
            </a:extLst>
          </p:cNvPr>
          <p:cNvSpPr/>
          <p:nvPr/>
        </p:nvSpPr>
        <p:spPr>
          <a:xfrm>
            <a:off x="6515100" y="5399926"/>
            <a:ext cx="4829175"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52A7523B-C92C-848B-5752-368F27200C18}"/>
              </a:ext>
            </a:extLst>
          </p:cNvPr>
          <p:cNvSpPr txBox="1"/>
          <p:nvPr/>
        </p:nvSpPr>
        <p:spPr>
          <a:xfrm>
            <a:off x="6648450" y="5495176"/>
            <a:ext cx="4562475"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Code generation with test pass verification, high-stakes translation, </a:t>
            </a:r>
          </a:p>
        </p:txBody>
      </p:sp>
      <p:sp>
        <p:nvSpPr>
          <p:cNvPr id="22" name="Rectangle 21">
            <a:extLst>
              <a:ext uri="{FF2B5EF4-FFF2-40B4-BE49-F238E27FC236}">
                <a16:creationId xmlns:a16="http://schemas.microsoft.com/office/drawing/2014/main" id="{D9494930-051E-9DA8-19E1-FB127AD1EEED}"/>
              </a:ext>
            </a:extLst>
          </p:cNvPr>
          <p:cNvSpPr/>
          <p:nvPr/>
        </p:nvSpPr>
        <p:spPr>
          <a:xfrm>
            <a:off x="6515100" y="5414215"/>
            <a:ext cx="28575" cy="4953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3104F974-B6C0-B378-329C-23AABD6EAF6A}"/>
              </a:ext>
            </a:extLst>
          </p:cNvPr>
          <p:cNvSpPr txBox="1"/>
          <p:nvPr/>
        </p:nvSpPr>
        <p:spPr>
          <a:xfrm>
            <a:off x="847725" y="1896100"/>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A central LLM dynamically analyzes a task, breaks it down into subtasks, delegates to specialized worker agents, and synthesizes the collected worker outputs into a final result.</a:t>
            </a:r>
            <a:r>
              <a:rPr lang="en-IN" sz="1400" b="0" i="0" u="none" dirty="0">
                <a:latin typeface="Inter"/>
              </a:rPr>
              <a:t> [6]</a:t>
            </a:r>
            <a:endParaRPr sz="1400" b="0" i="0" u="none" dirty="0">
              <a:latin typeface="Inter"/>
            </a:endParaRPr>
          </a:p>
        </p:txBody>
      </p:sp>
      <p:sp>
        <p:nvSpPr>
          <p:cNvPr id="26" name="TextBox 25">
            <a:extLst>
              <a:ext uri="{FF2B5EF4-FFF2-40B4-BE49-F238E27FC236}">
                <a16:creationId xmlns:a16="http://schemas.microsoft.com/office/drawing/2014/main" id="{881D9922-3D66-1454-2ECD-B76E5C589A74}"/>
              </a:ext>
            </a:extLst>
          </p:cNvPr>
          <p:cNvSpPr txBox="1"/>
          <p:nvPr/>
        </p:nvSpPr>
        <p:spPr>
          <a:xfrm>
            <a:off x="6515100" y="2024526"/>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Creates an iterative loop where a Generator LLM produces output and an Evaluator LLM assesses it against quality criteria, providing actionable feedback until thresholds are met.</a:t>
            </a:r>
            <a:r>
              <a:rPr lang="en-IN" sz="1400" b="0" i="0" u="none" dirty="0">
                <a:latin typeface="Inter"/>
              </a:rPr>
              <a:t>[6]</a:t>
            </a:r>
            <a:endParaRPr sz="1400" b="0" i="0" u="none" dirty="0">
              <a:latin typeface="Inter"/>
            </a:endParaRPr>
          </a:p>
        </p:txBody>
      </p:sp>
      <p:sp>
        <p:nvSpPr>
          <p:cNvPr id="30" name="TextBox 29">
            <a:extLst>
              <a:ext uri="{FF2B5EF4-FFF2-40B4-BE49-F238E27FC236}">
                <a16:creationId xmlns:a16="http://schemas.microsoft.com/office/drawing/2014/main" id="{0A065BE8-311C-645B-ACF1-B3CF25C417B1}"/>
              </a:ext>
            </a:extLst>
          </p:cNvPr>
          <p:cNvSpPr txBox="1"/>
          <p:nvPr/>
        </p:nvSpPr>
        <p:spPr>
          <a:xfrm>
            <a:off x="903108" y="1402524"/>
            <a:ext cx="2880360"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5. Orchestrator–Workers</a:t>
            </a:r>
          </a:p>
        </p:txBody>
      </p:sp>
      <p:sp>
        <p:nvSpPr>
          <p:cNvPr id="32" name="Rectangle 31">
            <a:extLst>
              <a:ext uri="{FF2B5EF4-FFF2-40B4-BE49-F238E27FC236}">
                <a16:creationId xmlns:a16="http://schemas.microsoft.com/office/drawing/2014/main" id="{C2EAC975-A4BC-A9E2-5FDB-317807E4EA04}"/>
              </a:ext>
            </a:extLst>
          </p:cNvPr>
          <p:cNvSpPr/>
          <p:nvPr/>
        </p:nvSpPr>
        <p:spPr>
          <a:xfrm>
            <a:off x="903108" y="1749145"/>
            <a:ext cx="27432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8152FAB-79C7-77A9-4DDF-B5EB8E16B4E7}"/>
              </a:ext>
            </a:extLst>
          </p:cNvPr>
          <p:cNvSpPr txBox="1"/>
          <p:nvPr/>
        </p:nvSpPr>
        <p:spPr>
          <a:xfrm>
            <a:off x="6541908" y="1411205"/>
            <a:ext cx="2670333"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6. Evaluator–Optimizer</a:t>
            </a:r>
          </a:p>
        </p:txBody>
      </p:sp>
      <p:sp>
        <p:nvSpPr>
          <p:cNvPr id="39" name="Rectangle 38">
            <a:extLst>
              <a:ext uri="{FF2B5EF4-FFF2-40B4-BE49-F238E27FC236}">
                <a16:creationId xmlns:a16="http://schemas.microsoft.com/office/drawing/2014/main" id="{A64FAB92-E58C-FE56-606A-5CFA58CB4434}"/>
              </a:ext>
            </a:extLst>
          </p:cNvPr>
          <p:cNvSpPr/>
          <p:nvPr/>
        </p:nvSpPr>
        <p:spPr>
          <a:xfrm>
            <a:off x="6541908" y="1757826"/>
            <a:ext cx="2543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a:extLst>
              <a:ext uri="{FF2B5EF4-FFF2-40B4-BE49-F238E27FC236}">
                <a16:creationId xmlns:a16="http://schemas.microsoft.com/office/drawing/2014/main" id="{D62EE7A0-BE14-DA6D-14EF-6004BDB08F32}"/>
              </a:ext>
            </a:extLst>
          </p:cNvPr>
          <p:cNvPicPr>
            <a:picLocks noChangeAspect="1"/>
          </p:cNvPicPr>
          <p:nvPr/>
        </p:nvPicPr>
        <p:blipFill>
          <a:blip r:embed="rId6">
            <a:duotone>
              <a:schemeClr val="accent1">
                <a:shade val="45000"/>
                <a:satMod val="135000"/>
              </a:schemeClr>
              <a:prstClr val="white"/>
            </a:duotone>
          </a:blip>
          <a:srcRect l="10759" r="11513"/>
          <a:stretch>
            <a:fillRect/>
          </a:stretch>
        </p:blipFill>
        <p:spPr>
          <a:xfrm>
            <a:off x="1021997" y="2652659"/>
            <a:ext cx="4446764" cy="2639464"/>
          </a:xfrm>
          <a:prstGeom prst="rect">
            <a:avLst/>
          </a:prstGeom>
        </p:spPr>
      </p:pic>
      <p:pic>
        <p:nvPicPr>
          <p:cNvPr id="43" name="Picture 42">
            <a:extLst>
              <a:ext uri="{FF2B5EF4-FFF2-40B4-BE49-F238E27FC236}">
                <a16:creationId xmlns:a16="http://schemas.microsoft.com/office/drawing/2014/main" id="{171B2FB1-7C80-36DC-B8CB-D9EC3CB0C369}"/>
              </a:ext>
            </a:extLst>
          </p:cNvPr>
          <p:cNvPicPr>
            <a:picLocks noChangeAspect="1"/>
          </p:cNvPicPr>
          <p:nvPr/>
        </p:nvPicPr>
        <p:blipFill>
          <a:blip r:embed="rId7">
            <a:duotone>
              <a:schemeClr val="accent1">
                <a:shade val="45000"/>
                <a:satMod val="135000"/>
              </a:schemeClr>
              <a:prstClr val="white"/>
            </a:duotone>
          </a:blip>
          <a:stretch>
            <a:fillRect/>
          </a:stretch>
        </p:blipFill>
        <p:spPr>
          <a:xfrm>
            <a:off x="6515100" y="3673870"/>
            <a:ext cx="4800600" cy="1021404"/>
          </a:xfrm>
          <a:prstGeom prst="rect">
            <a:avLst/>
          </a:prstGeom>
        </p:spPr>
      </p:pic>
      <p:sp>
        <p:nvSpPr>
          <p:cNvPr id="4" name="TextBox 3">
            <a:extLst>
              <a:ext uri="{FF2B5EF4-FFF2-40B4-BE49-F238E27FC236}">
                <a16:creationId xmlns:a16="http://schemas.microsoft.com/office/drawing/2014/main" id="{2C512C4D-7A0E-79AC-F0C8-8BAAB446152B}"/>
              </a:ext>
            </a:extLst>
          </p:cNvPr>
          <p:cNvSpPr txBox="1"/>
          <p:nvPr/>
        </p:nvSpPr>
        <p:spPr>
          <a:xfrm>
            <a:off x="921305" y="5322943"/>
            <a:ext cx="4695826" cy="461665"/>
          </a:xfrm>
          <a:prstGeom prst="rect">
            <a:avLst/>
          </a:prstGeom>
          <a:noFill/>
        </p:spPr>
        <p:txBody>
          <a:bodyPr wrap="square">
            <a:spAutoFit/>
          </a:bodyPr>
          <a:lstStyle/>
          <a:p>
            <a:r>
              <a:rPr lang="en-IN" sz="1200" b="1" dirty="0"/>
              <a:t>Fig: </a:t>
            </a:r>
            <a:r>
              <a:rPr lang="en-IN" sz="1200" dirty="0"/>
              <a:t>Orchestrator-workers: the LLM decides how to decompose the task and synthesizes worker results. [6]</a:t>
            </a:r>
          </a:p>
        </p:txBody>
      </p:sp>
      <p:sp>
        <p:nvSpPr>
          <p:cNvPr id="7" name="TextBox 6">
            <a:extLst>
              <a:ext uri="{FF2B5EF4-FFF2-40B4-BE49-F238E27FC236}">
                <a16:creationId xmlns:a16="http://schemas.microsoft.com/office/drawing/2014/main" id="{4334B0C3-4207-566A-6D5A-CA0FECDEEDEC}"/>
              </a:ext>
            </a:extLst>
          </p:cNvPr>
          <p:cNvSpPr txBox="1"/>
          <p:nvPr/>
        </p:nvSpPr>
        <p:spPr>
          <a:xfrm>
            <a:off x="6808782" y="4783505"/>
            <a:ext cx="4361221" cy="276999"/>
          </a:xfrm>
          <a:prstGeom prst="rect">
            <a:avLst/>
          </a:prstGeom>
          <a:noFill/>
        </p:spPr>
        <p:txBody>
          <a:bodyPr wrap="square">
            <a:spAutoFit/>
          </a:bodyPr>
          <a:lstStyle/>
          <a:p>
            <a:r>
              <a:rPr lang="en-IN" sz="1200" b="1" dirty="0"/>
              <a:t>Fig: </a:t>
            </a:r>
            <a:r>
              <a:rPr lang="en-IN" sz="1200" dirty="0"/>
              <a:t>Evaluator-optimizer: iterative refinement without training.[6]</a:t>
            </a:r>
          </a:p>
        </p:txBody>
      </p:sp>
      <p:sp>
        <p:nvSpPr>
          <p:cNvPr id="8" name="TextBox 7">
            <a:extLst>
              <a:ext uri="{FF2B5EF4-FFF2-40B4-BE49-F238E27FC236}">
                <a16:creationId xmlns:a16="http://schemas.microsoft.com/office/drawing/2014/main" id="{C1E748EA-F5CC-F836-4451-9792A265204D}"/>
              </a:ext>
            </a:extLst>
          </p:cNvPr>
          <p:cNvSpPr txBox="1"/>
          <p:nvPr/>
        </p:nvSpPr>
        <p:spPr>
          <a:xfrm>
            <a:off x="6515100" y="2869606"/>
            <a:ext cx="4829175" cy="682174"/>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Tasks with clear quality criteria—code that must pass tests, translations that must preserve meaning, writing that must match a style guide.</a:t>
            </a:r>
            <a:endParaRPr sz="1400" b="0" i="0" u="none" dirty="0">
              <a:latin typeface="Inter"/>
            </a:endParaRPr>
          </a:p>
        </p:txBody>
      </p:sp>
    </p:spTree>
    <p:extLst>
      <p:ext uri="{BB962C8B-B14F-4D97-AF65-F5344CB8AC3E}">
        <p14:creationId xmlns:p14="http://schemas.microsoft.com/office/powerpoint/2010/main" val="1615261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41BD8-AECD-0C8E-C761-26675C3A5FB4}"/>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598B95-F470-70D8-6190-D12BC4303D34}"/>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2" name="Picture 1" descr="image.png">
            <a:extLst>
              <a:ext uri="{FF2B5EF4-FFF2-40B4-BE49-F238E27FC236}">
                <a16:creationId xmlns:a16="http://schemas.microsoft.com/office/drawing/2014/main" id="{99B401E6-1870-971D-83B6-1569740813EF}"/>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46200" y="1503702"/>
            <a:ext cx="5381625" cy="5142410"/>
          </a:xfrm>
          <a:prstGeom prst="rect">
            <a:avLst/>
          </a:prstGeom>
        </p:spPr>
      </p:pic>
      <p:pic>
        <p:nvPicPr>
          <p:cNvPr id="3" name="Picture 2" descr="image.png">
            <a:extLst>
              <a:ext uri="{FF2B5EF4-FFF2-40B4-BE49-F238E27FC236}">
                <a16:creationId xmlns:a16="http://schemas.microsoft.com/office/drawing/2014/main" id="{EE2A5FCA-BE5A-B19B-B165-CFD48FC37574}"/>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238875" y="1562694"/>
            <a:ext cx="5381625" cy="5083417"/>
          </a:xfrm>
          <a:prstGeom prst="rect">
            <a:avLst/>
          </a:prstGeom>
        </p:spPr>
      </p:pic>
      <p:sp>
        <p:nvSpPr>
          <p:cNvPr id="6" name="TextBox 5">
            <a:extLst>
              <a:ext uri="{FF2B5EF4-FFF2-40B4-BE49-F238E27FC236}">
                <a16:creationId xmlns:a16="http://schemas.microsoft.com/office/drawing/2014/main" id="{CB53899A-8652-1A72-709F-9B6CFB1573E1}"/>
              </a:ext>
            </a:extLst>
          </p:cNvPr>
          <p:cNvSpPr txBox="1"/>
          <p:nvPr/>
        </p:nvSpPr>
        <p:spPr>
          <a:xfrm>
            <a:off x="570886" y="410976"/>
            <a:ext cx="11601450"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endParaRPr sz="2800" b="1" i="0" u="none" dirty="0">
              <a:solidFill>
                <a:schemeClr val="tx2"/>
              </a:solidFill>
              <a:latin typeface="Inter"/>
            </a:endParaRPr>
          </a:p>
        </p:txBody>
      </p:sp>
      <p:sp>
        <p:nvSpPr>
          <p:cNvPr id="7" name="TextBox 6">
            <a:extLst>
              <a:ext uri="{FF2B5EF4-FFF2-40B4-BE49-F238E27FC236}">
                <a16:creationId xmlns:a16="http://schemas.microsoft.com/office/drawing/2014/main" id="{E723FC0E-8F75-1253-B0B9-4289E3B03707}"/>
              </a:ext>
            </a:extLst>
          </p:cNvPr>
          <p:cNvSpPr txBox="1"/>
          <p:nvPr/>
        </p:nvSpPr>
        <p:spPr>
          <a:xfrm>
            <a:off x="570885" y="891135"/>
            <a:ext cx="11200567"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sz="1500" b="0" i="0" u="none" dirty="0">
              <a:solidFill>
                <a:srgbClr val="64748B"/>
              </a:solidFill>
              <a:latin typeface="Inter"/>
            </a:endParaRPr>
          </a:p>
        </p:txBody>
      </p:sp>
      <p:sp>
        <p:nvSpPr>
          <p:cNvPr id="11" name="TextBox 10">
            <a:extLst>
              <a:ext uri="{FF2B5EF4-FFF2-40B4-BE49-F238E27FC236}">
                <a16:creationId xmlns:a16="http://schemas.microsoft.com/office/drawing/2014/main" id="{92178ED1-E33D-124E-80BF-9267E88B41CB}"/>
              </a:ext>
            </a:extLst>
          </p:cNvPr>
          <p:cNvSpPr txBox="1"/>
          <p:nvPr/>
        </p:nvSpPr>
        <p:spPr>
          <a:xfrm>
            <a:off x="6534150" y="2375742"/>
            <a:ext cx="4791075" cy="906274"/>
          </a:xfrm>
          <a:prstGeom prst="rect">
            <a:avLst/>
          </a:prstGeom>
          <a:noFill/>
        </p:spPr>
        <p:txBody>
          <a:bodyPr wrap="square" lIns="0" tIns="0" rIns="0" bIns="0" anchor="t">
            <a:spAutoFit/>
          </a:bodyPr>
          <a:lstStyle/>
          <a:p>
            <a:pPr>
              <a:lnSpc>
                <a:spcPts val="1800"/>
              </a:lnSpc>
            </a:pPr>
            <a:r>
              <a:rPr lang="en-IN" sz="1200" dirty="0"/>
              <a:t>It generates an explicit plan for achieving a goal before beginning execution. The plan contains tasks and dependencies, while the agent can revise the plan when new information, failures, or unexpected results are encountered during execution.[6]</a:t>
            </a:r>
            <a:endParaRPr lang="en-US" sz="1200" dirty="0">
              <a:solidFill>
                <a:srgbClr val="475569"/>
              </a:solidFill>
              <a:latin typeface="Inter"/>
            </a:endParaRPr>
          </a:p>
        </p:txBody>
      </p:sp>
      <p:sp>
        <p:nvSpPr>
          <p:cNvPr id="13" name="TextBox 12">
            <a:extLst>
              <a:ext uri="{FF2B5EF4-FFF2-40B4-BE49-F238E27FC236}">
                <a16:creationId xmlns:a16="http://schemas.microsoft.com/office/drawing/2014/main" id="{F24A3E51-E479-7E8B-94E2-955F9888AEED}"/>
              </a:ext>
            </a:extLst>
          </p:cNvPr>
          <p:cNvSpPr txBox="1"/>
          <p:nvPr/>
        </p:nvSpPr>
        <p:spPr>
          <a:xfrm>
            <a:off x="873174" y="1804876"/>
            <a:ext cx="2910363" cy="295275"/>
          </a:xfrm>
          <a:prstGeom prst="rect">
            <a:avLst/>
          </a:prstGeom>
          <a:noFill/>
        </p:spPr>
        <p:txBody>
          <a:bodyPr wrap="square" lIns="0" tIns="0" rIns="0" bIns="0" anchor="t">
            <a:spAutoFit/>
          </a:bodyPr>
          <a:lstStyle/>
          <a:p>
            <a:pPr algn="l"/>
            <a:r>
              <a:rPr sz="1950" b="1" i="0" u="none" dirty="0">
                <a:solidFill>
                  <a:srgbClr val="1E3A8A"/>
                </a:solidFill>
                <a:latin typeface="Inter"/>
              </a:rPr>
              <a:t>1. </a:t>
            </a:r>
            <a:r>
              <a:rPr sz="1950" b="1" i="0" u="none" dirty="0" err="1">
                <a:solidFill>
                  <a:srgbClr val="1E3A8A"/>
                </a:solidFill>
                <a:latin typeface="Inter"/>
              </a:rPr>
              <a:t>ReAct</a:t>
            </a:r>
            <a:r>
              <a:rPr sz="1950" b="1" i="0" u="none" dirty="0">
                <a:solidFill>
                  <a:srgbClr val="1E3A8A"/>
                </a:solidFill>
                <a:latin typeface="Inter"/>
              </a:rPr>
              <a:t> (Reason &amp; Act)</a:t>
            </a:r>
          </a:p>
        </p:txBody>
      </p:sp>
      <p:sp>
        <p:nvSpPr>
          <p:cNvPr id="18" name="TextBox 17">
            <a:extLst>
              <a:ext uri="{FF2B5EF4-FFF2-40B4-BE49-F238E27FC236}">
                <a16:creationId xmlns:a16="http://schemas.microsoft.com/office/drawing/2014/main" id="{E3BDE99E-F7CE-6B12-745A-4BF5E7A8FFA7}"/>
              </a:ext>
            </a:extLst>
          </p:cNvPr>
          <p:cNvSpPr txBox="1"/>
          <p:nvPr/>
        </p:nvSpPr>
        <p:spPr>
          <a:xfrm>
            <a:off x="6534150" y="1893468"/>
            <a:ext cx="2930366" cy="300082"/>
          </a:xfrm>
          <a:prstGeom prst="rect">
            <a:avLst/>
          </a:prstGeom>
          <a:noFill/>
        </p:spPr>
        <p:txBody>
          <a:bodyPr wrap="square" lIns="0" tIns="0" rIns="0" bIns="0" anchor="t">
            <a:spAutoFit/>
          </a:bodyPr>
          <a:lstStyle/>
          <a:p>
            <a:pPr algn="l"/>
            <a:r>
              <a:rPr sz="1950" b="1" i="0" u="none" dirty="0">
                <a:solidFill>
                  <a:schemeClr val="tx2"/>
                </a:solidFill>
                <a:latin typeface="Inter"/>
              </a:rPr>
              <a:t>2. </a:t>
            </a:r>
            <a:r>
              <a:rPr lang="en-IN" sz="1950" b="1" i="0" u="none" dirty="0">
                <a:solidFill>
                  <a:schemeClr val="tx2"/>
                </a:solidFill>
                <a:latin typeface="Inter"/>
              </a:rPr>
              <a:t>Planning Agent</a:t>
            </a:r>
            <a:endParaRPr sz="1950" b="1" i="0" u="none" dirty="0">
              <a:solidFill>
                <a:schemeClr val="tx2"/>
              </a:solidFill>
              <a:latin typeface="Inter"/>
            </a:endParaRPr>
          </a:p>
        </p:txBody>
      </p:sp>
      <p:sp>
        <p:nvSpPr>
          <p:cNvPr id="39" name="TextBox 38">
            <a:extLst>
              <a:ext uri="{FF2B5EF4-FFF2-40B4-BE49-F238E27FC236}">
                <a16:creationId xmlns:a16="http://schemas.microsoft.com/office/drawing/2014/main" id="{E9CB6A8A-548F-457F-E685-2A377FFD3CD7}"/>
              </a:ext>
            </a:extLst>
          </p:cNvPr>
          <p:cNvSpPr txBox="1"/>
          <p:nvPr/>
        </p:nvSpPr>
        <p:spPr>
          <a:xfrm>
            <a:off x="6612655" y="6201783"/>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63" name="TextBox 62">
            <a:extLst>
              <a:ext uri="{FF2B5EF4-FFF2-40B4-BE49-F238E27FC236}">
                <a16:creationId xmlns:a16="http://schemas.microsoft.com/office/drawing/2014/main" id="{62980336-EAAF-1095-0712-376007CB4CEE}"/>
              </a:ext>
            </a:extLst>
          </p:cNvPr>
          <p:cNvSpPr txBox="1"/>
          <p:nvPr/>
        </p:nvSpPr>
        <p:spPr>
          <a:xfrm>
            <a:off x="7881614" y="6183627"/>
            <a:ext cx="3431109" cy="179793"/>
          </a:xfrm>
          <a:prstGeom prst="rect">
            <a:avLst/>
          </a:prstGeom>
          <a:noFill/>
        </p:spPr>
        <p:txBody>
          <a:bodyPr wrap="square" lIns="0" tIns="0" rIns="0" bIns="0" anchor="t">
            <a:spAutoFit/>
          </a:bodyPr>
          <a:lstStyle/>
          <a:p>
            <a:pPr>
              <a:lnSpc>
                <a:spcPts val="1470"/>
              </a:lnSpc>
            </a:pPr>
            <a:r>
              <a:rPr lang="en-IN" sz="1050" dirty="0"/>
              <a:t>Content generation, document analysis, data transformation</a:t>
            </a:r>
            <a:endParaRPr sz="1050" b="0" i="0" u="none" dirty="0">
              <a:solidFill>
                <a:srgbClr val="334155"/>
              </a:solidFill>
              <a:latin typeface="Inter"/>
            </a:endParaRPr>
          </a:p>
        </p:txBody>
      </p:sp>
      <p:pic>
        <p:nvPicPr>
          <p:cNvPr id="12" name="Picture 11">
            <a:extLst>
              <a:ext uri="{FF2B5EF4-FFF2-40B4-BE49-F238E27FC236}">
                <a16:creationId xmlns:a16="http://schemas.microsoft.com/office/drawing/2014/main" id="{95614676-54CB-0531-1AB6-20C629E0044E}"/>
              </a:ext>
            </a:extLst>
          </p:cNvPr>
          <p:cNvPicPr>
            <a:picLocks noChangeAspect="1"/>
          </p:cNvPicPr>
          <p:nvPr/>
        </p:nvPicPr>
        <p:blipFill>
          <a:blip r:embed="rId8">
            <a:duotone>
              <a:schemeClr val="accent1">
                <a:shade val="45000"/>
                <a:satMod val="135000"/>
              </a:schemeClr>
              <a:prstClr val="white"/>
            </a:duotone>
          </a:blip>
          <a:stretch>
            <a:fillRect/>
          </a:stretch>
        </p:blipFill>
        <p:spPr>
          <a:xfrm>
            <a:off x="867088" y="3621424"/>
            <a:ext cx="4650776" cy="2650638"/>
          </a:xfrm>
          <a:prstGeom prst="rect">
            <a:avLst/>
          </a:prstGeom>
        </p:spPr>
      </p:pic>
      <p:sp>
        <p:nvSpPr>
          <p:cNvPr id="9" name="TextBox 8">
            <a:extLst>
              <a:ext uri="{FF2B5EF4-FFF2-40B4-BE49-F238E27FC236}">
                <a16:creationId xmlns:a16="http://schemas.microsoft.com/office/drawing/2014/main" id="{871A7746-53F7-1C6E-09A7-4542093209B8}"/>
              </a:ext>
            </a:extLst>
          </p:cNvPr>
          <p:cNvSpPr txBox="1"/>
          <p:nvPr/>
        </p:nvSpPr>
        <p:spPr>
          <a:xfrm>
            <a:off x="866476" y="2237074"/>
            <a:ext cx="4791075" cy="1367939"/>
          </a:xfrm>
          <a:prstGeom prst="rect">
            <a:avLst/>
          </a:prstGeom>
          <a:noFill/>
        </p:spPr>
        <p:txBody>
          <a:bodyPr wrap="square" lIns="0" tIns="0" rIns="0" bIns="0" anchor="t">
            <a:spAutoFit/>
          </a:bodyPr>
          <a:lstStyle/>
          <a:p>
            <a:pPr algn="just">
              <a:lnSpc>
                <a:spcPts val="1800"/>
              </a:lnSpc>
            </a:pPr>
            <a:r>
              <a:rPr lang="en-IN" sz="1200" dirty="0"/>
              <a:t>It combines reasoning and action in a dynamic, iterative loop where a single agent observes the environment, formulates a plan, executes an action using available tools or APIs, and evaluates the resulting feedback to decide the next step. By constantly re-evaluating its context, the model can course-correct on the fly, retry failed tool calls, or adjust its strategy based on intermediate outputs. </a:t>
            </a:r>
            <a:r>
              <a:rPr lang="en-IN" sz="1200" b="0" i="0" u="none" dirty="0">
                <a:solidFill>
                  <a:srgbClr val="475569"/>
                </a:solidFill>
                <a:latin typeface="Inter"/>
              </a:rPr>
              <a:t>[6]</a:t>
            </a:r>
            <a:endParaRPr sz="1200" b="0" i="0" u="none" dirty="0">
              <a:solidFill>
                <a:srgbClr val="475569"/>
              </a:solidFill>
              <a:latin typeface="Inter"/>
            </a:endParaRPr>
          </a:p>
        </p:txBody>
      </p:sp>
      <p:sp>
        <p:nvSpPr>
          <p:cNvPr id="24" name="TextBox 23">
            <a:extLst>
              <a:ext uri="{FF2B5EF4-FFF2-40B4-BE49-F238E27FC236}">
                <a16:creationId xmlns:a16="http://schemas.microsoft.com/office/drawing/2014/main" id="{86D2DF3B-C66F-58A3-DFA5-FD27991F36FC}"/>
              </a:ext>
            </a:extLst>
          </p:cNvPr>
          <p:cNvSpPr txBox="1"/>
          <p:nvPr/>
        </p:nvSpPr>
        <p:spPr>
          <a:xfrm>
            <a:off x="1584151" y="6304330"/>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6" name="TextBox 55">
            <a:extLst>
              <a:ext uri="{FF2B5EF4-FFF2-40B4-BE49-F238E27FC236}">
                <a16:creationId xmlns:a16="http://schemas.microsoft.com/office/drawing/2014/main" id="{D1376D81-BA37-1BFD-BF40-79EA228C290D}"/>
              </a:ext>
            </a:extLst>
          </p:cNvPr>
          <p:cNvSpPr txBox="1"/>
          <p:nvPr/>
        </p:nvSpPr>
        <p:spPr>
          <a:xfrm>
            <a:off x="2985070" y="6293359"/>
            <a:ext cx="2090737" cy="17979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Q&amp;A</a:t>
            </a:r>
            <a:r>
              <a:rPr lang="en-IN" sz="1050" dirty="0">
                <a:solidFill>
                  <a:srgbClr val="334155"/>
                </a:solidFill>
                <a:latin typeface="Inter"/>
              </a:rPr>
              <a:t>, Code generation &amp; debugging</a:t>
            </a:r>
          </a:p>
        </p:txBody>
      </p:sp>
      <p:pic>
        <p:nvPicPr>
          <p:cNvPr id="17" name="Picture 16">
            <a:extLst>
              <a:ext uri="{FF2B5EF4-FFF2-40B4-BE49-F238E27FC236}">
                <a16:creationId xmlns:a16="http://schemas.microsoft.com/office/drawing/2014/main" id="{38A8A7AD-DC67-34EE-F11B-AA4844FC9C56}"/>
              </a:ext>
            </a:extLst>
          </p:cNvPr>
          <p:cNvPicPr>
            <a:picLocks noChangeAspect="1"/>
          </p:cNvPicPr>
          <p:nvPr/>
        </p:nvPicPr>
        <p:blipFill>
          <a:blip r:embed="rId9">
            <a:duotone>
              <a:schemeClr val="accent1">
                <a:shade val="45000"/>
                <a:satMod val="135000"/>
              </a:schemeClr>
              <a:prstClr val="white"/>
            </a:duotone>
          </a:blip>
          <a:srcRect/>
          <a:stretch/>
        </p:blipFill>
        <p:spPr>
          <a:xfrm>
            <a:off x="7052812" y="3440027"/>
            <a:ext cx="3950288" cy="2561176"/>
          </a:xfrm>
          <a:prstGeom prst="rect">
            <a:avLst/>
          </a:prstGeom>
        </p:spPr>
      </p:pic>
    </p:spTree>
    <p:extLst>
      <p:ext uri="{BB962C8B-B14F-4D97-AF65-F5344CB8AC3E}">
        <p14:creationId xmlns:p14="http://schemas.microsoft.com/office/powerpoint/2010/main" val="8693555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9138DB2E-103A-B6F8-7A56-44914CD16862}"/>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0550" y="1984352"/>
            <a:ext cx="5381625" cy="4416449"/>
          </a:xfrm>
          <a:prstGeom prst="rect">
            <a:avLst/>
          </a:prstGeom>
        </p:spPr>
      </p:pic>
      <p:sp>
        <p:nvSpPr>
          <p:cNvPr id="10" name="TextBox 9"/>
          <p:cNvSpPr txBox="1"/>
          <p:nvPr/>
        </p:nvSpPr>
        <p:spPr>
          <a:xfrm>
            <a:off x="885825" y="2602065"/>
            <a:ext cx="4791075" cy="906274"/>
          </a:xfrm>
          <a:prstGeom prst="rect">
            <a:avLst/>
          </a:prstGeom>
          <a:noFill/>
        </p:spPr>
        <p:txBody>
          <a:bodyPr wrap="square" lIns="0" tIns="0" rIns="0" bIns="0" anchor="t">
            <a:spAutoFit/>
          </a:bodyPr>
          <a:lstStyle/>
          <a:p>
            <a:pPr algn="just">
              <a:lnSpc>
                <a:spcPts val="1800"/>
              </a:lnSpc>
            </a:pPr>
            <a:r>
              <a:rPr lang="en-IN" sz="1200" dirty="0"/>
              <a:t>It introduces a self-evaluation stage where the agent examines its previous actions or output, identifies errors or inefficiencies, and modifies its strategy. The reflection can also be stored as memory and reused during subsequent attempts [6]</a:t>
            </a:r>
            <a:endParaRPr sz="1200" b="0" i="0" u="none" dirty="0">
              <a:solidFill>
                <a:srgbClr val="475569"/>
              </a:solidFill>
              <a:latin typeface="Inter"/>
            </a:endParaRPr>
          </a:p>
        </p:txBody>
      </p:sp>
      <p:sp>
        <p:nvSpPr>
          <p:cNvPr id="14" name="TextBox 13"/>
          <p:cNvSpPr txBox="1"/>
          <p:nvPr/>
        </p:nvSpPr>
        <p:spPr>
          <a:xfrm>
            <a:off x="895603" y="2264057"/>
            <a:ext cx="2920365" cy="300082"/>
          </a:xfrm>
          <a:prstGeom prst="rect">
            <a:avLst/>
          </a:prstGeom>
          <a:noFill/>
        </p:spPr>
        <p:txBody>
          <a:bodyPr wrap="square" lIns="0" tIns="0" rIns="0" bIns="0" anchor="t">
            <a:spAutoFit/>
          </a:bodyPr>
          <a:lstStyle/>
          <a:p>
            <a:r>
              <a:rPr sz="1950" b="1" i="0" u="none" dirty="0">
                <a:solidFill>
                  <a:schemeClr val="tx2"/>
                </a:solidFill>
                <a:latin typeface="Inter"/>
              </a:rPr>
              <a:t>3. </a:t>
            </a:r>
            <a:r>
              <a:rPr lang="en-IN" sz="1950" b="1" dirty="0">
                <a:solidFill>
                  <a:schemeClr val="tx2"/>
                </a:solidFill>
                <a:latin typeface="Inter"/>
              </a:rPr>
              <a:t>Reflection &amp; Self-Critique</a:t>
            </a:r>
            <a:endParaRPr sz="1950" b="1" i="0" u="none" dirty="0">
              <a:solidFill>
                <a:schemeClr val="tx2"/>
              </a:solidFill>
              <a:latin typeface="Inter"/>
            </a:endParaRPr>
          </a:p>
        </p:txBody>
      </p:sp>
      <p:sp>
        <p:nvSpPr>
          <p:cNvPr id="25" name="TextBox 24"/>
          <p:cNvSpPr txBox="1"/>
          <p:nvPr/>
        </p:nvSpPr>
        <p:spPr>
          <a:xfrm>
            <a:off x="1783259" y="6072135"/>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5" name="TextBox 54"/>
          <p:cNvSpPr txBox="1"/>
          <p:nvPr/>
        </p:nvSpPr>
        <p:spPr>
          <a:xfrm>
            <a:off x="3038177" y="6058629"/>
            <a:ext cx="2090737"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Customer support automation</a:t>
            </a:r>
          </a:p>
        </p:txBody>
      </p:sp>
      <p:pic>
        <p:nvPicPr>
          <p:cNvPr id="13" name="Picture 12" descr="image.png">
            <a:extLst>
              <a:ext uri="{FF2B5EF4-FFF2-40B4-BE49-F238E27FC236}">
                <a16:creationId xmlns:a16="http://schemas.microsoft.com/office/drawing/2014/main" id="{B4BE80CF-3A06-85FA-87EC-9764A795310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257925" y="1984352"/>
            <a:ext cx="5381625" cy="4416449"/>
          </a:xfrm>
          <a:prstGeom prst="rect">
            <a:avLst/>
          </a:prstGeom>
        </p:spPr>
      </p:pic>
      <p:sp>
        <p:nvSpPr>
          <p:cNvPr id="51" name="TextBox 50">
            <a:extLst>
              <a:ext uri="{FF2B5EF4-FFF2-40B4-BE49-F238E27FC236}">
                <a16:creationId xmlns:a16="http://schemas.microsoft.com/office/drawing/2014/main" id="{8544CA0E-7368-D4A3-061A-EA166DA91A7F}"/>
              </a:ext>
            </a:extLst>
          </p:cNvPr>
          <p:cNvSpPr txBox="1"/>
          <p:nvPr/>
        </p:nvSpPr>
        <p:spPr>
          <a:xfrm>
            <a:off x="6553200" y="2578143"/>
            <a:ext cx="4791075" cy="1367939"/>
          </a:xfrm>
          <a:prstGeom prst="rect">
            <a:avLst/>
          </a:prstGeom>
          <a:noFill/>
        </p:spPr>
        <p:txBody>
          <a:bodyPr wrap="square" lIns="0" tIns="0" rIns="0" bIns="0" anchor="t">
            <a:spAutoFit/>
          </a:bodyPr>
          <a:lstStyle/>
          <a:p>
            <a:pPr algn="just">
              <a:lnSpc>
                <a:spcPts val="1800"/>
              </a:lnSpc>
            </a:pPr>
            <a:r>
              <a:rPr lang="en-IN" sz="1200" dirty="0"/>
              <a:t>A </a:t>
            </a:r>
            <a:r>
              <a:rPr lang="en-IN" sz="1200" b="1" dirty="0"/>
              <a:t>Multi-Agent Swarm</a:t>
            </a:r>
            <a:r>
              <a:rPr lang="en-IN" sz="1200" dirty="0"/>
              <a:t> relies on a manager agent to orchestrate a ecosystem of domain-expert sub-agents working together toward a high-level goal. The manager breaks down complex user objectives into specific tasks and assigns them to specialized roles—such as a Coder for implementation, a Researcher for context gathering, and a Reviewer for quality assurance—who can debate, review each other's work, and iteratively refine deliverables. [6]</a:t>
            </a:r>
            <a:endParaRPr sz="1200" b="0" i="0" u="none" dirty="0">
              <a:solidFill>
                <a:srgbClr val="475569"/>
              </a:solidFill>
              <a:latin typeface="Inter"/>
            </a:endParaRPr>
          </a:p>
        </p:txBody>
      </p:sp>
      <p:sp>
        <p:nvSpPr>
          <p:cNvPr id="53" name="TextBox 52">
            <a:extLst>
              <a:ext uri="{FF2B5EF4-FFF2-40B4-BE49-F238E27FC236}">
                <a16:creationId xmlns:a16="http://schemas.microsoft.com/office/drawing/2014/main" id="{CE64DB09-8A39-42D4-A33F-2F57CB263045}"/>
              </a:ext>
            </a:extLst>
          </p:cNvPr>
          <p:cNvSpPr txBox="1"/>
          <p:nvPr/>
        </p:nvSpPr>
        <p:spPr>
          <a:xfrm>
            <a:off x="6524729" y="2219779"/>
            <a:ext cx="2760345" cy="300082"/>
          </a:xfrm>
          <a:prstGeom prst="rect">
            <a:avLst/>
          </a:prstGeom>
          <a:noFill/>
        </p:spPr>
        <p:txBody>
          <a:bodyPr wrap="square" lIns="0" tIns="0" rIns="0" bIns="0" anchor="t">
            <a:spAutoFit/>
          </a:bodyPr>
          <a:lstStyle/>
          <a:p>
            <a:pPr algn="l"/>
            <a:r>
              <a:rPr sz="1950" b="1" i="0" u="none" dirty="0">
                <a:solidFill>
                  <a:schemeClr val="tx2"/>
                </a:solidFill>
                <a:latin typeface="Inter"/>
              </a:rPr>
              <a:t>4. Multi-Agent Swarm</a:t>
            </a:r>
          </a:p>
        </p:txBody>
      </p:sp>
      <p:sp>
        <p:nvSpPr>
          <p:cNvPr id="62" name="TextBox 61">
            <a:extLst>
              <a:ext uri="{FF2B5EF4-FFF2-40B4-BE49-F238E27FC236}">
                <a16:creationId xmlns:a16="http://schemas.microsoft.com/office/drawing/2014/main" id="{76B0C129-94E6-193D-87AD-9141A4A19220}"/>
              </a:ext>
            </a:extLst>
          </p:cNvPr>
          <p:cNvSpPr txBox="1"/>
          <p:nvPr/>
        </p:nvSpPr>
        <p:spPr>
          <a:xfrm>
            <a:off x="6905505" y="6081894"/>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89" name="TextBox 88">
            <a:extLst>
              <a:ext uri="{FF2B5EF4-FFF2-40B4-BE49-F238E27FC236}">
                <a16:creationId xmlns:a16="http://schemas.microsoft.com/office/drawing/2014/main" id="{5FC655BB-53B2-DCE8-E9FE-8382355DDA7E}"/>
              </a:ext>
            </a:extLst>
          </p:cNvPr>
          <p:cNvSpPr txBox="1"/>
          <p:nvPr/>
        </p:nvSpPr>
        <p:spPr>
          <a:xfrm>
            <a:off x="8159299" y="6067607"/>
            <a:ext cx="3184976" cy="37215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Software development teams</a:t>
            </a:r>
            <a:r>
              <a:rPr lang="en-IN" sz="1050" dirty="0">
                <a:solidFill>
                  <a:srgbClr val="334155"/>
                </a:solidFill>
                <a:latin typeface="Inter"/>
              </a:rPr>
              <a:t>, Threat analysis &amp; support</a:t>
            </a:r>
          </a:p>
          <a:p>
            <a:pPr algn="l">
              <a:lnSpc>
                <a:spcPts val="1470"/>
              </a:lnSpc>
            </a:pPr>
            <a:endParaRPr sz="1050" b="0" i="0" u="none" dirty="0">
              <a:solidFill>
                <a:srgbClr val="334155"/>
              </a:solidFill>
              <a:latin typeface="Inter"/>
            </a:endParaRPr>
          </a:p>
        </p:txBody>
      </p:sp>
      <p:sp>
        <p:nvSpPr>
          <p:cNvPr id="114" name="TextBox 113">
            <a:extLst>
              <a:ext uri="{FF2B5EF4-FFF2-40B4-BE49-F238E27FC236}">
                <a16:creationId xmlns:a16="http://schemas.microsoft.com/office/drawing/2014/main" id="{FC82C60A-CB44-AD73-5FDA-EFE04AB263E5}"/>
              </a:ext>
            </a:extLst>
          </p:cNvPr>
          <p:cNvSpPr txBox="1"/>
          <p:nvPr/>
        </p:nvSpPr>
        <p:spPr>
          <a:xfrm>
            <a:off x="590549" y="580861"/>
            <a:ext cx="7359551"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r>
              <a:rPr lang="en-IN" sz="2800" b="1" dirty="0">
                <a:solidFill>
                  <a:schemeClr val="tx2"/>
                </a:solidFill>
                <a:latin typeface="Inter"/>
              </a:rPr>
              <a:t> </a:t>
            </a:r>
            <a:r>
              <a:rPr lang="en-IN" sz="2800" dirty="0">
                <a:solidFill>
                  <a:schemeClr val="tx2"/>
                </a:solidFill>
                <a:latin typeface="Poppins"/>
              </a:rPr>
              <a:t>(Cont.)</a:t>
            </a:r>
            <a:endParaRPr sz="2800" i="0" u="none" dirty="0">
              <a:solidFill>
                <a:schemeClr val="tx2"/>
              </a:solidFill>
              <a:latin typeface="Inter"/>
            </a:endParaRPr>
          </a:p>
        </p:txBody>
      </p:sp>
      <p:sp>
        <p:nvSpPr>
          <p:cNvPr id="116" name="TextBox 115">
            <a:extLst>
              <a:ext uri="{FF2B5EF4-FFF2-40B4-BE49-F238E27FC236}">
                <a16:creationId xmlns:a16="http://schemas.microsoft.com/office/drawing/2014/main" id="{F5A58B47-F158-0049-95CC-7967351CF516}"/>
              </a:ext>
            </a:extLst>
          </p:cNvPr>
          <p:cNvSpPr txBox="1"/>
          <p:nvPr/>
        </p:nvSpPr>
        <p:spPr>
          <a:xfrm>
            <a:off x="590550" y="1130469"/>
            <a:ext cx="11049000"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lang="en-US" sz="1500" dirty="0">
              <a:solidFill>
                <a:srgbClr val="64748B"/>
              </a:solidFill>
              <a:latin typeface="Inter"/>
            </a:endParaRPr>
          </a:p>
        </p:txBody>
      </p:sp>
      <p:pic>
        <p:nvPicPr>
          <p:cNvPr id="5" name="Picture 4">
            <a:extLst>
              <a:ext uri="{FF2B5EF4-FFF2-40B4-BE49-F238E27FC236}">
                <a16:creationId xmlns:a16="http://schemas.microsoft.com/office/drawing/2014/main" id="{F671505B-FBC8-FA84-2609-C420278447D3}"/>
              </a:ext>
            </a:extLst>
          </p:cNvPr>
          <p:cNvPicPr>
            <a:picLocks noChangeAspect="1"/>
          </p:cNvPicPr>
          <p:nvPr/>
        </p:nvPicPr>
        <p:blipFill>
          <a:blip r:embed="rId7">
            <a:duotone>
              <a:schemeClr val="accent1">
                <a:shade val="45000"/>
                <a:satMod val="135000"/>
              </a:schemeClr>
              <a:prstClr val="white"/>
            </a:duotone>
          </a:blip>
          <a:stretch>
            <a:fillRect/>
          </a:stretch>
        </p:blipFill>
        <p:spPr>
          <a:xfrm>
            <a:off x="1438001" y="3558204"/>
            <a:ext cx="3382273" cy="2422878"/>
          </a:xfrm>
          <a:prstGeom prst="rect">
            <a:avLst/>
          </a:prstGeom>
        </p:spPr>
      </p:pic>
      <p:pic>
        <p:nvPicPr>
          <p:cNvPr id="7" name="Picture 6">
            <a:extLst>
              <a:ext uri="{FF2B5EF4-FFF2-40B4-BE49-F238E27FC236}">
                <a16:creationId xmlns:a16="http://schemas.microsoft.com/office/drawing/2014/main" id="{237172DD-F6AB-CDDB-9271-2A78C147C623}"/>
              </a:ext>
            </a:extLst>
          </p:cNvPr>
          <p:cNvPicPr>
            <a:picLocks noChangeAspect="1"/>
          </p:cNvPicPr>
          <p:nvPr/>
        </p:nvPicPr>
        <p:blipFill>
          <a:blip r:embed="rId8">
            <a:duotone>
              <a:schemeClr val="accent1">
                <a:shade val="45000"/>
                <a:satMod val="135000"/>
              </a:schemeClr>
              <a:prstClr val="white"/>
            </a:duotone>
          </a:blip>
          <a:stretch>
            <a:fillRect/>
          </a:stretch>
        </p:blipFill>
        <p:spPr>
          <a:xfrm>
            <a:off x="6967304" y="4032740"/>
            <a:ext cx="3962866" cy="190337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38CB1-F2DC-C3FF-8546-5F2D0ABDBC9B}"/>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F866FC8-C03B-B0C0-8C69-333EE42E665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2DCE5F83-2CB1-45A5-111E-D0EAC2575EC7}"/>
              </a:ext>
            </a:extLst>
          </p:cNvPr>
          <p:cNvSpPr txBox="1"/>
          <p:nvPr/>
        </p:nvSpPr>
        <p:spPr>
          <a:xfrm>
            <a:off x="579664" y="345375"/>
            <a:ext cx="4014107" cy="615553"/>
          </a:xfrm>
          <a:prstGeom prst="rect">
            <a:avLst/>
          </a:prstGeom>
          <a:noFill/>
        </p:spPr>
        <p:txBody>
          <a:bodyPr wrap="square" lIns="0" tIns="0" rIns="0" bIns="0" anchor="t">
            <a:spAutoFit/>
          </a:bodyPr>
          <a:lstStyle/>
          <a:p>
            <a:r>
              <a:rPr lang="en-IN" sz="4000" b="1" dirty="0">
                <a:latin typeface="Inter"/>
              </a:rPr>
              <a:t>Agent </a:t>
            </a:r>
            <a:r>
              <a:rPr lang="en-IN" sz="4000" b="1" dirty="0">
                <a:solidFill>
                  <a:schemeClr val="tx2"/>
                </a:solidFill>
                <a:latin typeface="Inter"/>
              </a:rPr>
              <a:t>Harness</a:t>
            </a:r>
            <a:endParaRPr sz="4000" b="1" i="0" u="none" dirty="0">
              <a:solidFill>
                <a:schemeClr val="tx2"/>
              </a:solidFill>
              <a:latin typeface="Inter"/>
            </a:endParaRPr>
          </a:p>
        </p:txBody>
      </p:sp>
      <p:pic>
        <p:nvPicPr>
          <p:cNvPr id="13" name="Picture 12">
            <a:extLst>
              <a:ext uri="{FF2B5EF4-FFF2-40B4-BE49-F238E27FC236}">
                <a16:creationId xmlns:a16="http://schemas.microsoft.com/office/drawing/2014/main" id="{999419FE-6B10-AC78-0010-489451A79B74}"/>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400000"/>
                    </a14:imgEffect>
                  </a14:imgLayer>
                </a14:imgProps>
              </a:ext>
            </a:extLst>
          </a:blip>
          <a:srcRect l="773" r="773"/>
          <a:stretch/>
        </p:blipFill>
        <p:spPr>
          <a:xfrm>
            <a:off x="5396382" y="2446087"/>
            <a:ext cx="6784732" cy="3480864"/>
          </a:xfrm>
          <a:prstGeom prst="rect">
            <a:avLst/>
          </a:prstGeom>
        </p:spPr>
      </p:pic>
      <p:sp>
        <p:nvSpPr>
          <p:cNvPr id="8" name="TextBox 7">
            <a:extLst>
              <a:ext uri="{FF2B5EF4-FFF2-40B4-BE49-F238E27FC236}">
                <a16:creationId xmlns:a16="http://schemas.microsoft.com/office/drawing/2014/main" id="{EDAC0DA3-50AF-3BEA-5875-3D8006D98DAD}"/>
              </a:ext>
            </a:extLst>
          </p:cNvPr>
          <p:cNvSpPr txBox="1"/>
          <p:nvPr/>
        </p:nvSpPr>
        <p:spPr>
          <a:xfrm>
            <a:off x="501007" y="1086946"/>
            <a:ext cx="11172184" cy="1569660"/>
          </a:xfrm>
          <a:prstGeom prst="rect">
            <a:avLst/>
          </a:prstGeom>
          <a:noFill/>
        </p:spPr>
        <p:txBody>
          <a:bodyPr wrap="square">
            <a:spAutoFit/>
          </a:bodyPr>
          <a:lstStyle/>
          <a:p>
            <a:pPr lvl="0" algn="just"/>
            <a:r>
              <a:rPr lang="en-IN" sz="1600" dirty="0"/>
              <a:t>LLM-based agents do not operate in isolation. Between the raw language model and the real-world tasks it must accomplish lies a layer of infrastructure that manages memory, routes tool calls, tracks state, and enforces safety constraints. This infrastructure is called the </a:t>
            </a:r>
            <a:r>
              <a:rPr lang="en-IN" sz="1600" b="1" dirty="0"/>
              <a:t>agent harness.</a:t>
            </a:r>
          </a:p>
          <a:p>
            <a:pPr lvl="0" algn="just"/>
            <a:endParaRPr lang="en-IN" sz="1600" b="1" dirty="0">
              <a:latin typeface="Inter"/>
            </a:endParaRPr>
          </a:p>
          <a:p>
            <a:pPr lvl="0" algn="just"/>
            <a:r>
              <a:rPr lang="en-IN" sz="1600" dirty="0"/>
              <a:t>An </a:t>
            </a:r>
            <a:r>
              <a:rPr lang="en-IN" sz="1600" b="1" dirty="0"/>
              <a:t>agent harness </a:t>
            </a:r>
            <a:r>
              <a:rPr lang="en-IN" sz="1600" dirty="0"/>
              <a:t>is the runtime infrastructure that wraps an LLM to transform it from a stateless text-completion engine into a stateful, goal-directed agent capable of multi-step reasoning, tool use, memory retrieval, and interaction with external systems.[6]</a:t>
            </a:r>
            <a:endParaRPr lang="en-IN" sz="1600" b="1" dirty="0">
              <a:latin typeface="Inter"/>
            </a:endParaRPr>
          </a:p>
        </p:txBody>
      </p:sp>
      <p:sp>
        <p:nvSpPr>
          <p:cNvPr id="23" name="TextBox 22">
            <a:extLst>
              <a:ext uri="{FF2B5EF4-FFF2-40B4-BE49-F238E27FC236}">
                <a16:creationId xmlns:a16="http://schemas.microsoft.com/office/drawing/2014/main" id="{0BC9DE60-7B50-BC23-D50B-C51A44B7737A}"/>
              </a:ext>
            </a:extLst>
          </p:cNvPr>
          <p:cNvSpPr txBox="1"/>
          <p:nvPr/>
        </p:nvSpPr>
        <p:spPr>
          <a:xfrm>
            <a:off x="429109" y="2769109"/>
            <a:ext cx="5085735" cy="3431709"/>
          </a:xfrm>
          <a:prstGeom prst="rect">
            <a:avLst/>
          </a:prstGeom>
          <a:noFill/>
        </p:spPr>
        <p:txBody>
          <a:bodyPr wrap="square">
            <a:spAutoFit/>
          </a:bodyPr>
          <a:lstStyle/>
          <a:p>
            <a:pPr lvl="0" algn="just">
              <a:spcAft>
                <a:spcPts val="600"/>
              </a:spcAft>
            </a:pPr>
            <a:r>
              <a:rPr lang="en-IN" sz="1600" dirty="0"/>
              <a:t>The harness enforces a clean separation of concerns:</a:t>
            </a:r>
          </a:p>
          <a:p>
            <a:pPr marL="285750" lvl="0" indent="-285750" algn="just">
              <a:spcAft>
                <a:spcPts val="600"/>
              </a:spcAft>
              <a:buFont typeface="Arial" panose="020B0604020202020204" pitchFamily="34" charset="0"/>
              <a:buChar char="•"/>
            </a:pPr>
            <a:r>
              <a:rPr lang="en-IN" sz="1600" b="1" dirty="0"/>
              <a:t>Reasoning: </a:t>
            </a:r>
            <a:r>
              <a:rPr lang="en-IN" sz="1600" dirty="0"/>
              <a:t>Delegated entirely to the LLM; the harness does not second-guess model outputs.</a:t>
            </a:r>
          </a:p>
          <a:p>
            <a:pPr marL="285750" lvl="0" indent="-285750" algn="just">
              <a:spcAft>
                <a:spcPts val="600"/>
              </a:spcAft>
              <a:buFont typeface="Arial" panose="020B0604020202020204" pitchFamily="34" charset="0"/>
              <a:buChar char="•"/>
            </a:pPr>
            <a:r>
              <a:rPr lang="en-IN" sz="1600" b="1" dirty="0"/>
              <a:t>Execution: </a:t>
            </a:r>
            <a:r>
              <a:rPr lang="en-IN" sz="1600" dirty="0"/>
              <a:t>The harness dispatches tool calls, manages I/O, and enforces sandboxing.</a:t>
            </a:r>
          </a:p>
          <a:p>
            <a:pPr marL="285750" lvl="0" indent="-285750" algn="just">
              <a:spcAft>
                <a:spcPts val="600"/>
              </a:spcAft>
              <a:buFont typeface="Arial" panose="020B0604020202020204" pitchFamily="34" charset="0"/>
              <a:buChar char="•"/>
            </a:pPr>
            <a:r>
              <a:rPr lang="en-IN" sz="1600" b="1" dirty="0"/>
              <a:t>Memory: </a:t>
            </a:r>
            <a:r>
              <a:rPr lang="en-IN" sz="1600" dirty="0"/>
              <a:t>The harness maintains short-term (context window), working (scratchpad), and long-term (vector store / database) memory.</a:t>
            </a:r>
          </a:p>
          <a:p>
            <a:pPr marL="285750" lvl="0" indent="-285750" algn="just">
              <a:spcAft>
                <a:spcPts val="600"/>
              </a:spcAft>
              <a:buFont typeface="Arial" panose="020B0604020202020204" pitchFamily="34" charset="0"/>
              <a:buChar char="•"/>
            </a:pPr>
            <a:r>
              <a:rPr lang="en-IN" sz="1600" b="1" dirty="0"/>
              <a:t>Communication: </a:t>
            </a:r>
            <a:r>
              <a:rPr lang="en-IN" sz="1600" dirty="0"/>
              <a:t>The harness handles message routing between agents, users, and external services.</a:t>
            </a:r>
          </a:p>
          <a:p>
            <a:pPr marL="285750" lvl="0" indent="-285750" algn="just">
              <a:spcAft>
                <a:spcPts val="600"/>
              </a:spcAft>
              <a:buFont typeface="Arial" panose="020B0604020202020204" pitchFamily="34" charset="0"/>
              <a:buChar char="•"/>
            </a:pPr>
            <a:r>
              <a:rPr lang="en-IN" sz="1600" b="1" dirty="0"/>
              <a:t>Observability: </a:t>
            </a:r>
            <a:r>
              <a:rPr lang="en-IN" sz="1600" dirty="0"/>
              <a:t>The harness instruments every step for logging, tracing, and debugging [6]</a:t>
            </a:r>
          </a:p>
        </p:txBody>
      </p:sp>
      <p:sp>
        <p:nvSpPr>
          <p:cNvPr id="3" name="TextBox 2">
            <a:extLst>
              <a:ext uri="{FF2B5EF4-FFF2-40B4-BE49-F238E27FC236}">
                <a16:creationId xmlns:a16="http://schemas.microsoft.com/office/drawing/2014/main" id="{05BDE155-6A5F-F095-38B7-ABF2B00CA7ED}"/>
              </a:ext>
            </a:extLst>
          </p:cNvPr>
          <p:cNvSpPr txBox="1"/>
          <p:nvPr/>
        </p:nvSpPr>
        <p:spPr>
          <a:xfrm>
            <a:off x="5739757" y="5935200"/>
            <a:ext cx="6096000" cy="461665"/>
          </a:xfrm>
          <a:prstGeom prst="rect">
            <a:avLst/>
          </a:prstGeom>
          <a:noFill/>
        </p:spPr>
        <p:txBody>
          <a:bodyPr wrap="square">
            <a:spAutoFit/>
          </a:bodyPr>
          <a:lstStyle/>
          <a:p>
            <a:r>
              <a:rPr lang="en-IN" sz="1200" b="1" dirty="0">
                <a:latin typeface="Inter"/>
              </a:rPr>
              <a:t>Fig: </a:t>
            </a:r>
            <a:r>
              <a:rPr lang="en-IN" sz="1200" dirty="0">
                <a:latin typeface="Inter"/>
              </a:rPr>
              <a:t>High-level architecture of an agent harness. The LLM handles only reasoning; all execution, memory, routing, and observability are managed by the harness. [6]</a:t>
            </a:r>
          </a:p>
        </p:txBody>
      </p:sp>
    </p:spTree>
    <p:extLst>
      <p:ext uri="{BB962C8B-B14F-4D97-AF65-F5344CB8AC3E}">
        <p14:creationId xmlns:p14="http://schemas.microsoft.com/office/powerpoint/2010/main" val="26077854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A51FB-63AE-1EE8-0E81-AC7ABEF8B64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7A743B80-572A-38F0-091A-258F7831DA7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BCF07708-4244-F145-DC9A-0F56C3203C80}"/>
              </a:ext>
            </a:extLst>
          </p:cNvPr>
          <p:cNvSpPr txBox="1"/>
          <p:nvPr/>
        </p:nvSpPr>
        <p:spPr>
          <a:xfrm>
            <a:off x="579664" y="345375"/>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sp>
        <p:nvSpPr>
          <p:cNvPr id="8" name="TextBox 7">
            <a:extLst>
              <a:ext uri="{FF2B5EF4-FFF2-40B4-BE49-F238E27FC236}">
                <a16:creationId xmlns:a16="http://schemas.microsoft.com/office/drawing/2014/main" id="{86728791-A7EE-C9E5-B5D3-0A6458BA64B3}"/>
              </a:ext>
            </a:extLst>
          </p:cNvPr>
          <p:cNvSpPr txBox="1"/>
          <p:nvPr/>
        </p:nvSpPr>
        <p:spPr>
          <a:xfrm>
            <a:off x="501007" y="1268014"/>
            <a:ext cx="10883695" cy="830997"/>
          </a:xfrm>
          <a:prstGeom prst="rect">
            <a:avLst/>
          </a:prstGeom>
          <a:noFill/>
        </p:spPr>
        <p:txBody>
          <a:bodyPr wrap="square">
            <a:spAutoFit/>
          </a:bodyPr>
          <a:lstStyle/>
          <a:p>
            <a:pPr lvl="0" algn="just"/>
            <a:r>
              <a:rPr lang="en-IN" sz="1600" dirty="0">
                <a:latin typeface="Inter"/>
              </a:rPr>
              <a:t>The </a:t>
            </a:r>
            <a:r>
              <a:rPr lang="en-IN" sz="1600" b="1" dirty="0">
                <a:latin typeface="Inter"/>
              </a:rPr>
              <a:t>Orchestration Harness </a:t>
            </a:r>
            <a:r>
              <a:rPr lang="en-IN" sz="1600" dirty="0">
                <a:latin typeface="Inter"/>
              </a:rPr>
              <a:t>coordinates everything: it decides when to retrieve, when to call tools, when to delegate to sub-agents, and when to ask the human for guidance, whereas </a:t>
            </a:r>
            <a:r>
              <a:rPr lang="en-IN" sz="1600" b="1" dirty="0">
                <a:latin typeface="Inter"/>
              </a:rPr>
              <a:t>Loop Engineering </a:t>
            </a:r>
            <a:r>
              <a:rPr lang="en-IN" sz="1600" dirty="0">
                <a:latin typeface="Inter"/>
              </a:rPr>
              <a:t>formalizes the harness’s retry-and-verify cycles as inference-time optimization, ensuring convergence and cost control.</a:t>
            </a:r>
          </a:p>
        </p:txBody>
      </p:sp>
      <p:pic>
        <p:nvPicPr>
          <p:cNvPr id="3" name="Picture 2">
            <a:extLst>
              <a:ext uri="{FF2B5EF4-FFF2-40B4-BE49-F238E27FC236}">
                <a16:creationId xmlns:a16="http://schemas.microsoft.com/office/drawing/2014/main" id="{88E8EDAC-6A52-B3F6-DA3B-A3BD253E07C6}"/>
              </a:ext>
            </a:extLst>
          </p:cNvPr>
          <p:cNvPicPr>
            <a:picLocks noChangeAspect="1"/>
          </p:cNvPicPr>
          <p:nvPr/>
        </p:nvPicPr>
        <p:blipFill>
          <a:blip r:embed="rId3">
            <a:duotone>
              <a:schemeClr val="accent1">
                <a:shade val="45000"/>
                <a:satMod val="135000"/>
              </a:schemeClr>
              <a:prstClr val="white"/>
            </a:duotone>
          </a:blip>
          <a:srcRect l="6623" t="12769" r="9521" b="2820"/>
          <a:stretch>
            <a:fillRect/>
          </a:stretch>
        </p:blipFill>
        <p:spPr>
          <a:xfrm>
            <a:off x="309033" y="2945530"/>
            <a:ext cx="6733794" cy="3626919"/>
          </a:xfrm>
          <a:prstGeom prst="rect">
            <a:avLst/>
          </a:prstGeom>
        </p:spPr>
      </p:pic>
      <p:sp>
        <p:nvSpPr>
          <p:cNvPr id="9" name="TextBox 8">
            <a:extLst>
              <a:ext uri="{FF2B5EF4-FFF2-40B4-BE49-F238E27FC236}">
                <a16:creationId xmlns:a16="http://schemas.microsoft.com/office/drawing/2014/main" id="{9446992B-14E4-8C4A-8F7A-60204BA7289B}"/>
              </a:ext>
            </a:extLst>
          </p:cNvPr>
          <p:cNvSpPr txBox="1"/>
          <p:nvPr/>
        </p:nvSpPr>
        <p:spPr>
          <a:xfrm>
            <a:off x="501007" y="2296833"/>
            <a:ext cx="10883695" cy="584775"/>
          </a:xfrm>
          <a:prstGeom prst="rect">
            <a:avLst/>
          </a:prstGeom>
          <a:noFill/>
        </p:spPr>
        <p:txBody>
          <a:bodyPr wrap="square">
            <a:spAutoFit/>
          </a:bodyPr>
          <a:lstStyle/>
          <a:p>
            <a:pPr algn="just"/>
            <a:r>
              <a:rPr lang="en-IN" sz="1600" dirty="0"/>
              <a:t>It reflects a structural reality: </a:t>
            </a:r>
            <a:r>
              <a:rPr lang="en-IN" sz="1600" dirty="0">
                <a:latin typeface="Inter"/>
              </a:rPr>
              <a:t>When a single agent run may last an hour and modify dozens of files, the highest-leverage engineering is no longer in the prompt—it is the </a:t>
            </a:r>
            <a:r>
              <a:rPr lang="en-IN" sz="1600" b="1" dirty="0">
                <a:latin typeface="Inter"/>
              </a:rPr>
              <a:t>Loop</a:t>
            </a:r>
            <a:r>
              <a:rPr lang="en-IN" sz="1600" dirty="0">
                <a:latin typeface="Inter"/>
              </a:rPr>
              <a:t> that keeps the agent productive, verified, and on-goal throughout.</a:t>
            </a:r>
            <a:r>
              <a:rPr lang="en-IN" sz="1600" dirty="0"/>
              <a:t> [6]</a:t>
            </a:r>
            <a:endParaRPr lang="en-IN" sz="1600" dirty="0">
              <a:latin typeface="Inter"/>
            </a:endParaRPr>
          </a:p>
        </p:txBody>
      </p:sp>
      <p:sp>
        <p:nvSpPr>
          <p:cNvPr id="6" name="Rectangle 5">
            <a:extLst>
              <a:ext uri="{FF2B5EF4-FFF2-40B4-BE49-F238E27FC236}">
                <a16:creationId xmlns:a16="http://schemas.microsoft.com/office/drawing/2014/main" id="{2ADD8EE1-A408-6811-05A7-DFACBA6A5FD5}"/>
              </a:ext>
            </a:extLst>
          </p:cNvPr>
          <p:cNvSpPr/>
          <p:nvPr/>
        </p:nvSpPr>
        <p:spPr>
          <a:xfrm>
            <a:off x="7133566" y="3381616"/>
            <a:ext cx="4526666" cy="2786242"/>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28419A6-6507-4488-5C14-2690817D5E88}"/>
              </a:ext>
            </a:extLst>
          </p:cNvPr>
          <p:cNvGraphicFramePr>
            <a:graphicFrameLocks noGrp="1"/>
          </p:cNvGraphicFramePr>
          <p:nvPr>
            <p:extLst>
              <p:ext uri="{D42A27DB-BD31-4B8C-83A1-F6EECF244321}">
                <p14:modId xmlns:p14="http://schemas.microsoft.com/office/powerpoint/2010/main" val="45466490"/>
              </p:ext>
            </p:extLst>
          </p:nvPr>
        </p:nvGraphicFramePr>
        <p:xfrm>
          <a:off x="7329157" y="3549942"/>
          <a:ext cx="4229565" cy="2443480"/>
        </p:xfrm>
        <a:graphic>
          <a:graphicData uri="http://schemas.openxmlformats.org/drawingml/2006/table">
            <a:tbl>
              <a:tblPr firstRow="1" bandRow="1">
                <a:tableStyleId>{2D5ABB26-0587-4C30-8999-92F81FD0307C}</a:tableStyleId>
              </a:tblPr>
              <a:tblGrid>
                <a:gridCol w="4229565">
                  <a:extLst>
                    <a:ext uri="{9D8B030D-6E8A-4147-A177-3AD203B41FA5}">
                      <a16:colId xmlns:a16="http://schemas.microsoft.com/office/drawing/2014/main" val="2198027073"/>
                    </a:ext>
                  </a:extLst>
                </a:gridCol>
              </a:tblGrid>
              <a:tr h="370840">
                <a:tc>
                  <a:txBody>
                    <a:bodyPr/>
                    <a:lstStyle/>
                    <a:p>
                      <a:r>
                        <a:rPr lang="en-IN" sz="1400" dirty="0">
                          <a:latin typeface="Inter"/>
                        </a:rPr>
                        <a:t>From Prompt to Loop: The Engineering Progression</a:t>
                      </a:r>
                      <a:r>
                        <a:rPr lang="en-IN" sz="1400" dirty="0"/>
                        <a:t>[6]</a:t>
                      </a:r>
                      <a:endParaRPr lang="en-IN" sz="1400" dirty="0">
                        <a:latin typeface="Inter"/>
                      </a:endParaRPr>
                    </a:p>
                  </a:txBody>
                  <a:tcPr/>
                </a:tc>
                <a:extLst>
                  <a:ext uri="{0D108BD9-81ED-4DB2-BD59-A6C34878D82A}">
                    <a16:rowId xmlns:a16="http://schemas.microsoft.com/office/drawing/2014/main" val="1136259710"/>
                  </a:ext>
                </a:extLst>
              </a:tr>
              <a:tr h="370840">
                <a:tc>
                  <a:txBody>
                    <a:bodyPr/>
                    <a:lstStyle/>
                    <a:p>
                      <a:r>
                        <a:rPr lang="en-IN" sz="1400" b="1" dirty="0">
                          <a:latin typeface="Inter"/>
                        </a:rPr>
                        <a:t>1. Prompt engineering: </a:t>
                      </a:r>
                      <a:r>
                        <a:rPr lang="en-IN" sz="1400" dirty="0">
                          <a:latin typeface="Inter"/>
                        </a:rPr>
                        <a:t>Optimize what you say to the model (2022–24)</a:t>
                      </a:r>
                    </a:p>
                  </a:txBody>
                  <a:tcPr/>
                </a:tc>
                <a:extLst>
                  <a:ext uri="{0D108BD9-81ED-4DB2-BD59-A6C34878D82A}">
                    <a16:rowId xmlns:a16="http://schemas.microsoft.com/office/drawing/2014/main" val="1361730842"/>
                  </a:ext>
                </a:extLst>
              </a:tr>
              <a:tr h="370840">
                <a:tc>
                  <a:txBody>
                    <a:bodyPr/>
                    <a:lstStyle/>
                    <a:p>
                      <a:r>
                        <a:rPr lang="en-IN" sz="1400" b="1" dirty="0">
                          <a:latin typeface="Inter"/>
                        </a:rPr>
                        <a:t>2. Context engineering: </a:t>
                      </a:r>
                      <a:r>
                        <a:rPr lang="en-IN" sz="1400" dirty="0">
                          <a:latin typeface="Inter"/>
                        </a:rPr>
                        <a:t>Optimize everything the model sees (2025)</a:t>
                      </a:r>
                    </a:p>
                  </a:txBody>
                  <a:tcPr/>
                </a:tc>
                <a:extLst>
                  <a:ext uri="{0D108BD9-81ED-4DB2-BD59-A6C34878D82A}">
                    <a16:rowId xmlns:a16="http://schemas.microsoft.com/office/drawing/2014/main" val="1248886952"/>
                  </a:ext>
                </a:extLst>
              </a:tr>
              <a:tr h="370840">
                <a:tc>
                  <a:txBody>
                    <a:bodyPr/>
                    <a:lstStyle/>
                    <a:p>
                      <a:r>
                        <a:rPr lang="en-IN" sz="1400" b="1" dirty="0">
                          <a:latin typeface="Inter"/>
                        </a:rPr>
                        <a:t>3. Harness engineering: </a:t>
                      </a:r>
                      <a:r>
                        <a:rPr lang="en-IN" sz="1400" dirty="0">
                          <a:latin typeface="Inter"/>
                        </a:rPr>
                        <a:t>Optimize the environment the agent runs in (2025–26)</a:t>
                      </a:r>
                    </a:p>
                  </a:txBody>
                  <a:tcPr/>
                </a:tc>
                <a:extLst>
                  <a:ext uri="{0D108BD9-81ED-4DB2-BD59-A6C34878D82A}">
                    <a16:rowId xmlns:a16="http://schemas.microsoft.com/office/drawing/2014/main" val="1454841582"/>
                  </a:ext>
                </a:extLst>
              </a:tr>
              <a:tr h="370840">
                <a:tc>
                  <a:txBody>
                    <a:bodyPr/>
                    <a:lstStyle/>
                    <a:p>
                      <a:r>
                        <a:rPr lang="en-IN" sz="1400" b="1" dirty="0">
                          <a:latin typeface="Inter"/>
                        </a:rPr>
                        <a:t>4. Loop engineering: </a:t>
                      </a:r>
                      <a:r>
                        <a:rPr lang="en-IN" sz="1400" dirty="0">
                          <a:latin typeface="Inter"/>
                        </a:rPr>
                        <a:t>Optimize the cycle that keeps the agent working toward a goal (2026)</a:t>
                      </a:r>
                    </a:p>
                  </a:txBody>
                  <a:tcPr/>
                </a:tc>
                <a:extLst>
                  <a:ext uri="{0D108BD9-81ED-4DB2-BD59-A6C34878D82A}">
                    <a16:rowId xmlns:a16="http://schemas.microsoft.com/office/drawing/2014/main" val="2480078822"/>
                  </a:ext>
                </a:extLst>
              </a:tr>
            </a:tbl>
          </a:graphicData>
        </a:graphic>
      </p:graphicFrame>
    </p:spTree>
    <p:extLst>
      <p:ext uri="{BB962C8B-B14F-4D97-AF65-F5344CB8AC3E}">
        <p14:creationId xmlns:p14="http://schemas.microsoft.com/office/powerpoint/2010/main" val="37223268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6A343-3618-EF1E-F859-893351AEAE8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233EAD52-4789-C1CA-A6CE-356379EB711E}"/>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F91AB7D6-C623-B9DA-14ED-C902F3A264C5}"/>
              </a:ext>
            </a:extLst>
          </p:cNvPr>
          <p:cNvSpPr txBox="1"/>
          <p:nvPr/>
        </p:nvSpPr>
        <p:spPr>
          <a:xfrm>
            <a:off x="568317" y="557358"/>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pic>
        <p:nvPicPr>
          <p:cNvPr id="12" name="Picture 11">
            <a:extLst>
              <a:ext uri="{FF2B5EF4-FFF2-40B4-BE49-F238E27FC236}">
                <a16:creationId xmlns:a16="http://schemas.microsoft.com/office/drawing/2014/main" id="{9EFD6ED6-F017-FA56-C36B-36EF94D40112}"/>
              </a:ext>
            </a:extLst>
          </p:cNvPr>
          <p:cNvPicPr>
            <a:picLocks noChangeAspect="1"/>
          </p:cNvPicPr>
          <p:nvPr/>
        </p:nvPicPr>
        <p:blipFill>
          <a:blip r:embed="rId3"/>
          <a:stretch>
            <a:fillRect/>
          </a:stretch>
        </p:blipFill>
        <p:spPr>
          <a:xfrm>
            <a:off x="568317" y="2785506"/>
            <a:ext cx="6765813" cy="1101835"/>
          </a:xfrm>
          <a:prstGeom prst="rect">
            <a:avLst/>
          </a:prstGeom>
        </p:spPr>
      </p:pic>
      <p:sp>
        <p:nvSpPr>
          <p:cNvPr id="6" name="Rectangle 5">
            <a:extLst>
              <a:ext uri="{FF2B5EF4-FFF2-40B4-BE49-F238E27FC236}">
                <a16:creationId xmlns:a16="http://schemas.microsoft.com/office/drawing/2014/main" id="{EBCC2312-245F-2C21-F56B-1C4CF91EB7CD}"/>
              </a:ext>
            </a:extLst>
          </p:cNvPr>
          <p:cNvSpPr/>
          <p:nvPr/>
        </p:nvSpPr>
        <p:spPr>
          <a:xfrm>
            <a:off x="7334130" y="1959353"/>
            <a:ext cx="4522839" cy="3513829"/>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97CC6EC-94B8-48F8-0A1D-B737839F963A}"/>
              </a:ext>
            </a:extLst>
          </p:cNvPr>
          <p:cNvSpPr txBox="1"/>
          <p:nvPr/>
        </p:nvSpPr>
        <p:spPr>
          <a:xfrm>
            <a:off x="546763" y="1511753"/>
            <a:ext cx="6460234" cy="830997"/>
          </a:xfrm>
          <a:prstGeom prst="rect">
            <a:avLst/>
          </a:prstGeom>
          <a:noFill/>
        </p:spPr>
        <p:txBody>
          <a:bodyPr wrap="square">
            <a:spAutoFit/>
          </a:bodyPr>
          <a:lstStyle/>
          <a:p>
            <a:pPr algn="just"/>
            <a:r>
              <a:rPr lang="en-IN" sz="1600" dirty="0"/>
              <a:t>A well-engineered agent loop is structurally identical to an RL optimization process operating at inference time—without gradient updates to the model weights:</a:t>
            </a:r>
            <a:endParaRPr lang="en-IN" sz="1600" dirty="0">
              <a:latin typeface="Inter"/>
            </a:endParaRPr>
          </a:p>
        </p:txBody>
      </p:sp>
      <p:sp>
        <p:nvSpPr>
          <p:cNvPr id="15" name="TextBox 14">
            <a:extLst>
              <a:ext uri="{FF2B5EF4-FFF2-40B4-BE49-F238E27FC236}">
                <a16:creationId xmlns:a16="http://schemas.microsoft.com/office/drawing/2014/main" id="{D239941A-8B0F-7AEF-9019-9E00DF3C177D}"/>
              </a:ext>
            </a:extLst>
          </p:cNvPr>
          <p:cNvSpPr txBox="1"/>
          <p:nvPr/>
        </p:nvSpPr>
        <p:spPr>
          <a:xfrm>
            <a:off x="481717" y="4303598"/>
            <a:ext cx="6640681" cy="1815882"/>
          </a:xfrm>
          <a:prstGeom prst="rect">
            <a:avLst/>
          </a:prstGeom>
          <a:noFill/>
        </p:spPr>
        <p:txBody>
          <a:bodyPr wrap="square">
            <a:spAutoFit/>
          </a:bodyPr>
          <a:lstStyle/>
          <a:p>
            <a:pPr algn="just"/>
            <a:r>
              <a:rPr lang="en-IN" sz="1600" dirty="0">
                <a:latin typeface="Inter"/>
              </a:rPr>
              <a:t>The </a:t>
            </a:r>
            <a:r>
              <a:rPr lang="en-IN" sz="1600" b="1" dirty="0">
                <a:latin typeface="Inter"/>
              </a:rPr>
              <a:t>loop</a:t>
            </a:r>
            <a:r>
              <a:rPr lang="en-IN" sz="1600" dirty="0">
                <a:latin typeface="Inter"/>
              </a:rPr>
              <a:t> continues until </a:t>
            </a:r>
            <a:r>
              <a:rPr lang="en-IN" sz="1600" b="1" dirty="0">
                <a:latin typeface="Inter"/>
              </a:rPr>
              <a:t>r</a:t>
            </a:r>
            <a:r>
              <a:rPr lang="en-IN" sz="1600" b="1" baseline="-25000" dirty="0">
                <a:latin typeface="Inter"/>
              </a:rPr>
              <a:t>t</a:t>
            </a:r>
            <a:r>
              <a:rPr lang="en-IN" sz="1600" dirty="0">
                <a:latin typeface="Inter"/>
              </a:rPr>
              <a:t> exceeds a success threshold or a termination condition triggers. The “policy” </a:t>
            </a:r>
            <a:r>
              <a:rPr lang="en-IN" sz="1600" b="1" dirty="0">
                <a:latin typeface="Inter"/>
              </a:rPr>
              <a:t>π</a:t>
            </a:r>
            <a:r>
              <a:rPr lang="en-IN" sz="1600" b="1" baseline="-25000" dirty="0">
                <a:latin typeface="Inter"/>
              </a:rPr>
              <a:t>θ</a:t>
            </a:r>
            <a:r>
              <a:rPr lang="en-IN" sz="1600" dirty="0">
                <a:latin typeface="Inter"/>
              </a:rPr>
              <a:t> is not updated via gradients; instead, the </a:t>
            </a:r>
            <a:r>
              <a:rPr lang="en-IN" sz="1600" b="1" i="1" dirty="0">
                <a:latin typeface="Inter"/>
              </a:rPr>
              <a:t>state</a:t>
            </a:r>
            <a:r>
              <a:rPr lang="en-IN" sz="1600" dirty="0">
                <a:latin typeface="Inter"/>
              </a:rPr>
              <a:t> is updated—observations, error messages, and reflections are appended to the context, conditioning the same frozen model to produce better actions on subsequent iterations. This is precisely the mechanism behind </a:t>
            </a:r>
            <a:r>
              <a:rPr lang="en-IN" sz="1600" b="1" dirty="0">
                <a:latin typeface="Inter"/>
              </a:rPr>
              <a:t>Reflexion</a:t>
            </a:r>
            <a:r>
              <a:rPr lang="en-IN" sz="1600" dirty="0">
                <a:latin typeface="Inter"/>
              </a:rPr>
              <a:t>, the model improves across iterations not by learning new weights but by reading its own failure history.</a:t>
            </a:r>
            <a:r>
              <a:rPr lang="en-IN" sz="1600" dirty="0"/>
              <a:t> [6]</a:t>
            </a:r>
            <a:endParaRPr lang="en-IN" sz="1600" dirty="0">
              <a:latin typeface="Inter"/>
            </a:endParaRPr>
          </a:p>
        </p:txBody>
      </p:sp>
      <p:sp>
        <p:nvSpPr>
          <p:cNvPr id="17" name="TextBox 16">
            <a:extLst>
              <a:ext uri="{FF2B5EF4-FFF2-40B4-BE49-F238E27FC236}">
                <a16:creationId xmlns:a16="http://schemas.microsoft.com/office/drawing/2014/main" id="{F96F1D3E-A68C-15ED-968F-637729290D75}"/>
              </a:ext>
            </a:extLst>
          </p:cNvPr>
          <p:cNvSpPr txBox="1"/>
          <p:nvPr/>
        </p:nvSpPr>
        <p:spPr>
          <a:xfrm>
            <a:off x="7489980" y="2153164"/>
            <a:ext cx="4233182" cy="3170099"/>
          </a:xfrm>
          <a:prstGeom prst="rect">
            <a:avLst/>
          </a:prstGeom>
          <a:noFill/>
        </p:spPr>
        <p:txBody>
          <a:bodyPr wrap="square">
            <a:spAutoFit/>
          </a:bodyPr>
          <a:lstStyle/>
          <a:p>
            <a:pPr>
              <a:spcBef>
                <a:spcPts val="600"/>
              </a:spcBef>
            </a:pPr>
            <a:r>
              <a:rPr lang="en-IN" sz="1400" b="1" dirty="0">
                <a:latin typeface="Inter"/>
              </a:rPr>
              <a:t>Reflection in Practice (Reflexion) </a:t>
            </a:r>
          </a:p>
          <a:p>
            <a:pPr>
              <a:spcBef>
                <a:spcPts val="600"/>
              </a:spcBef>
            </a:pPr>
            <a:r>
              <a:rPr lang="en-IN" sz="1400" dirty="0">
                <a:latin typeface="Inter"/>
              </a:rPr>
              <a:t>After three failed attempts to solve a coding problem, the agent reflects:</a:t>
            </a:r>
          </a:p>
          <a:p>
            <a:pPr marL="342900" indent="-342900">
              <a:spcBef>
                <a:spcPts val="600"/>
              </a:spcBef>
              <a:buAutoNum type="arabicPeriod"/>
            </a:pPr>
            <a:r>
              <a:rPr lang="en-IN" sz="1400" dirty="0">
                <a:latin typeface="Inter"/>
              </a:rPr>
              <a:t>Retrieves the three failure episodes from episodic memory.</a:t>
            </a:r>
          </a:p>
          <a:p>
            <a:pPr marL="342900" indent="-342900">
              <a:spcBef>
                <a:spcPts val="600"/>
              </a:spcBef>
              <a:buAutoNum type="arabicPeriod"/>
            </a:pPr>
            <a:r>
              <a:rPr lang="en-IN" sz="1400" dirty="0">
                <a:latin typeface="Inter"/>
              </a:rPr>
              <a:t>Generates an insight: “I keep forgetting to handle the edge case where the input list is empty.”</a:t>
            </a:r>
          </a:p>
          <a:p>
            <a:pPr marL="342900" indent="-342900">
              <a:spcBef>
                <a:spcPts val="600"/>
              </a:spcBef>
              <a:buAutoNum type="arabicPeriod"/>
            </a:pPr>
            <a:r>
              <a:rPr lang="en-IN" sz="1400" dirty="0">
                <a:latin typeface="Inter"/>
              </a:rPr>
              <a:t>Stores this insight in semantic memory.</a:t>
            </a:r>
          </a:p>
          <a:p>
            <a:pPr marL="342900" indent="-342900">
              <a:spcBef>
                <a:spcPts val="600"/>
              </a:spcBef>
              <a:buAutoNum type="arabicPeriod"/>
            </a:pPr>
            <a:r>
              <a:rPr lang="en-IN" sz="1400" dirty="0">
                <a:latin typeface="Inter"/>
              </a:rPr>
              <a:t>On the next attempt, retrieves the insight and explicitly checks for empty inputs.</a:t>
            </a:r>
          </a:p>
          <a:p>
            <a:pPr>
              <a:spcBef>
                <a:spcPts val="600"/>
              </a:spcBef>
            </a:pPr>
            <a:r>
              <a:rPr lang="en-IN" sz="1400" dirty="0">
                <a:latin typeface="Inter"/>
              </a:rPr>
              <a:t>This is the core mechanism of </a:t>
            </a:r>
            <a:r>
              <a:rPr lang="en-IN" sz="1400" b="1" dirty="0">
                <a:latin typeface="Inter"/>
              </a:rPr>
              <a:t>Reflexion</a:t>
            </a:r>
            <a:r>
              <a:rPr lang="en-IN" sz="1400" dirty="0">
                <a:latin typeface="Inter"/>
              </a:rPr>
              <a:t>; learning via self-reflection.</a:t>
            </a:r>
            <a:r>
              <a:rPr lang="en-IN" sz="1400" dirty="0"/>
              <a:t> [6]</a:t>
            </a:r>
            <a:endParaRPr lang="en-IN" sz="1400" dirty="0">
              <a:latin typeface="Inter"/>
            </a:endParaRPr>
          </a:p>
        </p:txBody>
      </p:sp>
    </p:spTree>
    <p:extLst>
      <p:ext uri="{BB962C8B-B14F-4D97-AF65-F5344CB8AC3E}">
        <p14:creationId xmlns:p14="http://schemas.microsoft.com/office/powerpoint/2010/main" val="33194899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B2A10-83F7-4C61-F86C-5227FAA7E0C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DF615219-2271-79D8-CAE0-6F2D261ECF38}"/>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B719C41D-7560-1C53-685D-566FDDC7EFA1}"/>
              </a:ext>
            </a:extLst>
          </p:cNvPr>
          <p:cNvSpPr txBox="1"/>
          <p:nvPr/>
        </p:nvSpPr>
        <p:spPr>
          <a:xfrm>
            <a:off x="602125" y="465115"/>
            <a:ext cx="11601450" cy="492443"/>
          </a:xfrm>
          <a:prstGeom prst="rect">
            <a:avLst/>
          </a:prstGeom>
          <a:noFill/>
        </p:spPr>
        <p:txBody>
          <a:bodyPr wrap="square" lIns="0" tIns="0" rIns="0" bIns="0" anchor="t">
            <a:spAutoFit/>
          </a:bodyPr>
          <a:lstStyle/>
          <a:p>
            <a:r>
              <a:rPr lang="en-IN" sz="3200" b="1" dirty="0">
                <a:solidFill>
                  <a:schemeClr val="tx2"/>
                </a:solidFill>
                <a:latin typeface="Inter"/>
              </a:rPr>
              <a:t>MCP</a:t>
            </a:r>
            <a:r>
              <a:rPr lang="en-IN" sz="3200" b="1" dirty="0">
                <a:latin typeface="Inter"/>
              </a:rPr>
              <a:t> &amp; Why Do We Need It?</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5562AC2-E163-4739-F1B0-140696516A3A}"/>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378" b="378"/>
          <a:stretch/>
        </p:blipFill>
        <p:spPr>
          <a:xfrm>
            <a:off x="5820696" y="3294061"/>
            <a:ext cx="5653548" cy="2900517"/>
          </a:xfrm>
          <a:prstGeom prst="rect">
            <a:avLst/>
          </a:prstGeom>
        </p:spPr>
      </p:pic>
      <p:sp>
        <p:nvSpPr>
          <p:cNvPr id="23" name="TextBox 22">
            <a:extLst>
              <a:ext uri="{FF2B5EF4-FFF2-40B4-BE49-F238E27FC236}">
                <a16:creationId xmlns:a16="http://schemas.microsoft.com/office/drawing/2014/main" id="{E0A7518F-0865-38EA-0F51-A054D18CA863}"/>
              </a:ext>
            </a:extLst>
          </p:cNvPr>
          <p:cNvSpPr txBox="1"/>
          <p:nvPr/>
        </p:nvSpPr>
        <p:spPr>
          <a:xfrm>
            <a:off x="602124" y="3765541"/>
            <a:ext cx="5393561" cy="2369880"/>
          </a:xfrm>
          <a:prstGeom prst="rect">
            <a:avLst/>
          </a:prstGeom>
          <a:noFill/>
        </p:spPr>
        <p:txBody>
          <a:bodyPr wrap="square">
            <a:spAutoFit/>
          </a:bodyPr>
          <a:lstStyle/>
          <a:p>
            <a:pPr lvl="0" algn="just">
              <a:spcAft>
                <a:spcPts val="600"/>
              </a:spcAft>
            </a:pPr>
            <a:r>
              <a:rPr lang="en-IN" sz="1600" dirty="0">
                <a:latin typeface="Inter"/>
              </a:rPr>
              <a:t>Here is a simplified look at how MCP would handle this:</a:t>
            </a:r>
          </a:p>
          <a:p>
            <a:pPr lvl="0" algn="just">
              <a:spcAft>
                <a:spcPts val="600"/>
              </a:spcAft>
            </a:pPr>
            <a:r>
              <a:rPr lang="en-IN" sz="1600" b="1" dirty="0"/>
              <a:t>1. Discover Tools:</a:t>
            </a:r>
            <a:r>
              <a:rPr lang="en-IN" sz="1600" dirty="0"/>
              <a:t> AI realizes it needs external help and finds the database and email tools registered on MCP.</a:t>
            </a:r>
          </a:p>
          <a:p>
            <a:pPr lvl="0" algn="just">
              <a:spcAft>
                <a:spcPts val="600"/>
              </a:spcAft>
            </a:pPr>
            <a:r>
              <a:rPr lang="en-IN" sz="1600" b="1" dirty="0"/>
              <a:t>2. Fetch Data:</a:t>
            </a:r>
            <a:r>
              <a:rPr lang="en-IN" sz="1600" dirty="0"/>
              <a:t> AI requests the sales report via MCP; the database server fetches and returns the report.</a:t>
            </a:r>
          </a:p>
          <a:p>
            <a:pPr lvl="0" algn="just">
              <a:spcAft>
                <a:spcPts val="600"/>
              </a:spcAft>
            </a:pPr>
            <a:r>
              <a:rPr lang="en-IN" sz="1600" b="1" dirty="0"/>
              <a:t>3. Send Email:</a:t>
            </a:r>
            <a:r>
              <a:rPr lang="en-IN" sz="1600" dirty="0"/>
              <a:t> AI hands the report to the email tool, which sends it to the manager.</a:t>
            </a:r>
          </a:p>
          <a:p>
            <a:pPr lvl="0" algn="just">
              <a:spcAft>
                <a:spcPts val="600"/>
              </a:spcAft>
            </a:pPr>
            <a:r>
              <a:rPr lang="en-IN" sz="1600" b="1" dirty="0"/>
              <a:t>4. Confirm:</a:t>
            </a:r>
            <a:r>
              <a:rPr lang="en-IN" sz="1600" dirty="0"/>
              <a:t> AI tells you the task is finished. [18][6]</a:t>
            </a:r>
          </a:p>
        </p:txBody>
      </p:sp>
      <p:sp>
        <p:nvSpPr>
          <p:cNvPr id="3" name="TextBox 2">
            <a:extLst>
              <a:ext uri="{FF2B5EF4-FFF2-40B4-BE49-F238E27FC236}">
                <a16:creationId xmlns:a16="http://schemas.microsoft.com/office/drawing/2014/main" id="{2422BFC7-92B9-7F43-DA6F-4B0927067CE0}"/>
              </a:ext>
            </a:extLst>
          </p:cNvPr>
          <p:cNvSpPr txBox="1"/>
          <p:nvPr/>
        </p:nvSpPr>
        <p:spPr>
          <a:xfrm>
            <a:off x="5820696" y="6168796"/>
            <a:ext cx="5653548" cy="461665"/>
          </a:xfrm>
          <a:prstGeom prst="rect">
            <a:avLst/>
          </a:prstGeom>
          <a:noFill/>
        </p:spPr>
        <p:txBody>
          <a:bodyPr wrap="square">
            <a:spAutoFit/>
          </a:bodyPr>
          <a:lstStyle/>
          <a:p>
            <a:r>
              <a:rPr lang="en-IN" sz="1200" b="1" dirty="0"/>
              <a:t>Fig: </a:t>
            </a:r>
            <a:r>
              <a:rPr lang="en-IN" sz="1200" dirty="0"/>
              <a:t>MCP architecture. The harness acts as an MCP client, routing tool calls to specialized MCP servers over standardized transports.[6]</a:t>
            </a:r>
          </a:p>
        </p:txBody>
      </p:sp>
      <p:sp>
        <p:nvSpPr>
          <p:cNvPr id="8" name="TextBox 7">
            <a:extLst>
              <a:ext uri="{FF2B5EF4-FFF2-40B4-BE49-F238E27FC236}">
                <a16:creationId xmlns:a16="http://schemas.microsoft.com/office/drawing/2014/main" id="{5904C286-E601-85E1-F7F3-563EE4CF777A}"/>
              </a:ext>
            </a:extLst>
          </p:cNvPr>
          <p:cNvSpPr txBox="1"/>
          <p:nvPr/>
        </p:nvSpPr>
        <p:spPr>
          <a:xfrm>
            <a:off x="521099" y="1157646"/>
            <a:ext cx="10883695" cy="2215991"/>
          </a:xfrm>
          <a:prstGeom prst="rect">
            <a:avLst/>
          </a:prstGeom>
          <a:noFill/>
        </p:spPr>
        <p:txBody>
          <a:bodyPr wrap="square">
            <a:spAutoFit/>
          </a:bodyPr>
          <a:lstStyle/>
          <a:p>
            <a:pPr marL="342900" lvl="0" indent="-342900" algn="just">
              <a:spcBef>
                <a:spcPts val="600"/>
              </a:spcBef>
              <a:buFont typeface="Arial" panose="020B0604020202020204" pitchFamily="34" charset="0"/>
              <a:buChar char="•"/>
            </a:pPr>
            <a:r>
              <a:rPr lang="en-IN" sz="1600" b="1" dirty="0">
                <a:latin typeface="Inter"/>
              </a:rPr>
              <a:t>The Core Problem: </a:t>
            </a:r>
            <a:r>
              <a:rPr lang="en-IN" sz="1600" dirty="0"/>
              <a:t>Every time a new LLM agent framework appears, developers must re-implement connectors to the same 	tools: file systems, databases, web search, code execution, calendar APIs. This is wasteful, error-prone, and creates a 	maintenance burden that scales quadratically with the number of agents and tools.</a:t>
            </a:r>
            <a:endParaRPr lang="en-IN" sz="1600" dirty="0">
              <a:latin typeface="Inter"/>
            </a:endParaRPr>
          </a:p>
          <a:p>
            <a:pPr lvl="0" algn="just">
              <a:spcBef>
                <a:spcPts val="600"/>
              </a:spcBef>
            </a:pPr>
            <a:r>
              <a:rPr lang="en-IN" sz="1600" dirty="0">
                <a:latin typeface="Inter"/>
              </a:rPr>
              <a:t>        	Also LLM knowledge is frozen at training time &amp; LLMs Agents cannot inherently interact with the outside world (real-time            	data, business systems, APIs).</a:t>
            </a:r>
          </a:p>
          <a:p>
            <a:pPr marL="342900" lvl="0" indent="-342900" algn="just">
              <a:spcBef>
                <a:spcPts val="600"/>
              </a:spcBef>
              <a:buFont typeface="Arial" panose="020B0604020202020204" pitchFamily="34" charset="0"/>
              <a:buChar char="•"/>
            </a:pPr>
            <a:r>
              <a:rPr lang="en-IN" sz="1600" b="1" dirty="0">
                <a:latin typeface="Inter"/>
              </a:rPr>
              <a:t>The Solution (MCP): </a:t>
            </a:r>
            <a:r>
              <a:rPr lang="en-IN" sz="1600" b="0" i="0" dirty="0">
                <a:solidFill>
                  <a:srgbClr val="141413"/>
                </a:solidFill>
                <a:effectLst/>
                <a:latin typeface="anthropicSerif"/>
              </a:rPr>
              <a:t>The Model Context Protocol is an open standard that enables developers to build secure, two-way connections between their data sources and AI-powered tools. The architecture is straightforward: developers can either expose their data through MCP servers or build AI applications (MCP clients) that connect to these servers [18]</a:t>
            </a:r>
            <a:endParaRPr lang="en-IN" sz="1600" dirty="0">
              <a:latin typeface="Inter"/>
            </a:endParaRPr>
          </a:p>
        </p:txBody>
      </p:sp>
    </p:spTree>
    <p:extLst>
      <p:ext uri="{BB962C8B-B14F-4D97-AF65-F5344CB8AC3E}">
        <p14:creationId xmlns:p14="http://schemas.microsoft.com/office/powerpoint/2010/main" val="14626431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9DBE2-59BA-400F-3581-4793DD93669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13762014-A34F-37B5-54BC-987A27FB7924}"/>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57379917-9682-FC1E-2F35-0F8D56CF3693}"/>
              </a:ext>
            </a:extLst>
          </p:cNvPr>
          <p:cNvSpPr txBox="1"/>
          <p:nvPr/>
        </p:nvSpPr>
        <p:spPr>
          <a:xfrm>
            <a:off x="529694" y="1209032"/>
            <a:ext cx="3032326" cy="492443"/>
          </a:xfrm>
          <a:prstGeom prst="rect">
            <a:avLst/>
          </a:prstGeom>
          <a:noFill/>
        </p:spPr>
        <p:txBody>
          <a:bodyPr wrap="square" lIns="0" tIns="0" rIns="0" bIns="0" anchor="t">
            <a:spAutoFit/>
          </a:bodyPr>
          <a:lstStyle/>
          <a:p>
            <a:r>
              <a:rPr lang="en-IN" sz="3200" b="1" dirty="0">
                <a:latin typeface="Inter"/>
              </a:rPr>
              <a:t>How </a:t>
            </a:r>
            <a:r>
              <a:rPr lang="en-IN" sz="3200" b="1" dirty="0">
                <a:solidFill>
                  <a:schemeClr val="tx2"/>
                </a:solidFill>
                <a:latin typeface="Inter"/>
              </a:rPr>
              <a:t>MCP</a:t>
            </a:r>
            <a:r>
              <a:rPr lang="en-IN" sz="3200" b="1" dirty="0">
                <a:latin typeface="Inter"/>
              </a:rPr>
              <a:t> works:</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824F07C-0F44-F403-332D-21A3B08E4E2D}"/>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1350" b="196"/>
          <a:stretch>
            <a:fillRect/>
          </a:stretch>
        </p:blipFill>
        <p:spPr>
          <a:xfrm>
            <a:off x="3727046" y="830494"/>
            <a:ext cx="8027855" cy="5562391"/>
          </a:xfrm>
          <a:prstGeom prst="rect">
            <a:avLst/>
          </a:prstGeom>
        </p:spPr>
      </p:pic>
      <p:sp>
        <p:nvSpPr>
          <p:cNvPr id="3" name="TextBox 2">
            <a:extLst>
              <a:ext uri="{FF2B5EF4-FFF2-40B4-BE49-F238E27FC236}">
                <a16:creationId xmlns:a16="http://schemas.microsoft.com/office/drawing/2014/main" id="{7079EAC2-AC13-436B-F5AA-B9CE99649096}"/>
              </a:ext>
            </a:extLst>
          </p:cNvPr>
          <p:cNvSpPr txBox="1"/>
          <p:nvPr/>
        </p:nvSpPr>
        <p:spPr>
          <a:xfrm>
            <a:off x="529694" y="2088156"/>
            <a:ext cx="3533020" cy="3354765"/>
          </a:xfrm>
          <a:prstGeom prst="rect">
            <a:avLst/>
          </a:prstGeom>
          <a:noFill/>
        </p:spPr>
        <p:txBody>
          <a:bodyPr wrap="square">
            <a:spAutoFit/>
          </a:bodyPr>
          <a:lstStyle/>
          <a:p>
            <a:pPr algn="just">
              <a:spcBef>
                <a:spcPts val="600"/>
              </a:spcBef>
            </a:pPr>
            <a:r>
              <a:rPr lang="en-IN" sz="1600" b="1" dirty="0">
                <a:latin typeface="Inter"/>
              </a:rPr>
              <a:t>Fig: </a:t>
            </a:r>
            <a:r>
              <a:rPr lang="en-IN" sz="1600" dirty="0">
                <a:latin typeface="Inter"/>
              </a:rPr>
              <a:t>A single user request flows through the </a:t>
            </a:r>
            <a:r>
              <a:rPr lang="en-IN" sz="1600" b="1" dirty="0">
                <a:latin typeface="Inter"/>
              </a:rPr>
              <a:t>Host</a:t>
            </a:r>
            <a:r>
              <a:rPr lang="en-IN" sz="1600" dirty="0">
                <a:latin typeface="Inter"/>
              </a:rPr>
              <a:t>, </a:t>
            </a:r>
            <a:r>
              <a:rPr lang="en-IN" sz="1600" b="1" dirty="0">
                <a:latin typeface="Inter"/>
              </a:rPr>
              <a:t>LLM</a:t>
            </a:r>
            <a:r>
              <a:rPr lang="en-IN" sz="1600" dirty="0">
                <a:latin typeface="Inter"/>
              </a:rPr>
              <a:t>, and </a:t>
            </a:r>
            <a:r>
              <a:rPr lang="en-IN" sz="1600" b="1" dirty="0">
                <a:latin typeface="Inter"/>
              </a:rPr>
              <a:t>MCP Server</a:t>
            </a:r>
            <a:r>
              <a:rPr lang="en-IN" sz="1600" dirty="0">
                <a:latin typeface="Inter"/>
              </a:rPr>
              <a:t>.</a:t>
            </a:r>
          </a:p>
          <a:p>
            <a:pPr marL="285750" indent="-285750" algn="just">
              <a:spcBef>
                <a:spcPts val="600"/>
              </a:spcBef>
              <a:buFont typeface="Arial" panose="020B0604020202020204" pitchFamily="34" charset="0"/>
              <a:buChar char="•"/>
            </a:pPr>
            <a:r>
              <a:rPr lang="en-IN" sz="1600" dirty="0">
                <a:latin typeface="Inter"/>
              </a:rPr>
              <a:t>The LLM decides which tool to call (step 3);</a:t>
            </a:r>
          </a:p>
          <a:p>
            <a:pPr marL="285750" indent="-285750" algn="just">
              <a:spcBef>
                <a:spcPts val="600"/>
              </a:spcBef>
              <a:buFont typeface="Arial" panose="020B0604020202020204" pitchFamily="34" charset="0"/>
              <a:buChar char="•"/>
            </a:pPr>
            <a:r>
              <a:rPr lang="en-IN" sz="1600" dirty="0">
                <a:latin typeface="Inter"/>
              </a:rPr>
              <a:t>the Host routes the call to the appropriate server via JSON-RPC (step 4);</a:t>
            </a:r>
          </a:p>
          <a:p>
            <a:pPr marL="285750" indent="-285750" algn="just">
              <a:spcBef>
                <a:spcPts val="600"/>
              </a:spcBef>
              <a:buFont typeface="Arial" panose="020B0604020202020204" pitchFamily="34" charset="0"/>
              <a:buChar char="•"/>
            </a:pPr>
            <a:r>
              <a:rPr lang="en-IN" sz="1600" dirty="0">
                <a:latin typeface="Inter"/>
              </a:rPr>
              <a:t>the result flows back through the LLM for natural-language formatting (steps 5–7).</a:t>
            </a:r>
          </a:p>
          <a:p>
            <a:pPr marL="285750" indent="-285750" algn="just">
              <a:spcBef>
                <a:spcPts val="600"/>
              </a:spcBef>
              <a:buFont typeface="Arial" panose="020B0604020202020204" pitchFamily="34" charset="0"/>
              <a:buChar char="•"/>
            </a:pPr>
            <a:r>
              <a:rPr lang="en-IN" sz="1600" dirty="0">
                <a:latin typeface="Inter"/>
              </a:rPr>
              <a:t>The user never sees the protocol machinery. [6]</a:t>
            </a:r>
          </a:p>
        </p:txBody>
      </p:sp>
    </p:spTree>
    <p:extLst>
      <p:ext uri="{BB962C8B-B14F-4D97-AF65-F5344CB8AC3E}">
        <p14:creationId xmlns:p14="http://schemas.microsoft.com/office/powerpoint/2010/main" val="12083337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E52C3-9048-4BD5-4638-6468B9A2EC3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BBCD847A-724D-B60A-4276-BBC258EF846F}"/>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205FBEAE-5B84-9D32-8879-29BABAC2B8E2}"/>
              </a:ext>
            </a:extLst>
          </p:cNvPr>
          <p:cNvSpPr txBox="1"/>
          <p:nvPr/>
        </p:nvSpPr>
        <p:spPr>
          <a:xfrm>
            <a:off x="602125" y="438487"/>
            <a:ext cx="11601450" cy="492443"/>
          </a:xfrm>
          <a:prstGeom prst="rect">
            <a:avLst/>
          </a:prstGeom>
          <a:noFill/>
        </p:spPr>
        <p:txBody>
          <a:bodyPr wrap="square" lIns="0" tIns="0" rIns="0" bIns="0" anchor="t">
            <a:spAutoFit/>
          </a:bodyPr>
          <a:lstStyle/>
          <a:p>
            <a:r>
              <a:rPr lang="en-IN" sz="3200" b="1" dirty="0">
                <a:latin typeface="Inter"/>
              </a:rPr>
              <a:t>Agent-to-Agent </a:t>
            </a:r>
            <a:r>
              <a:rPr lang="en-IN" sz="3200" b="1" dirty="0">
                <a:solidFill>
                  <a:schemeClr val="tx2"/>
                </a:solidFill>
                <a:latin typeface="Inter"/>
              </a:rPr>
              <a:t>Communication</a:t>
            </a:r>
            <a:r>
              <a:rPr lang="en-IN" sz="3200" b="1" dirty="0">
                <a:latin typeface="Inter"/>
              </a:rPr>
              <a:t> (A2A)</a:t>
            </a:r>
            <a:endParaRPr sz="3200" b="1" i="0" u="none" dirty="0">
              <a:solidFill>
                <a:srgbClr val="0F172A"/>
              </a:solidFill>
              <a:latin typeface="Inter"/>
            </a:endParaRPr>
          </a:p>
        </p:txBody>
      </p:sp>
      <p:sp>
        <p:nvSpPr>
          <p:cNvPr id="23" name="TextBox 22">
            <a:extLst>
              <a:ext uri="{FF2B5EF4-FFF2-40B4-BE49-F238E27FC236}">
                <a16:creationId xmlns:a16="http://schemas.microsoft.com/office/drawing/2014/main" id="{CD798501-4FDE-063D-E951-9E621FF69380}"/>
              </a:ext>
            </a:extLst>
          </p:cNvPr>
          <p:cNvSpPr txBox="1"/>
          <p:nvPr/>
        </p:nvSpPr>
        <p:spPr>
          <a:xfrm>
            <a:off x="602125" y="2311228"/>
            <a:ext cx="6520625" cy="4170372"/>
          </a:xfrm>
          <a:prstGeom prst="rect">
            <a:avLst/>
          </a:prstGeom>
          <a:noFill/>
        </p:spPr>
        <p:txBody>
          <a:bodyPr wrap="square">
            <a:spAutoFit/>
          </a:bodyPr>
          <a:lstStyle/>
          <a:p>
            <a:pPr>
              <a:spcBef>
                <a:spcPts val="600"/>
              </a:spcBef>
            </a:pPr>
            <a:r>
              <a:rPr lang="en-IN" sz="1600" dirty="0"/>
              <a:t>A2A is built on five core principles:</a:t>
            </a:r>
          </a:p>
          <a:p>
            <a:pPr marL="285750" lvl="0" indent="-285750">
              <a:spcBef>
                <a:spcPts val="600"/>
              </a:spcBef>
              <a:buFont typeface="Arial" panose="020B0604020202020204" pitchFamily="34" charset="0"/>
              <a:buChar char="•"/>
            </a:pPr>
            <a:r>
              <a:rPr lang="en-IN" sz="1600" b="1" dirty="0"/>
              <a:t>Opaque Execution:</a:t>
            </a:r>
            <a:r>
              <a:rPr lang="en-IN" sz="1600" dirty="0"/>
              <a:t> Calling agents interact exclusively through declared interfaces without inspecting remote internals. This abstracts underlying models (e.g., GPT-4, Gemini, rule-based systems) to support heterogeneous ecosystems.</a:t>
            </a:r>
          </a:p>
          <a:p>
            <a:pPr marL="285750" lvl="0" indent="-285750">
              <a:spcBef>
                <a:spcPts val="600"/>
              </a:spcBef>
              <a:buFont typeface="Arial" panose="020B0604020202020204" pitchFamily="34" charset="0"/>
              <a:buChar char="•"/>
            </a:pPr>
            <a:r>
              <a:rPr lang="en-IN" sz="1600" b="1" dirty="0"/>
              <a:t>Enterprise Readiness:</a:t>
            </a:r>
            <a:r>
              <a:rPr lang="en-IN" sz="1600" dirty="0"/>
              <a:t> Protocol-level integration of OAuth 2.0, API keys, JWT, audit logging, and regulatory compliance from day one.</a:t>
            </a:r>
          </a:p>
          <a:p>
            <a:pPr marL="285750" lvl="0" indent="-285750">
              <a:spcBef>
                <a:spcPts val="600"/>
              </a:spcBef>
              <a:buFont typeface="Arial" panose="020B0604020202020204" pitchFamily="34" charset="0"/>
              <a:buChar char="•"/>
            </a:pPr>
            <a:r>
              <a:rPr lang="en-IN" sz="1600" b="1" dirty="0"/>
              <a:t>Modality Agnosticism:</a:t>
            </a:r>
            <a:r>
              <a:rPr lang="en-IN" sz="1600" dirty="0"/>
              <a:t> Native support for combined text, binary files, and structured JSON in a single message—no protocol extensions required for multimodal inputs.</a:t>
            </a:r>
          </a:p>
          <a:p>
            <a:pPr marL="285750" lvl="0" indent="-285750">
              <a:spcBef>
                <a:spcPts val="600"/>
              </a:spcBef>
              <a:buFont typeface="Arial" panose="020B0604020202020204" pitchFamily="34" charset="0"/>
              <a:buChar char="•"/>
            </a:pPr>
            <a:r>
              <a:rPr lang="en-IN" sz="1600" b="1" dirty="0"/>
              <a:t>Leveraging Existing Standards:</a:t>
            </a:r>
            <a:r>
              <a:rPr lang="en-IN" sz="1600" dirty="0"/>
              <a:t> Built on proven infrastructure using HTTP/HTTPS, JSON-RPC 2.0, Server-Sent Events (SSE) for streaming, and </a:t>
            </a:r>
            <a:r>
              <a:rPr lang="en-IN" sz="1600" dirty="0" err="1"/>
              <a:t>gRPC</a:t>
            </a:r>
            <a:r>
              <a:rPr lang="en-IN" sz="1600" dirty="0"/>
              <a:t> as an alternative transport binding.</a:t>
            </a:r>
          </a:p>
          <a:p>
            <a:pPr marL="285750" lvl="0" indent="-285750">
              <a:spcBef>
                <a:spcPts val="600"/>
              </a:spcBef>
              <a:buFont typeface="Arial" panose="020B0604020202020204" pitchFamily="34" charset="0"/>
              <a:buChar char="•"/>
            </a:pPr>
            <a:r>
              <a:rPr lang="en-IN" sz="1600" b="1" dirty="0"/>
              <a:t>Async-First Architecture:</a:t>
            </a:r>
            <a:r>
              <a:rPr lang="en-IN" sz="1600" dirty="0"/>
              <a:t> Native support for long-running operations via push notifications and polling, eliminating open-connection overhead. [6]</a:t>
            </a:r>
          </a:p>
        </p:txBody>
      </p:sp>
      <p:sp>
        <p:nvSpPr>
          <p:cNvPr id="8" name="TextBox 7">
            <a:extLst>
              <a:ext uri="{FF2B5EF4-FFF2-40B4-BE49-F238E27FC236}">
                <a16:creationId xmlns:a16="http://schemas.microsoft.com/office/drawing/2014/main" id="{43739E46-6231-E3A2-2B1A-D90E29ED3067}"/>
              </a:ext>
            </a:extLst>
          </p:cNvPr>
          <p:cNvSpPr txBox="1"/>
          <p:nvPr/>
        </p:nvSpPr>
        <p:spPr>
          <a:xfrm>
            <a:off x="521099" y="1076928"/>
            <a:ext cx="10883695" cy="1154162"/>
          </a:xfrm>
          <a:prstGeom prst="rect">
            <a:avLst/>
          </a:prstGeom>
          <a:noFill/>
        </p:spPr>
        <p:txBody>
          <a:bodyPr wrap="square">
            <a:spAutoFit/>
          </a:bodyPr>
          <a:lstStyle/>
          <a:p>
            <a:pPr marL="342900" lvl="0" indent="-342900" algn="just">
              <a:spcBef>
                <a:spcPts val="600"/>
              </a:spcBef>
              <a:buFont typeface="Arial" panose="020B0604020202020204" pitchFamily="34" charset="0"/>
              <a:buChar char="•"/>
            </a:pPr>
            <a:r>
              <a:rPr lang="en-IN" sz="1600" b="1" dirty="0">
                <a:latin typeface="Inter"/>
              </a:rPr>
              <a:t>The Core Problem: </a:t>
            </a:r>
            <a:r>
              <a:rPr lang="en-IN" sz="1600" dirty="0"/>
              <a:t>As large language models evolve from isolated assistants into collaborative networks of specialized agents, the question of how agents talk to each other becomes as important as how they reason internally.</a:t>
            </a:r>
          </a:p>
          <a:p>
            <a:pPr marL="342900" lvl="0" indent="-342900" algn="just">
              <a:spcBef>
                <a:spcPts val="600"/>
              </a:spcBef>
              <a:buFont typeface="Arial" panose="020B0604020202020204" pitchFamily="34" charset="0"/>
              <a:buChar char="•"/>
            </a:pPr>
            <a:r>
              <a:rPr lang="en-IN" sz="1600" b="1" dirty="0">
                <a:latin typeface="Inter"/>
              </a:rPr>
              <a:t>The Solution (A2A): </a:t>
            </a:r>
            <a:r>
              <a:rPr lang="en-IN" sz="1600" dirty="0"/>
              <a:t>In April 2025, Google (with contributions from over 50 technology partners) released the Agent to-Agent (A2A) Protocol [113], an open specification for interoperable communication between AI agents. [6]</a:t>
            </a:r>
            <a:endParaRPr lang="en-IN" sz="1600" dirty="0">
              <a:latin typeface="Inter"/>
            </a:endParaRPr>
          </a:p>
        </p:txBody>
      </p:sp>
      <p:pic>
        <p:nvPicPr>
          <p:cNvPr id="5" name="Picture 4">
            <a:extLst>
              <a:ext uri="{FF2B5EF4-FFF2-40B4-BE49-F238E27FC236}">
                <a16:creationId xmlns:a16="http://schemas.microsoft.com/office/drawing/2014/main" id="{A93B0C70-9BD9-D866-C18B-473342E324B3}"/>
              </a:ext>
            </a:extLst>
          </p:cNvPr>
          <p:cNvPicPr>
            <a:picLocks noChangeAspect="1"/>
          </p:cNvPicPr>
          <p:nvPr/>
        </p:nvPicPr>
        <p:blipFill>
          <a:blip r:embed="rId3">
            <a:duotone>
              <a:schemeClr val="accent1">
                <a:shade val="45000"/>
                <a:satMod val="135000"/>
              </a:schemeClr>
              <a:prstClr val="white"/>
            </a:duotone>
          </a:blip>
          <a:srcRect l="7417" r="7091"/>
          <a:stretch>
            <a:fillRect/>
          </a:stretch>
        </p:blipFill>
        <p:spPr>
          <a:xfrm>
            <a:off x="7122750" y="2982507"/>
            <a:ext cx="4400258" cy="3288807"/>
          </a:xfrm>
          <a:prstGeom prst="rect">
            <a:avLst/>
          </a:prstGeom>
        </p:spPr>
      </p:pic>
    </p:spTree>
    <p:extLst>
      <p:ext uri="{BB962C8B-B14F-4D97-AF65-F5344CB8AC3E}">
        <p14:creationId xmlns:p14="http://schemas.microsoft.com/office/powerpoint/2010/main" val="16450582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B4DC5-DB62-54E5-9AE7-32BC2305032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EF4E189A-26A8-93AF-424A-5AFD1D7DF8FB}"/>
              </a:ext>
            </a:extLst>
          </p:cNvPr>
          <p:cNvPicPr>
            <a:picLocks noChangeAspect="1"/>
          </p:cNvPicPr>
          <p:nvPr/>
        </p:nvPicPr>
        <p:blipFill>
          <a:blip r:embed="rId2"/>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1162022C-5766-11A3-E6EB-7037624406DF}"/>
              </a:ext>
            </a:extLst>
          </p:cNvPr>
          <p:cNvSpPr txBox="1"/>
          <p:nvPr/>
        </p:nvSpPr>
        <p:spPr>
          <a:xfrm>
            <a:off x="581024" y="1945361"/>
            <a:ext cx="10588546" cy="577081"/>
          </a:xfrm>
          <a:prstGeom prst="rect">
            <a:avLst/>
          </a:prstGeom>
          <a:noFill/>
        </p:spPr>
        <p:txBody>
          <a:bodyPr wrap="square" lIns="0" tIns="0" rIns="0" bIns="0" anchor="t">
            <a:spAutoFit/>
          </a:bodyPr>
          <a:lstStyle/>
          <a:p>
            <a:pPr algn="just">
              <a:lnSpc>
                <a:spcPts val="2250"/>
              </a:lnSpc>
              <a:spcBef>
                <a:spcPts val="600"/>
              </a:spcBef>
            </a:pPr>
            <a:r>
              <a:rPr lang="en-IN" dirty="0"/>
              <a:t>A skill is a self-contained capability module that gives an agent expertise in a specific domain or task. Unlike a raw tool (which exposes a single function), a skill encompasses:</a:t>
            </a:r>
          </a:p>
        </p:txBody>
      </p:sp>
      <p:sp>
        <p:nvSpPr>
          <p:cNvPr id="26" name="TextBox 25">
            <a:extLst>
              <a:ext uri="{FF2B5EF4-FFF2-40B4-BE49-F238E27FC236}">
                <a16:creationId xmlns:a16="http://schemas.microsoft.com/office/drawing/2014/main" id="{9BDCFD32-F124-9509-4C80-B9B4101305B2}"/>
              </a:ext>
            </a:extLst>
          </p:cNvPr>
          <p:cNvSpPr txBox="1"/>
          <p:nvPr/>
        </p:nvSpPr>
        <p:spPr>
          <a:xfrm>
            <a:off x="569449" y="1382655"/>
            <a:ext cx="3040380" cy="361950"/>
          </a:xfrm>
          <a:prstGeom prst="rect">
            <a:avLst/>
          </a:prstGeom>
          <a:noFill/>
        </p:spPr>
        <p:txBody>
          <a:bodyPr wrap="square" lIns="0" tIns="0" rIns="0" bIns="0" anchor="t">
            <a:spAutoFit/>
          </a:bodyPr>
          <a:lstStyle/>
          <a:p>
            <a:pPr algn="l"/>
            <a:r>
              <a:rPr sz="2400" b="1" i="0" u="none" dirty="0">
                <a:solidFill>
                  <a:srgbClr val="0F172A"/>
                </a:solidFill>
                <a:latin typeface="Urbanist"/>
              </a:rPr>
              <a:t>What Is a Skill?</a:t>
            </a:r>
          </a:p>
        </p:txBody>
      </p:sp>
      <p:sp>
        <p:nvSpPr>
          <p:cNvPr id="38" name="TextBox 37">
            <a:extLst>
              <a:ext uri="{FF2B5EF4-FFF2-40B4-BE49-F238E27FC236}">
                <a16:creationId xmlns:a16="http://schemas.microsoft.com/office/drawing/2014/main" id="{BD50D0D5-CAEE-5F8E-246B-D846137E41AB}"/>
              </a:ext>
            </a:extLst>
          </p:cNvPr>
          <p:cNvSpPr txBox="1"/>
          <p:nvPr/>
        </p:nvSpPr>
        <p:spPr>
          <a:xfrm>
            <a:off x="546302" y="538230"/>
            <a:ext cx="11581447" cy="577081"/>
          </a:xfrm>
          <a:prstGeom prst="rect">
            <a:avLst/>
          </a:prstGeom>
          <a:noFill/>
        </p:spPr>
        <p:txBody>
          <a:bodyPr wrap="square" lIns="0" tIns="0" rIns="0" bIns="0" anchor="t">
            <a:spAutoFit/>
          </a:bodyPr>
          <a:lstStyle/>
          <a:p>
            <a:pPr algn="l">
              <a:lnSpc>
                <a:spcPts val="4455"/>
              </a:lnSpc>
            </a:pPr>
            <a:r>
              <a:rPr sz="4050" b="1" i="0" u="none" dirty="0">
                <a:solidFill>
                  <a:srgbClr val="0F172A"/>
                </a:solidFill>
                <a:latin typeface="Urbanist"/>
              </a:rPr>
              <a:t>Agent </a:t>
            </a:r>
            <a:r>
              <a:rPr sz="4050" b="1" i="0" u="none" dirty="0">
                <a:solidFill>
                  <a:schemeClr val="tx2"/>
                </a:solidFill>
                <a:latin typeface="Urbanist"/>
              </a:rPr>
              <a:t>Skills</a:t>
            </a:r>
            <a:r>
              <a:rPr sz="4050" b="1" i="0" u="none" dirty="0">
                <a:solidFill>
                  <a:srgbClr val="0F172A"/>
                </a:solidFill>
                <a:latin typeface="Urbanist"/>
              </a:rPr>
              <a:t>: Composable Capabilities</a:t>
            </a:r>
          </a:p>
        </p:txBody>
      </p:sp>
      <p:pic>
        <p:nvPicPr>
          <p:cNvPr id="46" name="Picture 45">
            <a:extLst>
              <a:ext uri="{FF2B5EF4-FFF2-40B4-BE49-F238E27FC236}">
                <a16:creationId xmlns:a16="http://schemas.microsoft.com/office/drawing/2014/main" id="{D40F67E2-04F3-B393-F44F-E9940E31FD13}"/>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6883772" y="2723198"/>
            <a:ext cx="4925499" cy="3183554"/>
          </a:xfrm>
          <a:prstGeom prst="rect">
            <a:avLst/>
          </a:prstGeom>
        </p:spPr>
      </p:pic>
      <p:sp>
        <p:nvSpPr>
          <p:cNvPr id="48" name="TextBox 47">
            <a:extLst>
              <a:ext uri="{FF2B5EF4-FFF2-40B4-BE49-F238E27FC236}">
                <a16:creationId xmlns:a16="http://schemas.microsoft.com/office/drawing/2014/main" id="{89A7768D-7039-E98B-2936-68A2D0F229C7}"/>
              </a:ext>
            </a:extLst>
          </p:cNvPr>
          <p:cNvSpPr txBox="1"/>
          <p:nvPr/>
        </p:nvSpPr>
        <p:spPr>
          <a:xfrm>
            <a:off x="465276" y="2667255"/>
            <a:ext cx="6236465" cy="3631763"/>
          </a:xfrm>
          <a:prstGeom prst="rect">
            <a:avLst/>
          </a:prstGeom>
          <a:noFill/>
        </p:spPr>
        <p:txBody>
          <a:bodyPr wrap="square">
            <a:spAutoFit/>
          </a:bodyPr>
          <a:lstStyle/>
          <a:p>
            <a:pPr marL="285750" indent="-285750" algn="just">
              <a:lnSpc>
                <a:spcPts val="2250"/>
              </a:lnSpc>
              <a:spcBef>
                <a:spcPts val="600"/>
              </a:spcBef>
              <a:buFont typeface="Arial" panose="020B0604020202020204" pitchFamily="34" charset="0"/>
              <a:buChar char="•"/>
            </a:pPr>
            <a:r>
              <a:rPr lang="en-US" sz="1800" b="1" dirty="0"/>
              <a:t>System prompt augmentation: </a:t>
            </a:r>
            <a:r>
              <a:rPr lang="en-US" sz="1800" dirty="0"/>
              <a:t>Domain-specific instructions, constraints, and persona elements injected into the agent’s context.</a:t>
            </a:r>
          </a:p>
          <a:p>
            <a:pPr marL="285750" indent="-285750" algn="just">
              <a:lnSpc>
                <a:spcPts val="2250"/>
              </a:lnSpc>
              <a:spcBef>
                <a:spcPts val="600"/>
              </a:spcBef>
              <a:buFont typeface="Arial" panose="020B0604020202020204" pitchFamily="34" charset="0"/>
              <a:buChar char="•"/>
            </a:pPr>
            <a:r>
              <a:rPr lang="en-US" sz="1800" b="1" dirty="0"/>
              <a:t>Tool bindings: </a:t>
            </a:r>
            <a:r>
              <a:rPr lang="en-US" sz="1800" dirty="0"/>
              <a:t>One or more tools the skill requires (APIs, MCP servers, local commands).</a:t>
            </a:r>
          </a:p>
          <a:p>
            <a:pPr marL="285750" indent="-285750" algn="just">
              <a:lnSpc>
                <a:spcPts val="2250"/>
              </a:lnSpc>
              <a:spcBef>
                <a:spcPts val="600"/>
              </a:spcBef>
              <a:buFont typeface="Arial" panose="020B0604020202020204" pitchFamily="34" charset="0"/>
              <a:buChar char="•"/>
            </a:pPr>
            <a:r>
              <a:rPr lang="en-US" sz="1800" b="1" dirty="0"/>
              <a:t>Knowledge: </a:t>
            </a:r>
            <a:r>
              <a:rPr lang="en-US" sz="1800" dirty="0"/>
              <a:t>Reference material, examples, or few-shot demonstrations the agent needs to execute the skill correctly.</a:t>
            </a:r>
          </a:p>
          <a:p>
            <a:pPr marL="285750" indent="-285750" algn="just">
              <a:lnSpc>
                <a:spcPts val="2250"/>
              </a:lnSpc>
              <a:spcBef>
                <a:spcPts val="600"/>
              </a:spcBef>
              <a:buFont typeface="Arial" panose="020B0604020202020204" pitchFamily="34" charset="0"/>
              <a:buChar char="•"/>
            </a:pPr>
            <a:r>
              <a:rPr lang="en-US" sz="1800" b="1" dirty="0"/>
              <a:t>Workflow logic: </a:t>
            </a:r>
            <a:r>
              <a:rPr lang="en-US" sz="1800" dirty="0"/>
              <a:t>Multi-step procedures, decision trees, or conditional flows that guide the agent through complex tasks.</a:t>
            </a:r>
          </a:p>
          <a:p>
            <a:pPr marL="285750" indent="-285750" algn="just">
              <a:lnSpc>
                <a:spcPts val="2250"/>
              </a:lnSpc>
              <a:spcBef>
                <a:spcPts val="600"/>
              </a:spcBef>
              <a:buFont typeface="Arial" panose="020B0604020202020204" pitchFamily="34" charset="0"/>
              <a:buChar char="•"/>
            </a:pPr>
            <a:r>
              <a:rPr lang="en-US" sz="1800" b="1" dirty="0"/>
              <a:t>Guardrails: </a:t>
            </a:r>
            <a:r>
              <a:rPr lang="en-US" sz="1800" dirty="0"/>
              <a:t>Skill-specific safety constraints, output format requirements, and validation rules. [6]</a:t>
            </a:r>
            <a:endParaRPr lang="en-US" sz="1800" b="0" i="0" u="none" dirty="0">
              <a:solidFill>
                <a:srgbClr val="334155"/>
              </a:solidFill>
              <a:latin typeface="Urbanist"/>
            </a:endParaRPr>
          </a:p>
        </p:txBody>
      </p:sp>
    </p:spTree>
    <p:extLst>
      <p:ext uri="{BB962C8B-B14F-4D97-AF65-F5344CB8AC3E}">
        <p14:creationId xmlns:p14="http://schemas.microsoft.com/office/powerpoint/2010/main" val="22661030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5" name="Picture 4"/>
          <p:cNvPicPr>
            <a:picLocks noChangeAspect="1"/>
          </p:cNvPicPr>
          <p:nvPr/>
        </p:nvPicPr>
        <p:blipFill>
          <a:blip r:embed="rId3">
            <a:duotone>
              <a:schemeClr val="accent1">
                <a:shade val="45000"/>
                <a:satMod val="135000"/>
              </a:schemeClr>
              <a:prstClr val="white"/>
            </a:duotone>
          </a:blip>
          <a:srcRect/>
          <a:stretch/>
        </p:blipFill>
        <p:spPr>
          <a:xfrm>
            <a:off x="1190539" y="2003052"/>
            <a:ext cx="9013639" cy="2383750"/>
          </a:xfrm>
          <a:prstGeom prst="rect">
            <a:avLst/>
          </a:prstGeom>
        </p:spPr>
      </p:pic>
      <p:sp>
        <p:nvSpPr>
          <p:cNvPr id="3" name="TextBox 2"/>
          <p:cNvSpPr txBox="1"/>
          <p:nvPr/>
        </p:nvSpPr>
        <p:spPr>
          <a:xfrm>
            <a:off x="571500" y="1452445"/>
            <a:ext cx="10848822" cy="492443"/>
          </a:xfrm>
          <a:prstGeom prst="rect">
            <a:avLst/>
          </a:prstGeom>
          <a:noFill/>
        </p:spPr>
        <p:txBody>
          <a:bodyPr wrap="square" lIns="0" tIns="0" rIns="0" bIns="0" anchor="t">
            <a:spAutoFit/>
          </a:bodyPr>
          <a:lstStyle/>
          <a:p>
            <a:pPr algn="just">
              <a:defRPr sz="2000"/>
            </a:pPr>
            <a:r>
              <a:rPr lang="en-US" sz="1600" dirty="0">
                <a:latin typeface="Inter"/>
              </a:rPr>
              <a:t>The Traditional Software Development Life Cycle (SDLC) is the structured framework that engineering teams follow to plan, design, build, test, and deploy software applications from initial concept. </a:t>
            </a:r>
          </a:p>
        </p:txBody>
      </p:sp>
      <p:sp>
        <p:nvSpPr>
          <p:cNvPr id="14" name="TextBox 13"/>
          <p:cNvSpPr txBox="1"/>
          <p:nvPr/>
        </p:nvSpPr>
        <p:spPr>
          <a:xfrm>
            <a:off x="571500" y="62068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The </a:t>
            </a:r>
            <a:r>
              <a:rPr sz="3300" b="1" i="0" u="none" dirty="0">
                <a:solidFill>
                  <a:srgbClr val="2563EB"/>
                </a:solidFill>
                <a:latin typeface="Inter"/>
              </a:rPr>
              <a:t>Traditional SDLC</a:t>
            </a:r>
          </a:p>
        </p:txBody>
      </p:sp>
      <p:sp>
        <p:nvSpPr>
          <p:cNvPr id="16" name="TextBox 15">
            <a:extLst>
              <a:ext uri="{FF2B5EF4-FFF2-40B4-BE49-F238E27FC236}">
                <a16:creationId xmlns:a16="http://schemas.microsoft.com/office/drawing/2014/main" id="{0F3CF981-F4E7-6250-EC53-D95CA12BD3A0}"/>
              </a:ext>
            </a:extLst>
          </p:cNvPr>
          <p:cNvSpPr txBox="1"/>
          <p:nvPr/>
        </p:nvSpPr>
        <p:spPr>
          <a:xfrm>
            <a:off x="671589" y="4230990"/>
            <a:ext cx="10848822" cy="1723549"/>
          </a:xfrm>
          <a:prstGeom prst="rect">
            <a:avLst/>
          </a:prstGeom>
          <a:noFill/>
        </p:spPr>
        <p:txBody>
          <a:bodyPr wrap="square" lIns="0" tIns="0" rIns="0" bIns="0" anchor="t">
            <a:spAutoFit/>
          </a:bodyPr>
          <a:lstStyle/>
          <a:p>
            <a:pPr algn="just">
              <a:defRPr sz="2000"/>
            </a:pPr>
            <a:r>
              <a:rPr lang="en-IN" sz="1600" dirty="0">
                <a:latin typeface="Inter"/>
              </a:rPr>
              <a:t>This Manual SDLC execution creates severe friction—engineers waste most of their time on administrative handoffs, environment setups, regression testing, and ticketing overhead instead of writing core logic.[5]</a:t>
            </a:r>
          </a:p>
          <a:p>
            <a:pPr algn="just">
              <a:defRPr sz="2000"/>
            </a:pPr>
            <a:endParaRPr lang="en-IN" sz="1600" b="1" dirty="0">
              <a:latin typeface="Inter"/>
            </a:endParaRPr>
          </a:p>
          <a:p>
            <a:pPr algn="just">
              <a:defRPr sz="2000"/>
            </a:pPr>
            <a:r>
              <a:rPr lang="en-US" sz="1600" b="1" dirty="0">
                <a:solidFill>
                  <a:schemeClr val="accent1">
                    <a:lumMod val="50000"/>
                  </a:schemeClr>
                </a:solidFill>
                <a:latin typeface="Inter"/>
              </a:rPr>
              <a:t>So, Our Aim is to automate the Traditional SDLC </a:t>
            </a:r>
            <a:r>
              <a:rPr lang="en-IN" sz="1600" b="1" dirty="0">
                <a:solidFill>
                  <a:schemeClr val="accent1">
                    <a:lumMod val="50000"/>
                  </a:schemeClr>
                </a:solidFill>
                <a:latin typeface="Inter"/>
              </a:rPr>
              <a:t>with Agentic AI, </a:t>
            </a:r>
            <a:r>
              <a:rPr lang="en-IN" sz="1600" dirty="0">
                <a:latin typeface="Inter"/>
              </a:rPr>
              <a:t>which will replaces these static bottlenecks with continuous, self-healing pipelines that autonomously execute tests, patch build failures, flag vulnerabilities, and manage releases. This </a:t>
            </a:r>
            <a:r>
              <a:rPr lang="en-IN" sz="1600" b="1" dirty="0">
                <a:latin typeface="Inter"/>
              </a:rPr>
              <a:t>eliminates human error, compresses cycle times from months to hours, and frees development teams to focus on high-value architecture and innovation.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1120" y="-12025"/>
            <a:ext cx="12301220" cy="6858000"/>
          </a:xfrm>
          <a:prstGeom prst="rect">
            <a:avLst/>
          </a:prstGeom>
        </p:spPr>
      </p:pic>
      <p:sp>
        <p:nvSpPr>
          <p:cNvPr id="37" name="Rectangle: Rounded Corners 36">
            <a:extLst>
              <a:ext uri="{FF2B5EF4-FFF2-40B4-BE49-F238E27FC236}">
                <a16:creationId xmlns:a16="http://schemas.microsoft.com/office/drawing/2014/main" id="{3140C37B-D52A-8E41-CE37-9FB27AC870E6}"/>
              </a:ext>
            </a:extLst>
          </p:cNvPr>
          <p:cNvSpPr/>
          <p:nvPr/>
        </p:nvSpPr>
        <p:spPr>
          <a:xfrm>
            <a:off x="762000" y="5419562"/>
            <a:ext cx="4502150" cy="595623"/>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5" name="Rectangle: Rounded Corners 34">
            <a:extLst>
              <a:ext uri="{FF2B5EF4-FFF2-40B4-BE49-F238E27FC236}">
                <a16:creationId xmlns:a16="http://schemas.microsoft.com/office/drawing/2014/main" id="{8EADB9D7-CABA-C15E-65E0-02CBC0788E5D}"/>
              </a:ext>
            </a:extLst>
          </p:cNvPr>
          <p:cNvSpPr/>
          <p:nvPr/>
        </p:nvSpPr>
        <p:spPr>
          <a:xfrm>
            <a:off x="762000" y="4000743"/>
            <a:ext cx="4502150" cy="1233999"/>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3" name="Rectangle: Rounded Corners 32">
            <a:extLst>
              <a:ext uri="{FF2B5EF4-FFF2-40B4-BE49-F238E27FC236}">
                <a16:creationId xmlns:a16="http://schemas.microsoft.com/office/drawing/2014/main" id="{CE2CCB64-612D-62FF-FD45-08A7D393C5E6}"/>
              </a:ext>
            </a:extLst>
          </p:cNvPr>
          <p:cNvSpPr/>
          <p:nvPr/>
        </p:nvSpPr>
        <p:spPr>
          <a:xfrm>
            <a:off x="762000" y="3263846"/>
            <a:ext cx="4502150" cy="568436"/>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1" name="Rectangle: Rounded Corners 30">
            <a:extLst>
              <a:ext uri="{FF2B5EF4-FFF2-40B4-BE49-F238E27FC236}">
                <a16:creationId xmlns:a16="http://schemas.microsoft.com/office/drawing/2014/main" id="{A36B0AC3-D7D0-B89C-6F21-AAB4BB83F14C}"/>
              </a:ext>
            </a:extLst>
          </p:cNvPr>
          <p:cNvSpPr/>
          <p:nvPr/>
        </p:nvSpPr>
        <p:spPr>
          <a:xfrm>
            <a:off x="762000" y="1890340"/>
            <a:ext cx="4502150" cy="1219272"/>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3" name="Picture 2" descr="image.png"/>
          <p:cNvPicPr>
            <a:picLocks noChangeAspect="1"/>
          </p:cNvPicPr>
          <p:nvPr/>
        </p:nvPicPr>
        <p:blipFill>
          <a:blip r:embed="rId3"/>
          <a:stretch>
            <a:fillRect/>
          </a:stretch>
        </p:blipFill>
        <p:spPr>
          <a:xfrm>
            <a:off x="6334125" y="1890340"/>
            <a:ext cx="5286375" cy="4124845"/>
          </a:xfrm>
          <a:prstGeom prst="rect">
            <a:avLst/>
          </a:prstGeom>
        </p:spPr>
      </p:pic>
      <p:pic>
        <p:nvPicPr>
          <p:cNvPr id="4" name="Picture 3" descr="image.png"/>
          <p:cNvPicPr>
            <a:picLocks noChangeAspect="1"/>
          </p:cNvPicPr>
          <p:nvPr/>
        </p:nvPicPr>
        <p:blipFill>
          <a:blip r:embed="rId4"/>
          <a:stretch>
            <a:fillRect/>
          </a:stretch>
        </p:blipFill>
        <p:spPr>
          <a:xfrm>
            <a:off x="1089095" y="2060080"/>
            <a:ext cx="304800" cy="304800"/>
          </a:xfrm>
          <a:prstGeom prst="rect">
            <a:avLst/>
          </a:prstGeom>
        </p:spPr>
      </p:pic>
      <p:pic>
        <p:nvPicPr>
          <p:cNvPr id="5" name="Picture 4" descr="image.png"/>
          <p:cNvPicPr>
            <a:picLocks noChangeAspect="1"/>
          </p:cNvPicPr>
          <p:nvPr/>
        </p:nvPicPr>
        <p:blipFill>
          <a:blip r:embed="rId5"/>
          <a:stretch>
            <a:fillRect/>
          </a:stretch>
        </p:blipFill>
        <p:spPr>
          <a:xfrm>
            <a:off x="1108145" y="2615059"/>
            <a:ext cx="304800" cy="304800"/>
          </a:xfrm>
          <a:prstGeom prst="rect">
            <a:avLst/>
          </a:prstGeom>
        </p:spPr>
      </p:pic>
      <p:pic>
        <p:nvPicPr>
          <p:cNvPr id="6" name="Picture 5" descr="image.png"/>
          <p:cNvPicPr>
            <a:picLocks noChangeAspect="1"/>
          </p:cNvPicPr>
          <p:nvPr/>
        </p:nvPicPr>
        <p:blipFill>
          <a:blip r:embed="rId6"/>
          <a:stretch>
            <a:fillRect/>
          </a:stretch>
        </p:blipFill>
        <p:spPr>
          <a:xfrm>
            <a:off x="1089095" y="3385000"/>
            <a:ext cx="304800" cy="304800"/>
          </a:xfrm>
          <a:prstGeom prst="rect">
            <a:avLst/>
          </a:prstGeom>
        </p:spPr>
      </p:pic>
      <p:pic>
        <p:nvPicPr>
          <p:cNvPr id="7" name="Picture 6" descr="image.png"/>
          <p:cNvPicPr>
            <a:picLocks noChangeAspect="1"/>
          </p:cNvPicPr>
          <p:nvPr/>
        </p:nvPicPr>
        <p:blipFill>
          <a:blip r:embed="rId7"/>
          <a:stretch>
            <a:fillRect/>
          </a:stretch>
        </p:blipFill>
        <p:spPr>
          <a:xfrm>
            <a:off x="1089095" y="4162780"/>
            <a:ext cx="304800" cy="304800"/>
          </a:xfrm>
          <a:prstGeom prst="rect">
            <a:avLst/>
          </a:prstGeom>
        </p:spPr>
      </p:pic>
      <p:pic>
        <p:nvPicPr>
          <p:cNvPr id="8" name="Picture 7" descr="image.png"/>
          <p:cNvPicPr>
            <a:picLocks noChangeAspect="1"/>
          </p:cNvPicPr>
          <p:nvPr/>
        </p:nvPicPr>
        <p:blipFill>
          <a:blip r:embed="rId8"/>
          <a:stretch>
            <a:fillRect/>
          </a:stretch>
        </p:blipFill>
        <p:spPr>
          <a:xfrm>
            <a:off x="1089095" y="4651456"/>
            <a:ext cx="304800" cy="304800"/>
          </a:xfrm>
          <a:prstGeom prst="rect">
            <a:avLst/>
          </a:prstGeom>
        </p:spPr>
      </p:pic>
      <p:pic>
        <p:nvPicPr>
          <p:cNvPr id="9" name="Picture 8" descr="image.png"/>
          <p:cNvPicPr>
            <a:picLocks noChangeAspect="1"/>
          </p:cNvPicPr>
          <p:nvPr/>
        </p:nvPicPr>
        <p:blipFill>
          <a:blip r:embed="rId9"/>
          <a:stretch>
            <a:fillRect/>
          </a:stretch>
        </p:blipFill>
        <p:spPr>
          <a:xfrm>
            <a:off x="1089095" y="5543427"/>
            <a:ext cx="304800" cy="304800"/>
          </a:xfrm>
          <a:prstGeom prst="rect">
            <a:avLst/>
          </a:prstGeom>
        </p:spPr>
      </p:pic>
      <p:sp>
        <p:nvSpPr>
          <p:cNvPr id="10" name="TextBox 9"/>
          <p:cNvSpPr txBox="1"/>
          <p:nvPr/>
        </p:nvSpPr>
        <p:spPr>
          <a:xfrm>
            <a:off x="573037" y="1028700"/>
            <a:ext cx="5286375" cy="609600"/>
          </a:xfrm>
          <a:prstGeom prst="rect">
            <a:avLst/>
          </a:prstGeom>
          <a:noFill/>
        </p:spPr>
        <p:txBody>
          <a:bodyPr wrap="square" lIns="0" tIns="0" rIns="0" bIns="0" anchor="t">
            <a:spAutoFit/>
          </a:bodyPr>
          <a:lstStyle/>
          <a:p>
            <a:pPr algn="l">
              <a:lnSpc>
                <a:spcPts val="2400"/>
              </a:lnSpc>
            </a:pPr>
            <a:r>
              <a:rPr sz="1500" b="0" i="0" u="none" dirty="0">
                <a:solidFill>
                  <a:srgbClr val="475569"/>
                </a:solidFill>
                <a:latin typeface="Inter"/>
              </a:rPr>
              <a:t>A modular pipeline with integrated </a:t>
            </a:r>
            <a:r>
              <a:rPr sz="1500" b="1" i="0" u="none" dirty="0">
                <a:solidFill>
                  <a:srgbClr val="475569"/>
                </a:solidFill>
                <a:latin typeface="Inter"/>
              </a:rPr>
              <a:t>Human-in-the-Loop (HITL)</a:t>
            </a:r>
            <a:r>
              <a:rPr sz="1500" b="0" i="0" u="none" dirty="0">
                <a:solidFill>
                  <a:srgbClr val="475569"/>
                </a:solidFill>
                <a:latin typeface="Inter"/>
              </a:rPr>
              <a:t> governance gates to ensure enterprise safety.</a:t>
            </a:r>
          </a:p>
        </p:txBody>
      </p:sp>
      <p:sp>
        <p:nvSpPr>
          <p:cNvPr id="11" name="TextBox 10"/>
          <p:cNvSpPr txBox="1"/>
          <p:nvPr/>
        </p:nvSpPr>
        <p:spPr>
          <a:xfrm>
            <a:off x="6935978" y="2653159"/>
            <a:ext cx="4930616" cy="295275"/>
          </a:xfrm>
          <a:prstGeom prst="rect">
            <a:avLst/>
          </a:prstGeom>
          <a:noFill/>
        </p:spPr>
        <p:txBody>
          <a:bodyPr wrap="square" lIns="242738" tIns="0" rIns="0" bIns="0" anchor="t">
            <a:spAutoFit/>
          </a:bodyPr>
          <a:lstStyle/>
          <a:p>
            <a:pPr algn="l"/>
            <a:r>
              <a:rPr sz="1950" b="0" i="0" u="none" dirty="0">
                <a:solidFill>
                  <a:srgbClr val="2563EB"/>
                </a:solidFill>
                <a:latin typeface="Inter SemiBold"/>
              </a:rPr>
              <a:t>Continuous Loop</a:t>
            </a:r>
          </a:p>
        </p:txBody>
      </p:sp>
      <p:sp>
        <p:nvSpPr>
          <p:cNvPr id="12" name="TextBox 11"/>
          <p:cNvSpPr txBox="1"/>
          <p:nvPr/>
        </p:nvSpPr>
        <p:spPr>
          <a:xfrm>
            <a:off x="6784367" y="3148460"/>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7. Monitoring &amp; Learning:</a:t>
            </a:r>
            <a:r>
              <a:rPr sz="1500" b="0" i="0" u="none" dirty="0">
                <a:solidFill>
                  <a:srgbClr val="334155"/>
                </a:solidFill>
                <a:latin typeface="Inter"/>
              </a:rPr>
              <a:t> Consumes production logs, metrics, and user feedback to detect errors and optimize prompts.</a:t>
            </a:r>
          </a:p>
        </p:txBody>
      </p:sp>
      <p:sp>
        <p:nvSpPr>
          <p:cNvPr id="13" name="TextBox 12"/>
          <p:cNvSpPr txBox="1"/>
          <p:nvPr/>
        </p:nvSpPr>
        <p:spPr>
          <a:xfrm>
            <a:off x="6784367" y="4205735"/>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8. Organizational Memory:</a:t>
            </a:r>
            <a:r>
              <a:rPr sz="1500" b="0" i="0" u="none" dirty="0">
                <a:solidFill>
                  <a:srgbClr val="334155"/>
                </a:solidFill>
                <a:latin typeface="Inter"/>
              </a:rPr>
              <a:t> Captures all requirements,</a:t>
            </a:r>
            <a:endParaRPr lang="en-IN" sz="1500" b="0" i="0" u="none" dirty="0">
              <a:solidFill>
                <a:srgbClr val="334155"/>
              </a:solidFill>
              <a:latin typeface="Inter"/>
            </a:endParaRPr>
          </a:p>
          <a:p>
            <a:pPr algn="l">
              <a:lnSpc>
                <a:spcPts val="2400"/>
              </a:lnSpc>
            </a:pPr>
            <a:r>
              <a:rPr sz="1500" b="0" i="0" u="none" dirty="0">
                <a:solidFill>
                  <a:srgbClr val="334155"/>
                </a:solidFill>
                <a:latin typeface="Inter"/>
              </a:rPr>
              <a:t>code, reviews, and bug fixes into a Knowledge Graph for cross-sprint learning.</a:t>
            </a:r>
          </a:p>
        </p:txBody>
      </p:sp>
      <p:sp>
        <p:nvSpPr>
          <p:cNvPr id="15" name="Rectangle 14"/>
          <p:cNvSpPr/>
          <p:nvPr/>
        </p:nvSpPr>
        <p:spPr>
          <a:xfrm>
            <a:off x="1231970" y="3123601"/>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231970" y="3838858"/>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231970" y="5257677"/>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10"/>
          <a:stretch>
            <a:fillRect/>
          </a:stretch>
        </p:blipFill>
        <p:spPr>
          <a:xfrm>
            <a:off x="6784367" y="2691260"/>
            <a:ext cx="242738" cy="247650"/>
          </a:xfrm>
          <a:prstGeom prst="rect">
            <a:avLst/>
          </a:prstGeom>
        </p:spPr>
      </p:pic>
      <p:sp>
        <p:nvSpPr>
          <p:cNvPr id="20" name="TextBox 19"/>
          <p:cNvSpPr txBox="1"/>
          <p:nvPr/>
        </p:nvSpPr>
        <p:spPr>
          <a:xfrm>
            <a:off x="1536770" y="2104324"/>
            <a:ext cx="2095500" cy="230832"/>
          </a:xfrm>
          <a:prstGeom prst="rect">
            <a:avLst/>
          </a:prstGeom>
          <a:noFill/>
        </p:spPr>
        <p:txBody>
          <a:bodyPr wrap="square" lIns="0" tIns="0" rIns="0" bIns="0" anchor="t">
            <a:spAutoFit/>
          </a:bodyPr>
          <a:lstStyle/>
          <a:p>
            <a:pPr algn="l"/>
            <a:r>
              <a:rPr sz="1500" b="0" i="0" u="none" dirty="0">
                <a:solidFill>
                  <a:srgbClr val="1E293B"/>
                </a:solidFill>
                <a:latin typeface="Inter Medium"/>
              </a:rPr>
              <a:t>Requirement Engineering</a:t>
            </a:r>
          </a:p>
        </p:txBody>
      </p:sp>
      <p:sp>
        <p:nvSpPr>
          <p:cNvPr id="22" name="TextBox 21"/>
          <p:cNvSpPr txBox="1"/>
          <p:nvPr/>
        </p:nvSpPr>
        <p:spPr>
          <a:xfrm>
            <a:off x="1555820" y="2653159"/>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Planning</a:t>
            </a:r>
          </a:p>
        </p:txBody>
      </p:sp>
      <p:sp>
        <p:nvSpPr>
          <p:cNvPr id="23" name="TextBox 22"/>
          <p:cNvSpPr txBox="1"/>
          <p:nvPr/>
        </p:nvSpPr>
        <p:spPr>
          <a:xfrm>
            <a:off x="3816980" y="2694674"/>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24" name="TextBox 23"/>
          <p:cNvSpPr txBox="1"/>
          <p:nvPr/>
        </p:nvSpPr>
        <p:spPr>
          <a:xfrm>
            <a:off x="1536770" y="342310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Architecture &amp; Design</a:t>
            </a:r>
          </a:p>
        </p:txBody>
      </p:sp>
      <p:sp>
        <p:nvSpPr>
          <p:cNvPr id="25" name="TextBox 24"/>
          <p:cNvSpPr txBox="1"/>
          <p:nvPr/>
        </p:nvSpPr>
        <p:spPr>
          <a:xfrm>
            <a:off x="3832295" y="3442150"/>
            <a:ext cx="1047750" cy="190500"/>
          </a:xfrm>
          <a:prstGeom prst="rect">
            <a:avLst/>
          </a:prstGeom>
          <a:noFill/>
        </p:spPr>
        <p:txBody>
          <a:bodyPr wrap="square" lIns="0" tIns="0" rIns="0" bIns="0" anchor="ctr">
            <a:spAutoFit/>
          </a:bodyPr>
          <a:lstStyle/>
          <a:p>
            <a:pPr algn="l"/>
            <a:r>
              <a:rPr sz="1200" b="0" i="0" u="none">
                <a:solidFill>
                  <a:srgbClr val="16A34A"/>
                </a:solidFill>
                <a:latin typeface="Inter SemiBold"/>
              </a:rPr>
              <a:t>HITL Approval</a:t>
            </a:r>
          </a:p>
        </p:txBody>
      </p:sp>
      <p:sp>
        <p:nvSpPr>
          <p:cNvPr id="26" name="TextBox 25"/>
          <p:cNvSpPr txBox="1"/>
          <p:nvPr/>
        </p:nvSpPr>
        <p:spPr>
          <a:xfrm>
            <a:off x="1536770" y="420088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Development</a:t>
            </a:r>
          </a:p>
        </p:txBody>
      </p:sp>
      <p:sp>
        <p:nvSpPr>
          <p:cNvPr id="27" name="TextBox 26"/>
          <p:cNvSpPr txBox="1"/>
          <p:nvPr/>
        </p:nvSpPr>
        <p:spPr>
          <a:xfrm>
            <a:off x="1509875" y="4650569"/>
            <a:ext cx="2550014" cy="461665"/>
          </a:xfrm>
          <a:prstGeom prst="rect">
            <a:avLst/>
          </a:prstGeom>
          <a:noFill/>
        </p:spPr>
        <p:txBody>
          <a:bodyPr wrap="square" lIns="0" tIns="0" rIns="0" bIns="0" anchor="t">
            <a:spAutoFit/>
          </a:bodyPr>
          <a:lstStyle/>
          <a:p>
            <a:r>
              <a:rPr sz="1500" b="0" i="0" u="none" dirty="0">
                <a:solidFill>
                  <a:srgbClr val="1E293B"/>
                </a:solidFill>
                <a:latin typeface="Inter Medium"/>
              </a:rPr>
              <a:t>Verification (</a:t>
            </a:r>
            <a:r>
              <a:rPr lang="en-IN" sz="1500" dirty="0"/>
              <a:t>Quality Assurance (Testing)</a:t>
            </a:r>
            <a:r>
              <a:rPr sz="1500" b="0" i="0" u="none" dirty="0">
                <a:solidFill>
                  <a:srgbClr val="1E293B"/>
                </a:solidFill>
                <a:latin typeface="Inter Medium"/>
              </a:rPr>
              <a:t>/Security)</a:t>
            </a:r>
          </a:p>
        </p:txBody>
      </p:sp>
      <p:sp>
        <p:nvSpPr>
          <p:cNvPr id="29" name="TextBox 28"/>
          <p:cNvSpPr txBox="1"/>
          <p:nvPr/>
        </p:nvSpPr>
        <p:spPr>
          <a:xfrm>
            <a:off x="1536770" y="5581527"/>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Deployment</a:t>
            </a:r>
          </a:p>
        </p:txBody>
      </p:sp>
      <p:sp>
        <p:nvSpPr>
          <p:cNvPr id="30" name="TextBox 29"/>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sp>
        <p:nvSpPr>
          <p:cNvPr id="71" name="TextBox 70">
            <a:extLst>
              <a:ext uri="{FF2B5EF4-FFF2-40B4-BE49-F238E27FC236}">
                <a16:creationId xmlns:a16="http://schemas.microsoft.com/office/drawing/2014/main" id="{0D8EC028-5D16-CAD3-E5F3-8A9A85590BA4}"/>
              </a:ext>
            </a:extLst>
          </p:cNvPr>
          <p:cNvSpPr txBox="1"/>
          <p:nvPr/>
        </p:nvSpPr>
        <p:spPr>
          <a:xfrm>
            <a:off x="3895047" y="4923758"/>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73" name="TextBox 72">
            <a:extLst>
              <a:ext uri="{FF2B5EF4-FFF2-40B4-BE49-F238E27FC236}">
                <a16:creationId xmlns:a16="http://schemas.microsoft.com/office/drawing/2014/main" id="{B8EED8D0-6A02-FEF3-83D7-CFE4AC8EE770}"/>
              </a:ext>
            </a:extLst>
          </p:cNvPr>
          <p:cNvSpPr txBox="1"/>
          <p:nvPr/>
        </p:nvSpPr>
        <p:spPr>
          <a:xfrm>
            <a:off x="3832295" y="5686757"/>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E3C082F-0A42-D7B8-A67F-ED7E627C39F9}"/>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CDC49EFA-0EB5-3FCD-11F0-66179AEDD2F8}"/>
              </a:ext>
            </a:extLst>
          </p:cNvPr>
          <p:cNvPicPr>
            <a:picLocks noChangeAspect="1"/>
          </p:cNvPicPr>
          <p:nvPr/>
        </p:nvPicPr>
        <p:blipFill>
          <a:blip r:embed="rId2"/>
          <a:stretch>
            <a:fillRect/>
          </a:stretch>
        </p:blipFill>
        <p:spPr>
          <a:xfrm>
            <a:off x="-71120" y="-12025"/>
            <a:ext cx="12301220" cy="6955436"/>
          </a:xfrm>
          <a:prstGeom prst="rect">
            <a:avLst/>
          </a:prstGeom>
        </p:spPr>
      </p:pic>
      <p:sp>
        <p:nvSpPr>
          <p:cNvPr id="30" name="TextBox 29">
            <a:extLst>
              <a:ext uri="{FF2B5EF4-FFF2-40B4-BE49-F238E27FC236}">
                <a16:creationId xmlns:a16="http://schemas.microsoft.com/office/drawing/2014/main" id="{B7C9B56D-539F-ECA1-86D9-A377C11B350D}"/>
              </a:ext>
            </a:extLst>
          </p:cNvPr>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pic>
        <p:nvPicPr>
          <p:cNvPr id="17" name="Picture 16">
            <a:extLst>
              <a:ext uri="{FF2B5EF4-FFF2-40B4-BE49-F238E27FC236}">
                <a16:creationId xmlns:a16="http://schemas.microsoft.com/office/drawing/2014/main" id="{B9733B2C-8C17-D677-B8A0-F33792DAA4E4}"/>
              </a:ext>
            </a:extLst>
          </p:cNvPr>
          <p:cNvPicPr>
            <a:picLocks noChangeAspect="1"/>
          </p:cNvPicPr>
          <p:nvPr/>
        </p:nvPicPr>
        <p:blipFill>
          <a:blip r:embed="rId3"/>
          <a:srcRect t="-483" b="10106"/>
          <a:stretch>
            <a:fillRect/>
          </a:stretch>
        </p:blipFill>
        <p:spPr>
          <a:xfrm>
            <a:off x="-16510" y="1054511"/>
            <a:ext cx="12192000" cy="5395452"/>
          </a:xfrm>
          <a:prstGeom prst="rect">
            <a:avLst/>
          </a:prstGeom>
        </p:spPr>
      </p:pic>
    </p:spTree>
    <p:extLst>
      <p:ext uri="{BB962C8B-B14F-4D97-AF65-F5344CB8AC3E}">
        <p14:creationId xmlns:p14="http://schemas.microsoft.com/office/powerpoint/2010/main" val="22553069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71500" y="1657350"/>
            <a:ext cx="5334000" cy="4629150"/>
          </a:xfrm>
          <a:prstGeom prst="rect">
            <a:avLst/>
          </a:prstGeom>
        </p:spPr>
      </p:pic>
      <p:pic>
        <p:nvPicPr>
          <p:cNvPr id="4" name="Picture 3" descr="image.png"/>
          <p:cNvPicPr>
            <a:picLocks noChangeAspect="1"/>
          </p:cNvPicPr>
          <p:nvPr/>
        </p:nvPicPr>
        <p:blipFill>
          <a:blip r:embed="rId4"/>
          <a:stretch>
            <a:fillRect/>
          </a:stretch>
        </p:blipFill>
        <p:spPr>
          <a:xfrm>
            <a:off x="6286500" y="1657350"/>
            <a:ext cx="5334000" cy="4629150"/>
          </a:xfrm>
          <a:prstGeom prst="rect">
            <a:avLst/>
          </a:prstGeom>
        </p:spPr>
      </p:pic>
      <p:sp>
        <p:nvSpPr>
          <p:cNvPr id="5" name="TextBox 4"/>
          <p:cNvSpPr txBox="1"/>
          <p:nvPr/>
        </p:nvSpPr>
        <p:spPr>
          <a:xfrm>
            <a:off x="962025" y="2047875"/>
            <a:ext cx="4780597" cy="295275"/>
          </a:xfrm>
          <a:prstGeom prst="rect">
            <a:avLst/>
          </a:prstGeom>
          <a:noFill/>
        </p:spPr>
        <p:txBody>
          <a:bodyPr wrap="square" lIns="309413" tIns="0" rIns="0" bIns="0" anchor="t">
            <a:spAutoFit/>
          </a:bodyPr>
          <a:lstStyle/>
          <a:p>
            <a:pPr algn="l"/>
            <a:r>
              <a:rPr sz="1950" b="0" i="0" u="none">
                <a:solidFill>
                  <a:srgbClr val="EF4444"/>
                </a:solidFill>
                <a:latin typeface="Inter SemiBold"/>
              </a:rPr>
              <a:t>Traditional: Fixed Agents</a:t>
            </a:r>
          </a:p>
        </p:txBody>
      </p:sp>
      <p:sp>
        <p:nvSpPr>
          <p:cNvPr id="6" name="TextBox 5"/>
          <p:cNvSpPr txBox="1"/>
          <p:nvPr/>
        </p:nvSpPr>
        <p:spPr>
          <a:xfrm>
            <a:off x="962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Standard agentic systems rely on rigid, hardcoded workflows (e.g., always Planner → Developer → Tester).</a:t>
            </a:r>
          </a:p>
        </p:txBody>
      </p:sp>
      <p:sp>
        <p:nvSpPr>
          <p:cNvPr id="7" name="TextBox 6"/>
          <p:cNvSpPr txBox="1"/>
          <p:nvPr/>
        </p:nvSpPr>
        <p:spPr>
          <a:xfrm>
            <a:off x="6677025" y="2047875"/>
            <a:ext cx="4780597" cy="295275"/>
          </a:xfrm>
          <a:prstGeom prst="rect">
            <a:avLst/>
          </a:prstGeom>
          <a:noFill/>
        </p:spPr>
        <p:txBody>
          <a:bodyPr wrap="square" lIns="309413" tIns="0" rIns="0" bIns="0" anchor="t">
            <a:spAutoFit/>
          </a:bodyPr>
          <a:lstStyle/>
          <a:p>
            <a:pPr algn="l"/>
            <a:r>
              <a:rPr sz="1950" b="0" i="0" u="none">
                <a:solidFill>
                  <a:srgbClr val="16A34A"/>
                </a:solidFill>
                <a:latin typeface="Inter SemiBold"/>
              </a:rPr>
              <a:t>Proposed: Dynamic Generation</a:t>
            </a:r>
          </a:p>
        </p:txBody>
      </p:sp>
      <p:sp>
        <p:nvSpPr>
          <p:cNvPr id="8" name="TextBox 7"/>
          <p:cNvSpPr txBox="1"/>
          <p:nvPr/>
        </p:nvSpPr>
        <p:spPr>
          <a:xfrm>
            <a:off x="6677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The Orchestrator analyzes project complexity, risk, and size before execution to spawn agents on-the-fly.</a:t>
            </a:r>
          </a:p>
        </p:txBody>
      </p:sp>
      <p:sp>
        <p:nvSpPr>
          <p:cNvPr id="10" name="TextBox 9"/>
          <p:cNvSpPr txBox="1"/>
          <p:nvPr/>
        </p:nvSpPr>
        <p:spPr>
          <a:xfrm>
            <a:off x="1247775" y="3543300"/>
            <a:ext cx="4267200" cy="3048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Inefficient for small tasks (over-engineered).</a:t>
            </a:r>
          </a:p>
        </p:txBody>
      </p:sp>
      <p:sp>
        <p:nvSpPr>
          <p:cNvPr id="11" name="TextBox 10"/>
          <p:cNvSpPr txBox="1"/>
          <p:nvPr/>
        </p:nvSpPr>
        <p:spPr>
          <a:xfrm>
            <a:off x="1247775" y="4019550"/>
            <a:ext cx="4267200" cy="609600"/>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Lacks specialized roles (Security, DevOps) for complex enterprise apps.</a:t>
            </a:r>
            <a:r>
              <a:rPr lang="en-IN" sz="1500" b="0" i="0" u="none" dirty="0">
                <a:solidFill>
                  <a:srgbClr val="334155"/>
                </a:solidFill>
                <a:latin typeface="Inter"/>
              </a:rPr>
              <a:t> [1]</a:t>
            </a:r>
            <a:endParaRPr sz="1500" b="0" i="0" u="none" dirty="0">
              <a:solidFill>
                <a:srgbClr val="334155"/>
              </a:solidFill>
              <a:latin typeface="Inter"/>
            </a:endParaRPr>
          </a:p>
        </p:txBody>
      </p:sp>
      <p:sp>
        <p:nvSpPr>
          <p:cNvPr id="13" name="TextBox 12"/>
          <p:cNvSpPr txBox="1"/>
          <p:nvPr/>
        </p:nvSpPr>
        <p:spPr>
          <a:xfrm>
            <a:off x="6962775" y="3543300"/>
            <a:ext cx="4267200" cy="3048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Small Script:</a:t>
            </a:r>
            <a:r>
              <a:rPr sz="1500" b="0" i="0" u="none">
                <a:solidFill>
                  <a:srgbClr val="334155"/>
                </a:solidFill>
                <a:latin typeface="Inter"/>
              </a:rPr>
              <a:t> Spawns Planner + Developer.</a:t>
            </a:r>
          </a:p>
        </p:txBody>
      </p:sp>
      <p:sp>
        <p:nvSpPr>
          <p:cNvPr id="14" name="TextBox 13"/>
          <p:cNvSpPr txBox="1"/>
          <p:nvPr/>
        </p:nvSpPr>
        <p:spPr>
          <a:xfrm>
            <a:off x="6962775" y="4019550"/>
            <a:ext cx="4267200" cy="6096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Enterprise App:</a:t>
            </a:r>
            <a:r>
              <a:rPr sz="1500" b="0" i="0" u="none">
                <a:solidFill>
                  <a:srgbClr val="334155"/>
                </a:solidFill>
                <a:latin typeface="Inter"/>
              </a:rPr>
              <a:t> Spawns Architect, Backend, Frontend, Security, QA, DevOps.</a:t>
            </a:r>
          </a:p>
        </p:txBody>
      </p:sp>
      <p:sp>
        <p:nvSpPr>
          <p:cNvPr id="15" name="TextBox 14"/>
          <p:cNvSpPr txBox="1"/>
          <p:nvPr/>
        </p:nvSpPr>
        <p:spPr>
          <a:xfrm>
            <a:off x="6962775" y="4800600"/>
            <a:ext cx="4267200" cy="6096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Agents are retired when tasks complete, saving compute.</a:t>
            </a:r>
          </a:p>
        </p:txBody>
      </p:sp>
      <p:sp>
        <p:nvSpPr>
          <p:cNvPr id="16" name="TextBox 15"/>
          <p:cNvSpPr txBox="1"/>
          <p:nvPr/>
        </p:nvSpPr>
        <p:spPr>
          <a:xfrm>
            <a:off x="962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7" name="TextBox 16"/>
          <p:cNvSpPr txBox="1"/>
          <p:nvPr/>
        </p:nvSpPr>
        <p:spPr>
          <a:xfrm>
            <a:off x="962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8" name="TextBox 17"/>
          <p:cNvSpPr txBox="1"/>
          <p:nvPr/>
        </p:nvSpPr>
        <p:spPr>
          <a:xfrm>
            <a:off x="6677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9" name="TextBox 18"/>
          <p:cNvSpPr txBox="1"/>
          <p:nvPr/>
        </p:nvSpPr>
        <p:spPr>
          <a:xfrm>
            <a:off x="6677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0" name="TextBox 19"/>
          <p:cNvSpPr txBox="1"/>
          <p:nvPr/>
        </p:nvSpPr>
        <p:spPr>
          <a:xfrm>
            <a:off x="6677025" y="48577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1" name="TextBox 20"/>
          <p:cNvSpPr txBox="1"/>
          <p:nvPr/>
        </p:nvSpPr>
        <p:spPr>
          <a:xfrm>
            <a:off x="571500" y="571500"/>
            <a:ext cx="11601450" cy="514350"/>
          </a:xfrm>
          <a:prstGeom prst="rect">
            <a:avLst/>
          </a:prstGeom>
          <a:noFill/>
        </p:spPr>
        <p:txBody>
          <a:bodyPr wrap="square" lIns="0" tIns="0" rIns="0" bIns="0" anchor="t">
            <a:spAutoFit/>
          </a:bodyPr>
          <a:lstStyle/>
          <a:p>
            <a:pPr algn="l"/>
            <a:r>
              <a:rPr sz="3300" b="1" i="0" u="none">
                <a:solidFill>
                  <a:srgbClr val="0F172A"/>
                </a:solidFill>
                <a:latin typeface="Inter"/>
              </a:rPr>
              <a:t>Core Innovation: </a:t>
            </a:r>
            <a:r>
              <a:rPr sz="3300" b="1" i="0" u="none">
                <a:solidFill>
                  <a:srgbClr val="2563EB"/>
                </a:solidFill>
                <a:latin typeface="Inter"/>
              </a:rPr>
              <a:t>Adaptive Team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C148C6CA-BA22-0BFD-A6EE-48E3BBF21684}"/>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
        <p:nvSpPr>
          <p:cNvPr id="4" name="TextBox 3"/>
          <p:cNvSpPr txBox="1"/>
          <p:nvPr/>
        </p:nvSpPr>
        <p:spPr>
          <a:xfrm>
            <a:off x="651025" y="1933446"/>
            <a:ext cx="3365450" cy="553998"/>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Beyond Traditional Memory:</a:t>
            </a:r>
            <a:endParaRPr kumimoji="0" lang="en-IN" b="0" i="0" u="none" strike="noStrike" kern="1200" cap="none" spc="0" normalizeH="0" baseline="0" noProof="0" dirty="0">
              <a:ln>
                <a:noFill/>
              </a:ln>
              <a:solidFill>
                <a:srgbClr val="475569"/>
              </a:solidFill>
              <a:effectLst/>
              <a:uLnTx/>
              <a:uFillTx/>
              <a:latin typeface="Inter Medium"/>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A Context-Aware Project Memory</a:t>
            </a:r>
          </a:p>
        </p:txBody>
      </p:sp>
      <p:sp>
        <p:nvSpPr>
          <p:cNvPr id="5" name="TextBox 4"/>
          <p:cNvSpPr txBox="1"/>
          <p:nvPr/>
        </p:nvSpPr>
        <p:spPr>
          <a:xfrm>
            <a:off x="651025" y="3084575"/>
            <a:ext cx="4141834" cy="897169"/>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The Problem:</a:t>
            </a:r>
            <a:r>
              <a:rPr kumimoji="0" sz="1500" b="0" i="0" u="none" strike="noStrike" kern="1200" cap="none" spc="0" normalizeH="0" baseline="0" noProof="0" dirty="0">
                <a:ln>
                  <a:noFill/>
                </a:ln>
                <a:solidFill>
                  <a:srgbClr val="334155"/>
                </a:solidFill>
                <a:effectLst/>
                <a:uLnTx/>
                <a:uFillTx/>
                <a:latin typeface="Inter"/>
                <a:ea typeface="+mn-ea"/>
                <a:cs typeface="+mn-cs"/>
              </a:rPr>
              <a:t> Current AI agents retrieve entire repositories or large documents, resulting in high token consumption and irrelevant context.</a:t>
            </a:r>
            <a:r>
              <a:rPr kumimoji="0" lang="en-IN" sz="1500" b="0" i="0" u="none" strike="noStrike" kern="1200" cap="none" spc="0" normalizeH="0" baseline="0" noProof="0" dirty="0">
                <a:ln>
                  <a:noFill/>
                </a:ln>
                <a:solidFill>
                  <a:srgbClr val="334155"/>
                </a:solidFill>
                <a:effectLst/>
                <a:uLnTx/>
                <a:uFillTx/>
                <a:latin typeface="Inter"/>
                <a:ea typeface="+mn-ea"/>
                <a:cs typeface="+mn-cs"/>
              </a:rPr>
              <a:t> [1]</a:t>
            </a:r>
            <a:endParaRPr kumimoji="0" sz="1500" b="0" i="0" u="none" strike="noStrike" kern="1200" cap="none" spc="0" normalizeH="0" baseline="0" noProof="0" dirty="0">
              <a:ln>
                <a:noFill/>
              </a:ln>
              <a:solidFill>
                <a:srgbClr val="334155"/>
              </a:solidFill>
              <a:effectLst/>
              <a:uLnTx/>
              <a:uFillTx/>
              <a:latin typeface="Inter"/>
              <a:ea typeface="+mn-ea"/>
              <a:cs typeface="+mn-cs"/>
            </a:endParaRPr>
          </a:p>
        </p:txBody>
      </p:sp>
      <p:sp>
        <p:nvSpPr>
          <p:cNvPr id="6" name="TextBox 5"/>
          <p:cNvSpPr txBox="1"/>
          <p:nvPr/>
        </p:nvSpPr>
        <p:spPr>
          <a:xfrm>
            <a:off x="651025" y="4578875"/>
            <a:ext cx="3884104" cy="1204945"/>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Our Solution:</a:t>
            </a:r>
            <a:r>
              <a:rPr kumimoji="0" sz="1500" b="0" i="0" u="none" strike="noStrike" kern="1200" cap="none" spc="0" normalizeH="0" baseline="0" noProof="0" dirty="0">
                <a:ln>
                  <a:noFill/>
                </a:ln>
                <a:solidFill>
                  <a:srgbClr val="334155"/>
                </a:solidFill>
                <a:effectLst/>
                <a:uLnTx/>
                <a:uFillTx/>
                <a:latin typeface="Inter"/>
                <a:ea typeface="+mn-ea"/>
                <a:cs typeface="+mn-cs"/>
              </a:rPr>
              <a:t> Our proposed HSKG stores the software project as a hierarchical graph, enabling agents to retrieve only the smallest relevant subgraph required for a task.</a:t>
            </a:r>
          </a:p>
        </p:txBody>
      </p:sp>
      <p:pic>
        <p:nvPicPr>
          <p:cNvPr id="8" name="Picture 7" descr="image.png">
            <a:extLst>
              <a:ext uri="{FF2B5EF4-FFF2-40B4-BE49-F238E27FC236}">
                <a16:creationId xmlns:a16="http://schemas.microsoft.com/office/drawing/2014/main" id="{C8894353-4957-A2E0-39B0-543F843E4B23}"/>
              </a:ext>
            </a:extLst>
          </p:cNvPr>
          <p:cNvPicPr>
            <a:picLocks noChangeAspect="1"/>
          </p:cNvPicPr>
          <p:nvPr/>
        </p:nvPicPr>
        <p:blipFill>
          <a:blip r:embed="rId3"/>
          <a:stretch>
            <a:fillRect/>
          </a:stretch>
        </p:blipFill>
        <p:spPr>
          <a:xfrm>
            <a:off x="4740205" y="1165202"/>
            <a:ext cx="3365450" cy="5418667"/>
          </a:xfrm>
          <a:prstGeom prst="rect">
            <a:avLst/>
          </a:prstGeom>
        </p:spPr>
      </p:pic>
      <p:pic>
        <p:nvPicPr>
          <p:cNvPr id="10" name="Picture 9" descr="image.png">
            <a:extLst>
              <a:ext uri="{FF2B5EF4-FFF2-40B4-BE49-F238E27FC236}">
                <a16:creationId xmlns:a16="http://schemas.microsoft.com/office/drawing/2014/main" id="{CECFA41D-13C9-DCB9-66E2-F0072055DA33}"/>
              </a:ext>
            </a:extLst>
          </p:cNvPr>
          <p:cNvPicPr>
            <a:picLocks noChangeAspect="1"/>
          </p:cNvPicPr>
          <p:nvPr/>
        </p:nvPicPr>
        <p:blipFill>
          <a:blip r:embed="rId4"/>
          <a:stretch>
            <a:fillRect/>
          </a:stretch>
        </p:blipFill>
        <p:spPr>
          <a:xfrm>
            <a:off x="8310731" y="1205440"/>
            <a:ext cx="3365599" cy="5418667"/>
          </a:xfrm>
          <a:prstGeom prst="rect">
            <a:avLst/>
          </a:prstGeom>
        </p:spPr>
      </p:pic>
      <p:pic>
        <p:nvPicPr>
          <p:cNvPr id="12" name="Picture 11" descr="image.png">
            <a:extLst>
              <a:ext uri="{FF2B5EF4-FFF2-40B4-BE49-F238E27FC236}">
                <a16:creationId xmlns:a16="http://schemas.microsoft.com/office/drawing/2014/main" id="{A9C44036-61A8-EAFF-080D-463D5EB47DAE}"/>
              </a:ext>
            </a:extLst>
          </p:cNvPr>
          <p:cNvPicPr>
            <a:picLocks noChangeAspect="1"/>
          </p:cNvPicPr>
          <p:nvPr/>
        </p:nvPicPr>
        <p:blipFill>
          <a:blip r:embed="rId5"/>
          <a:stretch>
            <a:fillRect/>
          </a:stretch>
        </p:blipFill>
        <p:spPr>
          <a:xfrm>
            <a:off x="5109641" y="2400720"/>
            <a:ext cx="2774900" cy="1905000"/>
          </a:xfrm>
          <a:prstGeom prst="rect">
            <a:avLst/>
          </a:prstGeom>
        </p:spPr>
      </p:pic>
      <p:pic>
        <p:nvPicPr>
          <p:cNvPr id="14" name="Picture 13" descr="image.png">
            <a:extLst>
              <a:ext uri="{FF2B5EF4-FFF2-40B4-BE49-F238E27FC236}">
                <a16:creationId xmlns:a16="http://schemas.microsoft.com/office/drawing/2014/main" id="{F43C9D70-D90B-24BB-82BB-1FE1034C86B1}"/>
              </a:ext>
            </a:extLst>
          </p:cNvPr>
          <p:cNvPicPr>
            <a:picLocks noChangeAspect="1"/>
          </p:cNvPicPr>
          <p:nvPr/>
        </p:nvPicPr>
        <p:blipFill>
          <a:blip r:embed="rId6"/>
          <a:stretch>
            <a:fillRect/>
          </a:stretch>
        </p:blipFill>
        <p:spPr>
          <a:xfrm>
            <a:off x="8632189" y="2302833"/>
            <a:ext cx="2775049" cy="695325"/>
          </a:xfrm>
          <a:prstGeom prst="rect">
            <a:avLst/>
          </a:prstGeom>
        </p:spPr>
      </p:pic>
      <p:pic>
        <p:nvPicPr>
          <p:cNvPr id="16" name="Picture 15">
            <a:extLst>
              <a:ext uri="{FF2B5EF4-FFF2-40B4-BE49-F238E27FC236}">
                <a16:creationId xmlns:a16="http://schemas.microsoft.com/office/drawing/2014/main" id="{C12D879C-E449-8EE8-C292-2DEF48407B4B}"/>
              </a:ext>
            </a:extLst>
          </p:cNvPr>
          <p:cNvPicPr>
            <a:picLocks noChangeAspect="1"/>
          </p:cNvPicPr>
          <p:nvPr/>
        </p:nvPicPr>
        <p:blipFill>
          <a:blip r:embed="rId7"/>
          <a:srcRect/>
          <a:stretch/>
        </p:blipFill>
        <p:spPr>
          <a:xfrm>
            <a:off x="8658223" y="3196196"/>
            <a:ext cx="2775049" cy="867202"/>
          </a:xfrm>
          <a:prstGeom prst="rect">
            <a:avLst/>
          </a:prstGeom>
        </p:spPr>
      </p:pic>
      <p:pic>
        <p:nvPicPr>
          <p:cNvPr id="18" name="Picture 17" descr="image.png">
            <a:extLst>
              <a:ext uri="{FF2B5EF4-FFF2-40B4-BE49-F238E27FC236}">
                <a16:creationId xmlns:a16="http://schemas.microsoft.com/office/drawing/2014/main" id="{3450BF5F-ACC6-1481-77A0-89F91D2119A1}"/>
              </a:ext>
            </a:extLst>
          </p:cNvPr>
          <p:cNvPicPr>
            <a:picLocks noChangeAspect="1"/>
          </p:cNvPicPr>
          <p:nvPr/>
        </p:nvPicPr>
        <p:blipFill>
          <a:blip r:embed="rId8"/>
          <a:stretch>
            <a:fillRect/>
          </a:stretch>
        </p:blipFill>
        <p:spPr>
          <a:xfrm>
            <a:off x="5109641" y="1524420"/>
            <a:ext cx="476250" cy="476250"/>
          </a:xfrm>
          <a:prstGeom prst="rect">
            <a:avLst/>
          </a:prstGeom>
        </p:spPr>
      </p:pic>
      <p:sp>
        <p:nvSpPr>
          <p:cNvPr id="20" name="TextBox 19">
            <a:extLst>
              <a:ext uri="{FF2B5EF4-FFF2-40B4-BE49-F238E27FC236}">
                <a16:creationId xmlns:a16="http://schemas.microsoft.com/office/drawing/2014/main" id="{F2BC2538-76AC-5EA5-9CD1-0F4C45DCC710}"/>
              </a:ext>
            </a:extLst>
          </p:cNvPr>
          <p:cNvSpPr txBox="1"/>
          <p:nvPr/>
        </p:nvSpPr>
        <p:spPr>
          <a:xfrm>
            <a:off x="5728766" y="1595857"/>
            <a:ext cx="1608901"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Project Graph</a:t>
            </a:r>
          </a:p>
        </p:txBody>
      </p:sp>
      <p:sp>
        <p:nvSpPr>
          <p:cNvPr id="22" name="TextBox 21">
            <a:extLst>
              <a:ext uri="{FF2B5EF4-FFF2-40B4-BE49-F238E27FC236}">
                <a16:creationId xmlns:a16="http://schemas.microsoft.com/office/drawing/2014/main" id="{FF81CDCC-DDC8-74B1-835F-DEF5155317C5}"/>
              </a:ext>
            </a:extLst>
          </p:cNvPr>
          <p:cNvSpPr txBox="1"/>
          <p:nvPr/>
        </p:nvSpPr>
        <p:spPr>
          <a:xfrm>
            <a:off x="5262041" y="2572170"/>
            <a:ext cx="605872" cy="213776"/>
          </a:xfrm>
          <a:prstGeom prst="rect">
            <a:avLst/>
          </a:prstGeom>
          <a:noFill/>
        </p:spPr>
        <p:txBody>
          <a:bodyPr wrap="square" lIns="0" tIns="0" rIns="0" bIns="0" anchor="t">
            <a:spAutoFit/>
          </a:bodyPr>
          <a:lstStyle/>
          <a:p>
            <a:pPr algn="l">
              <a:lnSpc>
                <a:spcPts val="1800"/>
              </a:lnSpc>
            </a:pPr>
            <a:r>
              <a:rPr sz="1200" b="1" i="0" u="none">
                <a:solidFill>
                  <a:srgbClr val="2563EB"/>
                </a:solidFill>
                <a:latin typeface="monospace"/>
              </a:rPr>
              <a:t>Project</a:t>
            </a:r>
          </a:p>
        </p:txBody>
      </p:sp>
      <p:sp>
        <p:nvSpPr>
          <p:cNvPr id="24" name="TextBox 23">
            <a:extLst>
              <a:ext uri="{FF2B5EF4-FFF2-40B4-BE49-F238E27FC236}">
                <a16:creationId xmlns:a16="http://schemas.microsoft.com/office/drawing/2014/main" id="{AA13F7FD-E8AF-B22C-71D4-B2B1E68640E6}"/>
              </a:ext>
            </a:extLst>
          </p:cNvPr>
          <p:cNvSpPr txBox="1"/>
          <p:nvPr/>
        </p:nvSpPr>
        <p:spPr>
          <a:xfrm>
            <a:off x="5452541" y="27817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Authentication</a:t>
            </a:r>
            <a:r>
              <a:rPr dirty="0"/>
              <a:t>
</a:t>
            </a:r>
            <a:r>
              <a:rPr sz="1200" b="0" i="0" u="none" dirty="0">
                <a:solidFill>
                  <a:srgbClr val="0F172A"/>
                </a:solidFill>
                <a:latin typeface="monospace"/>
              </a:rPr>
              <a:t>    Login, Register</a:t>
            </a:r>
          </a:p>
        </p:txBody>
      </p:sp>
      <p:sp>
        <p:nvSpPr>
          <p:cNvPr id="26" name="TextBox 25">
            <a:extLst>
              <a:ext uri="{FF2B5EF4-FFF2-40B4-BE49-F238E27FC236}">
                <a16:creationId xmlns:a16="http://schemas.microsoft.com/office/drawing/2014/main" id="{87B79403-EE1D-2590-3964-5B017F6ECAA7}"/>
              </a:ext>
            </a:extLst>
          </p:cNvPr>
          <p:cNvSpPr txBox="1"/>
          <p:nvPr/>
        </p:nvSpPr>
        <p:spPr>
          <a:xfrm>
            <a:off x="5452541" y="3238920"/>
            <a:ext cx="2157172" cy="457200"/>
          </a:xfrm>
          <a:prstGeom prst="rect">
            <a:avLst/>
          </a:prstGeom>
          <a:noFill/>
        </p:spPr>
        <p:txBody>
          <a:bodyPr wrap="square" lIns="0" tIns="0" rIns="0" bIns="0" anchor="t">
            <a:spAutoFit/>
          </a:bodyPr>
          <a:lstStyle/>
          <a:p>
            <a:pPr algn="l">
              <a:lnSpc>
                <a:spcPts val="1800"/>
              </a:lnSpc>
            </a:pPr>
            <a:r>
              <a:rPr sz="1200" b="0" i="0" u="none">
                <a:solidFill>
                  <a:srgbClr val="0F172A"/>
                </a:solidFill>
                <a:latin typeface="monospace"/>
              </a:rPr>
              <a:t>Inventory</a:t>
            </a:r>
            <a:r>
              <a:t>
</a:t>
            </a:r>
            <a:r>
              <a:rPr sz="1200" b="0" i="0" u="none">
                <a:solidFill>
                  <a:srgbClr val="0F172A"/>
                </a:solidFill>
                <a:latin typeface="monospace"/>
              </a:rPr>
              <a:t>    Product, Stock</a:t>
            </a:r>
          </a:p>
        </p:txBody>
      </p:sp>
      <p:sp>
        <p:nvSpPr>
          <p:cNvPr id="28" name="TextBox 27">
            <a:extLst>
              <a:ext uri="{FF2B5EF4-FFF2-40B4-BE49-F238E27FC236}">
                <a16:creationId xmlns:a16="http://schemas.microsoft.com/office/drawing/2014/main" id="{FC3AFB7E-1C71-262A-88A1-0636E38B5FF1}"/>
              </a:ext>
            </a:extLst>
          </p:cNvPr>
          <p:cNvSpPr txBox="1"/>
          <p:nvPr/>
        </p:nvSpPr>
        <p:spPr>
          <a:xfrm>
            <a:off x="5563098" y="36961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Invoice</a:t>
            </a:r>
            <a:r>
              <a:rPr dirty="0"/>
              <a:t>
</a:t>
            </a:r>
            <a:r>
              <a:rPr sz="1200" b="0" i="0" u="none" dirty="0">
                <a:solidFill>
                  <a:srgbClr val="0F172A"/>
                </a:solidFill>
                <a:latin typeface="monospace"/>
              </a:rPr>
              <a:t>    Create, Payment</a:t>
            </a:r>
          </a:p>
        </p:txBody>
      </p:sp>
      <p:pic>
        <p:nvPicPr>
          <p:cNvPr id="30" name="Picture 29" descr="image.png">
            <a:extLst>
              <a:ext uri="{FF2B5EF4-FFF2-40B4-BE49-F238E27FC236}">
                <a16:creationId xmlns:a16="http://schemas.microsoft.com/office/drawing/2014/main" id="{61E5B721-F27F-9A91-2215-100B6E6A7F34}"/>
              </a:ext>
            </a:extLst>
          </p:cNvPr>
          <p:cNvPicPr>
            <a:picLocks noChangeAspect="1"/>
          </p:cNvPicPr>
          <p:nvPr/>
        </p:nvPicPr>
        <p:blipFill>
          <a:blip r:embed="rId9"/>
          <a:stretch>
            <a:fillRect/>
          </a:stretch>
        </p:blipFill>
        <p:spPr>
          <a:xfrm>
            <a:off x="8632189" y="1426533"/>
            <a:ext cx="476250" cy="476250"/>
          </a:xfrm>
          <a:prstGeom prst="rect">
            <a:avLst/>
          </a:prstGeom>
        </p:spPr>
      </p:pic>
      <p:sp>
        <p:nvSpPr>
          <p:cNvPr id="32" name="TextBox 31">
            <a:extLst>
              <a:ext uri="{FF2B5EF4-FFF2-40B4-BE49-F238E27FC236}">
                <a16:creationId xmlns:a16="http://schemas.microsoft.com/office/drawing/2014/main" id="{92D2E74F-B994-818F-03DF-284A4E268508}"/>
              </a:ext>
            </a:extLst>
          </p:cNvPr>
          <p:cNvSpPr txBox="1"/>
          <p:nvPr/>
        </p:nvSpPr>
        <p:spPr>
          <a:xfrm>
            <a:off x="9269076" y="1564658"/>
            <a:ext cx="2155924"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Context</a:t>
            </a:r>
            <a:r>
              <a:rPr lang="en-IN" sz="1800" b="0" i="0" u="none" dirty="0">
                <a:solidFill>
                  <a:srgbClr val="0F172A"/>
                </a:solidFill>
                <a:latin typeface="Poppins SemiBold"/>
              </a:rPr>
              <a:t>-</a:t>
            </a:r>
            <a:r>
              <a:rPr sz="1800" b="0" i="0" u="none" dirty="0">
                <a:solidFill>
                  <a:srgbClr val="0F172A"/>
                </a:solidFill>
                <a:latin typeface="Poppins SemiBold"/>
              </a:rPr>
              <a:t>Aware</a:t>
            </a:r>
          </a:p>
        </p:txBody>
      </p:sp>
      <p:pic>
        <p:nvPicPr>
          <p:cNvPr id="34" name="Picture 33" descr="image.png">
            <a:extLst>
              <a:ext uri="{FF2B5EF4-FFF2-40B4-BE49-F238E27FC236}">
                <a16:creationId xmlns:a16="http://schemas.microsoft.com/office/drawing/2014/main" id="{882A0E9C-DFF4-A7E1-CF68-679BD9791604}"/>
              </a:ext>
            </a:extLst>
          </p:cNvPr>
          <p:cNvPicPr>
            <a:picLocks noChangeAspect="1"/>
          </p:cNvPicPr>
          <p:nvPr/>
        </p:nvPicPr>
        <p:blipFill>
          <a:blip r:embed="rId10"/>
          <a:stretch>
            <a:fillRect/>
          </a:stretch>
        </p:blipFill>
        <p:spPr>
          <a:xfrm>
            <a:off x="5219178" y="1648245"/>
            <a:ext cx="257175" cy="228600"/>
          </a:xfrm>
          <a:prstGeom prst="rect">
            <a:avLst/>
          </a:prstGeom>
        </p:spPr>
      </p:pic>
      <p:sp>
        <p:nvSpPr>
          <p:cNvPr id="36" name="TextBox 35">
            <a:extLst>
              <a:ext uri="{FF2B5EF4-FFF2-40B4-BE49-F238E27FC236}">
                <a16:creationId xmlns:a16="http://schemas.microsoft.com/office/drawing/2014/main" id="{43E909B9-3386-C9EC-DD9B-F9AD6805D318}"/>
              </a:ext>
            </a:extLst>
          </p:cNvPr>
          <p:cNvSpPr txBox="1"/>
          <p:nvPr/>
        </p:nvSpPr>
        <p:spPr>
          <a:xfrm>
            <a:off x="5262041" y="2781720"/>
            <a:ext cx="466725"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38" name="TextBox 37">
            <a:extLst>
              <a:ext uri="{FF2B5EF4-FFF2-40B4-BE49-F238E27FC236}">
                <a16:creationId xmlns:a16="http://schemas.microsoft.com/office/drawing/2014/main" id="{F698F0DB-254F-2D40-2AD9-A970CA668489}"/>
              </a:ext>
            </a:extLst>
          </p:cNvPr>
          <p:cNvSpPr txBox="1"/>
          <p:nvPr/>
        </p:nvSpPr>
        <p:spPr>
          <a:xfrm>
            <a:off x="5262041" y="3238920"/>
            <a:ext cx="306597"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40" name="TextBox 39">
            <a:extLst>
              <a:ext uri="{FF2B5EF4-FFF2-40B4-BE49-F238E27FC236}">
                <a16:creationId xmlns:a16="http://schemas.microsoft.com/office/drawing/2014/main" id="{1BD22A3C-922F-6B77-4B7C-BBEDDC1C654D}"/>
              </a:ext>
            </a:extLst>
          </p:cNvPr>
          <p:cNvSpPr txBox="1"/>
          <p:nvPr/>
        </p:nvSpPr>
        <p:spPr>
          <a:xfrm>
            <a:off x="5262041" y="3696120"/>
            <a:ext cx="306597" cy="213776"/>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 </a:t>
            </a:r>
          </a:p>
        </p:txBody>
      </p:sp>
      <p:pic>
        <p:nvPicPr>
          <p:cNvPr id="42" name="Picture 41" descr="image.png">
            <a:extLst>
              <a:ext uri="{FF2B5EF4-FFF2-40B4-BE49-F238E27FC236}">
                <a16:creationId xmlns:a16="http://schemas.microsoft.com/office/drawing/2014/main" id="{1D2CA2AD-8227-4D6B-04FF-8A120F7E02C9}"/>
              </a:ext>
            </a:extLst>
          </p:cNvPr>
          <p:cNvPicPr>
            <a:picLocks noChangeAspect="1"/>
          </p:cNvPicPr>
          <p:nvPr/>
        </p:nvPicPr>
        <p:blipFill>
          <a:blip r:embed="rId11"/>
          <a:stretch>
            <a:fillRect/>
          </a:stretch>
        </p:blipFill>
        <p:spPr>
          <a:xfrm>
            <a:off x="8756014" y="1550358"/>
            <a:ext cx="228600" cy="228600"/>
          </a:xfrm>
          <a:prstGeom prst="rect">
            <a:avLst/>
          </a:prstGeom>
        </p:spPr>
      </p:pic>
      <p:sp>
        <p:nvSpPr>
          <p:cNvPr id="44" name="TextBox 43">
            <a:extLst>
              <a:ext uri="{FF2B5EF4-FFF2-40B4-BE49-F238E27FC236}">
                <a16:creationId xmlns:a16="http://schemas.microsoft.com/office/drawing/2014/main" id="{AFE40426-94BF-0EC7-C272-59D3C5005D5D}"/>
              </a:ext>
            </a:extLst>
          </p:cNvPr>
          <p:cNvSpPr txBox="1"/>
          <p:nvPr/>
        </p:nvSpPr>
        <p:spPr>
          <a:xfrm>
            <a:off x="9653002" y="2483808"/>
            <a:ext cx="694036" cy="173124"/>
          </a:xfrm>
          <a:prstGeom prst="rect">
            <a:avLst/>
          </a:prstGeom>
          <a:noFill/>
        </p:spPr>
        <p:txBody>
          <a:bodyPr wrap="square" lIns="0" tIns="0" rIns="0" bIns="0" anchor="t">
            <a:spAutoFit/>
          </a:bodyPr>
          <a:lstStyle/>
          <a:p>
            <a:pPr algn="ctr"/>
            <a:r>
              <a:rPr sz="1125" b="1" i="0" u="none">
                <a:solidFill>
                  <a:srgbClr val="334155"/>
                </a:solidFill>
                <a:latin typeface="Inter"/>
              </a:rPr>
              <a:t>Instead of:</a:t>
            </a:r>
          </a:p>
        </p:txBody>
      </p:sp>
      <p:sp>
        <p:nvSpPr>
          <p:cNvPr id="46" name="TextBox 45">
            <a:extLst>
              <a:ext uri="{FF2B5EF4-FFF2-40B4-BE49-F238E27FC236}">
                <a16:creationId xmlns:a16="http://schemas.microsoft.com/office/drawing/2014/main" id="{6C0AE494-88C7-BA10-3B01-D4B27A084DF8}"/>
              </a:ext>
            </a:extLst>
          </p:cNvPr>
          <p:cNvSpPr txBox="1"/>
          <p:nvPr/>
        </p:nvSpPr>
        <p:spPr>
          <a:xfrm>
            <a:off x="5003950" y="4452825"/>
            <a:ext cx="2837960" cy="1815882"/>
          </a:xfrm>
          <a:prstGeom prst="rect">
            <a:avLst/>
          </a:prstGeom>
          <a:noFill/>
        </p:spPr>
        <p:txBody>
          <a:bodyPr wrap="square">
            <a:spAutoFit/>
          </a:bodyPr>
          <a:lstStyle/>
          <a:p>
            <a:pPr>
              <a:buNone/>
            </a:pPr>
            <a:r>
              <a:rPr lang="en-IN" sz="1600" b="1" dirty="0"/>
              <a:t>Purpose</a:t>
            </a:r>
            <a:endParaRPr lang="en-IN" sz="1600" dirty="0"/>
          </a:p>
          <a:p>
            <a:pPr marL="285750" lvl="0" indent="-285750">
              <a:buFont typeface="Arial" panose="020B0604020202020204" pitchFamily="34" charset="0"/>
              <a:buChar char="•"/>
            </a:pPr>
            <a:r>
              <a:rPr lang="en-IN" sz="1600" dirty="0"/>
              <a:t>Represents the complete SDLC structure </a:t>
            </a:r>
          </a:p>
          <a:p>
            <a:pPr marL="285750" lvl="0" indent="-285750">
              <a:buFont typeface="Arial" panose="020B0604020202020204" pitchFamily="34" charset="0"/>
              <a:buChar char="•"/>
            </a:pPr>
            <a:r>
              <a:rPr lang="en-IN" sz="1600" dirty="0"/>
              <a:t>Maintains hierarchy between project components </a:t>
            </a:r>
          </a:p>
          <a:p>
            <a:pPr marL="285750" lvl="0" indent="-285750">
              <a:buFont typeface="Arial" panose="020B0604020202020204" pitchFamily="34" charset="0"/>
              <a:buChar char="•"/>
            </a:pPr>
            <a:r>
              <a:rPr lang="en-IN" sz="1600" dirty="0"/>
              <a:t>Enables modular navigation </a:t>
            </a:r>
          </a:p>
        </p:txBody>
      </p:sp>
      <p:sp>
        <p:nvSpPr>
          <p:cNvPr id="48" name="TextBox 47">
            <a:extLst>
              <a:ext uri="{FF2B5EF4-FFF2-40B4-BE49-F238E27FC236}">
                <a16:creationId xmlns:a16="http://schemas.microsoft.com/office/drawing/2014/main" id="{12D4B858-718C-3FEB-4BCC-04D8417C0C8D}"/>
              </a:ext>
            </a:extLst>
          </p:cNvPr>
          <p:cNvSpPr txBox="1"/>
          <p:nvPr/>
        </p:nvSpPr>
        <p:spPr>
          <a:xfrm>
            <a:off x="8632189" y="4677015"/>
            <a:ext cx="2792811" cy="1569660"/>
          </a:xfrm>
          <a:prstGeom prst="rect">
            <a:avLst/>
          </a:prstGeom>
          <a:noFill/>
        </p:spPr>
        <p:txBody>
          <a:bodyPr wrap="square">
            <a:spAutoFit/>
          </a:bodyPr>
          <a:lstStyle/>
          <a:p>
            <a:pPr>
              <a:buNone/>
            </a:pPr>
            <a:r>
              <a:rPr lang="en-IN" sz="1600" b="1" dirty="0"/>
              <a:t>Benefits</a:t>
            </a:r>
          </a:p>
          <a:p>
            <a:pPr marL="342900" lvl="0" indent="-342900">
              <a:buFont typeface="Arial" panose="020B0604020202020204" pitchFamily="34" charset="0"/>
              <a:buChar char="•"/>
            </a:pPr>
            <a:r>
              <a:rPr lang="en-IN" sz="1600" dirty="0"/>
              <a:t>Minimal context </a:t>
            </a:r>
          </a:p>
          <a:p>
            <a:pPr marL="342900" lvl="0" indent="-342900">
              <a:buFont typeface="Arial" panose="020B0604020202020204" pitchFamily="34" charset="0"/>
              <a:buChar char="•"/>
            </a:pPr>
            <a:r>
              <a:rPr lang="en-IN" sz="1600" dirty="0"/>
              <a:t>Lower token usage </a:t>
            </a:r>
          </a:p>
          <a:p>
            <a:pPr marL="342900" lvl="0" indent="-342900">
              <a:buFont typeface="Arial" panose="020B0604020202020204" pitchFamily="34" charset="0"/>
              <a:buChar char="•"/>
            </a:pPr>
            <a:r>
              <a:rPr lang="en-IN" sz="1600" dirty="0"/>
              <a:t>Faster reasoning </a:t>
            </a:r>
          </a:p>
          <a:p>
            <a:pPr marL="342900" lvl="0" indent="-342900">
              <a:buFont typeface="Arial" panose="020B0604020202020204" pitchFamily="34" charset="0"/>
              <a:buChar char="•"/>
            </a:pPr>
            <a:r>
              <a:rPr lang="en-IN" sz="1600" dirty="0"/>
              <a:t>Better accuracy </a:t>
            </a:r>
          </a:p>
          <a:p>
            <a:pPr marL="342900" lvl="0" indent="-342900">
              <a:buFont typeface="Arial" panose="020B0604020202020204" pitchFamily="34" charset="0"/>
              <a:buChar char="•"/>
            </a:pPr>
            <a:r>
              <a:rPr lang="en-IN" sz="1600" dirty="0"/>
              <a:t>Reduced hallucination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03242" y="1224731"/>
            <a:ext cx="11049000" cy="609600"/>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While highly capable, existing autonomous systems index heavily on code generation, lacking end-to-end SDLC orchestration and organizational memory.</a:t>
            </a:r>
          </a:p>
        </p:txBody>
      </p:sp>
      <p:sp>
        <p:nvSpPr>
          <p:cNvPr id="4" name="Rounded Rectangle 3"/>
          <p:cNvSpPr/>
          <p:nvPr/>
        </p:nvSpPr>
        <p:spPr>
          <a:xfrm>
            <a:off x="561972" y="2119312"/>
            <a:ext cx="11049000" cy="3295650"/>
          </a:xfrm>
          <a:prstGeom prst="roundRect">
            <a:avLst>
              <a:gd name="adj" fmla="val 0"/>
            </a:avLst>
          </a:prstGeom>
          <a:solidFill>
            <a:srgbClr val="FFFFFF"/>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2960453706"/>
              </p:ext>
            </p:extLst>
          </p:nvPr>
        </p:nvGraphicFramePr>
        <p:xfrm>
          <a:off x="561972" y="2119312"/>
          <a:ext cx="11039472" cy="3295650"/>
        </p:xfrm>
        <a:graphic>
          <a:graphicData uri="http://schemas.openxmlformats.org/drawingml/2006/table">
            <a:tbl>
              <a:tblPr firstRow="1" bandRow="1">
                <a:tableStyleId>{5C22544A-7EE6-4342-B048-85BDC9FD1C3A}</a:tableStyleId>
              </a:tblPr>
              <a:tblGrid>
                <a:gridCol w="2839194">
                  <a:extLst>
                    <a:ext uri="{9D8B030D-6E8A-4147-A177-3AD203B41FA5}">
                      <a16:colId xmlns:a16="http://schemas.microsoft.com/office/drawing/2014/main" val="20000"/>
                    </a:ext>
                  </a:extLst>
                </a:gridCol>
                <a:gridCol w="2139701">
                  <a:extLst>
                    <a:ext uri="{9D8B030D-6E8A-4147-A177-3AD203B41FA5}">
                      <a16:colId xmlns:a16="http://schemas.microsoft.com/office/drawing/2014/main" val="20001"/>
                    </a:ext>
                  </a:extLst>
                </a:gridCol>
                <a:gridCol w="1351954">
                  <a:extLst>
                    <a:ext uri="{9D8B030D-6E8A-4147-A177-3AD203B41FA5}">
                      <a16:colId xmlns:a16="http://schemas.microsoft.com/office/drawing/2014/main" val="20002"/>
                    </a:ext>
                  </a:extLst>
                </a:gridCol>
                <a:gridCol w="1375469">
                  <a:extLst>
                    <a:ext uri="{9D8B030D-6E8A-4147-A177-3AD203B41FA5}">
                      <a16:colId xmlns:a16="http://schemas.microsoft.com/office/drawing/2014/main" val="20003"/>
                    </a:ext>
                  </a:extLst>
                </a:gridCol>
                <a:gridCol w="1398984">
                  <a:extLst>
                    <a:ext uri="{9D8B030D-6E8A-4147-A177-3AD203B41FA5}">
                      <a16:colId xmlns:a16="http://schemas.microsoft.com/office/drawing/2014/main" val="20004"/>
                    </a:ext>
                  </a:extLst>
                </a:gridCol>
                <a:gridCol w="1934170">
                  <a:extLst>
                    <a:ext uri="{9D8B030D-6E8A-4147-A177-3AD203B41FA5}">
                      <a16:colId xmlns:a16="http://schemas.microsoft.com/office/drawing/2014/main" val="20005"/>
                    </a:ext>
                  </a:extLst>
                </a:gridCol>
              </a:tblGrid>
              <a:tr h="659130">
                <a:tc>
                  <a:txBody>
                    <a:bodyPr/>
                    <a:lstStyle/>
                    <a:p>
                      <a:pPr algn="l"/>
                      <a:r>
                        <a:rPr sz="1500" b="0" i="0" u="none">
                          <a:solidFill>
                            <a:srgbClr val="0F172A"/>
                          </a:solidFill>
                          <a:latin typeface="Inter SemiBold"/>
                        </a:rPr>
                        <a:t>System</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Requirements</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Design</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Coding</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Testing</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Deployment</a:t>
                      </a:r>
                    </a:p>
                  </a:txBody>
                  <a:tcPr marL="63500" marR="63500" marT="25400" marB="25400" anchor="ctr">
                    <a:lnL>
                      <a:noFill/>
                    </a:lnL>
                    <a:lnR>
                      <a:noFill/>
                    </a:lnR>
                    <a:lnT>
                      <a:noFill/>
                    </a:lnT>
                    <a:lnB>
                      <a:noFill/>
                    </a:lnB>
                    <a:solidFill>
                      <a:srgbClr val="F1F5F9"/>
                    </a:solidFill>
                  </a:tcPr>
                </a:tc>
                <a:extLst>
                  <a:ext uri="{0D108BD9-81ED-4DB2-BD59-A6C34878D82A}">
                    <a16:rowId xmlns:a16="http://schemas.microsoft.com/office/drawing/2014/main" val="10000"/>
                  </a:ext>
                </a:extLst>
              </a:tr>
              <a:tr h="659130">
                <a:tc>
                  <a:txBody>
                    <a:bodyPr/>
                    <a:lstStyle/>
                    <a:p>
                      <a:pPr algn="l"/>
                      <a:r>
                        <a:rPr sz="1500" b="1" i="0" u="none" dirty="0">
                          <a:solidFill>
                            <a:srgbClr val="334155"/>
                          </a:solidFill>
                          <a:latin typeface="Inter"/>
                        </a:rPr>
                        <a:t>Devin</a:t>
                      </a:r>
                      <a:r>
                        <a:rPr lang="en-IN" sz="1500" b="1" i="0" u="none" dirty="0">
                          <a:solidFill>
                            <a:srgbClr val="334155"/>
                          </a:solidFill>
                          <a:latin typeface="Inter"/>
                        </a:rPr>
                        <a:t> AI [15]</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dirty="0">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F59E0B"/>
                          </a:solidFill>
                          <a:latin typeface="Inter"/>
                        </a:rPr>
                        <a:t>Partial</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1"/>
                  </a:ext>
                </a:extLst>
              </a:tr>
              <a:tr h="659130">
                <a:tc>
                  <a:txBody>
                    <a:bodyPr/>
                    <a:lstStyle/>
                    <a:p>
                      <a:pPr algn="l"/>
                      <a:r>
                        <a:rPr sz="1500" b="1" i="0" u="none" dirty="0" err="1">
                          <a:solidFill>
                            <a:srgbClr val="334155"/>
                          </a:solidFill>
                          <a:latin typeface="Inter"/>
                        </a:rPr>
                        <a:t>MetaGPT</a:t>
                      </a:r>
                      <a:r>
                        <a:rPr sz="1500" b="1" i="0" u="none" dirty="0">
                          <a:solidFill>
                            <a:srgbClr val="334155"/>
                          </a:solidFill>
                          <a:latin typeface="Inter"/>
                        </a:rPr>
                        <a:t> / </a:t>
                      </a:r>
                      <a:r>
                        <a:rPr sz="1500" b="1" i="0" u="none" dirty="0" err="1">
                          <a:solidFill>
                            <a:srgbClr val="334155"/>
                          </a:solidFill>
                          <a:latin typeface="Inter"/>
                        </a:rPr>
                        <a:t>ChatDev</a:t>
                      </a:r>
                      <a:r>
                        <a:rPr lang="en-IN" sz="1500" b="1" i="0" u="none" dirty="0">
                          <a:solidFill>
                            <a:srgbClr val="334155"/>
                          </a:solidFill>
                          <a:latin typeface="Inter"/>
                        </a:rPr>
                        <a:t> [11][12]</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dirty="0">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extLst>
                  <a:ext uri="{0D108BD9-81ED-4DB2-BD59-A6C34878D82A}">
                    <a16:rowId xmlns:a16="http://schemas.microsoft.com/office/drawing/2014/main" val="10002"/>
                  </a:ext>
                </a:extLst>
              </a:tr>
              <a:tr h="659130">
                <a:tc>
                  <a:txBody>
                    <a:bodyPr/>
                    <a:lstStyle/>
                    <a:p>
                      <a:pPr algn="l"/>
                      <a:r>
                        <a:rPr sz="1500" b="1" i="0" u="none" dirty="0">
                          <a:solidFill>
                            <a:srgbClr val="334155"/>
                          </a:solidFill>
                          <a:latin typeface="Inter"/>
                        </a:rPr>
                        <a:t>SWE-Agent</a:t>
                      </a:r>
                      <a:r>
                        <a:rPr lang="en-IN" sz="1500" b="1" i="0" u="none" dirty="0">
                          <a:solidFill>
                            <a:srgbClr val="334155"/>
                          </a:solidFill>
                          <a:latin typeface="Inter"/>
                        </a:rPr>
                        <a:t> [13]</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extLst>
                  <a:ext uri="{0D108BD9-81ED-4DB2-BD59-A6C34878D82A}">
                    <a16:rowId xmlns:a16="http://schemas.microsoft.com/office/drawing/2014/main" val="10003"/>
                  </a:ext>
                </a:extLst>
              </a:tr>
              <a:tr h="659130">
                <a:tc>
                  <a:txBody>
                    <a:bodyPr/>
                    <a:lstStyle/>
                    <a:p>
                      <a:pPr algn="l"/>
                      <a:r>
                        <a:rPr sz="1500" b="1" i="0" u="none">
                          <a:solidFill>
                            <a:srgbClr val="334155"/>
                          </a:solidFill>
                          <a:latin typeface="Inter"/>
                        </a:rPr>
                        <a:t>Proposed System</a:t>
                      </a:r>
                    </a:p>
                  </a:txBody>
                  <a:tcPr marL="6350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extLst>
                  <a:ext uri="{0D108BD9-81ED-4DB2-BD59-A6C34878D82A}">
                    <a16:rowId xmlns:a16="http://schemas.microsoft.com/office/drawing/2014/main" val="10004"/>
                  </a:ext>
                </a:extLst>
              </a:tr>
            </a:tbl>
          </a:graphicData>
        </a:graphic>
      </p:graphicFrame>
      <p:sp>
        <p:nvSpPr>
          <p:cNvPr id="6" name="Rectangle 5"/>
          <p:cNvSpPr/>
          <p:nvPr/>
        </p:nvSpPr>
        <p:spPr>
          <a:xfrm>
            <a:off x="566734" y="2771774"/>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405928" y="2771774"/>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545630" y="2771774"/>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97585" y="2771774"/>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73054" y="2771774"/>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72039" y="2771774"/>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734" y="3428999"/>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5928" y="3428999"/>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545630" y="3428999"/>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897585" y="3428999"/>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3054" y="3428999"/>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72039" y="3428999"/>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66734" y="4086224"/>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405928" y="4086224"/>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545630" y="4086224"/>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897585" y="4086224"/>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73054" y="4086224"/>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672039" y="4086224"/>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66734" y="4743449"/>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405928" y="4743449"/>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545630" y="4743449"/>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97585" y="4743449"/>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273054" y="4743449"/>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9672039" y="4743449"/>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71500" y="57150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Identifying the </a:t>
            </a:r>
            <a:r>
              <a:rPr sz="3300" b="1" i="0" u="none" dirty="0">
                <a:solidFill>
                  <a:srgbClr val="2563EB"/>
                </a:solidFill>
                <a:latin typeface="Inter"/>
              </a:rPr>
              <a:t>Gap</a:t>
            </a:r>
          </a:p>
        </p:txBody>
      </p:sp>
      <p:sp>
        <p:nvSpPr>
          <p:cNvPr id="31" name="TextBox 30">
            <a:extLst>
              <a:ext uri="{FF2B5EF4-FFF2-40B4-BE49-F238E27FC236}">
                <a16:creationId xmlns:a16="http://schemas.microsoft.com/office/drawing/2014/main" id="{BC7EB1C2-A194-EFD0-FBDE-FCE9B59EC0B8}"/>
              </a:ext>
            </a:extLst>
          </p:cNvPr>
          <p:cNvSpPr txBox="1"/>
          <p:nvPr/>
        </p:nvSpPr>
        <p:spPr>
          <a:xfrm>
            <a:off x="571500" y="6286500"/>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18" name="TextBox 17"/>
          <p:cNvSpPr txBox="1"/>
          <p:nvPr/>
        </p:nvSpPr>
        <p:spPr>
          <a:xfrm>
            <a:off x="571500" y="37572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Agentic </a:t>
            </a:r>
            <a:r>
              <a:rPr sz="3300" b="1" i="0" u="none" dirty="0">
                <a:solidFill>
                  <a:srgbClr val="2563EB"/>
                </a:solidFill>
                <a:latin typeface="Inter"/>
              </a:rPr>
              <a:t>Frameworks</a:t>
            </a:r>
          </a:p>
        </p:txBody>
      </p:sp>
      <p:graphicFrame>
        <p:nvGraphicFramePr>
          <p:cNvPr id="19" name="Table 18">
            <a:extLst>
              <a:ext uri="{FF2B5EF4-FFF2-40B4-BE49-F238E27FC236}">
                <a16:creationId xmlns:a16="http://schemas.microsoft.com/office/drawing/2014/main" id="{129F9555-D699-C3C4-1F84-8A79F8D652AC}"/>
              </a:ext>
            </a:extLst>
          </p:cNvPr>
          <p:cNvGraphicFramePr>
            <a:graphicFrameLocks noGrp="1"/>
          </p:cNvGraphicFramePr>
          <p:nvPr>
            <p:extLst>
              <p:ext uri="{D42A27DB-BD31-4B8C-83A1-F6EECF244321}">
                <p14:modId xmlns:p14="http://schemas.microsoft.com/office/powerpoint/2010/main" val="1088228415"/>
              </p:ext>
            </p:extLst>
          </p:nvPr>
        </p:nvGraphicFramePr>
        <p:xfrm>
          <a:off x="571500" y="1063176"/>
          <a:ext cx="10951908" cy="5419104"/>
        </p:xfrm>
        <a:graphic>
          <a:graphicData uri="http://schemas.openxmlformats.org/drawingml/2006/table">
            <a:tbl>
              <a:tblPr/>
              <a:tblGrid>
                <a:gridCol w="1825318">
                  <a:extLst>
                    <a:ext uri="{9D8B030D-6E8A-4147-A177-3AD203B41FA5}">
                      <a16:colId xmlns:a16="http://schemas.microsoft.com/office/drawing/2014/main" val="3296468212"/>
                    </a:ext>
                  </a:extLst>
                </a:gridCol>
                <a:gridCol w="1825318">
                  <a:extLst>
                    <a:ext uri="{9D8B030D-6E8A-4147-A177-3AD203B41FA5}">
                      <a16:colId xmlns:a16="http://schemas.microsoft.com/office/drawing/2014/main" val="2433383122"/>
                    </a:ext>
                  </a:extLst>
                </a:gridCol>
                <a:gridCol w="1825318">
                  <a:extLst>
                    <a:ext uri="{9D8B030D-6E8A-4147-A177-3AD203B41FA5}">
                      <a16:colId xmlns:a16="http://schemas.microsoft.com/office/drawing/2014/main" val="3440802060"/>
                    </a:ext>
                  </a:extLst>
                </a:gridCol>
                <a:gridCol w="1749527">
                  <a:extLst>
                    <a:ext uri="{9D8B030D-6E8A-4147-A177-3AD203B41FA5}">
                      <a16:colId xmlns:a16="http://schemas.microsoft.com/office/drawing/2014/main" val="313064993"/>
                    </a:ext>
                  </a:extLst>
                </a:gridCol>
                <a:gridCol w="1901109">
                  <a:extLst>
                    <a:ext uri="{9D8B030D-6E8A-4147-A177-3AD203B41FA5}">
                      <a16:colId xmlns:a16="http://schemas.microsoft.com/office/drawing/2014/main" val="1155137944"/>
                    </a:ext>
                  </a:extLst>
                </a:gridCol>
                <a:gridCol w="1825318">
                  <a:extLst>
                    <a:ext uri="{9D8B030D-6E8A-4147-A177-3AD203B41FA5}">
                      <a16:colId xmlns:a16="http://schemas.microsoft.com/office/drawing/2014/main" val="2842996800"/>
                    </a:ext>
                  </a:extLst>
                </a:gridCol>
              </a:tblGrid>
              <a:tr h="468216">
                <a:tc>
                  <a:txBody>
                    <a:bodyPr/>
                    <a:lstStyle/>
                    <a:p>
                      <a:pPr marL="0" marR="0" algn="ctr" rtl="0">
                        <a:spcAft>
                          <a:spcPts val="2400"/>
                        </a:spcAft>
                        <a:buNone/>
                      </a:pPr>
                      <a:r>
                        <a:rPr lang="en-IN" sz="1500" b="1" dirty="0">
                          <a:solidFill>
                            <a:srgbClr val="1F1F1F"/>
                          </a:solidFill>
                          <a:effectLst/>
                          <a:latin typeface="Inter"/>
                        </a:rPr>
                        <a:t>Framework</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Execution Model</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Core Strengths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Key Limitations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Ideal Use Cases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Offline / Local Capability</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936376244"/>
                  </a:ext>
                </a:extLst>
              </a:tr>
              <a:tr h="1123048">
                <a:tc>
                  <a:txBody>
                    <a:bodyPr/>
                    <a:lstStyle/>
                    <a:p>
                      <a:pPr marL="0" marR="0" algn="ctr" rtl="0">
                        <a:spcAft>
                          <a:spcPts val="2400"/>
                        </a:spcAft>
                        <a:buNone/>
                      </a:pPr>
                      <a:r>
                        <a:rPr lang="en-IN" sz="1500" b="1" dirty="0" err="1">
                          <a:solidFill>
                            <a:srgbClr val="1F1F1F"/>
                          </a:solidFill>
                          <a:effectLst/>
                          <a:latin typeface="Inter"/>
                        </a:rPr>
                        <a:t>LangChain</a:t>
                      </a:r>
                      <a:r>
                        <a:rPr lang="en-IN" sz="1500" b="1" dirty="0">
                          <a:solidFill>
                            <a:srgbClr val="1F1F1F"/>
                          </a:solidFill>
                          <a:effectLst/>
                          <a:latin typeface="Inter"/>
                        </a:rPr>
                        <a:t> [7]</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Chained Prompting &amp; Tools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Rich toolset, extensive RAG ecosystem, vast API integrations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Workflow complexity at scale, abstractions can hide errors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General LLM applications, retrieval-augmented generation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Excellent:</a:t>
                      </a:r>
                      <a:r>
                        <a:rPr lang="en-IN" sz="1400" dirty="0">
                          <a:solidFill>
                            <a:srgbClr val="1F1F1F"/>
                          </a:solidFill>
                          <a:effectLst/>
                          <a:latin typeface="Inter"/>
                        </a:rPr>
                        <a:t> Natively connects to local LLMs (</a:t>
                      </a:r>
                      <a:r>
                        <a:rPr lang="en-IN" sz="1400" dirty="0" err="1">
                          <a:solidFill>
                            <a:srgbClr val="1F1F1F"/>
                          </a:solidFill>
                          <a:effectLst/>
                          <a:latin typeface="Inter"/>
                        </a:rPr>
                        <a:t>Ollama</a:t>
                      </a:r>
                      <a:r>
                        <a:rPr lang="en-IN" sz="1400" dirty="0">
                          <a:solidFill>
                            <a:srgbClr val="1F1F1F"/>
                          </a:solidFill>
                          <a:effectLst/>
                          <a:latin typeface="Inter"/>
                        </a:rPr>
                        <a:t>, Llama.cpp) and local vector stores (Chroma).</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2733084250"/>
                  </a:ext>
                </a:extLst>
              </a:tr>
              <a:tr h="1123048">
                <a:tc>
                  <a:txBody>
                    <a:bodyPr/>
                    <a:lstStyle/>
                    <a:p>
                      <a:pPr marL="0" marR="0" algn="ctr" rtl="0">
                        <a:spcAft>
                          <a:spcPts val="2400"/>
                        </a:spcAft>
                        <a:buNone/>
                      </a:pPr>
                      <a:r>
                        <a:rPr lang="en-IN" sz="1500" b="1" dirty="0" err="1">
                          <a:solidFill>
                            <a:srgbClr val="1F1F1F"/>
                          </a:solidFill>
                          <a:effectLst/>
                          <a:latin typeface="Inter"/>
                        </a:rPr>
                        <a:t>LangGraph</a:t>
                      </a:r>
                      <a:r>
                        <a:rPr lang="en-IN" sz="1500" b="1" dirty="0">
                          <a:solidFill>
                            <a:srgbClr val="1F1F1F"/>
                          </a:solidFill>
                          <a:effectLst/>
                          <a:latin typeface="Inter"/>
                        </a:rPr>
                        <a:t> [8]</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Stateful Graph Orchestration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Cycles and loops, robust state persistence, time-travel debugging</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Steeper learning curve, excessive setup for simple tasks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Production-grade multi-agent systems, human-in-the-loop control</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a:solidFill>
                            <a:srgbClr val="1F1F1F"/>
                          </a:solidFill>
                          <a:effectLst/>
                          <a:latin typeface="Inter"/>
                        </a:rPr>
                        <a:t>Excellent:</a:t>
                      </a:r>
                      <a:r>
                        <a:rPr lang="en-IN" sz="1400">
                          <a:solidFill>
                            <a:srgbClr val="1F1F1F"/>
                          </a:solidFill>
                          <a:effectLst/>
                          <a:latin typeface="Inter"/>
                        </a:rPr>
                        <a:t> Inherits LangChain's local capabilities; operates entirely offline with self-hosted models.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1687860845"/>
                  </a:ext>
                </a:extLst>
              </a:tr>
              <a:tr h="1341325">
                <a:tc>
                  <a:txBody>
                    <a:bodyPr/>
                    <a:lstStyle/>
                    <a:p>
                      <a:pPr marL="0" marR="0" algn="ctr" rtl="0">
                        <a:spcAft>
                          <a:spcPts val="2400"/>
                        </a:spcAft>
                        <a:buNone/>
                      </a:pPr>
                      <a:r>
                        <a:rPr lang="en-IN" sz="1500" b="1" dirty="0" err="1">
                          <a:solidFill>
                            <a:srgbClr val="1F1F1F"/>
                          </a:solidFill>
                          <a:effectLst/>
                          <a:latin typeface="Inter"/>
                        </a:rPr>
                        <a:t>CrewAI</a:t>
                      </a:r>
                      <a:r>
                        <a:rPr lang="en-IN" sz="1500" b="1" dirty="0">
                          <a:solidFill>
                            <a:srgbClr val="1F1F1F"/>
                          </a:solidFill>
                          <a:effectLst/>
                          <a:latin typeface="Inter"/>
                        </a:rPr>
                        <a:t> [9]</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a:solidFill>
                            <a:srgbClr val="1F1F1F"/>
                          </a:solidFill>
                          <a:effectLst/>
                          <a:latin typeface="Inter"/>
                        </a:rPr>
                        <a:t>Role-based Team Collaboration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Easy setup, intuitive agent personas, automatic task delegation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Limited dynamic branching and complex workflow flow control</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Autonomous research pipelines, content creation, structured teams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Strong:</a:t>
                      </a:r>
                      <a:r>
                        <a:rPr lang="en-IN" sz="1400" dirty="0">
                          <a:solidFill>
                            <a:srgbClr val="1F1F1F"/>
                          </a:solidFill>
                          <a:effectLst/>
                          <a:latin typeface="Inter"/>
                        </a:rPr>
                        <a:t> Explicitly supports local execution by binding agents to local endpoints via </a:t>
                      </a:r>
                      <a:r>
                        <a:rPr lang="en-IN" sz="1400" dirty="0" err="1">
                          <a:solidFill>
                            <a:srgbClr val="1F1F1F"/>
                          </a:solidFill>
                          <a:effectLst/>
                          <a:latin typeface="Inter"/>
                        </a:rPr>
                        <a:t>Ollama</a:t>
                      </a:r>
                      <a:r>
                        <a:rPr lang="en-IN" sz="1400" dirty="0">
                          <a:solidFill>
                            <a:srgbClr val="1F1F1F"/>
                          </a:solidFill>
                          <a:effectLst/>
                          <a:latin typeface="Inter"/>
                        </a:rPr>
                        <a:t> or </a:t>
                      </a:r>
                      <a:r>
                        <a:rPr lang="en-IN" sz="1400" dirty="0" err="1">
                          <a:solidFill>
                            <a:srgbClr val="1F1F1F"/>
                          </a:solidFill>
                          <a:effectLst/>
                          <a:latin typeface="Inter"/>
                        </a:rPr>
                        <a:t>LiteLLM</a:t>
                      </a:r>
                      <a:r>
                        <a:rPr lang="en-IN" sz="1400" dirty="0">
                          <a:solidFill>
                            <a:srgbClr val="1F1F1F"/>
                          </a:solidFill>
                          <a:effectLst/>
                          <a:latin typeface="Inter"/>
                        </a:rPr>
                        <a:t>.</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3456865933"/>
                  </a:ext>
                </a:extLst>
              </a:tr>
              <a:tr h="1341325">
                <a:tc>
                  <a:txBody>
                    <a:bodyPr/>
                    <a:lstStyle/>
                    <a:p>
                      <a:pPr marL="0" marR="0" algn="ctr" rtl="0">
                        <a:spcAft>
                          <a:spcPts val="2400"/>
                        </a:spcAft>
                        <a:buNone/>
                      </a:pPr>
                      <a:r>
                        <a:rPr lang="en-IN" sz="1500" b="1" dirty="0">
                          <a:solidFill>
                            <a:srgbClr val="1F1F1F"/>
                          </a:solidFill>
                          <a:effectLst/>
                          <a:latin typeface="Inter"/>
                        </a:rPr>
                        <a:t>OpenAI Agents SDK [10]</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Lightweight Handoffs &amp; Guardrails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Minimal abstractions, built-in tracing, standardized routing primitives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Lacks built-in persistent long-term memory or native graph structures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Rapid deployment of production agents, voice pipelines, clear delegation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Very Good:</a:t>
                      </a:r>
                      <a:r>
                        <a:rPr lang="en-IN" sz="1400" dirty="0">
                          <a:solidFill>
                            <a:srgbClr val="1F1F1F"/>
                          </a:solidFill>
                          <a:effectLst/>
                          <a:latin typeface="Inter"/>
                        </a:rPr>
                        <a:t> Provider-agnostic design allows it to run offline by routing to local models via the Chat Completions API.</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3338199989"/>
                  </a:ext>
                </a:extLst>
              </a:tr>
            </a:tbl>
          </a:graphicData>
        </a:graphic>
      </p:graphicFrame>
      <p:sp>
        <p:nvSpPr>
          <p:cNvPr id="4" name="TextBox 3">
            <a:extLst>
              <a:ext uri="{FF2B5EF4-FFF2-40B4-BE49-F238E27FC236}">
                <a16:creationId xmlns:a16="http://schemas.microsoft.com/office/drawing/2014/main" id="{1564923B-2647-F13A-470D-390325988E02}"/>
              </a:ext>
            </a:extLst>
          </p:cNvPr>
          <p:cNvSpPr txBox="1"/>
          <p:nvPr/>
        </p:nvSpPr>
        <p:spPr>
          <a:xfrm>
            <a:off x="497608" y="6516324"/>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571500" y="1325909"/>
            <a:ext cx="11049000" cy="589392"/>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Deploying via offline models ensures data privacy. Model selection is based on VRAM footprint</a:t>
            </a:r>
            <a:r>
              <a:rPr lang="en-IN" sz="1500" dirty="0">
                <a:solidFill>
                  <a:srgbClr val="334155"/>
                </a:solidFill>
                <a:latin typeface="Inter"/>
              </a:rPr>
              <a:t>, T</a:t>
            </a:r>
            <a:r>
              <a:rPr sz="1500" b="0" i="0" u="none" dirty="0">
                <a:solidFill>
                  <a:srgbClr val="334155"/>
                </a:solidFill>
                <a:latin typeface="Inter"/>
              </a:rPr>
              <a:t>raining data freshness</a:t>
            </a:r>
            <a:r>
              <a:rPr lang="en-IN" sz="1500" b="0" i="0" u="none" dirty="0">
                <a:solidFill>
                  <a:srgbClr val="334155"/>
                </a:solidFill>
                <a:latin typeface="Inter"/>
              </a:rPr>
              <a:t>, Suitable for Agentic Operations</a:t>
            </a:r>
            <a:r>
              <a:rPr sz="1500" b="0" i="0" u="none" dirty="0">
                <a:solidFill>
                  <a:srgbClr val="334155"/>
                </a:solidFill>
                <a:latin typeface="Inter"/>
              </a:rPr>
              <a:t>.</a:t>
            </a:r>
          </a:p>
        </p:txBody>
      </p:sp>
      <p:sp>
        <p:nvSpPr>
          <p:cNvPr id="23" name="TextBox 22"/>
          <p:cNvSpPr txBox="1"/>
          <p:nvPr/>
        </p:nvSpPr>
        <p:spPr>
          <a:xfrm>
            <a:off x="571500" y="57149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Local Offline </a:t>
            </a:r>
            <a:r>
              <a:rPr sz="3300" b="1" i="0" u="none" dirty="0">
                <a:solidFill>
                  <a:srgbClr val="2563EB"/>
                </a:solidFill>
                <a:latin typeface="Inter"/>
              </a:rPr>
              <a:t>Execution Strategy</a:t>
            </a:r>
          </a:p>
        </p:txBody>
      </p:sp>
      <p:graphicFrame>
        <p:nvGraphicFramePr>
          <p:cNvPr id="3" name="Table 2">
            <a:extLst>
              <a:ext uri="{FF2B5EF4-FFF2-40B4-BE49-F238E27FC236}">
                <a16:creationId xmlns:a16="http://schemas.microsoft.com/office/drawing/2014/main" id="{2AA6FC51-8DBD-43A2-56EB-F2C2A62376BA}"/>
              </a:ext>
            </a:extLst>
          </p:cNvPr>
          <p:cNvGraphicFramePr>
            <a:graphicFrameLocks noGrp="1"/>
          </p:cNvGraphicFramePr>
          <p:nvPr>
            <p:extLst>
              <p:ext uri="{D42A27DB-BD31-4B8C-83A1-F6EECF244321}">
                <p14:modId xmlns:p14="http://schemas.microsoft.com/office/powerpoint/2010/main" val="269185049"/>
              </p:ext>
            </p:extLst>
          </p:nvPr>
        </p:nvGraphicFramePr>
        <p:xfrm>
          <a:off x="571501" y="2093145"/>
          <a:ext cx="11049000" cy="4034312"/>
        </p:xfrm>
        <a:graphic>
          <a:graphicData uri="http://schemas.openxmlformats.org/drawingml/2006/table">
            <a:tbl>
              <a:tblPr>
                <a:tableStyleId>{2D5ABB26-0587-4C30-8999-92F81FD0307C}</a:tableStyleId>
              </a:tblPr>
              <a:tblGrid>
                <a:gridCol w="2209800">
                  <a:extLst>
                    <a:ext uri="{9D8B030D-6E8A-4147-A177-3AD203B41FA5}">
                      <a16:colId xmlns:a16="http://schemas.microsoft.com/office/drawing/2014/main" val="1348557304"/>
                    </a:ext>
                  </a:extLst>
                </a:gridCol>
                <a:gridCol w="2209800">
                  <a:extLst>
                    <a:ext uri="{9D8B030D-6E8A-4147-A177-3AD203B41FA5}">
                      <a16:colId xmlns:a16="http://schemas.microsoft.com/office/drawing/2014/main" val="3070456705"/>
                    </a:ext>
                  </a:extLst>
                </a:gridCol>
                <a:gridCol w="2209800">
                  <a:extLst>
                    <a:ext uri="{9D8B030D-6E8A-4147-A177-3AD203B41FA5}">
                      <a16:colId xmlns:a16="http://schemas.microsoft.com/office/drawing/2014/main" val="601088068"/>
                    </a:ext>
                  </a:extLst>
                </a:gridCol>
                <a:gridCol w="2209800">
                  <a:extLst>
                    <a:ext uri="{9D8B030D-6E8A-4147-A177-3AD203B41FA5}">
                      <a16:colId xmlns:a16="http://schemas.microsoft.com/office/drawing/2014/main" val="3846660940"/>
                    </a:ext>
                  </a:extLst>
                </a:gridCol>
                <a:gridCol w="2209800">
                  <a:extLst>
                    <a:ext uri="{9D8B030D-6E8A-4147-A177-3AD203B41FA5}">
                      <a16:colId xmlns:a16="http://schemas.microsoft.com/office/drawing/2014/main" val="311613139"/>
                    </a:ext>
                  </a:extLst>
                </a:gridCol>
              </a:tblGrid>
              <a:tr h="498062">
                <a:tc>
                  <a:txBody>
                    <a:bodyPr/>
                    <a:lstStyle/>
                    <a:p>
                      <a:pPr>
                        <a:buNone/>
                      </a:pPr>
                      <a:r>
                        <a:rPr lang="en-IN" sz="1400" b="1"/>
                        <a:t>Model (4-bit Quant)</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Recommended Hardware (VRAM)</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Knowledge Cutoff</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buNone/>
                      </a:pPr>
                      <a:r>
                        <a:rPr lang="en-IN" sz="1400" b="1"/>
                        <a:t>Agent Capability</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Best Use Case</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558253585"/>
                  </a:ext>
                </a:extLst>
              </a:tr>
              <a:tr h="647482">
                <a:tc>
                  <a:txBody>
                    <a:bodyPr/>
                    <a:lstStyle/>
                    <a:p>
                      <a:pPr>
                        <a:buNone/>
                      </a:pPr>
                      <a:r>
                        <a:rPr lang="en-IN" sz="1400" b="1"/>
                        <a:t>Gemma 4 4B</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Laptop / iGPU (~5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dirty="0"/>
                        <a:t>Early 2026</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Basic assistants, RAG, lightweight offline agents</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4273148"/>
                  </a:ext>
                </a:extLst>
              </a:tr>
              <a:tr h="796902">
                <a:tc>
                  <a:txBody>
                    <a:bodyPr/>
                    <a:lstStyle/>
                    <a:p>
                      <a:pPr>
                        <a:buNone/>
                      </a:pPr>
                      <a:r>
                        <a:rPr lang="en-IN" sz="1400" b="1" dirty="0"/>
                        <a:t>Gemma 4 12B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dirty="0"/>
                        <a:t>RTX 4070 (8–10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2026</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dirty="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General-purpose AI agents with good reasoning &amp; tool use</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2028612"/>
                  </a:ext>
                </a:extLst>
              </a:tr>
              <a:tr h="647482">
                <a:tc>
                  <a:txBody>
                    <a:bodyPr/>
                    <a:lstStyle/>
                    <a:p>
                      <a:pPr>
                        <a:buNone/>
                      </a:pPr>
                      <a:r>
                        <a:rPr lang="en-IN" sz="1400" b="1" dirty="0"/>
                        <a:t>Mistral Small 3.2 (24B)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RTX 4090 (16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2025</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Enterprise agents, multi-tool workflows, planning</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7034541"/>
                  </a:ext>
                </a:extLst>
              </a:tr>
              <a:tr h="647482">
                <a:tc>
                  <a:txBody>
                    <a:bodyPr/>
                    <a:lstStyle/>
                    <a:p>
                      <a:pPr>
                        <a:buNone/>
                      </a:pPr>
                      <a:r>
                        <a:rPr lang="en-IN" sz="1400" b="1" dirty="0"/>
                        <a:t>Qwen3-Coder 32B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Workstation / Mac M-Series (20–22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2025</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Coding agents, debugging, software engineering</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5683234"/>
                  </a:ext>
                </a:extLst>
              </a:tr>
              <a:tr h="796902">
                <a:tc>
                  <a:txBody>
                    <a:bodyPr/>
                    <a:lstStyle/>
                    <a:p>
                      <a:pPr>
                        <a:buNone/>
                      </a:pPr>
                      <a:r>
                        <a:rPr lang="en-IN" sz="1400" b="1" dirty="0"/>
                        <a:t>Llama 3.3 70B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Multi-GPU / High-End Server (48+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Late 2023*</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dirty="0"/>
                        <a:t>Research, complex planning, multi-agent orchestration</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1216395"/>
                  </a:ext>
                </a:extLst>
              </a:tr>
            </a:tbl>
          </a:graphicData>
        </a:graphic>
      </p:graphicFrame>
      <p:sp>
        <p:nvSpPr>
          <p:cNvPr id="6" name="TextBox 5">
            <a:extLst>
              <a:ext uri="{FF2B5EF4-FFF2-40B4-BE49-F238E27FC236}">
                <a16:creationId xmlns:a16="http://schemas.microsoft.com/office/drawing/2014/main" id="{FDAF922B-4B4F-0F5C-4CFB-0E6D2F50B079}"/>
              </a:ext>
            </a:extLst>
          </p:cNvPr>
          <p:cNvSpPr txBox="1"/>
          <p:nvPr/>
        </p:nvSpPr>
        <p:spPr>
          <a:xfrm>
            <a:off x="497608" y="6339348"/>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Box 5"/>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p:cNvPicPr>
            <a:picLocks noChangeAspect="1"/>
          </p:cNvPicPr>
          <p:nvPr/>
        </p:nvPicPr>
        <p:blipFill>
          <a:blip r:embed="rId2"/>
          <a:stretch>
            <a:fillRect/>
          </a:stretch>
        </p:blipFill>
        <p:spPr>
          <a:xfrm>
            <a:off x="-127000" y="-20320"/>
            <a:ext cx="12446000" cy="6858000"/>
          </a:xfrm>
          <a:prstGeom prst="rect">
            <a:avLst/>
          </a:prstGeom>
        </p:spPr>
      </p:pic>
      <p:sp>
        <p:nvSpPr>
          <p:cNvPr id="7" name="TextBox 6">
            <a:extLst>
              <a:ext uri="{FF2B5EF4-FFF2-40B4-BE49-F238E27FC236}">
                <a16:creationId xmlns:a16="http://schemas.microsoft.com/office/drawing/2014/main" id="{1F89E271-73A2-A27E-5A7A-195F2FB1D8C6}"/>
              </a:ext>
            </a:extLst>
          </p:cNvPr>
          <p:cNvSpPr txBox="1"/>
          <p:nvPr/>
        </p:nvSpPr>
        <p:spPr>
          <a:xfrm>
            <a:off x="701370" y="607695"/>
            <a:ext cx="2100255" cy="600164"/>
          </a:xfrm>
          <a:prstGeom prst="rect">
            <a:avLst/>
          </a:prstGeom>
          <a:noFill/>
        </p:spPr>
        <p:txBody>
          <a:bodyPr wrap="none" rtlCol="0">
            <a:spAutoFit/>
          </a:bodyPr>
          <a:lstStyle/>
          <a:p>
            <a:r>
              <a:rPr lang="en-IN" sz="3300" b="1" dirty="0">
                <a:latin typeface="Inter"/>
              </a:rPr>
              <a:t>Conclusion</a:t>
            </a:r>
            <a:endParaRPr lang="en-IN" sz="3300" b="1" dirty="0">
              <a:solidFill>
                <a:srgbClr val="2563EB"/>
              </a:solidFill>
              <a:latin typeface="Inter"/>
            </a:endParaRPr>
          </a:p>
        </p:txBody>
      </p:sp>
      <p:sp>
        <p:nvSpPr>
          <p:cNvPr id="8" name="TextBox 7">
            <a:extLst>
              <a:ext uri="{FF2B5EF4-FFF2-40B4-BE49-F238E27FC236}">
                <a16:creationId xmlns:a16="http://schemas.microsoft.com/office/drawing/2014/main" id="{52FFAFDB-284E-FABD-EC24-FB53EBFFF922}"/>
              </a:ext>
            </a:extLst>
          </p:cNvPr>
          <p:cNvSpPr txBox="1"/>
          <p:nvPr/>
        </p:nvSpPr>
        <p:spPr>
          <a:xfrm>
            <a:off x="701370" y="1564640"/>
            <a:ext cx="10982631" cy="2169825"/>
          </a:xfrm>
          <a:prstGeom prst="rect">
            <a:avLst/>
          </a:prstGeom>
          <a:noFill/>
        </p:spPr>
        <p:txBody>
          <a:bodyPr wrap="square" rtlCol="0">
            <a:spAutoFit/>
          </a:bodyPr>
          <a:lstStyle/>
          <a:p>
            <a:pPr algn="just"/>
            <a:r>
              <a:rPr lang="en-IN" sz="1500" dirty="0">
                <a:latin typeface="Inter"/>
              </a:rPr>
              <a:t>We are proposing an </a:t>
            </a:r>
            <a:r>
              <a:rPr lang="en-IN" sz="1500" b="1" dirty="0">
                <a:latin typeface="Inter"/>
              </a:rPr>
              <a:t>Autonomous Software Development Lifecycle (A-SDLC)</a:t>
            </a:r>
            <a:r>
              <a:rPr lang="en-IN" sz="1500" dirty="0">
                <a:latin typeface="Inter"/>
              </a:rPr>
              <a:t> framework that transforms traditional software engineering into an </a:t>
            </a:r>
            <a:r>
              <a:rPr lang="en-IN" sz="1500" b="1" dirty="0">
                <a:latin typeface="Inter"/>
              </a:rPr>
              <a:t>AI-Orchestrated Software Engineering Organization</a:t>
            </a:r>
            <a:r>
              <a:rPr lang="en-IN" sz="1500" dirty="0">
                <a:latin typeface="Inter"/>
              </a:rPr>
              <a:t>.</a:t>
            </a:r>
          </a:p>
          <a:p>
            <a:pPr algn="just"/>
            <a:endParaRPr lang="en-IN" sz="1500" dirty="0">
              <a:latin typeface="Inter"/>
            </a:endParaRPr>
          </a:p>
          <a:p>
            <a:pPr algn="just"/>
            <a:r>
              <a:rPr lang="en-IN" sz="1500" dirty="0">
                <a:latin typeface="Inter"/>
              </a:rPr>
              <a:t>Instead of isolated coding assistants, the system coordinates multiple specialized AI agents across the complete SDLC—from </a:t>
            </a:r>
            <a:r>
              <a:rPr lang="en-IN" sz="1500" b="1" dirty="0">
                <a:latin typeface="Inter"/>
              </a:rPr>
              <a:t>requirements engineering</a:t>
            </a:r>
            <a:r>
              <a:rPr lang="en-IN" sz="1500" dirty="0">
                <a:latin typeface="Inter"/>
              </a:rPr>
              <a:t> to </a:t>
            </a:r>
            <a:r>
              <a:rPr lang="en-IN" sz="1500" b="1" dirty="0">
                <a:latin typeface="Inter"/>
              </a:rPr>
              <a:t>continuous monitoring and learning</a:t>
            </a:r>
            <a:r>
              <a:rPr lang="en-IN" sz="1500" dirty="0">
                <a:latin typeface="Inter"/>
              </a:rPr>
              <a:t>.</a:t>
            </a:r>
          </a:p>
          <a:p>
            <a:pPr algn="just"/>
            <a:endParaRPr lang="en-IN" sz="1500" dirty="0">
              <a:latin typeface="Inter"/>
            </a:endParaRPr>
          </a:p>
          <a:p>
            <a:pPr algn="just"/>
            <a:endParaRPr lang="en-IN" sz="1500" dirty="0">
              <a:latin typeface="Inter"/>
            </a:endParaRPr>
          </a:p>
          <a:p>
            <a:pPr algn="just"/>
            <a:endParaRPr lang="en-IN" sz="1500" dirty="0">
              <a:latin typeface="Inter"/>
            </a:endParaRPr>
          </a:p>
          <a:p>
            <a:pPr algn="just"/>
            <a:endParaRPr lang="en-IN" sz="1500" dirty="0">
              <a:latin typeface="Inter"/>
            </a:endParaRPr>
          </a:p>
        </p:txBody>
      </p:sp>
      <p:sp>
        <p:nvSpPr>
          <p:cNvPr id="106" name="TextBox 105">
            <a:extLst>
              <a:ext uri="{FF2B5EF4-FFF2-40B4-BE49-F238E27FC236}">
                <a16:creationId xmlns:a16="http://schemas.microsoft.com/office/drawing/2014/main" id="{A0B5A693-1607-FD0D-DBB0-E8445D6CC513}"/>
              </a:ext>
            </a:extLst>
          </p:cNvPr>
          <p:cNvSpPr txBox="1"/>
          <p:nvPr/>
        </p:nvSpPr>
        <p:spPr>
          <a:xfrm>
            <a:off x="835865" y="3271837"/>
            <a:ext cx="5550693" cy="314325"/>
          </a:xfrm>
          <a:prstGeom prst="rect">
            <a:avLst/>
          </a:prstGeom>
          <a:noFill/>
        </p:spPr>
        <p:txBody>
          <a:bodyPr wrap="square" lIns="0" tIns="0" rIns="0" bIns="0" anchor="t">
            <a:spAutoFit/>
          </a:bodyPr>
          <a:lstStyle/>
          <a:p>
            <a:pPr algn="l"/>
            <a:r>
              <a:rPr sz="1650" b="1" i="0" u="none">
                <a:solidFill>
                  <a:srgbClr val="0F172A"/>
                </a:solidFill>
                <a:latin typeface="Poppins"/>
              </a:rPr>
              <a:t>Expected Outcomes</a:t>
            </a:r>
          </a:p>
        </p:txBody>
      </p:sp>
      <p:sp>
        <p:nvSpPr>
          <p:cNvPr id="108" name="TextBox 107">
            <a:extLst>
              <a:ext uri="{FF2B5EF4-FFF2-40B4-BE49-F238E27FC236}">
                <a16:creationId xmlns:a16="http://schemas.microsoft.com/office/drawing/2014/main" id="{04E7DDFE-768C-D219-C521-13495D1F11A9}"/>
              </a:ext>
            </a:extLst>
          </p:cNvPr>
          <p:cNvSpPr txBox="1"/>
          <p:nvPr/>
        </p:nvSpPr>
        <p:spPr>
          <a:xfrm>
            <a:off x="1188290" y="377666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Reduced context size and token consumption</a:t>
            </a:r>
          </a:p>
        </p:txBody>
      </p:sp>
      <p:sp>
        <p:nvSpPr>
          <p:cNvPr id="110" name="TextBox 109">
            <a:extLst>
              <a:ext uri="{FF2B5EF4-FFF2-40B4-BE49-F238E27FC236}">
                <a16:creationId xmlns:a16="http://schemas.microsoft.com/office/drawing/2014/main" id="{D7F4456A-FFC2-F6BB-C366-047FB4A94C0D}"/>
              </a:ext>
            </a:extLst>
          </p:cNvPr>
          <p:cNvSpPr txBox="1"/>
          <p:nvPr/>
        </p:nvSpPr>
        <p:spPr>
          <a:xfrm>
            <a:off x="1188290" y="413861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Faster and more accurate software development</a:t>
            </a:r>
          </a:p>
        </p:txBody>
      </p:sp>
      <p:sp>
        <p:nvSpPr>
          <p:cNvPr id="112" name="TextBox 111">
            <a:extLst>
              <a:ext uri="{FF2B5EF4-FFF2-40B4-BE49-F238E27FC236}">
                <a16:creationId xmlns:a16="http://schemas.microsoft.com/office/drawing/2014/main" id="{51FD3D4B-2D8D-1398-75A5-5798D9FC8104}"/>
              </a:ext>
            </a:extLst>
          </p:cNvPr>
          <p:cNvSpPr txBox="1"/>
          <p:nvPr/>
        </p:nvSpPr>
        <p:spPr>
          <a:xfrm>
            <a:off x="1188290" y="450056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Improved traceability across the SDLC</a:t>
            </a:r>
          </a:p>
        </p:txBody>
      </p:sp>
      <p:sp>
        <p:nvSpPr>
          <p:cNvPr id="114" name="TextBox 113">
            <a:extLst>
              <a:ext uri="{FF2B5EF4-FFF2-40B4-BE49-F238E27FC236}">
                <a16:creationId xmlns:a16="http://schemas.microsoft.com/office/drawing/2014/main" id="{E73D4014-86D0-0F9F-27DA-28FF06974CC3}"/>
              </a:ext>
            </a:extLst>
          </p:cNvPr>
          <p:cNvSpPr txBox="1"/>
          <p:nvPr/>
        </p:nvSpPr>
        <p:spPr>
          <a:xfrm>
            <a:off x="1188290" y="486251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Persistent engineering knowledge</a:t>
            </a:r>
          </a:p>
        </p:txBody>
      </p:sp>
      <p:pic>
        <p:nvPicPr>
          <p:cNvPr id="128" name="Picture 127" descr="image.png">
            <a:extLst>
              <a:ext uri="{FF2B5EF4-FFF2-40B4-BE49-F238E27FC236}">
                <a16:creationId xmlns:a16="http://schemas.microsoft.com/office/drawing/2014/main" id="{B60B6D2B-5DE3-7090-DD1B-1B02FDFE23A0}"/>
              </a:ext>
            </a:extLst>
          </p:cNvPr>
          <p:cNvPicPr>
            <a:picLocks noChangeAspect="1"/>
          </p:cNvPicPr>
          <p:nvPr/>
        </p:nvPicPr>
        <p:blipFill>
          <a:blip r:embed="rId3"/>
          <a:stretch>
            <a:fillRect/>
          </a:stretch>
        </p:blipFill>
        <p:spPr>
          <a:xfrm>
            <a:off x="835865" y="3771900"/>
            <a:ext cx="209550" cy="219075"/>
          </a:xfrm>
          <a:prstGeom prst="rect">
            <a:avLst/>
          </a:prstGeom>
        </p:spPr>
      </p:pic>
      <p:pic>
        <p:nvPicPr>
          <p:cNvPr id="130" name="Picture 129" descr="image.png">
            <a:extLst>
              <a:ext uri="{FF2B5EF4-FFF2-40B4-BE49-F238E27FC236}">
                <a16:creationId xmlns:a16="http://schemas.microsoft.com/office/drawing/2014/main" id="{56190B3E-1981-C098-5E90-E0BEE0580BE5}"/>
              </a:ext>
            </a:extLst>
          </p:cNvPr>
          <p:cNvPicPr>
            <a:picLocks noChangeAspect="1"/>
          </p:cNvPicPr>
          <p:nvPr/>
        </p:nvPicPr>
        <p:blipFill>
          <a:blip r:embed="rId3"/>
          <a:stretch>
            <a:fillRect/>
          </a:stretch>
        </p:blipFill>
        <p:spPr>
          <a:xfrm>
            <a:off x="835865" y="4133850"/>
            <a:ext cx="209550" cy="219075"/>
          </a:xfrm>
          <a:prstGeom prst="rect">
            <a:avLst/>
          </a:prstGeom>
        </p:spPr>
      </p:pic>
      <p:pic>
        <p:nvPicPr>
          <p:cNvPr id="132" name="Picture 131" descr="image.png">
            <a:extLst>
              <a:ext uri="{FF2B5EF4-FFF2-40B4-BE49-F238E27FC236}">
                <a16:creationId xmlns:a16="http://schemas.microsoft.com/office/drawing/2014/main" id="{A4CC8115-3F4C-33B4-77DA-E981D8E77912}"/>
              </a:ext>
            </a:extLst>
          </p:cNvPr>
          <p:cNvPicPr>
            <a:picLocks noChangeAspect="1"/>
          </p:cNvPicPr>
          <p:nvPr/>
        </p:nvPicPr>
        <p:blipFill>
          <a:blip r:embed="rId3"/>
          <a:stretch>
            <a:fillRect/>
          </a:stretch>
        </p:blipFill>
        <p:spPr>
          <a:xfrm>
            <a:off x="835865" y="4495800"/>
            <a:ext cx="209550" cy="219075"/>
          </a:xfrm>
          <a:prstGeom prst="rect">
            <a:avLst/>
          </a:prstGeom>
        </p:spPr>
      </p:pic>
      <p:pic>
        <p:nvPicPr>
          <p:cNvPr id="134" name="Picture 133" descr="image.png">
            <a:extLst>
              <a:ext uri="{FF2B5EF4-FFF2-40B4-BE49-F238E27FC236}">
                <a16:creationId xmlns:a16="http://schemas.microsoft.com/office/drawing/2014/main" id="{4D4651EE-C88D-E6BA-38F1-E14847DEFDC0}"/>
              </a:ext>
            </a:extLst>
          </p:cNvPr>
          <p:cNvPicPr>
            <a:picLocks noChangeAspect="1"/>
          </p:cNvPicPr>
          <p:nvPr/>
        </p:nvPicPr>
        <p:blipFill>
          <a:blip r:embed="rId3"/>
          <a:stretch>
            <a:fillRect/>
          </a:stretch>
        </p:blipFill>
        <p:spPr>
          <a:xfrm>
            <a:off x="835865" y="4857750"/>
            <a:ext cx="209550" cy="219075"/>
          </a:xfrm>
          <a:prstGeom prst="rect">
            <a:avLst/>
          </a:prstGeom>
        </p:spPr>
      </p:pic>
      <p:sp>
        <p:nvSpPr>
          <p:cNvPr id="4" name="Rectangle 3">
            <a:extLst>
              <a:ext uri="{FF2B5EF4-FFF2-40B4-BE49-F238E27FC236}">
                <a16:creationId xmlns:a16="http://schemas.microsoft.com/office/drawing/2014/main" id="{89409D1F-C205-C268-4D1E-23F4817CFC66}"/>
              </a:ext>
            </a:extLst>
          </p:cNvPr>
          <p:cNvSpPr/>
          <p:nvPr/>
        </p:nvSpPr>
        <p:spPr>
          <a:xfrm>
            <a:off x="760362" y="1201407"/>
            <a:ext cx="2124075" cy="19050"/>
          </a:xfrm>
          <a:prstGeom prst="rect">
            <a:avLst/>
          </a:prstGeom>
          <a:solidFill>
            <a:srgbClr val="38BDF8"/>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descr="image.png">
            <a:extLst>
              <a:ext uri="{FF2B5EF4-FFF2-40B4-BE49-F238E27FC236}">
                <a16:creationId xmlns:a16="http://schemas.microsoft.com/office/drawing/2014/main" id="{79FB4A8F-71C5-327D-3986-3FDF98E36CBD}"/>
              </a:ext>
            </a:extLst>
          </p:cNvPr>
          <p:cNvPicPr>
            <a:picLocks noChangeAspect="1"/>
          </p:cNvPicPr>
          <p:nvPr/>
        </p:nvPicPr>
        <p:blipFill>
          <a:blip r:embed="rId2"/>
          <a:stretch>
            <a:fillRect/>
          </a:stretch>
        </p:blipFill>
        <p:spPr>
          <a:xfrm>
            <a:off x="-241877" y="-20324"/>
            <a:ext cx="12446000" cy="6858000"/>
          </a:xfrm>
          <a:prstGeom prst="rect">
            <a:avLst/>
          </a:prstGeom>
        </p:spPr>
      </p:pic>
      <p:sp>
        <p:nvSpPr>
          <p:cNvPr id="3" name="TextBox 2"/>
          <p:cNvSpPr txBox="1"/>
          <p:nvPr/>
        </p:nvSpPr>
        <p:spPr>
          <a:xfrm>
            <a:off x="495300" y="1332976"/>
            <a:ext cx="5600700" cy="246221"/>
          </a:xfrm>
          <a:prstGeom prst="rect">
            <a:avLst/>
          </a:prstGeom>
          <a:noFill/>
        </p:spPr>
        <p:txBody>
          <a:bodyPr wrap="square" lIns="0" tIns="0" rIns="0" bIns="0" anchor="t">
            <a:spAutoFit/>
          </a:bodyPr>
          <a:lstStyle/>
          <a:p>
            <a:pPr algn="l"/>
            <a:r>
              <a:rPr sz="1600" b="1" i="0" u="none" dirty="0">
                <a:latin typeface="Inter"/>
              </a:rPr>
              <a:t>Research Papers</a:t>
            </a:r>
            <a:r>
              <a:rPr lang="en-IN" sz="1600" b="1" i="0" u="none" dirty="0">
                <a:latin typeface="Inter"/>
              </a:rPr>
              <a:t> &amp; Book</a:t>
            </a:r>
            <a:endParaRPr sz="1600" b="1" i="0" u="none" dirty="0">
              <a:latin typeface="Inter"/>
            </a:endParaRPr>
          </a:p>
        </p:txBody>
      </p:sp>
      <p:sp>
        <p:nvSpPr>
          <p:cNvPr id="4" name="Rectangle 3"/>
          <p:cNvSpPr/>
          <p:nvPr/>
        </p:nvSpPr>
        <p:spPr>
          <a:xfrm>
            <a:off x="495300" y="1704451"/>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 name="TextBox 4"/>
          <p:cNvSpPr txBox="1"/>
          <p:nvPr/>
        </p:nvSpPr>
        <p:spPr>
          <a:xfrm>
            <a:off x="6210300" y="1332976"/>
            <a:ext cx="5600700" cy="246221"/>
          </a:xfrm>
          <a:prstGeom prst="rect">
            <a:avLst/>
          </a:prstGeom>
          <a:noFill/>
        </p:spPr>
        <p:txBody>
          <a:bodyPr wrap="square" lIns="0" tIns="0" rIns="0" bIns="0" anchor="t">
            <a:spAutoFit/>
          </a:bodyPr>
          <a:lstStyle/>
          <a:p>
            <a:pPr algn="l"/>
            <a:r>
              <a:rPr lang="en-IN" sz="1600" b="1" i="0" u="none" dirty="0">
                <a:latin typeface="Inter"/>
              </a:rPr>
              <a:t>Articles &amp; Official Documentations</a:t>
            </a:r>
            <a:endParaRPr sz="1600" b="1" i="0" u="none" dirty="0">
              <a:latin typeface="Inter"/>
            </a:endParaRPr>
          </a:p>
        </p:txBody>
      </p:sp>
      <p:sp>
        <p:nvSpPr>
          <p:cNvPr id="6" name="Rectangle 5"/>
          <p:cNvSpPr/>
          <p:nvPr/>
        </p:nvSpPr>
        <p:spPr>
          <a:xfrm>
            <a:off x="6210300" y="1704451"/>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495300" y="1904476"/>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[1]</a:t>
            </a:r>
            <a:r>
              <a:rPr sz="1400" b="0" i="0" u="none" dirty="0">
                <a:latin typeface="Inter"/>
              </a:rPr>
              <a:t> He, J., </a:t>
            </a:r>
            <a:r>
              <a:rPr sz="1400" b="0" i="0" u="none" dirty="0" err="1">
                <a:latin typeface="Inter"/>
              </a:rPr>
              <a:t>Treude</a:t>
            </a:r>
            <a:r>
              <a:rPr sz="1400" b="0" i="0" u="none" dirty="0">
                <a:latin typeface="Inter"/>
              </a:rPr>
              <a:t>, C., &amp; Lo, D. (2025). </a:t>
            </a:r>
            <a:r>
              <a:rPr sz="1400" b="0" i="1" u="none" dirty="0">
                <a:latin typeface="Inter"/>
              </a:rPr>
              <a:t>LLM-Based Multi-Agent Systems for Software Engineering: Literature Review, Vision...</a:t>
            </a:r>
            <a:r>
              <a:rPr sz="1400" b="0" i="0" u="none" dirty="0">
                <a:latin typeface="Inter"/>
              </a:rPr>
              <a:t> ACM TOSEM.</a:t>
            </a:r>
          </a:p>
        </p:txBody>
      </p:sp>
      <p:sp>
        <p:nvSpPr>
          <p:cNvPr id="8" name="TextBox 7"/>
          <p:cNvSpPr txBox="1"/>
          <p:nvPr/>
        </p:nvSpPr>
        <p:spPr>
          <a:xfrm>
            <a:off x="495300" y="2445317"/>
            <a:ext cx="5334000" cy="426541"/>
          </a:xfrm>
          <a:prstGeom prst="rect">
            <a:avLst/>
          </a:prstGeom>
          <a:noFill/>
        </p:spPr>
        <p:txBody>
          <a:bodyPr wrap="square" lIns="0" tIns="0" rIns="0" bIns="0" anchor="t">
            <a:spAutoFit/>
          </a:bodyPr>
          <a:lstStyle/>
          <a:p>
            <a:pPr algn="l">
              <a:lnSpc>
                <a:spcPts val="1679"/>
              </a:lnSpc>
            </a:pPr>
            <a:r>
              <a:rPr sz="1400" b="1" i="0" u="none">
                <a:latin typeface="Inter"/>
              </a:rPr>
              <a:t>[2]</a:t>
            </a:r>
            <a:r>
              <a:rPr sz="1400" b="0" i="0" u="none">
                <a:latin typeface="Inter"/>
              </a:rPr>
              <a:t> Apostolou, S. A., et al. (2026). </a:t>
            </a:r>
            <a:r>
              <a:rPr sz="1400" b="0" i="1" u="none">
                <a:latin typeface="Inter"/>
              </a:rPr>
              <a:t>Assistance to Autonomy: A Systematic Literature Review of Agentic AI across the SDLC</a:t>
            </a:r>
            <a:r>
              <a:rPr sz="1400" b="0" i="0" u="none">
                <a:latin typeface="Inter"/>
              </a:rPr>
              <a:t>. arXiv.</a:t>
            </a:r>
          </a:p>
        </p:txBody>
      </p:sp>
      <p:sp>
        <p:nvSpPr>
          <p:cNvPr id="9" name="TextBox 8"/>
          <p:cNvSpPr txBox="1"/>
          <p:nvPr/>
        </p:nvSpPr>
        <p:spPr>
          <a:xfrm>
            <a:off x="495300" y="2986159"/>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[3]</a:t>
            </a:r>
            <a:r>
              <a:rPr sz="1400" b="0" i="0" u="none" dirty="0">
                <a:latin typeface="Inter"/>
              </a:rPr>
              <a:t> </a:t>
            </a:r>
            <a:r>
              <a:rPr sz="1400" b="0" i="1" u="none" dirty="0">
                <a:latin typeface="Inter"/>
              </a:rPr>
              <a:t>Agentic AI in the Software Development Lifecycle: Architecture, Empirical Evidence...</a:t>
            </a:r>
            <a:r>
              <a:rPr sz="1400" b="0" i="0" u="none" dirty="0">
                <a:latin typeface="Inter"/>
              </a:rPr>
              <a:t> (2026). </a:t>
            </a:r>
            <a:r>
              <a:rPr sz="1400" b="0" i="0" u="none" dirty="0" err="1">
                <a:latin typeface="Inter"/>
              </a:rPr>
              <a:t>arXiv</a:t>
            </a:r>
            <a:r>
              <a:rPr sz="1400" b="0" i="0" u="none" dirty="0">
                <a:latin typeface="Inter"/>
              </a:rPr>
              <a:t>.</a:t>
            </a:r>
          </a:p>
        </p:txBody>
      </p:sp>
      <p:sp>
        <p:nvSpPr>
          <p:cNvPr id="10" name="TextBox 9"/>
          <p:cNvSpPr txBox="1"/>
          <p:nvPr/>
        </p:nvSpPr>
        <p:spPr>
          <a:xfrm>
            <a:off x="495300" y="3527000"/>
            <a:ext cx="5524500" cy="646908"/>
          </a:xfrm>
          <a:prstGeom prst="rect">
            <a:avLst/>
          </a:prstGeom>
          <a:noFill/>
        </p:spPr>
        <p:txBody>
          <a:bodyPr wrap="square" lIns="0" tIns="0" rIns="0" bIns="0" anchor="t">
            <a:spAutoFit/>
          </a:bodyPr>
          <a:lstStyle/>
          <a:p>
            <a:pPr algn="just">
              <a:lnSpc>
                <a:spcPts val="1679"/>
              </a:lnSpc>
            </a:pPr>
            <a:r>
              <a:rPr sz="1400" b="1" u="none" dirty="0">
                <a:latin typeface="Inter"/>
              </a:rPr>
              <a:t>[4]</a:t>
            </a:r>
            <a:r>
              <a:rPr lang="en-IN" sz="1400" b="1" u="none" dirty="0">
                <a:latin typeface="Inter"/>
              </a:rPr>
              <a:t> </a:t>
            </a:r>
            <a:r>
              <a:rPr lang="en-IN" sz="1400" b="1" dirty="0">
                <a:latin typeface="Inter"/>
              </a:rPr>
              <a:t> </a:t>
            </a:r>
            <a:r>
              <a:rPr lang="en-IN" sz="1400" i="1" dirty="0">
                <a:latin typeface="Inter"/>
              </a:rPr>
              <a:t>Veselka </a:t>
            </a:r>
            <a:r>
              <a:rPr lang="en-IN" sz="1400" i="1" dirty="0" err="1">
                <a:latin typeface="Inter"/>
              </a:rPr>
              <a:t>Sasheva</a:t>
            </a:r>
            <a:r>
              <a:rPr lang="en-IN" sz="1400" i="1" dirty="0">
                <a:latin typeface="Inter"/>
              </a:rPr>
              <a:t> Petrova-Dimitrova, “Classifications of intelligence agents and their applications,” Fundamental sciences and applications, Vol. 28, No. 1, 2022</a:t>
            </a:r>
            <a:r>
              <a:rPr lang="en-IN" sz="1200" i="1" dirty="0">
                <a:latin typeface="Inter"/>
              </a:rPr>
              <a:t>.</a:t>
            </a:r>
            <a:endParaRPr sz="1200" b="0" i="1" u="none" dirty="0">
              <a:latin typeface="Inter"/>
            </a:endParaRPr>
          </a:p>
        </p:txBody>
      </p:sp>
      <p:sp>
        <p:nvSpPr>
          <p:cNvPr id="11" name="TextBox 10"/>
          <p:cNvSpPr txBox="1"/>
          <p:nvPr/>
        </p:nvSpPr>
        <p:spPr>
          <a:xfrm>
            <a:off x="495300" y="4315198"/>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[5]</a:t>
            </a:r>
            <a:r>
              <a:rPr sz="1400" b="0" i="0" u="none" dirty="0">
                <a:latin typeface="Inter"/>
              </a:rPr>
              <a:t> Sommerville, I. </a:t>
            </a:r>
            <a:r>
              <a:rPr sz="1400" b="0" i="1" u="none" dirty="0">
                <a:latin typeface="Inter"/>
              </a:rPr>
              <a:t>Software Engineering (10th Edition)</a:t>
            </a:r>
            <a:r>
              <a:rPr sz="1400" b="0" i="0" u="none" dirty="0">
                <a:latin typeface="Inter"/>
              </a:rPr>
              <a:t>.</a:t>
            </a:r>
            <a:endParaRPr lang="en-IN" sz="1400" b="0" i="0" u="none" dirty="0">
              <a:latin typeface="Inter"/>
            </a:endParaRPr>
          </a:p>
        </p:txBody>
      </p:sp>
      <p:sp>
        <p:nvSpPr>
          <p:cNvPr id="12" name="TextBox 11"/>
          <p:cNvSpPr txBox="1"/>
          <p:nvPr/>
        </p:nvSpPr>
        <p:spPr>
          <a:xfrm>
            <a:off x="6210300" y="1904476"/>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7</a:t>
            </a:r>
            <a:r>
              <a:rPr sz="1400" b="1" i="0" u="none" dirty="0">
                <a:latin typeface="Inter"/>
              </a:rPr>
              <a:t>]</a:t>
            </a:r>
            <a:r>
              <a:rPr sz="1400" b="0" i="0" u="none" dirty="0">
                <a:latin typeface="Inter"/>
              </a:rPr>
              <a:t> </a:t>
            </a:r>
            <a:r>
              <a:rPr sz="1400" b="0" i="1" u="none" dirty="0" err="1">
                <a:latin typeface="Inter"/>
              </a:rPr>
              <a:t>LangChain</a:t>
            </a:r>
            <a:r>
              <a:rPr sz="1400" b="0" i="1" u="none" dirty="0">
                <a:latin typeface="Inter"/>
              </a:rPr>
              <a:t> Documentation</a:t>
            </a:r>
            <a:r>
              <a:rPr sz="1400" b="0" i="0" u="none" dirty="0">
                <a:latin typeface="Inter"/>
              </a:rPr>
              <a:t>.</a:t>
            </a:r>
          </a:p>
        </p:txBody>
      </p:sp>
      <p:sp>
        <p:nvSpPr>
          <p:cNvPr id="13" name="TextBox 12"/>
          <p:cNvSpPr txBox="1"/>
          <p:nvPr/>
        </p:nvSpPr>
        <p:spPr>
          <a:xfrm>
            <a:off x="6210300" y="2232046"/>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8</a:t>
            </a:r>
            <a:r>
              <a:rPr sz="1400" b="1" i="0" u="none" dirty="0">
                <a:latin typeface="Inter"/>
              </a:rPr>
              <a:t>]</a:t>
            </a:r>
            <a:r>
              <a:rPr sz="1400" b="0" i="0" u="none" dirty="0">
                <a:latin typeface="Inter"/>
              </a:rPr>
              <a:t> </a:t>
            </a:r>
            <a:r>
              <a:rPr sz="1400" b="0" i="1" u="none" dirty="0" err="1">
                <a:latin typeface="Inter"/>
              </a:rPr>
              <a:t>LangGraph</a:t>
            </a:r>
            <a:r>
              <a:rPr sz="1400" b="0" i="1" u="none" dirty="0">
                <a:latin typeface="Inter"/>
              </a:rPr>
              <a:t> Documentation</a:t>
            </a:r>
            <a:r>
              <a:rPr sz="1400" b="0" i="0" u="none" dirty="0">
                <a:latin typeface="Inter"/>
              </a:rPr>
              <a:t>.</a:t>
            </a:r>
          </a:p>
        </p:txBody>
      </p:sp>
      <p:sp>
        <p:nvSpPr>
          <p:cNvPr id="14" name="TextBox 13"/>
          <p:cNvSpPr txBox="1"/>
          <p:nvPr/>
        </p:nvSpPr>
        <p:spPr>
          <a:xfrm>
            <a:off x="6210300" y="2559617"/>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9</a:t>
            </a:r>
            <a:r>
              <a:rPr sz="1400" b="1" i="0" u="none" dirty="0">
                <a:latin typeface="Inter"/>
              </a:rPr>
              <a:t>]</a:t>
            </a:r>
            <a:r>
              <a:rPr sz="1400" b="0" i="0" u="none" dirty="0">
                <a:latin typeface="Inter"/>
              </a:rPr>
              <a:t> </a:t>
            </a:r>
            <a:r>
              <a:rPr sz="1400" b="0" i="1" u="none" dirty="0" err="1">
                <a:latin typeface="Inter"/>
              </a:rPr>
              <a:t>CrewAI</a:t>
            </a:r>
            <a:r>
              <a:rPr sz="1400" b="0" i="1" u="none" dirty="0">
                <a:latin typeface="Inter"/>
              </a:rPr>
              <a:t> Documentation</a:t>
            </a:r>
            <a:r>
              <a:rPr sz="1400" b="0" i="0" u="none" dirty="0">
                <a:latin typeface="Inter"/>
              </a:rPr>
              <a:t>.</a:t>
            </a:r>
          </a:p>
        </p:txBody>
      </p:sp>
      <p:sp>
        <p:nvSpPr>
          <p:cNvPr id="15" name="TextBox 14"/>
          <p:cNvSpPr txBox="1"/>
          <p:nvPr/>
        </p:nvSpPr>
        <p:spPr>
          <a:xfrm>
            <a:off x="6210300" y="2887188"/>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10</a:t>
            </a:r>
            <a:r>
              <a:rPr sz="1400" b="1" i="0" u="none" dirty="0">
                <a:latin typeface="Inter"/>
              </a:rPr>
              <a:t>]</a:t>
            </a:r>
            <a:r>
              <a:rPr sz="1400" b="0" i="0" u="none" dirty="0">
                <a:latin typeface="Inter"/>
              </a:rPr>
              <a:t> </a:t>
            </a:r>
            <a:r>
              <a:rPr sz="1400" b="0" i="1" u="none" dirty="0">
                <a:latin typeface="Inter"/>
              </a:rPr>
              <a:t>OpenAI Agents SDK Documentation</a:t>
            </a:r>
            <a:r>
              <a:rPr sz="1400" b="0" i="0" u="none" dirty="0">
                <a:latin typeface="Inter"/>
              </a:rPr>
              <a:t>.</a:t>
            </a:r>
          </a:p>
        </p:txBody>
      </p:sp>
      <p:sp>
        <p:nvSpPr>
          <p:cNvPr id="16" name="TextBox 15"/>
          <p:cNvSpPr txBox="1"/>
          <p:nvPr/>
        </p:nvSpPr>
        <p:spPr>
          <a:xfrm>
            <a:off x="6210300" y="3214759"/>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1</a:t>
            </a:r>
            <a:r>
              <a:rPr sz="1400" b="1" i="0" u="none" dirty="0">
                <a:latin typeface="Inter"/>
              </a:rPr>
              <a:t>]</a:t>
            </a:r>
            <a:r>
              <a:rPr sz="1400" b="0" i="0" u="none" dirty="0">
                <a:latin typeface="Inter"/>
              </a:rPr>
              <a:t> Hong, S., et al. (2024). </a:t>
            </a:r>
            <a:r>
              <a:rPr sz="1400" b="0" i="1" u="none" dirty="0" err="1">
                <a:latin typeface="Inter"/>
              </a:rPr>
              <a:t>MetaGPT</a:t>
            </a:r>
            <a:r>
              <a:rPr sz="1400" b="0" i="1" u="none" dirty="0">
                <a:latin typeface="Inter"/>
              </a:rPr>
              <a:t>: Meta Programming for Multi-Agent Collaborative Framework</a:t>
            </a:r>
            <a:r>
              <a:rPr sz="1400" b="0" i="0" u="none" dirty="0">
                <a:latin typeface="Inter"/>
              </a:rPr>
              <a:t>.</a:t>
            </a:r>
          </a:p>
        </p:txBody>
      </p:sp>
      <p:sp>
        <p:nvSpPr>
          <p:cNvPr id="17" name="TextBox 16"/>
          <p:cNvSpPr txBox="1"/>
          <p:nvPr/>
        </p:nvSpPr>
        <p:spPr>
          <a:xfrm>
            <a:off x="6210300" y="3755600"/>
            <a:ext cx="5334000" cy="428900"/>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2</a:t>
            </a:r>
            <a:r>
              <a:rPr sz="1400" b="1" i="0" u="none" dirty="0">
                <a:latin typeface="Inter"/>
              </a:rPr>
              <a:t>]</a:t>
            </a:r>
            <a:r>
              <a:rPr sz="1400" b="0" i="0" u="none" dirty="0">
                <a:latin typeface="Inter"/>
              </a:rPr>
              <a:t> Qian, C., et al. (2024). </a:t>
            </a:r>
            <a:r>
              <a:rPr sz="1400" b="0" i="1" u="none" dirty="0" err="1">
                <a:latin typeface="Inter"/>
              </a:rPr>
              <a:t>ChatDev</a:t>
            </a:r>
            <a:r>
              <a:rPr sz="1400" b="0" i="1" u="none" dirty="0">
                <a:latin typeface="Inter"/>
              </a:rPr>
              <a:t>: Communicative Agents for Software Development</a:t>
            </a:r>
            <a:r>
              <a:rPr sz="1400" b="0" i="0" u="none" dirty="0">
                <a:latin typeface="Inter"/>
              </a:rPr>
              <a:t>.</a:t>
            </a:r>
          </a:p>
        </p:txBody>
      </p:sp>
      <p:sp>
        <p:nvSpPr>
          <p:cNvPr id="18" name="TextBox 17"/>
          <p:cNvSpPr txBox="1"/>
          <p:nvPr/>
        </p:nvSpPr>
        <p:spPr>
          <a:xfrm>
            <a:off x="6210300" y="4296441"/>
            <a:ext cx="5334000" cy="428900"/>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3</a:t>
            </a:r>
            <a:r>
              <a:rPr sz="1400" b="1" i="0" u="none" dirty="0">
                <a:latin typeface="Inter"/>
              </a:rPr>
              <a:t>]</a:t>
            </a:r>
            <a:r>
              <a:rPr sz="1400" b="0" i="0" u="none" dirty="0">
                <a:latin typeface="Inter"/>
              </a:rPr>
              <a:t> Yang, J., et al. (2024). </a:t>
            </a:r>
            <a:r>
              <a:rPr sz="1400" b="0" i="1" u="none" dirty="0">
                <a:latin typeface="Inter"/>
              </a:rPr>
              <a:t>SWE-Agent: Agent-Computer Interfaces Enable Automated SE</a:t>
            </a:r>
            <a:r>
              <a:rPr sz="1400" b="0" i="0" u="none" dirty="0">
                <a:latin typeface="Inter"/>
              </a:rPr>
              <a:t>.</a:t>
            </a:r>
          </a:p>
        </p:txBody>
      </p:sp>
      <p:sp>
        <p:nvSpPr>
          <p:cNvPr id="19" name="TextBox 18"/>
          <p:cNvSpPr txBox="1"/>
          <p:nvPr/>
        </p:nvSpPr>
        <p:spPr>
          <a:xfrm>
            <a:off x="6210300" y="4837283"/>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4</a:t>
            </a:r>
            <a:r>
              <a:rPr sz="1400" b="1" i="0" u="none" dirty="0">
                <a:latin typeface="Inter"/>
              </a:rPr>
              <a:t>]</a:t>
            </a:r>
            <a:r>
              <a:rPr sz="1400" b="0" i="0" u="none" dirty="0">
                <a:latin typeface="Inter"/>
              </a:rPr>
              <a:t> </a:t>
            </a:r>
            <a:r>
              <a:rPr sz="1400" b="0" i="1" u="none" dirty="0" err="1">
                <a:latin typeface="Inter"/>
              </a:rPr>
              <a:t>OpenHands</a:t>
            </a:r>
            <a:r>
              <a:rPr sz="1400" b="0" i="1" u="none" dirty="0">
                <a:latin typeface="Inter"/>
              </a:rPr>
              <a:t> Project</a:t>
            </a:r>
            <a:r>
              <a:rPr sz="1400" b="0" i="0" u="none" dirty="0">
                <a:latin typeface="Inter"/>
              </a:rPr>
              <a:t>.</a:t>
            </a:r>
          </a:p>
        </p:txBody>
      </p:sp>
      <p:sp>
        <p:nvSpPr>
          <p:cNvPr id="20" name="TextBox 19"/>
          <p:cNvSpPr txBox="1"/>
          <p:nvPr/>
        </p:nvSpPr>
        <p:spPr>
          <a:xfrm>
            <a:off x="6220132" y="5164854"/>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5</a:t>
            </a:r>
            <a:r>
              <a:rPr sz="1400" b="1" i="0" u="none" dirty="0">
                <a:latin typeface="Inter"/>
              </a:rPr>
              <a:t>]</a:t>
            </a:r>
            <a:r>
              <a:rPr sz="1400" b="0" i="0" u="none" dirty="0">
                <a:latin typeface="Inter"/>
              </a:rPr>
              <a:t> Cognition AI – </a:t>
            </a:r>
            <a:r>
              <a:rPr sz="1400" b="0" i="1" u="none" dirty="0">
                <a:latin typeface="Inter"/>
              </a:rPr>
              <a:t>Devin: AI Software Engineer</a:t>
            </a:r>
            <a:r>
              <a:rPr sz="1400" b="0" i="0" u="none" dirty="0">
                <a:latin typeface="Inter"/>
              </a:rPr>
              <a:t>.</a:t>
            </a:r>
          </a:p>
        </p:txBody>
      </p:sp>
      <p:sp>
        <p:nvSpPr>
          <p:cNvPr id="35" name="TextBox 34"/>
          <p:cNvSpPr txBox="1"/>
          <p:nvPr/>
        </p:nvSpPr>
        <p:spPr>
          <a:xfrm>
            <a:off x="495300" y="484060"/>
            <a:ext cx="2230278" cy="461665"/>
          </a:xfrm>
          <a:prstGeom prst="rect">
            <a:avLst/>
          </a:prstGeom>
          <a:noFill/>
        </p:spPr>
        <p:txBody>
          <a:bodyPr wrap="square" lIns="0" tIns="0" rIns="0" bIns="0" anchor="t">
            <a:spAutoFit/>
          </a:bodyPr>
          <a:lstStyle/>
          <a:p>
            <a:pPr algn="l"/>
            <a:r>
              <a:rPr sz="3000" b="1" i="0" u="none" dirty="0">
                <a:latin typeface="Inter"/>
              </a:rPr>
              <a:t>References</a:t>
            </a:r>
          </a:p>
        </p:txBody>
      </p:sp>
      <p:sp>
        <p:nvSpPr>
          <p:cNvPr id="36" name="Rectangle 35"/>
          <p:cNvSpPr/>
          <p:nvPr/>
        </p:nvSpPr>
        <p:spPr>
          <a:xfrm>
            <a:off x="495300" y="1046035"/>
            <a:ext cx="2124075" cy="19050"/>
          </a:xfrm>
          <a:prstGeom prst="rect">
            <a:avLst/>
          </a:prstGeom>
          <a:solidFill>
            <a:srgbClr val="38BDF8"/>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6E8E62BB-505E-5A2F-08B5-EE941234AD41}"/>
              </a:ext>
            </a:extLst>
          </p:cNvPr>
          <p:cNvSpPr txBox="1"/>
          <p:nvPr/>
        </p:nvSpPr>
        <p:spPr>
          <a:xfrm>
            <a:off x="6220132" y="5497162"/>
            <a:ext cx="5334000" cy="428900"/>
          </a:xfrm>
          <a:prstGeom prst="rect">
            <a:avLst/>
          </a:prstGeom>
          <a:noFill/>
        </p:spPr>
        <p:txBody>
          <a:bodyPr wrap="square" lIns="0" tIns="0" rIns="0" bIns="0" anchor="t">
            <a:spAutoFit/>
          </a:bodyPr>
          <a:lstStyle/>
          <a:p>
            <a:pPr>
              <a:lnSpc>
                <a:spcPts val="1679"/>
              </a:lnSpc>
            </a:pPr>
            <a:r>
              <a:rPr lang="en-IN" sz="1400" b="1" dirty="0">
                <a:latin typeface="Inter"/>
              </a:rPr>
              <a:t>[16] </a:t>
            </a:r>
            <a:r>
              <a:rPr lang="en-IN" sz="1400" i="1" dirty="0">
                <a:latin typeface="Inter"/>
              </a:rPr>
              <a:t>Microsoft-copilot/for-individuals/do-more-with-ai/general-ai/understanding-ai-agents-vs-chatbots?</a:t>
            </a:r>
            <a:endParaRPr sz="1400" i="1" u="none" dirty="0">
              <a:latin typeface="Inter"/>
            </a:endParaRPr>
          </a:p>
        </p:txBody>
      </p:sp>
      <p:sp>
        <p:nvSpPr>
          <p:cNvPr id="22" name="TextBox 21">
            <a:extLst>
              <a:ext uri="{FF2B5EF4-FFF2-40B4-BE49-F238E27FC236}">
                <a16:creationId xmlns:a16="http://schemas.microsoft.com/office/drawing/2014/main" id="{58149381-955F-2B37-3862-782D5C80C1DD}"/>
              </a:ext>
            </a:extLst>
          </p:cNvPr>
          <p:cNvSpPr txBox="1"/>
          <p:nvPr/>
        </p:nvSpPr>
        <p:spPr>
          <a:xfrm>
            <a:off x="6220132" y="6006937"/>
            <a:ext cx="5334000" cy="210892"/>
          </a:xfrm>
          <a:prstGeom prst="rect">
            <a:avLst/>
          </a:prstGeom>
          <a:noFill/>
        </p:spPr>
        <p:txBody>
          <a:bodyPr wrap="square" lIns="0" tIns="0" rIns="0" bIns="0" anchor="t">
            <a:spAutoFit/>
          </a:bodyPr>
          <a:lstStyle/>
          <a:p>
            <a:pPr>
              <a:lnSpc>
                <a:spcPts val="1679"/>
              </a:lnSpc>
            </a:pPr>
            <a:r>
              <a:rPr lang="en-IN" sz="1400" b="1" dirty="0">
                <a:latin typeface="Inter"/>
              </a:rPr>
              <a:t>[17] </a:t>
            </a:r>
            <a:r>
              <a:rPr lang="en-IN" sz="1400" i="1" dirty="0">
                <a:latin typeface="Inter"/>
              </a:rPr>
              <a:t>IBM: https://www.ibm.com/think/topics/ai-agents</a:t>
            </a:r>
            <a:endParaRPr sz="1400" i="1" u="none" dirty="0">
              <a:latin typeface="Inter"/>
            </a:endParaRPr>
          </a:p>
        </p:txBody>
      </p:sp>
      <p:sp>
        <p:nvSpPr>
          <p:cNvPr id="23" name="TextBox 22">
            <a:extLst>
              <a:ext uri="{FF2B5EF4-FFF2-40B4-BE49-F238E27FC236}">
                <a16:creationId xmlns:a16="http://schemas.microsoft.com/office/drawing/2014/main" id="{A08DFA41-5778-0F5C-F51F-B44ED9727639}"/>
              </a:ext>
            </a:extLst>
          </p:cNvPr>
          <p:cNvSpPr txBox="1"/>
          <p:nvPr/>
        </p:nvSpPr>
        <p:spPr>
          <a:xfrm>
            <a:off x="6220132" y="6316860"/>
            <a:ext cx="5334000" cy="428900"/>
          </a:xfrm>
          <a:prstGeom prst="rect">
            <a:avLst/>
          </a:prstGeom>
          <a:noFill/>
        </p:spPr>
        <p:txBody>
          <a:bodyPr wrap="square" lIns="0" tIns="0" rIns="0" bIns="0" anchor="t">
            <a:spAutoFit/>
          </a:bodyPr>
          <a:lstStyle/>
          <a:p>
            <a:pPr>
              <a:lnSpc>
                <a:spcPts val="1679"/>
              </a:lnSpc>
            </a:pPr>
            <a:r>
              <a:rPr lang="en-IN" sz="1400" b="1" dirty="0">
                <a:latin typeface="Inter"/>
              </a:rPr>
              <a:t>[18] </a:t>
            </a:r>
            <a:r>
              <a:rPr lang="en-IN" sz="1400" i="1" dirty="0">
                <a:latin typeface="Inter"/>
              </a:rPr>
              <a:t>Google Cloud</a:t>
            </a:r>
            <a:r>
              <a:rPr lang="en-IN" sz="1400" b="1" dirty="0">
                <a:latin typeface="Inter"/>
              </a:rPr>
              <a:t>: </a:t>
            </a:r>
            <a:r>
              <a:rPr lang="en-IN" sz="1400" i="1" dirty="0">
                <a:latin typeface="Inter"/>
              </a:rPr>
              <a:t>cloud.google.com/discover/what-is-model-context-protocol</a:t>
            </a:r>
            <a:endParaRPr sz="1400" i="1" u="none" dirty="0">
              <a:latin typeface="Inter"/>
            </a:endParaRPr>
          </a:p>
        </p:txBody>
      </p:sp>
      <p:sp>
        <p:nvSpPr>
          <p:cNvPr id="21" name="TextBox 20">
            <a:extLst>
              <a:ext uri="{FF2B5EF4-FFF2-40B4-BE49-F238E27FC236}">
                <a16:creationId xmlns:a16="http://schemas.microsoft.com/office/drawing/2014/main" id="{B3325A52-7925-E8C0-42FF-7619CA0F7468}"/>
              </a:ext>
            </a:extLst>
          </p:cNvPr>
          <p:cNvSpPr txBox="1"/>
          <p:nvPr/>
        </p:nvSpPr>
        <p:spPr>
          <a:xfrm>
            <a:off x="495300" y="4591939"/>
            <a:ext cx="5610532" cy="861774"/>
          </a:xfrm>
          <a:prstGeom prst="rect">
            <a:avLst/>
          </a:prstGeom>
          <a:noFill/>
        </p:spPr>
        <p:txBody>
          <a:bodyPr wrap="square" lIns="0" tIns="0" rIns="0" bIns="0" anchor="t">
            <a:spAutoFit/>
          </a:bodyPr>
          <a:lstStyle/>
          <a:p>
            <a:r>
              <a:rPr sz="1400" b="1" i="0" u="none" dirty="0">
                <a:latin typeface="Inter"/>
              </a:rPr>
              <a:t>[</a:t>
            </a:r>
            <a:r>
              <a:rPr lang="en-IN" sz="1400" b="1" i="0" u="none" dirty="0">
                <a:latin typeface="Inter"/>
              </a:rPr>
              <a:t>6</a:t>
            </a:r>
            <a:r>
              <a:rPr sz="1400" b="1" i="0" u="none" dirty="0">
                <a:latin typeface="Inter"/>
              </a:rPr>
              <a:t>]</a:t>
            </a:r>
            <a:r>
              <a:rPr sz="1400" b="0" i="0" u="none" dirty="0">
                <a:latin typeface="Inter"/>
              </a:rPr>
              <a:t> </a:t>
            </a:r>
            <a:r>
              <a:rPr lang="en-IN" sz="1400" dirty="0"/>
              <a:t>The Hitchhiker's Guide to Agentic AI: From Foundations to Systems by</a:t>
            </a:r>
          </a:p>
          <a:p>
            <a:r>
              <a:rPr lang="en-IN" sz="1400" dirty="0">
                <a:hlinkClick r:id="rId3"/>
              </a:rPr>
              <a:t>Haggai Roitman</a:t>
            </a:r>
            <a:endParaRPr lang="en-IN" sz="1400" dirty="0"/>
          </a:p>
          <a:p>
            <a:br>
              <a:rPr lang="en-IN" sz="1400" dirty="0"/>
            </a:br>
            <a:endParaRPr lang="en-IN" sz="1400" b="0" i="0" u="none" dirty="0">
              <a:latin typeface="Inte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74B636A-EEAD-78BB-9121-0D9E5F13743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30942B-D517-8939-2F9F-FFB3488A77E3}"/>
              </a:ext>
            </a:extLst>
          </p:cNvPr>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a:extLst>
              <a:ext uri="{FF2B5EF4-FFF2-40B4-BE49-F238E27FC236}">
                <a16:creationId xmlns:a16="http://schemas.microsoft.com/office/drawing/2014/main" id="{DAD3B9FC-D4F5-728A-3BC6-14807CFC7D41}"/>
              </a:ext>
            </a:extLst>
          </p:cNvPr>
          <p:cNvPicPr>
            <a:picLocks noChangeAspect="1"/>
          </p:cNvPicPr>
          <p:nvPr/>
        </p:nvPicPr>
        <p:blipFill>
          <a:blip r:embed="rId2"/>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14F4D3A6-0717-E18B-22C6-D0EBDD70B4CF}"/>
              </a:ext>
            </a:extLst>
          </p:cNvPr>
          <p:cNvSpPr txBox="1"/>
          <p:nvPr/>
        </p:nvSpPr>
        <p:spPr>
          <a:xfrm>
            <a:off x="4521530" y="2967335"/>
            <a:ext cx="3148939" cy="923330"/>
          </a:xfrm>
          <a:prstGeom prst="rect">
            <a:avLst/>
          </a:prstGeom>
          <a:noFill/>
        </p:spPr>
        <p:txBody>
          <a:bodyPr wrap="none" rtlCol="0">
            <a:spAutoFit/>
          </a:bodyPr>
          <a:lstStyle/>
          <a:p>
            <a:r>
              <a:rPr lang="en-IN" sz="5400" b="1" dirty="0">
                <a:solidFill>
                  <a:srgbClr val="2563EB"/>
                </a:solidFill>
              </a:rPr>
              <a:t>Thank You</a:t>
            </a:r>
          </a:p>
        </p:txBody>
      </p:sp>
    </p:spTree>
    <p:extLst>
      <p:ext uri="{BB962C8B-B14F-4D97-AF65-F5344CB8AC3E}">
        <p14:creationId xmlns:p14="http://schemas.microsoft.com/office/powerpoint/2010/main" val="4111202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1576</TotalTime>
  <Words>3925</Words>
  <Application>Microsoft Office PowerPoint</Application>
  <PresentationFormat>Widescreen</PresentationFormat>
  <Paragraphs>346</Paragraphs>
  <Slides>26</Slides>
  <Notes>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26</vt:i4>
      </vt:variant>
    </vt:vector>
  </HeadingPairs>
  <TitlesOfParts>
    <vt:vector size="39" baseType="lpstr">
      <vt:lpstr>anthropicSerif</vt:lpstr>
      <vt:lpstr>Arial</vt:lpstr>
      <vt:lpstr>Arial SemiBold</vt:lpstr>
      <vt:lpstr>Calibri</vt:lpstr>
      <vt:lpstr>Inter</vt:lpstr>
      <vt:lpstr>Inter Medium</vt:lpstr>
      <vt:lpstr>Inter SemiBold</vt:lpstr>
      <vt:lpstr>Lato Medium</vt:lpstr>
      <vt:lpstr>monospace</vt:lpstr>
      <vt:lpstr>Poppins</vt:lpstr>
      <vt:lpstr>Poppins SemiBold</vt:lpstr>
      <vt:lpstr>Urbanist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Raj</cp:lastModifiedBy>
  <cp:revision>35</cp:revision>
  <dcterms:created xsi:type="dcterms:W3CDTF">2013-01-27T09:14:16Z</dcterms:created>
  <dcterms:modified xsi:type="dcterms:W3CDTF">2026-08-12T19:42:11Z</dcterms:modified>
  <cp:category/>
</cp:coreProperties>
</file>