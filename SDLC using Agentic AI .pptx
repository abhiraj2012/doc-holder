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70" r:id="rId3"/>
    <p:sldId id="273" r:id="rId4"/>
    <p:sldId id="278" r:id="rId5"/>
    <p:sldId id="279" r:id="rId6"/>
    <p:sldId id="282" r:id="rId7"/>
    <p:sldId id="274" r:id="rId8"/>
    <p:sldId id="283" r:id="rId9"/>
    <p:sldId id="281" r:id="rId10"/>
    <p:sldId id="275" r:id="rId11"/>
    <p:sldId id="280" r:id="rId12"/>
    <p:sldId id="284" r:id="rId13"/>
    <p:sldId id="259" r:id="rId14"/>
    <p:sldId id="257" r:id="rId15"/>
    <p:sldId id="261" r:id="rId16"/>
    <p:sldId id="276" r:id="rId17"/>
    <p:sldId id="260" r:id="rId18"/>
    <p:sldId id="262" r:id="rId19"/>
    <p:sldId id="267" r:id="rId20"/>
    <p:sldId id="264" r:id="rId21"/>
    <p:sldId id="265" r:id="rId22"/>
    <p:sldId id="277" r:id="rId23"/>
    <p:sldId id="26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3A7EF"/>
    <a:srgbClr val="E0F2FE"/>
    <a:srgbClr val="2563E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94660"/>
  </p:normalViewPr>
  <p:slideViewPr>
    <p:cSldViewPr snapToGrid="0" snapToObjects="1">
      <p:cViewPr>
        <p:scale>
          <a:sx n="81" d="100"/>
          <a:sy n="81" d="100"/>
        </p:scale>
        <p:origin x="475"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FA4A4F-6DE4-4020-9306-941990ECF1ED}" type="datetimeFigureOut">
              <a:rPr lang="en-IN" smtClean="0"/>
              <a:t>11-08-2026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3646CC-1C58-4C51-BD13-7005EB5322C4}" type="slidenum">
              <a:rPr lang="en-IN" smtClean="0"/>
              <a:t>‹#›</a:t>
            </a:fld>
            <a:endParaRPr lang="en-IN"/>
          </a:p>
        </p:txBody>
      </p:sp>
    </p:spTree>
    <p:extLst>
      <p:ext uri="{BB962C8B-B14F-4D97-AF65-F5344CB8AC3E}">
        <p14:creationId xmlns:p14="http://schemas.microsoft.com/office/powerpoint/2010/main" val="1639065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CF8A-73E8-149D-0872-C8E2C01A88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0A533-471C-FBB6-B7DF-A9361E717C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066E3E-6BA7-C7AB-8AA2-F2878C579FF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C88811-C671-2A92-DD27-C2B741E90707}"/>
              </a:ext>
            </a:extLst>
          </p:cNvPr>
          <p:cNvSpPr>
            <a:spLocks noGrp="1"/>
          </p:cNvSpPr>
          <p:nvPr>
            <p:ph type="sldNum" sz="quarter" idx="5"/>
          </p:nvPr>
        </p:nvSpPr>
        <p:spPr/>
        <p:txBody>
          <a:bodyPr/>
          <a:lstStyle/>
          <a:p>
            <a:fld id="{2D3646CC-1C58-4C51-BD13-7005EB5322C4}" type="slidenum">
              <a:rPr lang="en-IN" smtClean="0"/>
              <a:t>6</a:t>
            </a:fld>
            <a:endParaRPr lang="en-IN"/>
          </a:p>
        </p:txBody>
      </p:sp>
    </p:spTree>
    <p:extLst>
      <p:ext uri="{BB962C8B-B14F-4D97-AF65-F5344CB8AC3E}">
        <p14:creationId xmlns:p14="http://schemas.microsoft.com/office/powerpoint/2010/main" val="26408498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D3646CC-1C58-4C51-BD13-7005EB5322C4}" type="slidenum">
              <a:rPr lang="en-IN" smtClean="0"/>
              <a:t>7</a:t>
            </a:fld>
            <a:endParaRPr lang="en-IN"/>
          </a:p>
        </p:txBody>
      </p:sp>
    </p:spTree>
    <p:extLst>
      <p:ext uri="{BB962C8B-B14F-4D97-AF65-F5344CB8AC3E}">
        <p14:creationId xmlns:p14="http://schemas.microsoft.com/office/powerpoint/2010/main" val="32152635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353FD-EF86-11E7-1659-84976105A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009293-47BA-C732-A254-2C5088F88A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719BF4-0856-8C9D-5BAB-3E53DF31E7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606E23-75FF-41C3-F3F7-7E194C5B5F21}"/>
              </a:ext>
            </a:extLst>
          </p:cNvPr>
          <p:cNvSpPr>
            <a:spLocks noGrp="1"/>
          </p:cNvSpPr>
          <p:nvPr>
            <p:ph type="sldNum" sz="quarter" idx="5"/>
          </p:nvPr>
        </p:nvSpPr>
        <p:spPr/>
        <p:txBody>
          <a:bodyPr/>
          <a:lstStyle/>
          <a:p>
            <a:fld id="{2D3646CC-1C58-4C51-BD13-7005EB5322C4}" type="slidenum">
              <a:rPr lang="en-IN" smtClean="0"/>
              <a:t>8</a:t>
            </a:fld>
            <a:endParaRPr lang="en-IN"/>
          </a:p>
        </p:txBody>
      </p:sp>
    </p:spTree>
    <p:extLst>
      <p:ext uri="{BB962C8B-B14F-4D97-AF65-F5344CB8AC3E}">
        <p14:creationId xmlns:p14="http://schemas.microsoft.com/office/powerpoint/2010/main" val="6009679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FF192-0167-C838-CDA4-10F78CF093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5A80E-C9D0-3938-BD62-E0A92F3ED0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BC86A7-2616-E23C-9D18-367A5405F2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C927B9-BC98-7C27-A0DD-E67D8EBDD11C}"/>
              </a:ext>
            </a:extLst>
          </p:cNvPr>
          <p:cNvSpPr>
            <a:spLocks noGrp="1"/>
          </p:cNvSpPr>
          <p:nvPr>
            <p:ph type="sldNum" sz="quarter" idx="5"/>
          </p:nvPr>
        </p:nvSpPr>
        <p:spPr/>
        <p:txBody>
          <a:bodyPr/>
          <a:lstStyle/>
          <a:p>
            <a:fld id="{2D3646CC-1C58-4C51-BD13-7005EB5322C4}" type="slidenum">
              <a:rPr lang="en-IN" smtClean="0"/>
              <a:t>9</a:t>
            </a:fld>
            <a:endParaRPr lang="en-IN"/>
          </a:p>
        </p:txBody>
      </p:sp>
    </p:spTree>
    <p:extLst>
      <p:ext uri="{BB962C8B-B14F-4D97-AF65-F5344CB8AC3E}">
        <p14:creationId xmlns:p14="http://schemas.microsoft.com/office/powerpoint/2010/main" val="249331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8" Type="http://schemas.microsoft.com/office/2007/relationships/hdphoto" Target="../media/hdphoto4.wdp"/><Relationship Id="rId13" Type="http://schemas.openxmlformats.org/officeDocument/2006/relationships/image" Target="../media/image9.jpeg"/><Relationship Id="rId3" Type="http://schemas.openxmlformats.org/officeDocument/2006/relationships/image" Target="../media/image3.png"/><Relationship Id="rId7" Type="http://schemas.openxmlformats.org/officeDocument/2006/relationships/image" Target="../media/image5.png"/><Relationship Id="rId12"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 Id="rId6" Type="http://schemas.microsoft.com/office/2007/relationships/hdphoto" Target="../media/hdphoto3.wdp"/><Relationship Id="rId11" Type="http://schemas.openxmlformats.org/officeDocument/2006/relationships/hyperlink" Target="https://www.ibm.com/think/topics/ai-agent-perception" TargetMode="External"/><Relationship Id="rId5" Type="http://schemas.openxmlformats.org/officeDocument/2006/relationships/image" Target="../media/image4.png"/><Relationship Id="rId10" Type="http://schemas.openxmlformats.org/officeDocument/2006/relationships/image" Target="../media/image7.png"/><Relationship Id="rId4" Type="http://schemas.microsoft.com/office/2007/relationships/hdphoto" Target="../media/hdphoto2.wdp"/><Relationship Id="rId9"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0.png"/><Relationship Id="rId7" Type="http://schemas.openxmlformats.org/officeDocument/2006/relationships/image" Target="../media/image12.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11.png"/><Relationship Id="rId10" Type="http://schemas.openxmlformats.org/officeDocument/2006/relationships/image" Target="../media/image14.jpeg"/><Relationship Id="rId4" Type="http://schemas.microsoft.com/office/2007/relationships/hdphoto" Target="../media/hdphoto5.wdp"/><Relationship Id="rId9" Type="http://schemas.microsoft.com/office/2007/relationships/hdphoto" Target="../media/hdphoto6.wdp"/></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7.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16.png"/><Relationship Id="rId4" Type="http://schemas.microsoft.com/office/2007/relationships/hdphoto" Target="../media/hdphoto7.wdp"/></Relationships>
</file>

<file path=ppt/slides/_rels/slide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7.xml.rels><?xml version="1.0" encoding="UTF-8" standalone="yes"?>
<Relationships xmlns="http://schemas.openxmlformats.org/package/2006/relationships"><Relationship Id="rId8" Type="http://schemas.microsoft.com/office/2007/relationships/hdphoto" Target="../media/hdphoto8.wdp"/><Relationship Id="rId3" Type="http://schemas.openxmlformats.org/officeDocument/2006/relationships/image" Target="../media/image1.png"/><Relationship Id="rId7"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0.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png"/><Relationship Id="rId3" Type="http://schemas.openxmlformats.org/officeDocument/2006/relationships/image" Target="../media/image1.png"/><Relationship Id="rId7" Type="http://schemas.microsoft.com/office/2007/relationships/hdphoto" Target="../media/hdphoto10.wdp"/><Relationship Id="rId12" Type="http://schemas.openxmlformats.org/officeDocument/2006/relationships/image" Target="../media/image41.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36.png"/><Relationship Id="rId11" Type="http://schemas.openxmlformats.org/officeDocument/2006/relationships/image" Target="../media/image40.png"/><Relationship Id="rId5" Type="http://schemas.microsoft.com/office/2007/relationships/hdphoto" Target="../media/hdphoto9.wdp"/><Relationship Id="rId15" Type="http://schemas.openxmlformats.org/officeDocument/2006/relationships/image" Target="../media/image44.pn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43.png"/></Relationships>
</file>

<file path=ppt/slides/_rels/slide10.xml.rels><?xml version="1.0" encoding="UTF-8" standalone="yes"?>
<Relationships xmlns="http://schemas.openxmlformats.org/package/2006/relationships"><Relationship Id="rId8" Type="http://schemas.openxmlformats.org/officeDocument/2006/relationships/image" Target="../media/image47.png"/><Relationship Id="rId13" Type="http://schemas.microsoft.com/office/2007/relationships/hdphoto" Target="../media/hdphoto12.wdp"/><Relationship Id="rId18" Type="http://schemas.openxmlformats.org/officeDocument/2006/relationships/image" Target="../media/image56.png"/><Relationship Id="rId3" Type="http://schemas.openxmlformats.org/officeDocument/2006/relationships/image" Target="../media/image45.png"/><Relationship Id="rId7" Type="http://schemas.openxmlformats.org/officeDocument/2006/relationships/image" Target="../media/image38.png"/><Relationship Id="rId12" Type="http://schemas.openxmlformats.org/officeDocument/2006/relationships/image" Target="../media/image51.png"/><Relationship Id="rId17" Type="http://schemas.openxmlformats.org/officeDocument/2006/relationships/image" Target="../media/image55.png"/><Relationship Id="rId2" Type="http://schemas.openxmlformats.org/officeDocument/2006/relationships/image" Target="../media/image1.png"/><Relationship Id="rId16" Type="http://schemas.openxmlformats.org/officeDocument/2006/relationships/image" Target="../media/image54.png"/><Relationship Id="rId20"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50.png"/><Relationship Id="rId5" Type="http://schemas.openxmlformats.org/officeDocument/2006/relationships/image" Target="../media/image46.png"/><Relationship Id="rId15" Type="http://schemas.openxmlformats.org/officeDocument/2006/relationships/image" Target="../media/image53.png"/><Relationship Id="rId10" Type="http://schemas.openxmlformats.org/officeDocument/2006/relationships/image" Target="../media/image49.png"/><Relationship Id="rId19" Type="http://schemas.openxmlformats.org/officeDocument/2006/relationships/image" Target="../media/image57.png"/><Relationship Id="rId4" Type="http://schemas.microsoft.com/office/2007/relationships/hdphoto" Target="../media/hdphoto11.wdp"/><Relationship Id="rId9" Type="http://schemas.openxmlformats.org/officeDocument/2006/relationships/image" Target="../media/image48.png"/><Relationship Id="rId14" Type="http://schemas.openxmlformats.org/officeDocument/2006/relationships/image" Target="../media/image52.png"/></Relationships>
</file>

<file path=ppt/slides/_rels/slide1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3.wdp"/></Relationships>
</file>

<file path=ppt/slides/_rels/slide1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4.wdp"/></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62.png"/></Relationships>
</file>

<file path=ppt/slides/_rels/slide15.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10" Type="http://schemas.openxmlformats.org/officeDocument/2006/relationships/image" Target="../media/image70.png"/><Relationship Id="rId4" Type="http://schemas.openxmlformats.org/officeDocument/2006/relationships/image" Target="../media/image64.png"/><Relationship Id="rId9" Type="http://schemas.openxmlformats.org/officeDocument/2006/relationships/image" Target="../media/image69.png"/></Relationships>
</file>

<file path=ppt/slides/_rels/slide1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73.png"/></Relationships>
</file>

<file path=ppt/slides/_rels/slide19.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4.png"/><Relationship Id="rId7" Type="http://schemas.openxmlformats.org/officeDocument/2006/relationships/image" Target="../media/image7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7.png"/><Relationship Id="rId11" Type="http://schemas.openxmlformats.org/officeDocument/2006/relationships/image" Target="../media/image82.png"/><Relationship Id="rId5" Type="http://schemas.openxmlformats.org/officeDocument/2006/relationships/image" Target="../media/image76.png"/><Relationship Id="rId10" Type="http://schemas.openxmlformats.org/officeDocument/2006/relationships/image" Target="../media/image81.png"/><Relationship Id="rId4" Type="http://schemas.openxmlformats.org/officeDocument/2006/relationships/image" Target="../media/image75.png"/><Relationship Id="rId9" Type="http://schemas.openxmlformats.org/officeDocument/2006/relationships/image" Target="../media/image80.png"/></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hyperlink" Target="https://arxiv.org/search/cs?searchtype=author&amp;query=Roitman,+H"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216617" y="2476429"/>
            <a:ext cx="11601450" cy="705321"/>
          </a:xfrm>
          <a:prstGeom prst="rect">
            <a:avLst/>
          </a:prstGeom>
          <a:noFill/>
        </p:spPr>
        <p:txBody>
          <a:bodyPr wrap="square" lIns="0" tIns="0" rIns="0" bIns="0" anchor="t">
            <a:spAutoFit/>
          </a:bodyPr>
          <a:lstStyle/>
          <a:p>
            <a:pPr algn="ctr">
              <a:lnSpc>
                <a:spcPts val="5520"/>
              </a:lnSpc>
            </a:pPr>
            <a:r>
              <a:rPr sz="4800" b="1" i="0" u="none" dirty="0">
                <a:solidFill>
                  <a:srgbClr val="0F172A"/>
                </a:solidFill>
                <a:latin typeface="Inter"/>
              </a:rPr>
              <a:t>SDLC</a:t>
            </a:r>
            <a:r>
              <a:rPr lang="en-IN" sz="4800" b="1" i="0" u="none" dirty="0">
                <a:solidFill>
                  <a:srgbClr val="0F172A"/>
                </a:solidFill>
                <a:latin typeface="Inter"/>
              </a:rPr>
              <a:t> </a:t>
            </a:r>
            <a:r>
              <a:rPr lang="en-IN" sz="4800" b="1" dirty="0">
                <a:solidFill>
                  <a:srgbClr val="0F172A"/>
                </a:solidFill>
                <a:latin typeface="Inter"/>
              </a:rPr>
              <a:t>U</a:t>
            </a:r>
            <a:r>
              <a:rPr sz="4800" b="1" i="0" u="none" dirty="0">
                <a:solidFill>
                  <a:srgbClr val="0F172A"/>
                </a:solidFill>
                <a:latin typeface="Inter"/>
              </a:rPr>
              <a:t>sing </a:t>
            </a:r>
            <a:r>
              <a:rPr sz="4800" b="1" i="0" u="none" dirty="0">
                <a:solidFill>
                  <a:srgbClr val="2563EB"/>
                </a:solidFill>
                <a:latin typeface="Inter"/>
              </a:rPr>
              <a:t>Agentic AI</a:t>
            </a:r>
          </a:p>
        </p:txBody>
      </p:sp>
      <p:sp>
        <p:nvSpPr>
          <p:cNvPr id="4" name="TextBox 3"/>
          <p:cNvSpPr txBox="1"/>
          <p:nvPr/>
        </p:nvSpPr>
        <p:spPr>
          <a:xfrm>
            <a:off x="571500" y="3230910"/>
            <a:ext cx="11049000" cy="396180"/>
          </a:xfrm>
          <a:prstGeom prst="rect">
            <a:avLst/>
          </a:prstGeom>
          <a:noFill/>
        </p:spPr>
        <p:txBody>
          <a:bodyPr wrap="square" lIns="0" tIns="0" rIns="0" bIns="0" anchor="t">
            <a:spAutoFit/>
          </a:bodyPr>
          <a:lstStyle/>
          <a:p>
            <a:pPr algn="ctr">
              <a:lnSpc>
                <a:spcPts val="3120"/>
              </a:lnSpc>
            </a:pPr>
            <a:r>
              <a:rPr sz="1950" b="0" i="0" u="none" dirty="0">
                <a:solidFill>
                  <a:srgbClr val="64748B"/>
                </a:solidFill>
                <a:latin typeface="Inter Medium"/>
              </a:rPr>
              <a:t>Building an Adaptive AI Software Engineering Organization</a:t>
            </a:r>
          </a:p>
        </p:txBody>
      </p:sp>
      <p:sp>
        <p:nvSpPr>
          <p:cNvPr id="6" name="TextBox 5">
            <a:extLst>
              <a:ext uri="{FF2B5EF4-FFF2-40B4-BE49-F238E27FC236}">
                <a16:creationId xmlns:a16="http://schemas.microsoft.com/office/drawing/2014/main" id="{10BC449C-DBD9-236B-C1B9-FEF4B80F7E53}"/>
              </a:ext>
            </a:extLst>
          </p:cNvPr>
          <p:cNvSpPr txBox="1"/>
          <p:nvPr/>
        </p:nvSpPr>
        <p:spPr>
          <a:xfrm>
            <a:off x="989371" y="5455177"/>
            <a:ext cx="3936590" cy="761683"/>
          </a:xfrm>
          <a:prstGeom prst="rect">
            <a:avLst/>
          </a:prstGeom>
          <a:noFill/>
        </p:spPr>
        <p:txBody>
          <a:bodyPr wrap="square" lIns="0" tIns="0" rIns="0" bIns="0" anchor="t">
            <a:spAutoFit/>
          </a:bodyPr>
          <a:lstStyle/>
          <a:p>
            <a:pPr>
              <a:lnSpc>
                <a:spcPts val="3120"/>
              </a:lnSpc>
            </a:pPr>
            <a:r>
              <a:rPr lang="en-IN" sz="1950" b="1" i="0" u="none" dirty="0">
                <a:solidFill>
                  <a:srgbClr val="64748B"/>
                </a:solidFill>
                <a:latin typeface="Inter Medium"/>
              </a:rPr>
              <a:t>Presented By:</a:t>
            </a:r>
          </a:p>
          <a:p>
            <a:pPr>
              <a:lnSpc>
                <a:spcPts val="3120"/>
              </a:lnSpc>
            </a:pPr>
            <a:r>
              <a:rPr lang="en-IN" sz="1950" dirty="0">
                <a:latin typeface="Inter Medium"/>
              </a:rPr>
              <a:t>Abhishek Raj (</a:t>
            </a:r>
            <a:r>
              <a:rPr lang="en-IN" sz="1950" dirty="0" err="1">
                <a:latin typeface="Inter Medium"/>
              </a:rPr>
              <a:t>M.Tech</a:t>
            </a:r>
            <a:r>
              <a:rPr lang="en-IN" sz="1950" dirty="0">
                <a:latin typeface="Inter Medium"/>
              </a:rPr>
              <a:t> Intern)</a:t>
            </a:r>
            <a:endParaRPr sz="1950" b="0" i="0" u="none" dirty="0">
              <a:latin typeface="Inter Medium"/>
            </a:endParaRPr>
          </a:p>
        </p:txBody>
      </p:sp>
      <p:sp>
        <p:nvSpPr>
          <p:cNvPr id="8" name="TextBox 7">
            <a:extLst>
              <a:ext uri="{FF2B5EF4-FFF2-40B4-BE49-F238E27FC236}">
                <a16:creationId xmlns:a16="http://schemas.microsoft.com/office/drawing/2014/main" id="{AC8C9C62-C2EA-FF0A-565F-413C1CE45600}"/>
              </a:ext>
            </a:extLst>
          </p:cNvPr>
          <p:cNvSpPr txBox="1"/>
          <p:nvPr/>
        </p:nvSpPr>
        <p:spPr>
          <a:xfrm>
            <a:off x="8407810" y="5455176"/>
            <a:ext cx="3936590" cy="761683"/>
          </a:xfrm>
          <a:prstGeom prst="rect">
            <a:avLst/>
          </a:prstGeom>
          <a:noFill/>
        </p:spPr>
        <p:txBody>
          <a:bodyPr wrap="square" lIns="0" tIns="0" rIns="0" bIns="0" anchor="t">
            <a:spAutoFit/>
          </a:bodyPr>
          <a:lstStyle/>
          <a:p>
            <a:pPr>
              <a:lnSpc>
                <a:spcPts val="3120"/>
              </a:lnSpc>
            </a:pPr>
            <a:r>
              <a:rPr lang="en-IN" sz="1950" b="1" dirty="0">
                <a:solidFill>
                  <a:srgbClr val="64748B"/>
                </a:solidFill>
                <a:latin typeface="Inter Medium"/>
              </a:rPr>
              <a:t>Guide</a:t>
            </a:r>
            <a:r>
              <a:rPr lang="en-IN" sz="1950" b="1" i="0" u="none" dirty="0">
                <a:solidFill>
                  <a:srgbClr val="64748B"/>
                </a:solidFill>
                <a:latin typeface="Inter Medium"/>
              </a:rPr>
              <a:t>:</a:t>
            </a:r>
          </a:p>
          <a:p>
            <a:pPr>
              <a:lnSpc>
                <a:spcPts val="3120"/>
              </a:lnSpc>
            </a:pPr>
            <a:r>
              <a:rPr lang="en-IN" sz="1950" dirty="0">
                <a:latin typeface="Inter Medium"/>
              </a:rPr>
              <a:t>M.B. Sai Charan (Scientist C)</a:t>
            </a:r>
            <a:endParaRPr sz="1950" b="0" i="0" u="none" dirty="0">
              <a:latin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image.png">
            <a:extLst>
              <a:ext uri="{FF2B5EF4-FFF2-40B4-BE49-F238E27FC236}">
                <a16:creationId xmlns:a16="http://schemas.microsoft.com/office/drawing/2014/main" id="{CCB9C80C-55A6-57DA-D61D-7FFC77EE37F9}"/>
              </a:ext>
            </a:extLst>
          </p:cNvPr>
          <p:cNvPicPr>
            <a:picLocks noChangeAspect="1"/>
          </p:cNvPicPr>
          <p:nvPr/>
        </p:nvPicPr>
        <p:blipFill>
          <a:blip r:embed="rId2"/>
          <a:stretch>
            <a:fillRect/>
          </a:stretch>
        </p:blipFill>
        <p:spPr>
          <a:xfrm>
            <a:off x="-19050" y="2"/>
            <a:ext cx="12192000" cy="6858000"/>
          </a:xfrm>
          <a:prstGeom prst="rect">
            <a:avLst/>
          </a:prstGeom>
        </p:spPr>
      </p:pic>
      <p:sp>
        <p:nvSpPr>
          <p:cNvPr id="7" name="TextBox 6"/>
          <p:cNvSpPr txBox="1"/>
          <p:nvPr/>
        </p:nvSpPr>
        <p:spPr>
          <a:xfrm>
            <a:off x="571500" y="483009"/>
            <a:ext cx="11601450" cy="484748"/>
          </a:xfrm>
          <a:prstGeom prst="rect">
            <a:avLst/>
          </a:prstGeom>
          <a:noFill/>
        </p:spPr>
        <p:txBody>
          <a:bodyPr wrap="square" lIns="0" tIns="0" rIns="0" bIns="0" anchor="t">
            <a:spAutoFit/>
          </a:bodyPr>
          <a:lstStyle/>
          <a:p>
            <a:pPr algn="l"/>
            <a:r>
              <a:rPr sz="3150" b="1" i="0" u="none" dirty="0">
                <a:solidFill>
                  <a:srgbClr val="0F172A"/>
                </a:solidFill>
                <a:latin typeface="Inter"/>
              </a:rPr>
              <a:t>What is an </a:t>
            </a:r>
            <a:r>
              <a:rPr sz="3150" b="1" i="0" u="none" dirty="0">
                <a:solidFill>
                  <a:schemeClr val="tx2"/>
                </a:solidFill>
                <a:latin typeface="Inter"/>
              </a:rPr>
              <a:t>AI Agent</a:t>
            </a:r>
            <a:r>
              <a:rPr sz="3150" b="1" i="0" u="none" dirty="0">
                <a:solidFill>
                  <a:srgbClr val="0F172A"/>
                </a:solidFill>
                <a:latin typeface="Inter"/>
              </a:rPr>
              <a:t>?</a:t>
            </a:r>
          </a:p>
        </p:txBody>
      </p:sp>
      <p:sp>
        <p:nvSpPr>
          <p:cNvPr id="8" name="Rectangle 7"/>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1433601"/>
            <a:ext cx="5888294" cy="5078313"/>
          </a:xfrm>
          <a:prstGeom prst="rect">
            <a:avLst/>
          </a:prstGeom>
          <a:noFill/>
        </p:spPr>
        <p:txBody>
          <a:bodyPr wrap="square" lIns="0" tIns="0" rIns="0" bIns="0" anchor="t">
            <a:spAutoFit/>
          </a:bodyPr>
          <a:lstStyle/>
          <a:p>
            <a:pPr algn="just">
              <a:spcBef>
                <a:spcPts val="1200"/>
              </a:spcBef>
            </a:pPr>
            <a:r>
              <a:rPr lang="en-IN" sz="1500" dirty="0">
                <a:latin typeface="Inter"/>
              </a:rPr>
              <a:t>An AI agent is a system where an LLM operates in a loop: it receives observations from an environment (user messages, tool outputs, sensor data), reasons about what to do next, takes actions (tool calls, code execution, API requests), and iterates until a goal is achieved or it explicitly asks for human input.</a:t>
            </a:r>
          </a:p>
          <a:p>
            <a:pPr algn="just">
              <a:spcBef>
                <a:spcPts val="1200"/>
              </a:spcBef>
            </a:pPr>
            <a:r>
              <a:rPr lang="en-IN" sz="1500" dirty="0">
                <a:latin typeface="Inter"/>
              </a:rPr>
              <a:t>An AI agent should have the following characteristics:</a:t>
            </a:r>
          </a:p>
          <a:p>
            <a:pPr marL="285750" lvl="0" indent="-285750" algn="just">
              <a:spcBef>
                <a:spcPts val="1200"/>
              </a:spcBef>
              <a:buFont typeface="Arial" panose="020B0604020202020204" pitchFamily="34" charset="0"/>
              <a:buChar char="•"/>
            </a:pPr>
            <a:r>
              <a:rPr lang="en-IN" sz="1500" b="1" dirty="0">
                <a:latin typeface="Inter"/>
              </a:rPr>
              <a:t>Persistence:</a:t>
            </a:r>
            <a:r>
              <a:rPr lang="en-IN" sz="1500" dirty="0">
                <a:latin typeface="Inter"/>
              </a:rPr>
              <a:t> An agent must remember what it has done, what failed, and what context was established—across turns, sessions, and even days.</a:t>
            </a:r>
          </a:p>
          <a:p>
            <a:pPr marL="285750" lvl="0" indent="-285750" algn="just">
              <a:spcBef>
                <a:spcPts val="1200"/>
              </a:spcBef>
              <a:buFont typeface="Arial" panose="020B0604020202020204" pitchFamily="34" charset="0"/>
              <a:buChar char="•"/>
            </a:pPr>
            <a:r>
              <a:rPr lang="en-IN" sz="1500" b="1" dirty="0">
                <a:latin typeface="Inter"/>
              </a:rPr>
              <a:t>Grounding:</a:t>
            </a:r>
            <a:r>
              <a:rPr lang="en-IN" sz="1500" dirty="0">
                <a:latin typeface="Inter"/>
              </a:rPr>
              <a:t> The agent must access up-to-date, domain-specific knowledge that was not present in its training data.</a:t>
            </a:r>
          </a:p>
          <a:p>
            <a:pPr marL="285750" lvl="0" indent="-285750" algn="just">
              <a:spcBef>
                <a:spcPts val="1200"/>
              </a:spcBef>
              <a:buFont typeface="Arial" panose="020B0604020202020204" pitchFamily="34" charset="0"/>
              <a:buChar char="•"/>
            </a:pPr>
            <a:r>
              <a:rPr lang="en-IN" sz="1500" b="1" dirty="0">
                <a:latin typeface="Inter"/>
              </a:rPr>
              <a:t>Action:</a:t>
            </a:r>
            <a:r>
              <a:rPr lang="en-IN" sz="1500" dirty="0">
                <a:latin typeface="Inter"/>
              </a:rPr>
              <a:t> The agent must interact with external systems—databases, APIs, file systems, browsers—through well-defined interfaces.</a:t>
            </a:r>
          </a:p>
          <a:p>
            <a:pPr marL="285750" lvl="0" indent="-285750" algn="just">
              <a:spcBef>
                <a:spcPts val="1200"/>
              </a:spcBef>
              <a:buFont typeface="Arial" panose="020B0604020202020204" pitchFamily="34" charset="0"/>
              <a:buChar char="•"/>
            </a:pPr>
            <a:r>
              <a:rPr lang="en-IN" sz="1500" b="1" dirty="0">
                <a:latin typeface="Inter"/>
              </a:rPr>
              <a:t>Coordination:</a:t>
            </a:r>
            <a:r>
              <a:rPr lang="en-IN" sz="1500" dirty="0">
                <a:latin typeface="Inter"/>
              </a:rPr>
              <a:t> Complex tasks often exceed what a single agent can handle; multiple specialized agents must collaborate, delegate, and negotiate.</a:t>
            </a:r>
          </a:p>
          <a:p>
            <a:pPr marL="285750" lvl="0" indent="-285750" algn="just">
              <a:spcBef>
                <a:spcPts val="1200"/>
              </a:spcBef>
              <a:buFont typeface="Arial" panose="020B0604020202020204" pitchFamily="34" charset="0"/>
              <a:buChar char="•"/>
            </a:pPr>
            <a:r>
              <a:rPr lang="en-IN" sz="1500" b="1" dirty="0">
                <a:latin typeface="Inter"/>
              </a:rPr>
              <a:t>Safety:</a:t>
            </a:r>
            <a:r>
              <a:rPr lang="en-IN" sz="1500" dirty="0">
                <a:latin typeface="Inter"/>
              </a:rPr>
              <a:t> Autonomous action requires guardrails, human oversight, and graceful degradation when the agent is uncertain. [6]</a:t>
            </a:r>
          </a:p>
        </p:txBody>
      </p:sp>
      <p:pic>
        <p:nvPicPr>
          <p:cNvPr id="24" name="Picture 23">
            <a:extLst>
              <a:ext uri="{FF2B5EF4-FFF2-40B4-BE49-F238E27FC236}">
                <a16:creationId xmlns:a16="http://schemas.microsoft.com/office/drawing/2014/main" id="{5F2BCF82-A88A-4CD9-F6B6-B3742FDED85C}"/>
              </a:ext>
            </a:extLst>
          </p:cNvPr>
          <p:cNvPicPr>
            <a:picLocks noChangeAspect="1"/>
          </p:cNvPicPr>
          <p:nvPr/>
        </p:nvPicPr>
        <p:blipFill>
          <a:blip r:embed="rId3">
            <a:duotone>
              <a:schemeClr val="accent5">
                <a:shade val="45000"/>
                <a:satMod val="135000"/>
              </a:schemeClr>
              <a:prstClr val="white"/>
            </a:duotone>
            <a:extLst>
              <a:ext uri="{BEBA8EAE-BF5A-486C-A8C5-ECC9F3942E4B}">
                <a14:imgProps xmlns:a14="http://schemas.microsoft.com/office/drawing/2010/main">
                  <a14:imgLayer r:embed="rId4">
                    <a14:imgEffect>
                      <a14:saturation sat="400000"/>
                    </a14:imgEffect>
                  </a14:imgLayer>
                </a14:imgProps>
              </a:ext>
            </a:extLst>
          </a:blip>
          <a:srcRect/>
          <a:stretch/>
        </p:blipFill>
        <p:spPr>
          <a:xfrm>
            <a:off x="6567344" y="2113709"/>
            <a:ext cx="5498055" cy="377081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 name="Picture 69" descr="image.png">
            <a:extLst>
              <a:ext uri="{FF2B5EF4-FFF2-40B4-BE49-F238E27FC236}">
                <a16:creationId xmlns:a16="http://schemas.microsoft.com/office/drawing/2014/main" id="{070330A2-AAA6-779F-BF61-96A06E62452B}"/>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93795" y="1746152"/>
            <a:ext cx="5367037" cy="4487500"/>
          </a:xfrm>
          <a:prstGeom prst="rect">
            <a:avLst/>
          </a:prstGeom>
        </p:spPr>
      </p:pic>
      <p:pic>
        <p:nvPicPr>
          <p:cNvPr id="16" name="Picture 15">
            <a:extLst>
              <a:ext uri="{FF2B5EF4-FFF2-40B4-BE49-F238E27FC236}">
                <a16:creationId xmlns:a16="http://schemas.microsoft.com/office/drawing/2014/main" id="{B9FFB3F4-8DEB-623D-B7CB-8EF29A7FF5D3}"/>
              </a:ext>
            </a:extLst>
          </p:cNvPr>
          <p:cNvPicPr>
            <a:picLocks noChangeAspect="1"/>
          </p:cNvPicPr>
          <p:nvPr/>
        </p:nvPicPr>
        <p:blipFill>
          <a:blip r:embed="rId5">
            <a:extLst>
              <a:ext uri="{BEBA8EAE-BF5A-486C-A8C5-ECC9F3942E4B}">
                <a14:imgProps xmlns:a14="http://schemas.microsoft.com/office/drawing/2010/main">
                  <a14:imgLayer r:embed="rId6">
                    <a14:imgEffect>
                      <a14:saturation sat="400000"/>
                    </a14:imgEffect>
                  </a14:imgLayer>
                </a14:imgProps>
              </a:ext>
            </a:extLst>
          </a:blip>
          <a:srcRect t="11028" b="13377"/>
          <a:stretch>
            <a:fillRect/>
          </a:stretch>
        </p:blipFill>
        <p:spPr>
          <a:xfrm>
            <a:off x="731921" y="3047892"/>
            <a:ext cx="4882323" cy="2076062"/>
          </a:xfrm>
          <a:prstGeom prst="rect">
            <a:avLst/>
          </a:prstGeom>
        </p:spPr>
      </p:pic>
      <p:pic>
        <p:nvPicPr>
          <p:cNvPr id="3" name="Picture 2" descr="image.png"/>
          <p:cNvPicPr>
            <a:picLocks noChangeAspect="1"/>
          </p:cNvPicPr>
          <p:nvPr/>
        </p:nvPicPr>
        <p:blipFill>
          <a:blip r:embed="rId7">
            <a:extLst>
              <a:ext uri="{BEBA8EAE-BF5A-486C-A8C5-ECC9F3942E4B}">
                <a14:imgProps xmlns:a14="http://schemas.microsoft.com/office/drawing/2010/main">
                  <a14:imgLayer r:embed="rId8">
                    <a14:imgEffect>
                      <a14:saturation sat="0"/>
                    </a14:imgEffect>
                  </a14:imgLayer>
                </a14:imgProps>
              </a:ext>
            </a:extLst>
          </a:blip>
          <a:stretch>
            <a:fillRect/>
          </a:stretch>
        </p:blipFill>
        <p:spPr>
          <a:xfrm>
            <a:off x="6095999" y="871082"/>
            <a:ext cx="5521395" cy="5362570"/>
          </a:xfrm>
          <a:prstGeom prst="rect">
            <a:avLst/>
          </a:prstGeom>
        </p:spPr>
      </p:pic>
      <p:pic>
        <p:nvPicPr>
          <p:cNvPr id="7" name="Picture 6" descr="image.png"/>
          <p:cNvPicPr>
            <a:picLocks noChangeAspect="1"/>
          </p:cNvPicPr>
          <p:nvPr/>
        </p:nvPicPr>
        <p:blipFill>
          <a:blip r:embed="rId9"/>
          <a:stretch>
            <a:fillRect/>
          </a:stretch>
        </p:blipFill>
        <p:spPr>
          <a:xfrm>
            <a:off x="2559994" y="5616050"/>
            <a:ext cx="3054250" cy="377130"/>
          </a:xfrm>
          <a:prstGeom prst="rect">
            <a:avLst/>
          </a:prstGeom>
        </p:spPr>
      </p:pic>
      <p:pic>
        <p:nvPicPr>
          <p:cNvPr id="8" name="Picture 7" descr="image.png"/>
          <p:cNvPicPr>
            <a:picLocks noChangeAspect="1"/>
          </p:cNvPicPr>
          <p:nvPr/>
        </p:nvPicPr>
        <p:blipFill>
          <a:blip r:embed="rId10"/>
          <a:stretch>
            <a:fillRect/>
          </a:stretch>
        </p:blipFill>
        <p:spPr>
          <a:xfrm>
            <a:off x="8563144" y="5632773"/>
            <a:ext cx="2875693" cy="377130"/>
          </a:xfrm>
          <a:prstGeom prst="rect">
            <a:avLst/>
          </a:prstGeom>
        </p:spPr>
      </p:pic>
      <p:sp>
        <p:nvSpPr>
          <p:cNvPr id="12" name="TextBox 11"/>
          <p:cNvSpPr txBox="1"/>
          <p:nvPr/>
        </p:nvSpPr>
        <p:spPr>
          <a:xfrm>
            <a:off x="574606" y="778958"/>
            <a:ext cx="4097870" cy="484748"/>
          </a:xfrm>
          <a:prstGeom prst="rect">
            <a:avLst/>
          </a:prstGeom>
          <a:noFill/>
        </p:spPr>
        <p:txBody>
          <a:bodyPr wrap="square" lIns="0" tIns="0" rIns="0" bIns="0" anchor="t">
            <a:spAutoFit/>
          </a:bodyPr>
          <a:lstStyle/>
          <a:p>
            <a:pPr algn="l"/>
            <a:r>
              <a:rPr sz="3150" b="1" i="0" u="none" dirty="0">
                <a:latin typeface="Inter"/>
              </a:rPr>
              <a:t>Types of </a:t>
            </a:r>
            <a:r>
              <a:rPr sz="3150" b="1" i="0" u="none" dirty="0">
                <a:solidFill>
                  <a:schemeClr val="tx2"/>
                </a:solidFill>
                <a:latin typeface="Inter"/>
              </a:rPr>
              <a:t>AI Agents</a:t>
            </a:r>
          </a:p>
        </p:txBody>
      </p:sp>
      <p:sp>
        <p:nvSpPr>
          <p:cNvPr id="14" name="TextBox 13"/>
          <p:cNvSpPr txBox="1"/>
          <p:nvPr/>
        </p:nvSpPr>
        <p:spPr>
          <a:xfrm>
            <a:off x="752816" y="1944742"/>
            <a:ext cx="2926928" cy="246221"/>
          </a:xfrm>
          <a:prstGeom prst="rect">
            <a:avLst/>
          </a:prstGeom>
          <a:noFill/>
        </p:spPr>
        <p:txBody>
          <a:bodyPr wrap="square" lIns="0" tIns="0" rIns="0" bIns="0" anchor="ctr">
            <a:spAutoFit/>
          </a:bodyPr>
          <a:lstStyle/>
          <a:p>
            <a:pPr algn="l"/>
            <a:r>
              <a:rPr sz="1600" b="1" i="0" u="none" dirty="0">
                <a:latin typeface="Inter"/>
              </a:rPr>
              <a:t>Simple Reflex</a:t>
            </a:r>
            <a:r>
              <a:rPr lang="en-IN" sz="1600" b="1" i="0" u="none" dirty="0">
                <a:latin typeface="Inter"/>
              </a:rPr>
              <a:t> Agents</a:t>
            </a:r>
            <a:endParaRPr sz="1600" b="1" i="0" u="none" dirty="0">
              <a:latin typeface="Inter"/>
            </a:endParaRPr>
          </a:p>
        </p:txBody>
      </p:sp>
      <p:sp>
        <p:nvSpPr>
          <p:cNvPr id="15" name="TextBox 14"/>
          <p:cNvSpPr txBox="1"/>
          <p:nvPr/>
        </p:nvSpPr>
        <p:spPr>
          <a:xfrm>
            <a:off x="731921" y="2296452"/>
            <a:ext cx="4882323" cy="646908"/>
          </a:xfrm>
          <a:prstGeom prst="rect">
            <a:avLst/>
          </a:prstGeom>
          <a:noFill/>
        </p:spPr>
        <p:txBody>
          <a:bodyPr wrap="square" lIns="0" tIns="0" rIns="0" bIns="0" anchor="t">
            <a:spAutoFit/>
          </a:bodyPr>
          <a:lstStyle/>
          <a:p>
            <a:pPr algn="just">
              <a:lnSpc>
                <a:spcPts val="1687"/>
              </a:lnSpc>
            </a:pPr>
            <a:r>
              <a:rPr lang="en-IN" sz="1200" dirty="0">
                <a:latin typeface="Inter"/>
              </a:rPr>
              <a:t>Simple reflex agents are the simplest agent form that grounds actions on </a:t>
            </a:r>
            <a:r>
              <a:rPr lang="en-IN" sz="1200" dirty="0">
                <a:latin typeface="Inter"/>
                <a:hlinkClick r:id="rId11"/>
              </a:rPr>
              <a:t>perception</a:t>
            </a:r>
            <a:r>
              <a:rPr lang="en-IN" sz="1200" dirty="0">
                <a:latin typeface="Inter"/>
              </a:rPr>
              <a:t>. This agent does not hold any memory, nor does it interact with other agents if it is missing information. </a:t>
            </a:r>
            <a:r>
              <a:rPr lang="en-IN" sz="1200" b="1" dirty="0">
                <a:latin typeface="Inter"/>
              </a:rPr>
              <a:t>[4]</a:t>
            </a:r>
            <a:endParaRPr sz="1200" b="1" i="0" u="none" dirty="0">
              <a:solidFill>
                <a:srgbClr val="475569"/>
              </a:solidFill>
              <a:latin typeface="Inter"/>
            </a:endParaRPr>
          </a:p>
        </p:txBody>
      </p:sp>
      <p:sp>
        <p:nvSpPr>
          <p:cNvPr id="17" name="TextBox 16"/>
          <p:cNvSpPr txBox="1"/>
          <p:nvPr/>
        </p:nvSpPr>
        <p:spPr>
          <a:xfrm>
            <a:off x="2559994" y="5396975"/>
            <a:ext cx="3054250" cy="142875"/>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18" name="TextBox 17"/>
          <p:cNvSpPr txBox="1"/>
          <p:nvPr/>
        </p:nvSpPr>
        <p:spPr>
          <a:xfrm>
            <a:off x="6334737" y="1117720"/>
            <a:ext cx="2906925" cy="246221"/>
          </a:xfrm>
          <a:prstGeom prst="rect">
            <a:avLst/>
          </a:prstGeom>
          <a:noFill/>
        </p:spPr>
        <p:txBody>
          <a:bodyPr wrap="square" lIns="0" tIns="0" rIns="0" bIns="0" anchor="ctr">
            <a:spAutoFit/>
          </a:bodyPr>
          <a:lstStyle/>
          <a:p>
            <a:pPr algn="l"/>
            <a:r>
              <a:rPr sz="1600" b="1" i="0" u="none" dirty="0">
                <a:latin typeface="Inter"/>
              </a:rPr>
              <a:t>Model-Based</a:t>
            </a:r>
            <a:r>
              <a:rPr lang="en-IN" sz="1600" b="1" i="0" u="none" dirty="0">
                <a:latin typeface="Inter"/>
              </a:rPr>
              <a:t> Agents</a:t>
            </a:r>
            <a:endParaRPr sz="1600" b="1" i="0" u="none" dirty="0">
              <a:latin typeface="Inter"/>
            </a:endParaRPr>
          </a:p>
        </p:txBody>
      </p:sp>
      <p:sp>
        <p:nvSpPr>
          <p:cNvPr id="19" name="TextBox 18"/>
          <p:cNvSpPr txBox="1"/>
          <p:nvPr/>
        </p:nvSpPr>
        <p:spPr>
          <a:xfrm>
            <a:off x="6334125" y="1421383"/>
            <a:ext cx="5048102" cy="858184"/>
          </a:xfrm>
          <a:prstGeom prst="rect">
            <a:avLst/>
          </a:prstGeom>
          <a:noFill/>
        </p:spPr>
        <p:txBody>
          <a:bodyPr wrap="square" lIns="0" tIns="0" rIns="0" bIns="0" anchor="t">
            <a:spAutoFit/>
          </a:bodyPr>
          <a:lstStyle/>
          <a:p>
            <a:pPr algn="just">
              <a:lnSpc>
                <a:spcPts val="1687"/>
              </a:lnSpc>
            </a:pPr>
            <a:r>
              <a:rPr lang="en-IN" sz="1200" dirty="0">
                <a:latin typeface="Inter"/>
              </a:rPr>
              <a:t>Model-based reflex agents use both their current perception and memory to maintain an internal model of the world. As the agent continues to receive new information, the model is updated. The agent’s actions depend on its model, reflexes, previous precepts and current state. </a:t>
            </a:r>
            <a:r>
              <a:rPr lang="en-IN" sz="1200" b="1" dirty="0">
                <a:latin typeface="Inter"/>
              </a:rPr>
              <a:t>[4]</a:t>
            </a:r>
            <a:endParaRPr sz="1200" b="0" i="0" u="none" dirty="0">
              <a:solidFill>
                <a:srgbClr val="475569"/>
              </a:solidFill>
              <a:latin typeface="Inter"/>
            </a:endParaRPr>
          </a:p>
        </p:txBody>
      </p:sp>
      <p:sp>
        <p:nvSpPr>
          <p:cNvPr id="21" name="TextBox 20"/>
          <p:cNvSpPr txBox="1"/>
          <p:nvPr/>
        </p:nvSpPr>
        <p:spPr>
          <a:xfrm>
            <a:off x="8563144" y="5413698"/>
            <a:ext cx="3054250" cy="142875"/>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35" name="TextBox 34"/>
          <p:cNvSpPr txBox="1"/>
          <p:nvPr/>
        </p:nvSpPr>
        <p:spPr>
          <a:xfrm>
            <a:off x="886166" y="5305000"/>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No memory capacity</a:t>
            </a:r>
          </a:p>
        </p:txBody>
      </p:sp>
      <p:sp>
        <p:nvSpPr>
          <p:cNvPr id="36" name="TextBox 35"/>
          <p:cNvSpPr txBox="1"/>
          <p:nvPr/>
        </p:nvSpPr>
        <p:spPr>
          <a:xfrm>
            <a:off x="886166" y="5548780"/>
            <a:ext cx="2863750"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Rule-based decisions</a:t>
            </a:r>
          </a:p>
        </p:txBody>
      </p:sp>
      <p:sp>
        <p:nvSpPr>
          <p:cNvPr id="37" name="TextBox 36"/>
          <p:cNvSpPr txBox="1"/>
          <p:nvPr/>
        </p:nvSpPr>
        <p:spPr>
          <a:xfrm>
            <a:off x="886166" y="5792561"/>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Fast but inflexible</a:t>
            </a:r>
          </a:p>
        </p:txBody>
      </p:sp>
      <p:sp>
        <p:nvSpPr>
          <p:cNvPr id="39" name="TextBox 38"/>
          <p:cNvSpPr txBox="1"/>
          <p:nvPr/>
        </p:nvSpPr>
        <p:spPr>
          <a:xfrm>
            <a:off x="6530686" y="5343302"/>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Maintains internal state</a:t>
            </a:r>
          </a:p>
        </p:txBody>
      </p:sp>
      <p:sp>
        <p:nvSpPr>
          <p:cNvPr id="40" name="TextBox 39"/>
          <p:cNvSpPr txBox="1"/>
          <p:nvPr/>
        </p:nvSpPr>
        <p:spPr>
          <a:xfrm>
            <a:off x="6530686" y="5587082"/>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Handles partial observability</a:t>
            </a:r>
          </a:p>
        </p:txBody>
      </p:sp>
      <p:sp>
        <p:nvSpPr>
          <p:cNvPr id="41" name="TextBox 40"/>
          <p:cNvSpPr txBox="1"/>
          <p:nvPr/>
        </p:nvSpPr>
        <p:spPr>
          <a:xfrm>
            <a:off x="6530686" y="5830863"/>
            <a:ext cx="2863750"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Updates knowledge continuously</a:t>
            </a:r>
          </a:p>
        </p:txBody>
      </p:sp>
      <p:pic>
        <p:nvPicPr>
          <p:cNvPr id="54" name="Picture 53" descr="image.png"/>
          <p:cNvPicPr>
            <a:picLocks noChangeAspect="1"/>
          </p:cNvPicPr>
          <p:nvPr/>
        </p:nvPicPr>
        <p:blipFill>
          <a:blip r:embed="rId12"/>
          <a:stretch>
            <a:fillRect/>
          </a:stretch>
        </p:blipFill>
        <p:spPr>
          <a:xfrm>
            <a:off x="695666" y="5314525"/>
            <a:ext cx="133350" cy="142875"/>
          </a:xfrm>
          <a:prstGeom prst="rect">
            <a:avLst/>
          </a:prstGeom>
        </p:spPr>
      </p:pic>
      <p:pic>
        <p:nvPicPr>
          <p:cNvPr id="55" name="Picture 54" descr="image.png"/>
          <p:cNvPicPr>
            <a:picLocks noChangeAspect="1"/>
          </p:cNvPicPr>
          <p:nvPr/>
        </p:nvPicPr>
        <p:blipFill>
          <a:blip r:embed="rId12"/>
          <a:stretch>
            <a:fillRect/>
          </a:stretch>
        </p:blipFill>
        <p:spPr>
          <a:xfrm>
            <a:off x="695666" y="5558305"/>
            <a:ext cx="133350" cy="142875"/>
          </a:xfrm>
          <a:prstGeom prst="rect">
            <a:avLst/>
          </a:prstGeom>
        </p:spPr>
      </p:pic>
      <p:pic>
        <p:nvPicPr>
          <p:cNvPr id="56" name="Picture 55" descr="image.png"/>
          <p:cNvPicPr>
            <a:picLocks noChangeAspect="1"/>
          </p:cNvPicPr>
          <p:nvPr/>
        </p:nvPicPr>
        <p:blipFill>
          <a:blip r:embed="rId12"/>
          <a:stretch>
            <a:fillRect/>
          </a:stretch>
        </p:blipFill>
        <p:spPr>
          <a:xfrm>
            <a:off x="695666" y="5802086"/>
            <a:ext cx="133350" cy="142875"/>
          </a:xfrm>
          <a:prstGeom prst="rect">
            <a:avLst/>
          </a:prstGeom>
        </p:spPr>
      </p:pic>
      <p:pic>
        <p:nvPicPr>
          <p:cNvPr id="57" name="Picture 56" descr="image.png"/>
          <p:cNvPicPr>
            <a:picLocks noChangeAspect="1"/>
          </p:cNvPicPr>
          <p:nvPr/>
        </p:nvPicPr>
        <p:blipFill>
          <a:blip r:embed="rId12"/>
          <a:stretch>
            <a:fillRect/>
          </a:stretch>
        </p:blipFill>
        <p:spPr>
          <a:xfrm>
            <a:off x="6340186" y="5352827"/>
            <a:ext cx="133350" cy="142875"/>
          </a:xfrm>
          <a:prstGeom prst="rect">
            <a:avLst/>
          </a:prstGeom>
        </p:spPr>
      </p:pic>
      <p:pic>
        <p:nvPicPr>
          <p:cNvPr id="58" name="Picture 57" descr="image.png"/>
          <p:cNvPicPr>
            <a:picLocks noChangeAspect="1"/>
          </p:cNvPicPr>
          <p:nvPr/>
        </p:nvPicPr>
        <p:blipFill>
          <a:blip r:embed="rId12"/>
          <a:stretch>
            <a:fillRect/>
          </a:stretch>
        </p:blipFill>
        <p:spPr>
          <a:xfrm>
            <a:off x="6340186" y="5596607"/>
            <a:ext cx="133350" cy="142875"/>
          </a:xfrm>
          <a:prstGeom prst="rect">
            <a:avLst/>
          </a:prstGeom>
        </p:spPr>
      </p:pic>
      <p:pic>
        <p:nvPicPr>
          <p:cNvPr id="59" name="Picture 58" descr="image.png"/>
          <p:cNvPicPr>
            <a:picLocks noChangeAspect="1"/>
          </p:cNvPicPr>
          <p:nvPr/>
        </p:nvPicPr>
        <p:blipFill>
          <a:blip r:embed="rId12"/>
          <a:stretch>
            <a:fillRect/>
          </a:stretch>
        </p:blipFill>
        <p:spPr>
          <a:xfrm>
            <a:off x="6340186" y="5840388"/>
            <a:ext cx="133350" cy="142875"/>
          </a:xfrm>
          <a:prstGeom prst="rect">
            <a:avLst/>
          </a:prstGeom>
        </p:spPr>
      </p:pic>
      <p:pic>
        <p:nvPicPr>
          <p:cNvPr id="24" name="Picture 23">
            <a:extLst>
              <a:ext uri="{FF2B5EF4-FFF2-40B4-BE49-F238E27FC236}">
                <a16:creationId xmlns:a16="http://schemas.microsoft.com/office/drawing/2014/main" id="{AAD32A5F-62A2-80A6-C0E4-023676A2D02C}"/>
              </a:ext>
            </a:extLst>
          </p:cNvPr>
          <p:cNvPicPr>
            <a:picLocks noChangeAspect="1"/>
          </p:cNvPicPr>
          <p:nvPr/>
        </p:nvPicPr>
        <p:blipFill>
          <a:blip r:embed="rId13"/>
          <a:stretch>
            <a:fillRect/>
          </a:stretch>
        </p:blipFill>
        <p:spPr>
          <a:xfrm>
            <a:off x="6334737" y="2380472"/>
            <a:ext cx="5048102" cy="283955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FC9E8-80F2-1283-DEDB-9791A966ACCD}"/>
            </a:ext>
          </a:extLst>
        </p:cNvPr>
        <p:cNvGrpSpPr/>
        <p:nvPr/>
      </p:nvGrpSpPr>
      <p:grpSpPr>
        <a:xfrm>
          <a:off x="0" y="0"/>
          <a:ext cx="0" cy="0"/>
          <a:chOff x="0" y="0"/>
          <a:chExt cx="0" cy="0"/>
        </a:xfrm>
      </p:grpSpPr>
      <p:pic>
        <p:nvPicPr>
          <p:cNvPr id="70" name="Picture 69" descr="image.png">
            <a:extLst>
              <a:ext uri="{FF2B5EF4-FFF2-40B4-BE49-F238E27FC236}">
                <a16:creationId xmlns:a16="http://schemas.microsoft.com/office/drawing/2014/main" id="{57AA48F1-2E89-0F85-41BC-9889415227D3}"/>
              </a:ext>
            </a:extLst>
          </p:cNvPr>
          <p:cNvPicPr>
            <a:picLocks noChangeAspect="1"/>
          </p:cNvPicPr>
          <p:nvPr/>
        </p:nvPicPr>
        <p:blipFill>
          <a:blip r:embed="rId2"/>
          <a:stretch>
            <a:fillRect/>
          </a:stretch>
        </p:blipFill>
        <p:spPr>
          <a:xfrm>
            <a:off x="0" y="0"/>
            <a:ext cx="12192000" cy="6858000"/>
          </a:xfrm>
          <a:prstGeom prst="rect">
            <a:avLst/>
          </a:prstGeom>
        </p:spPr>
      </p:pic>
      <p:pic>
        <p:nvPicPr>
          <p:cNvPr id="4" name="Picture 3" descr="image.png">
            <a:extLst>
              <a:ext uri="{FF2B5EF4-FFF2-40B4-BE49-F238E27FC236}">
                <a16:creationId xmlns:a16="http://schemas.microsoft.com/office/drawing/2014/main" id="{5B81551E-BD6A-C880-6F60-39D6CE32F26B}"/>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61491" y="1124272"/>
            <a:ext cx="5534510" cy="5340960"/>
          </a:xfrm>
          <a:prstGeom prst="rect">
            <a:avLst/>
          </a:prstGeom>
        </p:spPr>
      </p:pic>
      <p:pic>
        <p:nvPicPr>
          <p:cNvPr id="9" name="Picture 8" descr="image.png">
            <a:extLst>
              <a:ext uri="{FF2B5EF4-FFF2-40B4-BE49-F238E27FC236}">
                <a16:creationId xmlns:a16="http://schemas.microsoft.com/office/drawing/2014/main" id="{6BBAEB25-518D-9436-AB54-23CAFDF6B0E5}"/>
              </a:ext>
            </a:extLst>
          </p:cNvPr>
          <p:cNvPicPr>
            <a:picLocks noChangeAspect="1"/>
          </p:cNvPicPr>
          <p:nvPr/>
        </p:nvPicPr>
        <p:blipFill>
          <a:blip r:embed="rId5"/>
          <a:stretch>
            <a:fillRect/>
          </a:stretch>
        </p:blipFill>
        <p:spPr>
          <a:xfrm>
            <a:off x="3041135" y="5885427"/>
            <a:ext cx="2710120" cy="377130"/>
          </a:xfrm>
          <a:prstGeom prst="rect">
            <a:avLst/>
          </a:prstGeom>
        </p:spPr>
      </p:pic>
      <p:sp>
        <p:nvSpPr>
          <p:cNvPr id="12" name="TextBox 11">
            <a:extLst>
              <a:ext uri="{FF2B5EF4-FFF2-40B4-BE49-F238E27FC236}">
                <a16:creationId xmlns:a16="http://schemas.microsoft.com/office/drawing/2014/main" id="{4F3CCC50-99AF-B79F-1A1B-6217FE6CFD52}"/>
              </a:ext>
            </a:extLst>
          </p:cNvPr>
          <p:cNvSpPr txBox="1"/>
          <p:nvPr/>
        </p:nvSpPr>
        <p:spPr>
          <a:xfrm>
            <a:off x="624014" y="345078"/>
            <a:ext cx="4708754" cy="484748"/>
          </a:xfrm>
          <a:prstGeom prst="rect">
            <a:avLst/>
          </a:prstGeom>
          <a:noFill/>
        </p:spPr>
        <p:txBody>
          <a:bodyPr wrap="square" lIns="0" tIns="0" rIns="0" bIns="0" anchor="t">
            <a:spAutoFit/>
          </a:bodyPr>
          <a:lstStyle/>
          <a:p>
            <a:pPr algn="l"/>
            <a:r>
              <a:rPr sz="3150" b="1" i="0" u="none" dirty="0">
                <a:latin typeface="Inter"/>
              </a:rPr>
              <a:t>Types of </a:t>
            </a:r>
            <a:r>
              <a:rPr sz="3150" b="1" i="0" u="none" dirty="0">
                <a:solidFill>
                  <a:schemeClr val="tx2"/>
                </a:solidFill>
                <a:latin typeface="Inter"/>
              </a:rPr>
              <a:t>AI Agents</a:t>
            </a:r>
            <a:r>
              <a:rPr lang="en-IN" sz="3150" b="1" i="0" u="none" dirty="0">
                <a:solidFill>
                  <a:schemeClr val="tx2"/>
                </a:solidFill>
                <a:latin typeface="Inter"/>
              </a:rPr>
              <a:t> (Cont.)</a:t>
            </a:r>
            <a:endParaRPr sz="3150" b="1" i="0" u="none" dirty="0">
              <a:solidFill>
                <a:schemeClr val="tx2"/>
              </a:solidFill>
              <a:latin typeface="Inter"/>
            </a:endParaRPr>
          </a:p>
        </p:txBody>
      </p:sp>
      <p:sp>
        <p:nvSpPr>
          <p:cNvPr id="22" name="TextBox 21">
            <a:extLst>
              <a:ext uri="{FF2B5EF4-FFF2-40B4-BE49-F238E27FC236}">
                <a16:creationId xmlns:a16="http://schemas.microsoft.com/office/drawing/2014/main" id="{6507A606-5176-5ABA-00B6-CEB12F40DCBA}"/>
              </a:ext>
            </a:extLst>
          </p:cNvPr>
          <p:cNvSpPr txBox="1"/>
          <p:nvPr/>
        </p:nvSpPr>
        <p:spPr>
          <a:xfrm>
            <a:off x="799614" y="1373752"/>
            <a:ext cx="2906925" cy="246221"/>
          </a:xfrm>
          <a:prstGeom prst="rect">
            <a:avLst/>
          </a:prstGeom>
          <a:noFill/>
        </p:spPr>
        <p:txBody>
          <a:bodyPr wrap="square" lIns="0" tIns="0" rIns="0" bIns="0" anchor="ctr">
            <a:spAutoFit/>
          </a:bodyPr>
          <a:lstStyle/>
          <a:p>
            <a:pPr algn="l"/>
            <a:r>
              <a:rPr sz="1600" b="1" i="0" u="none" dirty="0">
                <a:latin typeface="Inter"/>
              </a:rPr>
              <a:t>Goal-Based</a:t>
            </a:r>
            <a:r>
              <a:rPr lang="en-IN" sz="1600" b="1" i="0" u="none" dirty="0">
                <a:latin typeface="Inter"/>
              </a:rPr>
              <a:t> Agents</a:t>
            </a:r>
            <a:endParaRPr sz="1600" b="1" i="0" u="none" dirty="0">
              <a:latin typeface="Inter"/>
            </a:endParaRPr>
          </a:p>
        </p:txBody>
      </p:sp>
      <p:sp>
        <p:nvSpPr>
          <p:cNvPr id="23" name="TextBox 22">
            <a:extLst>
              <a:ext uri="{FF2B5EF4-FFF2-40B4-BE49-F238E27FC236}">
                <a16:creationId xmlns:a16="http://schemas.microsoft.com/office/drawing/2014/main" id="{77F08D2E-03BE-BF37-F431-3FE95A0CB73E}"/>
              </a:ext>
            </a:extLst>
          </p:cNvPr>
          <p:cNvSpPr txBox="1"/>
          <p:nvPr/>
        </p:nvSpPr>
        <p:spPr>
          <a:xfrm>
            <a:off x="799000" y="1725462"/>
            <a:ext cx="4952255" cy="858184"/>
          </a:xfrm>
          <a:prstGeom prst="rect">
            <a:avLst/>
          </a:prstGeom>
          <a:noFill/>
        </p:spPr>
        <p:txBody>
          <a:bodyPr wrap="square" lIns="0" tIns="0" rIns="0" bIns="0" anchor="t">
            <a:spAutoFit/>
          </a:bodyPr>
          <a:lstStyle/>
          <a:p>
            <a:pPr algn="just">
              <a:lnSpc>
                <a:spcPts val="1687"/>
              </a:lnSpc>
            </a:pPr>
            <a:r>
              <a:rPr lang="en-IN" sz="1200" dirty="0">
                <a:latin typeface="Inter"/>
              </a:rPr>
              <a:t>Goal-based agents have an internal model of the world and also a goal or set of goals. These agents search for action sequences that reach their goal and plan these actions before acting on them. This search and planning improve their effectiveness when compared to simple and model-based reflex agents. </a:t>
            </a:r>
            <a:r>
              <a:rPr lang="en-IN" sz="1200" b="1" dirty="0">
                <a:latin typeface="Inter"/>
              </a:rPr>
              <a:t>[4]</a:t>
            </a:r>
            <a:endParaRPr sz="1200" b="0" i="0" u="none" dirty="0">
              <a:solidFill>
                <a:srgbClr val="475569"/>
              </a:solidFill>
              <a:latin typeface="Inter"/>
            </a:endParaRPr>
          </a:p>
        </p:txBody>
      </p:sp>
      <p:sp>
        <p:nvSpPr>
          <p:cNvPr id="25" name="TextBox 24">
            <a:extLst>
              <a:ext uri="{FF2B5EF4-FFF2-40B4-BE49-F238E27FC236}">
                <a16:creationId xmlns:a16="http://schemas.microsoft.com/office/drawing/2014/main" id="{010A4F64-0A71-730E-C456-FD9FC28B9B52}"/>
              </a:ext>
            </a:extLst>
          </p:cNvPr>
          <p:cNvSpPr txBox="1"/>
          <p:nvPr/>
        </p:nvSpPr>
        <p:spPr>
          <a:xfrm>
            <a:off x="3041135" y="5666352"/>
            <a:ext cx="3054250" cy="142875"/>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43" name="TextBox 42">
            <a:extLst>
              <a:ext uri="{FF2B5EF4-FFF2-40B4-BE49-F238E27FC236}">
                <a16:creationId xmlns:a16="http://schemas.microsoft.com/office/drawing/2014/main" id="{88B44504-739C-1900-B0E1-422FA1194F0B}"/>
              </a:ext>
            </a:extLst>
          </p:cNvPr>
          <p:cNvSpPr txBox="1"/>
          <p:nvPr/>
        </p:nvSpPr>
        <p:spPr>
          <a:xfrm>
            <a:off x="990114" y="5577206"/>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Goal-oriented approach</a:t>
            </a:r>
          </a:p>
        </p:txBody>
      </p:sp>
      <p:sp>
        <p:nvSpPr>
          <p:cNvPr id="44" name="TextBox 43">
            <a:extLst>
              <a:ext uri="{FF2B5EF4-FFF2-40B4-BE49-F238E27FC236}">
                <a16:creationId xmlns:a16="http://schemas.microsoft.com/office/drawing/2014/main" id="{1300AF29-A009-0E20-7B4A-9AD37042D68C}"/>
              </a:ext>
            </a:extLst>
          </p:cNvPr>
          <p:cNvSpPr txBox="1"/>
          <p:nvPr/>
        </p:nvSpPr>
        <p:spPr>
          <a:xfrm>
            <a:off x="990114" y="5820986"/>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Planning &amp; search capabilities</a:t>
            </a:r>
          </a:p>
        </p:txBody>
      </p:sp>
      <p:sp>
        <p:nvSpPr>
          <p:cNvPr id="45" name="TextBox 44">
            <a:extLst>
              <a:ext uri="{FF2B5EF4-FFF2-40B4-BE49-F238E27FC236}">
                <a16:creationId xmlns:a16="http://schemas.microsoft.com/office/drawing/2014/main" id="{9C0DFECF-A083-F07A-A252-0D1E93AFD394}"/>
              </a:ext>
            </a:extLst>
          </p:cNvPr>
          <p:cNvSpPr txBox="1"/>
          <p:nvPr/>
        </p:nvSpPr>
        <p:spPr>
          <a:xfrm>
            <a:off x="990114" y="6064767"/>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Evaluates possible actions</a:t>
            </a:r>
          </a:p>
        </p:txBody>
      </p:sp>
      <p:pic>
        <p:nvPicPr>
          <p:cNvPr id="60" name="Picture 59" descr="image.png">
            <a:extLst>
              <a:ext uri="{FF2B5EF4-FFF2-40B4-BE49-F238E27FC236}">
                <a16:creationId xmlns:a16="http://schemas.microsoft.com/office/drawing/2014/main" id="{438F6F38-478D-6C5B-D839-3FB1F274B1A1}"/>
              </a:ext>
            </a:extLst>
          </p:cNvPr>
          <p:cNvPicPr>
            <a:picLocks noChangeAspect="1"/>
          </p:cNvPicPr>
          <p:nvPr/>
        </p:nvPicPr>
        <p:blipFill>
          <a:blip r:embed="rId6"/>
          <a:stretch>
            <a:fillRect/>
          </a:stretch>
        </p:blipFill>
        <p:spPr>
          <a:xfrm>
            <a:off x="799614" y="5586731"/>
            <a:ext cx="133350" cy="142875"/>
          </a:xfrm>
          <a:prstGeom prst="rect">
            <a:avLst/>
          </a:prstGeom>
        </p:spPr>
      </p:pic>
      <p:pic>
        <p:nvPicPr>
          <p:cNvPr id="61" name="Picture 60" descr="image.png">
            <a:extLst>
              <a:ext uri="{FF2B5EF4-FFF2-40B4-BE49-F238E27FC236}">
                <a16:creationId xmlns:a16="http://schemas.microsoft.com/office/drawing/2014/main" id="{DBC8B645-48B3-D9E7-21D9-7453E7E1EC44}"/>
              </a:ext>
            </a:extLst>
          </p:cNvPr>
          <p:cNvPicPr>
            <a:picLocks noChangeAspect="1"/>
          </p:cNvPicPr>
          <p:nvPr/>
        </p:nvPicPr>
        <p:blipFill>
          <a:blip r:embed="rId6"/>
          <a:stretch>
            <a:fillRect/>
          </a:stretch>
        </p:blipFill>
        <p:spPr>
          <a:xfrm>
            <a:off x="799614" y="5830511"/>
            <a:ext cx="133350" cy="142875"/>
          </a:xfrm>
          <a:prstGeom prst="rect">
            <a:avLst/>
          </a:prstGeom>
        </p:spPr>
      </p:pic>
      <p:pic>
        <p:nvPicPr>
          <p:cNvPr id="62" name="Picture 61" descr="image.png">
            <a:extLst>
              <a:ext uri="{FF2B5EF4-FFF2-40B4-BE49-F238E27FC236}">
                <a16:creationId xmlns:a16="http://schemas.microsoft.com/office/drawing/2014/main" id="{C50F33F1-4F34-4D5B-1C4A-3394A8504C33}"/>
              </a:ext>
            </a:extLst>
          </p:cNvPr>
          <p:cNvPicPr>
            <a:picLocks noChangeAspect="1"/>
          </p:cNvPicPr>
          <p:nvPr/>
        </p:nvPicPr>
        <p:blipFill>
          <a:blip r:embed="rId6"/>
          <a:stretch>
            <a:fillRect/>
          </a:stretch>
        </p:blipFill>
        <p:spPr>
          <a:xfrm>
            <a:off x="799614" y="6074292"/>
            <a:ext cx="133350" cy="142875"/>
          </a:xfrm>
          <a:prstGeom prst="rect">
            <a:avLst/>
          </a:prstGeom>
        </p:spPr>
      </p:pic>
      <p:pic>
        <p:nvPicPr>
          <p:cNvPr id="16" name="Picture 15">
            <a:extLst>
              <a:ext uri="{FF2B5EF4-FFF2-40B4-BE49-F238E27FC236}">
                <a16:creationId xmlns:a16="http://schemas.microsoft.com/office/drawing/2014/main" id="{90FF5C2C-CEA7-BA32-95F0-46D626E9022D}"/>
              </a:ext>
            </a:extLst>
          </p:cNvPr>
          <p:cNvPicPr>
            <a:picLocks noChangeAspect="1"/>
          </p:cNvPicPr>
          <p:nvPr/>
        </p:nvPicPr>
        <p:blipFill>
          <a:blip r:embed="rId7"/>
          <a:stretch>
            <a:fillRect/>
          </a:stretch>
        </p:blipFill>
        <p:spPr>
          <a:xfrm>
            <a:off x="798999" y="2684551"/>
            <a:ext cx="4952255" cy="2785643"/>
          </a:xfrm>
          <a:prstGeom prst="rect">
            <a:avLst/>
          </a:prstGeom>
        </p:spPr>
      </p:pic>
      <p:pic>
        <p:nvPicPr>
          <p:cNvPr id="24" name="Picture 23" descr="image.png">
            <a:extLst>
              <a:ext uri="{FF2B5EF4-FFF2-40B4-BE49-F238E27FC236}">
                <a16:creationId xmlns:a16="http://schemas.microsoft.com/office/drawing/2014/main" id="{66579386-F36D-FCD7-0EA6-7ED7CC0159A4}"/>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tretch>
            <a:fillRect/>
          </a:stretch>
        </p:blipFill>
        <p:spPr>
          <a:xfrm>
            <a:off x="6333509" y="1124272"/>
            <a:ext cx="4857750" cy="5340960"/>
          </a:xfrm>
          <a:prstGeom prst="rect">
            <a:avLst/>
          </a:prstGeom>
        </p:spPr>
      </p:pic>
      <p:sp>
        <p:nvSpPr>
          <p:cNvPr id="38" name="TextBox 37">
            <a:extLst>
              <a:ext uri="{FF2B5EF4-FFF2-40B4-BE49-F238E27FC236}">
                <a16:creationId xmlns:a16="http://schemas.microsoft.com/office/drawing/2014/main" id="{6C7C612B-4F70-6105-6D98-49AF96FB9D88}"/>
              </a:ext>
            </a:extLst>
          </p:cNvPr>
          <p:cNvSpPr txBox="1"/>
          <p:nvPr/>
        </p:nvSpPr>
        <p:spPr>
          <a:xfrm>
            <a:off x="6634087" y="1432933"/>
            <a:ext cx="4300537" cy="246221"/>
          </a:xfrm>
          <a:prstGeom prst="rect">
            <a:avLst/>
          </a:prstGeom>
          <a:noFill/>
        </p:spPr>
        <p:txBody>
          <a:bodyPr wrap="square" lIns="0" tIns="0" rIns="0" bIns="0" anchor="ctr">
            <a:spAutoFit/>
          </a:bodyPr>
          <a:lstStyle/>
          <a:p>
            <a:pPr algn="l"/>
            <a:r>
              <a:rPr sz="1600" b="1" i="0" u="none" dirty="0">
                <a:latin typeface="Inter"/>
              </a:rPr>
              <a:t>Utility-Based</a:t>
            </a:r>
            <a:r>
              <a:rPr lang="en-IN" sz="1600" b="1" i="0" u="none" dirty="0">
                <a:latin typeface="Inter"/>
              </a:rPr>
              <a:t> Agents</a:t>
            </a:r>
            <a:endParaRPr sz="1600" b="1" i="0" u="none" dirty="0">
              <a:latin typeface="Inter"/>
            </a:endParaRPr>
          </a:p>
        </p:txBody>
      </p:sp>
      <p:sp>
        <p:nvSpPr>
          <p:cNvPr id="46" name="TextBox 45">
            <a:extLst>
              <a:ext uri="{FF2B5EF4-FFF2-40B4-BE49-F238E27FC236}">
                <a16:creationId xmlns:a16="http://schemas.microsoft.com/office/drawing/2014/main" id="{A9FE0457-9650-0B0F-772B-FE90C88BD6E6}"/>
              </a:ext>
            </a:extLst>
          </p:cNvPr>
          <p:cNvSpPr txBox="1"/>
          <p:nvPr/>
        </p:nvSpPr>
        <p:spPr>
          <a:xfrm>
            <a:off x="6615859" y="1833085"/>
            <a:ext cx="4286674" cy="642937"/>
          </a:xfrm>
          <a:prstGeom prst="rect">
            <a:avLst/>
          </a:prstGeom>
          <a:noFill/>
        </p:spPr>
        <p:txBody>
          <a:bodyPr wrap="square" lIns="0" tIns="0" rIns="0" bIns="0" anchor="t">
            <a:spAutoFit/>
          </a:bodyPr>
          <a:lstStyle/>
          <a:p>
            <a:pPr algn="just">
              <a:lnSpc>
                <a:spcPts val="1687"/>
              </a:lnSpc>
            </a:pPr>
            <a:r>
              <a:rPr lang="en-IN" sz="1200" b="0" i="0" u="none" dirty="0">
                <a:latin typeface="Inter"/>
              </a:rPr>
              <a:t>Utility-Based Agents </a:t>
            </a:r>
            <a:r>
              <a:rPr lang="en-IN" sz="1200" dirty="0">
                <a:latin typeface="Inter"/>
              </a:rPr>
              <a:t>e</a:t>
            </a:r>
            <a:r>
              <a:rPr sz="1200" b="0" i="0" u="none" dirty="0">
                <a:latin typeface="Inter"/>
              </a:rPr>
              <a:t>valuate multiple possible actions using a utility function, selecting the option that maximizes overall performance and handles trade-offs efficiently.</a:t>
            </a:r>
            <a:r>
              <a:rPr lang="en-IN" sz="1200" b="0" i="0" u="none" dirty="0">
                <a:latin typeface="Inter"/>
              </a:rPr>
              <a:t> </a:t>
            </a:r>
            <a:r>
              <a:rPr lang="en-IN" sz="1200" b="1" dirty="0">
                <a:latin typeface="Inter"/>
              </a:rPr>
              <a:t>[4]</a:t>
            </a:r>
            <a:endParaRPr sz="1200" b="0" i="0" u="none" dirty="0">
              <a:latin typeface="Inter"/>
            </a:endParaRPr>
          </a:p>
        </p:txBody>
      </p:sp>
      <p:sp>
        <p:nvSpPr>
          <p:cNvPr id="69" name="TextBox 68">
            <a:extLst>
              <a:ext uri="{FF2B5EF4-FFF2-40B4-BE49-F238E27FC236}">
                <a16:creationId xmlns:a16="http://schemas.microsoft.com/office/drawing/2014/main" id="{E414D7DB-310D-4CA6-059A-8508377DCFAC}"/>
              </a:ext>
            </a:extLst>
          </p:cNvPr>
          <p:cNvSpPr txBox="1"/>
          <p:nvPr/>
        </p:nvSpPr>
        <p:spPr>
          <a:xfrm>
            <a:off x="8772524" y="5643270"/>
            <a:ext cx="4381500" cy="0"/>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72" name="TextBox 71">
            <a:extLst>
              <a:ext uri="{FF2B5EF4-FFF2-40B4-BE49-F238E27FC236}">
                <a16:creationId xmlns:a16="http://schemas.microsoft.com/office/drawing/2014/main" id="{6CC5A279-DA5B-B31F-25A6-65243B4E6FD2}"/>
              </a:ext>
            </a:extLst>
          </p:cNvPr>
          <p:cNvSpPr txBox="1"/>
          <p:nvPr/>
        </p:nvSpPr>
        <p:spPr>
          <a:xfrm>
            <a:off x="6715124" y="5599514"/>
            <a:ext cx="419100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Decision optimization</a:t>
            </a:r>
          </a:p>
        </p:txBody>
      </p:sp>
      <p:sp>
        <p:nvSpPr>
          <p:cNvPr id="74" name="TextBox 73">
            <a:extLst>
              <a:ext uri="{FF2B5EF4-FFF2-40B4-BE49-F238E27FC236}">
                <a16:creationId xmlns:a16="http://schemas.microsoft.com/office/drawing/2014/main" id="{79A4A032-9435-8E5E-A56F-8F4BA3A4B3F9}"/>
              </a:ext>
            </a:extLst>
          </p:cNvPr>
          <p:cNvSpPr txBox="1"/>
          <p:nvPr/>
        </p:nvSpPr>
        <p:spPr>
          <a:xfrm>
            <a:off x="6715124" y="5843295"/>
            <a:ext cx="4191000" cy="86022"/>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Handles complex trade-offs</a:t>
            </a:r>
          </a:p>
        </p:txBody>
      </p:sp>
      <p:sp>
        <p:nvSpPr>
          <p:cNvPr id="76" name="TextBox 75">
            <a:extLst>
              <a:ext uri="{FF2B5EF4-FFF2-40B4-BE49-F238E27FC236}">
                <a16:creationId xmlns:a16="http://schemas.microsoft.com/office/drawing/2014/main" id="{368721AF-DA16-5501-253E-04CB98C23CBF}"/>
              </a:ext>
            </a:extLst>
          </p:cNvPr>
          <p:cNvSpPr txBox="1"/>
          <p:nvPr/>
        </p:nvSpPr>
        <p:spPr>
          <a:xfrm>
            <a:off x="6715124" y="6087075"/>
            <a:ext cx="4191000" cy="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Maximizes expected reward/utility</a:t>
            </a:r>
          </a:p>
        </p:txBody>
      </p:sp>
      <p:pic>
        <p:nvPicPr>
          <p:cNvPr id="78" name="Picture 77" descr="image.png">
            <a:extLst>
              <a:ext uri="{FF2B5EF4-FFF2-40B4-BE49-F238E27FC236}">
                <a16:creationId xmlns:a16="http://schemas.microsoft.com/office/drawing/2014/main" id="{2391C7A2-387E-8AEE-A9C8-0BF00DB2A1AB}"/>
              </a:ext>
            </a:extLst>
          </p:cNvPr>
          <p:cNvPicPr>
            <a:picLocks noChangeAspect="1"/>
          </p:cNvPicPr>
          <p:nvPr/>
        </p:nvPicPr>
        <p:blipFill>
          <a:blip r:embed="rId6"/>
          <a:stretch>
            <a:fillRect/>
          </a:stretch>
        </p:blipFill>
        <p:spPr>
          <a:xfrm>
            <a:off x="6524624" y="5609039"/>
            <a:ext cx="133350" cy="142875"/>
          </a:xfrm>
          <a:prstGeom prst="rect">
            <a:avLst/>
          </a:prstGeom>
        </p:spPr>
      </p:pic>
      <p:pic>
        <p:nvPicPr>
          <p:cNvPr id="80" name="Picture 79" descr="image.png">
            <a:extLst>
              <a:ext uri="{FF2B5EF4-FFF2-40B4-BE49-F238E27FC236}">
                <a16:creationId xmlns:a16="http://schemas.microsoft.com/office/drawing/2014/main" id="{9F78775A-B476-5ED6-780C-BEC0816A008A}"/>
              </a:ext>
            </a:extLst>
          </p:cNvPr>
          <p:cNvPicPr>
            <a:picLocks noChangeAspect="1"/>
          </p:cNvPicPr>
          <p:nvPr/>
        </p:nvPicPr>
        <p:blipFill>
          <a:blip r:embed="rId6"/>
          <a:stretch>
            <a:fillRect/>
          </a:stretch>
        </p:blipFill>
        <p:spPr>
          <a:xfrm>
            <a:off x="6524624" y="5852820"/>
            <a:ext cx="133350" cy="142875"/>
          </a:xfrm>
          <a:prstGeom prst="rect">
            <a:avLst/>
          </a:prstGeom>
        </p:spPr>
      </p:pic>
      <p:pic>
        <p:nvPicPr>
          <p:cNvPr id="82" name="Picture 81" descr="image.png">
            <a:extLst>
              <a:ext uri="{FF2B5EF4-FFF2-40B4-BE49-F238E27FC236}">
                <a16:creationId xmlns:a16="http://schemas.microsoft.com/office/drawing/2014/main" id="{473A50F5-C244-7603-9B9D-0F7654F8694C}"/>
              </a:ext>
            </a:extLst>
          </p:cNvPr>
          <p:cNvPicPr>
            <a:picLocks noChangeAspect="1"/>
          </p:cNvPicPr>
          <p:nvPr/>
        </p:nvPicPr>
        <p:blipFill>
          <a:blip r:embed="rId6"/>
          <a:stretch>
            <a:fillRect/>
          </a:stretch>
        </p:blipFill>
        <p:spPr>
          <a:xfrm>
            <a:off x="6524624" y="6096600"/>
            <a:ext cx="133350" cy="142875"/>
          </a:xfrm>
          <a:prstGeom prst="rect">
            <a:avLst/>
          </a:prstGeom>
        </p:spPr>
      </p:pic>
      <p:sp>
        <p:nvSpPr>
          <p:cNvPr id="83" name="Rectangle 82">
            <a:extLst>
              <a:ext uri="{FF2B5EF4-FFF2-40B4-BE49-F238E27FC236}">
                <a16:creationId xmlns:a16="http://schemas.microsoft.com/office/drawing/2014/main" id="{2D7CCDE5-47FB-3C08-B12B-49C725B90D3D}"/>
              </a:ext>
            </a:extLst>
          </p:cNvPr>
          <p:cNvSpPr/>
          <p:nvPr/>
        </p:nvSpPr>
        <p:spPr>
          <a:xfrm>
            <a:off x="8759196" y="5852820"/>
            <a:ext cx="2255774" cy="398577"/>
          </a:xfrm>
          <a:prstGeom prst="rect">
            <a:avLst/>
          </a:prstGeom>
          <a:solidFill>
            <a:srgbClr val="E0F2FE"/>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IN" sz="1200" dirty="0">
                <a:solidFill>
                  <a:schemeClr val="tx2"/>
                </a:solidFill>
                <a:latin typeface="Inter"/>
              </a:rPr>
              <a:t>Navigation Systems</a:t>
            </a:r>
          </a:p>
        </p:txBody>
      </p:sp>
      <p:pic>
        <p:nvPicPr>
          <p:cNvPr id="86" name="Picture 85">
            <a:extLst>
              <a:ext uri="{FF2B5EF4-FFF2-40B4-BE49-F238E27FC236}">
                <a16:creationId xmlns:a16="http://schemas.microsoft.com/office/drawing/2014/main" id="{59DE6E33-59AE-7BA1-4390-2DE2BF5F5E29}"/>
              </a:ext>
            </a:extLst>
          </p:cNvPr>
          <p:cNvPicPr>
            <a:picLocks noChangeAspect="1"/>
          </p:cNvPicPr>
          <p:nvPr/>
        </p:nvPicPr>
        <p:blipFill>
          <a:blip r:embed="rId10"/>
          <a:srcRect l="3153" r="2485"/>
          <a:stretch>
            <a:fillRect/>
          </a:stretch>
        </p:blipFill>
        <p:spPr>
          <a:xfrm>
            <a:off x="6522417" y="2705103"/>
            <a:ext cx="4440857" cy="2647237"/>
          </a:xfrm>
          <a:prstGeom prst="rect">
            <a:avLst/>
          </a:prstGeom>
        </p:spPr>
      </p:pic>
    </p:spTree>
    <p:extLst>
      <p:ext uri="{BB962C8B-B14F-4D97-AF65-F5344CB8AC3E}">
        <p14:creationId xmlns:p14="http://schemas.microsoft.com/office/powerpoint/2010/main" val="1578482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7B23C-6A5A-D849-E695-B092FEF2BB67}"/>
            </a:ext>
          </a:extLst>
        </p:cNvPr>
        <p:cNvGrpSpPr/>
        <p:nvPr/>
      </p:nvGrpSpPr>
      <p:grpSpPr>
        <a:xfrm>
          <a:off x="0" y="0"/>
          <a:ext cx="0" cy="0"/>
          <a:chOff x="0" y="0"/>
          <a:chExt cx="0" cy="0"/>
        </a:xfrm>
      </p:grpSpPr>
      <p:pic>
        <p:nvPicPr>
          <p:cNvPr id="70" name="Picture 69" descr="image.png">
            <a:extLst>
              <a:ext uri="{FF2B5EF4-FFF2-40B4-BE49-F238E27FC236}">
                <a16:creationId xmlns:a16="http://schemas.microsoft.com/office/drawing/2014/main" id="{451DAB84-4CA5-1D66-4F95-FBC086AF9EB2}"/>
              </a:ext>
            </a:extLst>
          </p:cNvPr>
          <p:cNvPicPr>
            <a:picLocks noChangeAspect="1"/>
          </p:cNvPicPr>
          <p:nvPr/>
        </p:nvPicPr>
        <p:blipFill>
          <a:blip r:embed="rId2"/>
          <a:stretch>
            <a:fillRect/>
          </a:stretch>
        </p:blipFill>
        <p:spPr>
          <a:xfrm>
            <a:off x="0" y="0"/>
            <a:ext cx="12192000" cy="6858000"/>
          </a:xfrm>
          <a:prstGeom prst="rect">
            <a:avLst/>
          </a:prstGeom>
        </p:spPr>
      </p:pic>
      <p:pic>
        <p:nvPicPr>
          <p:cNvPr id="6" name="Picture 5" descr="image.png">
            <a:extLst>
              <a:ext uri="{FF2B5EF4-FFF2-40B4-BE49-F238E27FC236}">
                <a16:creationId xmlns:a16="http://schemas.microsoft.com/office/drawing/2014/main" id="{BAFFB3C3-A0ED-B735-68E2-9300CE16BA9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244337" y="1050785"/>
            <a:ext cx="9392792" cy="5369680"/>
          </a:xfrm>
          <a:prstGeom prst="rect">
            <a:avLst/>
          </a:prstGeom>
        </p:spPr>
      </p:pic>
      <p:pic>
        <p:nvPicPr>
          <p:cNvPr id="11" name="Picture 10" descr="image.png">
            <a:extLst>
              <a:ext uri="{FF2B5EF4-FFF2-40B4-BE49-F238E27FC236}">
                <a16:creationId xmlns:a16="http://schemas.microsoft.com/office/drawing/2014/main" id="{2876600E-A93B-9ADF-3B8C-BFFC14F873ED}"/>
              </a:ext>
            </a:extLst>
          </p:cNvPr>
          <p:cNvPicPr>
            <a:picLocks noChangeAspect="1"/>
          </p:cNvPicPr>
          <p:nvPr/>
        </p:nvPicPr>
        <p:blipFill>
          <a:blip r:embed="rId5"/>
          <a:stretch>
            <a:fillRect/>
          </a:stretch>
        </p:blipFill>
        <p:spPr>
          <a:xfrm>
            <a:off x="5706396" y="5758392"/>
            <a:ext cx="4381500" cy="377130"/>
          </a:xfrm>
          <a:prstGeom prst="rect">
            <a:avLst/>
          </a:prstGeom>
        </p:spPr>
      </p:pic>
      <p:sp>
        <p:nvSpPr>
          <p:cNvPr id="12" name="TextBox 11">
            <a:extLst>
              <a:ext uri="{FF2B5EF4-FFF2-40B4-BE49-F238E27FC236}">
                <a16:creationId xmlns:a16="http://schemas.microsoft.com/office/drawing/2014/main" id="{5BB99A19-A7D4-45FB-CF52-C0DB0034E39C}"/>
              </a:ext>
            </a:extLst>
          </p:cNvPr>
          <p:cNvSpPr txBox="1"/>
          <p:nvPr/>
        </p:nvSpPr>
        <p:spPr>
          <a:xfrm>
            <a:off x="624013" y="333246"/>
            <a:ext cx="4744399" cy="484748"/>
          </a:xfrm>
          <a:prstGeom prst="rect">
            <a:avLst/>
          </a:prstGeom>
          <a:noFill/>
        </p:spPr>
        <p:txBody>
          <a:bodyPr wrap="square" lIns="0" tIns="0" rIns="0" bIns="0" anchor="t">
            <a:spAutoFit/>
          </a:bodyPr>
          <a:lstStyle/>
          <a:p>
            <a:pPr algn="l"/>
            <a:r>
              <a:rPr sz="3150" b="1" i="0" u="none" dirty="0">
                <a:latin typeface="Inter"/>
              </a:rPr>
              <a:t>Types of </a:t>
            </a:r>
            <a:r>
              <a:rPr sz="3150" b="1" i="0" u="none" dirty="0">
                <a:solidFill>
                  <a:schemeClr val="tx2"/>
                </a:solidFill>
                <a:latin typeface="Inter"/>
              </a:rPr>
              <a:t>AI Agents</a:t>
            </a:r>
            <a:r>
              <a:rPr lang="en-IN" sz="3150" b="1" i="0" u="none" dirty="0">
                <a:solidFill>
                  <a:schemeClr val="tx2"/>
                </a:solidFill>
                <a:latin typeface="Inter"/>
              </a:rPr>
              <a:t> (Cont.)</a:t>
            </a:r>
            <a:endParaRPr sz="3150" b="1" i="0" u="none" dirty="0">
              <a:solidFill>
                <a:schemeClr val="tx2"/>
              </a:solidFill>
              <a:latin typeface="Inter"/>
            </a:endParaRPr>
          </a:p>
        </p:txBody>
      </p:sp>
      <p:sp>
        <p:nvSpPr>
          <p:cNvPr id="30" name="TextBox 29">
            <a:extLst>
              <a:ext uri="{FF2B5EF4-FFF2-40B4-BE49-F238E27FC236}">
                <a16:creationId xmlns:a16="http://schemas.microsoft.com/office/drawing/2014/main" id="{98139156-5FC0-AF6A-8529-63D7970CE92A}"/>
              </a:ext>
            </a:extLst>
          </p:cNvPr>
          <p:cNvSpPr txBox="1"/>
          <p:nvPr/>
        </p:nvSpPr>
        <p:spPr>
          <a:xfrm>
            <a:off x="1678163" y="1261123"/>
            <a:ext cx="4300537" cy="246221"/>
          </a:xfrm>
          <a:prstGeom prst="rect">
            <a:avLst/>
          </a:prstGeom>
          <a:noFill/>
        </p:spPr>
        <p:txBody>
          <a:bodyPr wrap="square" lIns="0" tIns="0" rIns="0" bIns="0" anchor="ctr">
            <a:spAutoFit/>
          </a:bodyPr>
          <a:lstStyle/>
          <a:p>
            <a:pPr algn="l"/>
            <a:r>
              <a:rPr sz="1600" b="1" i="0" u="none" dirty="0">
                <a:latin typeface="Inter"/>
              </a:rPr>
              <a:t>Learning Agents</a:t>
            </a:r>
          </a:p>
        </p:txBody>
      </p:sp>
      <p:sp>
        <p:nvSpPr>
          <p:cNvPr id="31" name="TextBox 30">
            <a:extLst>
              <a:ext uri="{FF2B5EF4-FFF2-40B4-BE49-F238E27FC236}">
                <a16:creationId xmlns:a16="http://schemas.microsoft.com/office/drawing/2014/main" id="{91209890-DF50-C759-7BC5-EC17B0A3393C}"/>
              </a:ext>
            </a:extLst>
          </p:cNvPr>
          <p:cNvSpPr txBox="1"/>
          <p:nvPr/>
        </p:nvSpPr>
        <p:spPr>
          <a:xfrm>
            <a:off x="1657886" y="1612833"/>
            <a:ext cx="8430010" cy="553998"/>
          </a:xfrm>
          <a:prstGeom prst="rect">
            <a:avLst/>
          </a:prstGeom>
          <a:noFill/>
        </p:spPr>
        <p:txBody>
          <a:bodyPr wrap="square" lIns="0" tIns="0" rIns="0" bIns="0" anchor="t">
            <a:spAutoFit/>
          </a:bodyPr>
          <a:lstStyle/>
          <a:p>
            <a:pPr algn="just" fontAlgn="base"/>
            <a:r>
              <a:rPr lang="en-IN" sz="1200" dirty="0">
                <a:latin typeface="Inter"/>
              </a:rPr>
              <a:t>Learning agents hold the same capabilities as the other agent types but are unique in their ability to learn. New experiences are added to their initial knowledge base, which occurs autonomously. This learning enhances the agent’s ability to operate in unfamiliar environments. Learning agents might be utility or goal-based in their reasoning and are composed of four main elements: </a:t>
            </a:r>
          </a:p>
        </p:txBody>
      </p:sp>
      <p:sp>
        <p:nvSpPr>
          <p:cNvPr id="33" name="TextBox 32">
            <a:extLst>
              <a:ext uri="{FF2B5EF4-FFF2-40B4-BE49-F238E27FC236}">
                <a16:creationId xmlns:a16="http://schemas.microsoft.com/office/drawing/2014/main" id="{CCC526FB-F4FE-F48E-6287-857F5EB08F7E}"/>
              </a:ext>
            </a:extLst>
          </p:cNvPr>
          <p:cNvSpPr txBox="1"/>
          <p:nvPr/>
        </p:nvSpPr>
        <p:spPr>
          <a:xfrm>
            <a:off x="5706396" y="5539317"/>
            <a:ext cx="4381500" cy="0"/>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51" name="TextBox 50">
            <a:extLst>
              <a:ext uri="{FF2B5EF4-FFF2-40B4-BE49-F238E27FC236}">
                <a16:creationId xmlns:a16="http://schemas.microsoft.com/office/drawing/2014/main" id="{EED899BA-5631-C42E-9B76-2EFF1416519C}"/>
              </a:ext>
            </a:extLst>
          </p:cNvPr>
          <p:cNvSpPr txBox="1"/>
          <p:nvPr/>
        </p:nvSpPr>
        <p:spPr>
          <a:xfrm>
            <a:off x="1868663" y="5458990"/>
            <a:ext cx="4191000" cy="186630"/>
          </a:xfrm>
          <a:prstGeom prst="rect">
            <a:avLst/>
          </a:prstGeom>
          <a:noFill/>
        </p:spPr>
        <p:txBody>
          <a:bodyPr wrap="square" lIns="0" tIns="0" rIns="0" bIns="0" anchor="t">
            <a:spAutoFit/>
          </a:bodyPr>
          <a:lstStyle/>
          <a:p>
            <a:pPr algn="l">
              <a:lnSpc>
                <a:spcPts val="1470"/>
              </a:lnSpc>
            </a:pPr>
            <a:r>
              <a:rPr sz="1200" b="0" i="0" u="none" dirty="0">
                <a:solidFill>
                  <a:srgbClr val="334155"/>
                </a:solidFill>
                <a:latin typeface="Inter"/>
              </a:rPr>
              <a:t>Self-improving over time</a:t>
            </a:r>
          </a:p>
        </p:txBody>
      </p:sp>
      <p:sp>
        <p:nvSpPr>
          <p:cNvPr id="52" name="TextBox 51">
            <a:extLst>
              <a:ext uri="{FF2B5EF4-FFF2-40B4-BE49-F238E27FC236}">
                <a16:creationId xmlns:a16="http://schemas.microsoft.com/office/drawing/2014/main" id="{D6CC7FF0-E79C-0B8F-15B8-8D941E530388}"/>
              </a:ext>
            </a:extLst>
          </p:cNvPr>
          <p:cNvSpPr txBox="1"/>
          <p:nvPr/>
        </p:nvSpPr>
        <p:spPr>
          <a:xfrm>
            <a:off x="1868663" y="5702771"/>
            <a:ext cx="4191000" cy="184922"/>
          </a:xfrm>
          <a:prstGeom prst="rect">
            <a:avLst/>
          </a:prstGeom>
          <a:noFill/>
        </p:spPr>
        <p:txBody>
          <a:bodyPr wrap="square" lIns="0" tIns="0" rIns="0" bIns="0" anchor="t">
            <a:spAutoFit/>
          </a:bodyPr>
          <a:lstStyle/>
          <a:p>
            <a:pPr algn="l">
              <a:lnSpc>
                <a:spcPts val="1470"/>
              </a:lnSpc>
            </a:pPr>
            <a:r>
              <a:rPr sz="1200" b="0" i="0" u="none" dirty="0">
                <a:solidFill>
                  <a:srgbClr val="334155"/>
                </a:solidFill>
                <a:latin typeface="Inter"/>
              </a:rPr>
              <a:t>Learns directly from experience</a:t>
            </a:r>
          </a:p>
        </p:txBody>
      </p:sp>
      <p:sp>
        <p:nvSpPr>
          <p:cNvPr id="53" name="TextBox 52">
            <a:extLst>
              <a:ext uri="{FF2B5EF4-FFF2-40B4-BE49-F238E27FC236}">
                <a16:creationId xmlns:a16="http://schemas.microsoft.com/office/drawing/2014/main" id="{B086F7C2-7166-61F1-59DB-05F263CE6C3C}"/>
              </a:ext>
            </a:extLst>
          </p:cNvPr>
          <p:cNvSpPr txBox="1"/>
          <p:nvPr/>
        </p:nvSpPr>
        <p:spPr>
          <a:xfrm>
            <a:off x="1868663" y="5946551"/>
            <a:ext cx="4191000" cy="184922"/>
          </a:xfrm>
          <a:prstGeom prst="rect">
            <a:avLst/>
          </a:prstGeom>
          <a:noFill/>
        </p:spPr>
        <p:txBody>
          <a:bodyPr wrap="square" lIns="0" tIns="0" rIns="0" bIns="0" anchor="t">
            <a:spAutoFit/>
          </a:bodyPr>
          <a:lstStyle/>
          <a:p>
            <a:pPr algn="l">
              <a:lnSpc>
                <a:spcPts val="1470"/>
              </a:lnSpc>
            </a:pPr>
            <a:r>
              <a:rPr sz="1200" b="0" i="0" u="none">
                <a:solidFill>
                  <a:srgbClr val="334155"/>
                </a:solidFill>
                <a:latin typeface="Inter"/>
              </a:rPr>
              <a:t>Adapts to changing environments</a:t>
            </a:r>
          </a:p>
        </p:txBody>
      </p:sp>
      <p:pic>
        <p:nvPicPr>
          <p:cNvPr id="66" name="Picture 65" descr="image.png">
            <a:extLst>
              <a:ext uri="{FF2B5EF4-FFF2-40B4-BE49-F238E27FC236}">
                <a16:creationId xmlns:a16="http://schemas.microsoft.com/office/drawing/2014/main" id="{A4F3D5E8-A23D-98ED-9497-2EFA88D6688A}"/>
              </a:ext>
            </a:extLst>
          </p:cNvPr>
          <p:cNvPicPr>
            <a:picLocks noChangeAspect="1"/>
          </p:cNvPicPr>
          <p:nvPr/>
        </p:nvPicPr>
        <p:blipFill>
          <a:blip r:embed="rId6"/>
          <a:stretch>
            <a:fillRect/>
          </a:stretch>
        </p:blipFill>
        <p:spPr>
          <a:xfrm>
            <a:off x="1678163" y="5468515"/>
            <a:ext cx="133350" cy="142875"/>
          </a:xfrm>
          <a:prstGeom prst="rect">
            <a:avLst/>
          </a:prstGeom>
        </p:spPr>
      </p:pic>
      <p:pic>
        <p:nvPicPr>
          <p:cNvPr id="67" name="Picture 66" descr="image.png">
            <a:extLst>
              <a:ext uri="{FF2B5EF4-FFF2-40B4-BE49-F238E27FC236}">
                <a16:creationId xmlns:a16="http://schemas.microsoft.com/office/drawing/2014/main" id="{F2458915-632D-AD5B-E4D6-65D4F24E7A58}"/>
              </a:ext>
            </a:extLst>
          </p:cNvPr>
          <p:cNvPicPr>
            <a:picLocks noChangeAspect="1"/>
          </p:cNvPicPr>
          <p:nvPr/>
        </p:nvPicPr>
        <p:blipFill>
          <a:blip r:embed="rId6"/>
          <a:stretch>
            <a:fillRect/>
          </a:stretch>
        </p:blipFill>
        <p:spPr>
          <a:xfrm>
            <a:off x="1678163" y="5712296"/>
            <a:ext cx="133350" cy="142875"/>
          </a:xfrm>
          <a:prstGeom prst="rect">
            <a:avLst/>
          </a:prstGeom>
        </p:spPr>
      </p:pic>
      <p:pic>
        <p:nvPicPr>
          <p:cNvPr id="68" name="Picture 67" descr="image.png">
            <a:extLst>
              <a:ext uri="{FF2B5EF4-FFF2-40B4-BE49-F238E27FC236}">
                <a16:creationId xmlns:a16="http://schemas.microsoft.com/office/drawing/2014/main" id="{186F6872-D0DE-7F12-1B5E-4243BAF14169}"/>
              </a:ext>
            </a:extLst>
          </p:cNvPr>
          <p:cNvPicPr>
            <a:picLocks noChangeAspect="1"/>
          </p:cNvPicPr>
          <p:nvPr/>
        </p:nvPicPr>
        <p:blipFill>
          <a:blip r:embed="rId6"/>
          <a:stretch>
            <a:fillRect/>
          </a:stretch>
        </p:blipFill>
        <p:spPr>
          <a:xfrm>
            <a:off x="1678163" y="5956076"/>
            <a:ext cx="133350" cy="142875"/>
          </a:xfrm>
          <a:prstGeom prst="rect">
            <a:avLst/>
          </a:prstGeom>
        </p:spPr>
      </p:pic>
      <p:pic>
        <p:nvPicPr>
          <p:cNvPr id="16" name="Picture 15">
            <a:extLst>
              <a:ext uri="{FF2B5EF4-FFF2-40B4-BE49-F238E27FC236}">
                <a16:creationId xmlns:a16="http://schemas.microsoft.com/office/drawing/2014/main" id="{7981F3FC-BF35-6F60-4476-55611C76AAF3}"/>
              </a:ext>
            </a:extLst>
          </p:cNvPr>
          <p:cNvPicPr>
            <a:picLocks noChangeAspect="1"/>
          </p:cNvPicPr>
          <p:nvPr/>
        </p:nvPicPr>
        <p:blipFill>
          <a:blip r:embed="rId7"/>
          <a:srcRect t="4257" b="3221"/>
          <a:stretch>
            <a:fillRect/>
          </a:stretch>
        </p:blipFill>
        <p:spPr>
          <a:xfrm>
            <a:off x="4273826" y="2259886"/>
            <a:ext cx="5814070" cy="3106049"/>
          </a:xfrm>
          <a:prstGeom prst="rect">
            <a:avLst/>
          </a:prstGeom>
        </p:spPr>
      </p:pic>
      <p:sp>
        <p:nvSpPr>
          <p:cNvPr id="24" name="TextBox 23">
            <a:extLst>
              <a:ext uri="{FF2B5EF4-FFF2-40B4-BE49-F238E27FC236}">
                <a16:creationId xmlns:a16="http://schemas.microsoft.com/office/drawing/2014/main" id="{7E7C0C00-3D96-02D0-6F7C-AD13D011D2A8}"/>
              </a:ext>
            </a:extLst>
          </p:cNvPr>
          <p:cNvSpPr txBox="1"/>
          <p:nvPr/>
        </p:nvSpPr>
        <p:spPr>
          <a:xfrm>
            <a:off x="1554871" y="2308834"/>
            <a:ext cx="2564845" cy="2785378"/>
          </a:xfrm>
          <a:prstGeom prst="rect">
            <a:avLst/>
          </a:prstGeom>
          <a:noFill/>
        </p:spPr>
        <p:txBody>
          <a:bodyPr wrap="square">
            <a:spAutoFit/>
          </a:bodyPr>
          <a:lstStyle/>
          <a:p>
            <a:pPr marL="171450" lvl="0" indent="-171450" algn="just" fontAlgn="base">
              <a:buFont typeface="Arial" panose="020B0604020202020204" pitchFamily="34" charset="0"/>
              <a:buChar char="•"/>
            </a:pPr>
            <a:r>
              <a:rPr lang="en-IN" sz="1250" b="1" dirty="0">
                <a:latin typeface="Inter"/>
              </a:rPr>
              <a:t>Learning:</a:t>
            </a:r>
            <a:r>
              <a:rPr lang="en-IN" sz="1250" dirty="0">
                <a:latin typeface="Inter"/>
              </a:rPr>
              <a:t> This process improves the agent’s knowledge by learning from the environment through its precepts and sensors.</a:t>
            </a:r>
          </a:p>
          <a:p>
            <a:pPr marL="171450" lvl="0" indent="-171450" algn="just" fontAlgn="base">
              <a:buFont typeface="Arial" panose="020B0604020202020204" pitchFamily="34" charset="0"/>
              <a:buChar char="•"/>
            </a:pPr>
            <a:r>
              <a:rPr lang="en-IN" sz="1250" b="1" dirty="0">
                <a:latin typeface="Inter"/>
              </a:rPr>
              <a:t>Critic:</a:t>
            </a:r>
            <a:r>
              <a:rPr lang="en-IN" sz="1250" dirty="0">
                <a:latin typeface="Inter"/>
              </a:rPr>
              <a:t> This component provides feedback to the agent on whether the quality of its responses meets the performance standard.</a:t>
            </a:r>
          </a:p>
          <a:p>
            <a:pPr marL="171450" lvl="0" indent="-171450" algn="just" fontAlgn="base">
              <a:buFont typeface="Arial" panose="020B0604020202020204" pitchFamily="34" charset="0"/>
              <a:buChar char="•"/>
            </a:pPr>
            <a:r>
              <a:rPr lang="en-IN" sz="1250" b="1" dirty="0">
                <a:latin typeface="Inter"/>
              </a:rPr>
              <a:t>Performance:</a:t>
            </a:r>
            <a:r>
              <a:rPr lang="en-IN" sz="1250" dirty="0">
                <a:latin typeface="Inter"/>
              </a:rPr>
              <a:t> This element is responsible for selecting actions upon learning.</a:t>
            </a:r>
          </a:p>
          <a:p>
            <a:pPr marL="171450" lvl="0" indent="-171450" algn="just" fontAlgn="base">
              <a:buFont typeface="Arial" panose="020B0604020202020204" pitchFamily="34" charset="0"/>
              <a:buChar char="•"/>
            </a:pPr>
            <a:r>
              <a:rPr lang="en-IN" sz="1250" b="1" dirty="0">
                <a:latin typeface="Inter"/>
              </a:rPr>
              <a:t>Problem generator:</a:t>
            </a:r>
            <a:r>
              <a:rPr lang="en-IN" sz="1250" dirty="0">
                <a:latin typeface="Inter"/>
              </a:rPr>
              <a:t> This module creates various proposals for actions to be taken. </a:t>
            </a:r>
            <a:r>
              <a:rPr lang="en-IN" sz="1400" b="1" dirty="0">
                <a:latin typeface="Inter"/>
              </a:rPr>
              <a:t>[4]</a:t>
            </a:r>
            <a:endParaRPr lang="en-IN" sz="1250" dirty="0">
              <a:latin typeface="Inter"/>
            </a:endParaRPr>
          </a:p>
        </p:txBody>
      </p:sp>
    </p:spTree>
    <p:extLst>
      <p:ext uri="{BB962C8B-B14F-4D97-AF65-F5344CB8AC3E}">
        <p14:creationId xmlns:p14="http://schemas.microsoft.com/office/powerpoint/2010/main" val="2520761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5C708-D246-1A55-22B8-6471DCD0C8FC}"/>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231D5387-7F6D-3F35-B6C9-037EE7C58063}"/>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23" name="Picture 22" descr="image.png">
            <a:extLst>
              <a:ext uri="{FF2B5EF4-FFF2-40B4-BE49-F238E27FC236}">
                <a16:creationId xmlns:a16="http://schemas.microsoft.com/office/drawing/2014/main" id="{721D4E72-7536-3439-7474-2993C54C0C2C}"/>
              </a:ext>
            </a:extLst>
          </p:cNvPr>
          <p:cNvPicPr>
            <a:picLocks noChangeAspect="1"/>
          </p:cNvPicPr>
          <p:nvPr/>
        </p:nvPicPr>
        <p:blipFill>
          <a:blip r:embed="rId4"/>
          <a:stretch>
            <a:fillRect/>
          </a:stretch>
        </p:blipFill>
        <p:spPr>
          <a:xfrm>
            <a:off x="571500" y="1896814"/>
            <a:ext cx="5381625" cy="4132027"/>
          </a:xfrm>
          <a:prstGeom prst="rect">
            <a:avLst/>
          </a:prstGeom>
        </p:spPr>
      </p:pic>
      <p:pic>
        <p:nvPicPr>
          <p:cNvPr id="38" name="Picture 37" descr="image.png">
            <a:extLst>
              <a:ext uri="{FF2B5EF4-FFF2-40B4-BE49-F238E27FC236}">
                <a16:creationId xmlns:a16="http://schemas.microsoft.com/office/drawing/2014/main" id="{0ED52A92-2C0E-F365-6B10-44F50BE7BB77}"/>
              </a:ext>
            </a:extLst>
          </p:cNvPr>
          <p:cNvPicPr>
            <a:picLocks noChangeAspect="1"/>
          </p:cNvPicPr>
          <p:nvPr/>
        </p:nvPicPr>
        <p:blipFill>
          <a:blip r:embed="rId5"/>
          <a:stretch>
            <a:fillRect/>
          </a:stretch>
        </p:blipFill>
        <p:spPr>
          <a:xfrm>
            <a:off x="6238875" y="1896814"/>
            <a:ext cx="5381625" cy="4132027"/>
          </a:xfrm>
          <a:prstGeom prst="rect">
            <a:avLst/>
          </a:prstGeom>
        </p:spPr>
      </p:pic>
      <p:sp>
        <p:nvSpPr>
          <p:cNvPr id="55" name="Rectangle 54">
            <a:extLst>
              <a:ext uri="{FF2B5EF4-FFF2-40B4-BE49-F238E27FC236}">
                <a16:creationId xmlns:a16="http://schemas.microsoft.com/office/drawing/2014/main" id="{3A4513D3-CF14-ADC6-C075-03E6DB8B11D5}"/>
              </a:ext>
            </a:extLst>
          </p:cNvPr>
          <p:cNvSpPr/>
          <p:nvPr/>
        </p:nvSpPr>
        <p:spPr>
          <a:xfrm>
            <a:off x="847725" y="4886622"/>
            <a:ext cx="4829175" cy="9483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8" name="TextBox 57">
            <a:extLst>
              <a:ext uri="{FF2B5EF4-FFF2-40B4-BE49-F238E27FC236}">
                <a16:creationId xmlns:a16="http://schemas.microsoft.com/office/drawing/2014/main" id="{FA9B1DD8-080F-5AAE-0C6D-628E031C3D1B}"/>
              </a:ext>
            </a:extLst>
          </p:cNvPr>
          <p:cNvSpPr txBox="1"/>
          <p:nvPr/>
        </p:nvSpPr>
        <p:spPr>
          <a:xfrm>
            <a:off x="1122044" y="4981872"/>
            <a:ext cx="4421506" cy="646331"/>
          </a:xfrm>
          <a:prstGeom prst="rect">
            <a:avLst/>
          </a:prstGeom>
          <a:noFill/>
        </p:spPr>
        <p:txBody>
          <a:bodyPr wrap="square" lIns="0" tIns="0" rIns="0" bIns="0" anchor="t">
            <a:spAutoFit/>
          </a:bodyPr>
          <a:lstStyle/>
          <a:p>
            <a:pPr algn="l"/>
            <a:r>
              <a:rPr sz="1400" b="1" i="0" u="none" dirty="0">
                <a:solidFill>
                  <a:srgbClr val="0F172A"/>
                </a:solidFill>
                <a:latin typeface="Inter"/>
              </a:rPr>
              <a:t>Primary Patterns:</a:t>
            </a:r>
            <a:r>
              <a:rPr sz="1400" b="0" i="0" u="none" dirty="0">
                <a:solidFill>
                  <a:srgbClr val="334155"/>
                </a:solidFill>
                <a:latin typeface="Inter"/>
              </a:rPr>
              <a:t> Prompt Chaining, Sequential Workflows, Routing, Parallelization, Orchestrator-Workers, Evaluator-Optimizer.</a:t>
            </a:r>
          </a:p>
        </p:txBody>
      </p:sp>
      <p:sp>
        <p:nvSpPr>
          <p:cNvPr id="60" name="Rectangle 59">
            <a:extLst>
              <a:ext uri="{FF2B5EF4-FFF2-40B4-BE49-F238E27FC236}">
                <a16:creationId xmlns:a16="http://schemas.microsoft.com/office/drawing/2014/main" id="{6D47A4BF-AB4E-68E3-1A1E-A22B89FB6196}"/>
              </a:ext>
            </a:extLst>
          </p:cNvPr>
          <p:cNvSpPr/>
          <p:nvPr/>
        </p:nvSpPr>
        <p:spPr>
          <a:xfrm>
            <a:off x="847725" y="4886621"/>
            <a:ext cx="45719" cy="881063"/>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2" name="Rectangle 61">
            <a:extLst>
              <a:ext uri="{FF2B5EF4-FFF2-40B4-BE49-F238E27FC236}">
                <a16:creationId xmlns:a16="http://schemas.microsoft.com/office/drawing/2014/main" id="{EC2EE370-B509-B885-DB08-8DF87F154483}"/>
              </a:ext>
            </a:extLst>
          </p:cNvPr>
          <p:cNvSpPr/>
          <p:nvPr/>
        </p:nvSpPr>
        <p:spPr>
          <a:xfrm>
            <a:off x="6515100" y="4886622"/>
            <a:ext cx="4829175" cy="84772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5" name="TextBox 64">
            <a:extLst>
              <a:ext uri="{FF2B5EF4-FFF2-40B4-BE49-F238E27FC236}">
                <a16:creationId xmlns:a16="http://schemas.microsoft.com/office/drawing/2014/main" id="{A41EC876-1A30-87CB-3DF5-0AD2B6B2EDCA}"/>
              </a:ext>
            </a:extLst>
          </p:cNvPr>
          <p:cNvSpPr txBox="1"/>
          <p:nvPr/>
        </p:nvSpPr>
        <p:spPr>
          <a:xfrm>
            <a:off x="6789419" y="4981872"/>
            <a:ext cx="4421506" cy="430887"/>
          </a:xfrm>
          <a:prstGeom prst="rect">
            <a:avLst/>
          </a:prstGeom>
          <a:noFill/>
        </p:spPr>
        <p:txBody>
          <a:bodyPr wrap="square" lIns="0" tIns="0" rIns="0" bIns="0" anchor="t">
            <a:spAutoFit/>
          </a:bodyPr>
          <a:lstStyle/>
          <a:p>
            <a:pPr algn="l"/>
            <a:r>
              <a:rPr sz="1400" b="1" i="0" u="none" dirty="0">
                <a:solidFill>
                  <a:srgbClr val="0F172A"/>
                </a:solidFill>
                <a:latin typeface="Inter"/>
              </a:rPr>
              <a:t>Primary Patterns:</a:t>
            </a:r>
            <a:r>
              <a:rPr sz="1400" b="0" i="0" u="none" dirty="0">
                <a:solidFill>
                  <a:srgbClr val="334155"/>
                </a:solidFill>
                <a:latin typeface="Inter"/>
              </a:rPr>
              <a:t> </a:t>
            </a:r>
            <a:r>
              <a:rPr sz="1400" b="0" i="0" u="none" dirty="0" err="1">
                <a:solidFill>
                  <a:srgbClr val="334155"/>
                </a:solidFill>
                <a:latin typeface="Inter"/>
              </a:rPr>
              <a:t>ReAct</a:t>
            </a:r>
            <a:r>
              <a:rPr sz="1400" b="0" i="0" u="none" dirty="0">
                <a:solidFill>
                  <a:srgbClr val="334155"/>
                </a:solidFill>
                <a:latin typeface="Inter"/>
              </a:rPr>
              <a:t> (</a:t>
            </a:r>
            <a:r>
              <a:rPr sz="1400" b="0" i="0" u="none" dirty="0" err="1">
                <a:solidFill>
                  <a:srgbClr val="334155"/>
                </a:solidFill>
                <a:latin typeface="Inter"/>
              </a:rPr>
              <a:t>Reason+Act</a:t>
            </a:r>
            <a:r>
              <a:rPr sz="1400" b="0" i="0" u="none" dirty="0">
                <a:solidFill>
                  <a:srgbClr val="334155"/>
                </a:solidFill>
                <a:latin typeface="Inter"/>
              </a:rPr>
              <a:t>), Planning Agents, Reflection / Self-Critique, Multi-Agent Collaboration.</a:t>
            </a:r>
          </a:p>
        </p:txBody>
      </p:sp>
      <p:sp>
        <p:nvSpPr>
          <p:cNvPr id="67" name="Rectangle 66">
            <a:extLst>
              <a:ext uri="{FF2B5EF4-FFF2-40B4-BE49-F238E27FC236}">
                <a16:creationId xmlns:a16="http://schemas.microsoft.com/office/drawing/2014/main" id="{DEF1FFA9-1982-AB46-8A29-EFF9985E6DBA}"/>
              </a:ext>
            </a:extLst>
          </p:cNvPr>
          <p:cNvSpPr/>
          <p:nvPr/>
        </p:nvSpPr>
        <p:spPr>
          <a:xfrm flipH="1">
            <a:off x="6469381" y="4886622"/>
            <a:ext cx="45719" cy="7835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9" name="TextBox 68">
            <a:extLst>
              <a:ext uri="{FF2B5EF4-FFF2-40B4-BE49-F238E27FC236}">
                <a16:creationId xmlns:a16="http://schemas.microsoft.com/office/drawing/2014/main" id="{531B7F07-18D6-8DA5-45C0-42C84731A1AA}"/>
              </a:ext>
            </a:extLst>
          </p:cNvPr>
          <p:cNvSpPr txBox="1"/>
          <p:nvPr/>
        </p:nvSpPr>
        <p:spPr>
          <a:xfrm>
            <a:off x="847725" y="2487364"/>
            <a:ext cx="5070633" cy="270420"/>
          </a:xfrm>
          <a:prstGeom prst="rect">
            <a:avLst/>
          </a:prstGeom>
          <a:noFill/>
        </p:spPr>
        <p:txBody>
          <a:bodyPr wrap="square" lIns="0" tIns="0" rIns="0" bIns="0" anchor="t">
            <a:spAutoFit/>
          </a:bodyPr>
          <a:lstStyle/>
          <a:p>
            <a:pPr algn="l">
              <a:lnSpc>
                <a:spcPts val="1979"/>
              </a:lnSpc>
            </a:pPr>
            <a:r>
              <a:rPr sz="1650" b="0" i="0" u="none" dirty="0">
                <a:solidFill>
                  <a:srgbClr val="1E293B"/>
                </a:solidFill>
                <a:latin typeface="Poppins SemiBold"/>
              </a:rPr>
              <a:t>Deterministic Control</a:t>
            </a:r>
          </a:p>
        </p:txBody>
      </p:sp>
      <p:sp>
        <p:nvSpPr>
          <p:cNvPr id="71" name="Rectangle 70">
            <a:extLst>
              <a:ext uri="{FF2B5EF4-FFF2-40B4-BE49-F238E27FC236}">
                <a16:creationId xmlns:a16="http://schemas.microsoft.com/office/drawing/2014/main" id="{FC10E5B5-3F42-B6F6-9AC5-662778E15EA0}"/>
              </a:ext>
            </a:extLst>
          </p:cNvPr>
          <p:cNvSpPr/>
          <p:nvPr/>
        </p:nvSpPr>
        <p:spPr>
          <a:xfrm>
            <a:off x="847725"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EAEC2E4F-1885-82B2-02A6-6F1F7EE7D834}"/>
              </a:ext>
            </a:extLst>
          </p:cNvPr>
          <p:cNvSpPr txBox="1"/>
          <p:nvPr/>
        </p:nvSpPr>
        <p:spPr>
          <a:xfrm>
            <a:off x="847725" y="2986385"/>
            <a:ext cx="4829175" cy="685800"/>
          </a:xfrm>
          <a:prstGeom prst="rect">
            <a:avLst/>
          </a:prstGeom>
          <a:noFill/>
        </p:spPr>
        <p:txBody>
          <a:bodyPr wrap="square" lIns="0" tIns="0" rIns="0" bIns="0" anchor="t">
            <a:spAutoFit/>
          </a:bodyPr>
          <a:lstStyle/>
          <a:p>
            <a:pPr>
              <a:lnSpc>
                <a:spcPts val="1800"/>
              </a:lnSpc>
            </a:pPr>
            <a:r>
              <a:rPr sz="1400" b="0" i="0" u="none" dirty="0">
                <a:solidFill>
                  <a:srgbClr val="475569"/>
                </a:solidFill>
                <a:latin typeface="Inter"/>
              </a:rPr>
              <a:t>Execution paths, step ordering, and condition gates are explicitly defined in code. LLM calls serve as reliable processing nodes within the system pipeline.</a:t>
            </a:r>
            <a:r>
              <a:rPr lang="en-IN" sz="1400" dirty="0">
                <a:solidFill>
                  <a:srgbClr val="475569"/>
                </a:solidFill>
                <a:latin typeface="Inter"/>
              </a:rPr>
              <a:t> [6]</a:t>
            </a:r>
            <a:endParaRPr sz="1400" b="0" i="0" u="none" dirty="0">
              <a:solidFill>
                <a:srgbClr val="475569"/>
              </a:solidFill>
              <a:latin typeface="Inter"/>
            </a:endParaRPr>
          </a:p>
        </p:txBody>
      </p:sp>
      <p:sp>
        <p:nvSpPr>
          <p:cNvPr id="75" name="TextBox 74">
            <a:extLst>
              <a:ext uri="{FF2B5EF4-FFF2-40B4-BE49-F238E27FC236}">
                <a16:creationId xmlns:a16="http://schemas.microsoft.com/office/drawing/2014/main" id="{3C3B8455-B146-D1D8-BE92-5F7380BA0FD9}"/>
              </a:ext>
            </a:extLst>
          </p:cNvPr>
          <p:cNvSpPr txBox="1"/>
          <p:nvPr/>
        </p:nvSpPr>
        <p:spPr>
          <a:xfrm>
            <a:off x="6515100" y="2487364"/>
            <a:ext cx="5070633"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Dynamic Reasoning Loops</a:t>
            </a:r>
          </a:p>
        </p:txBody>
      </p:sp>
      <p:sp>
        <p:nvSpPr>
          <p:cNvPr id="77" name="Rectangle 76">
            <a:extLst>
              <a:ext uri="{FF2B5EF4-FFF2-40B4-BE49-F238E27FC236}">
                <a16:creationId xmlns:a16="http://schemas.microsoft.com/office/drawing/2014/main" id="{2C747C0E-440B-FA09-C368-AE46E9C1F931}"/>
              </a:ext>
            </a:extLst>
          </p:cNvPr>
          <p:cNvSpPr/>
          <p:nvPr/>
        </p:nvSpPr>
        <p:spPr>
          <a:xfrm>
            <a:off x="6515100"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14FEB93B-9EEA-CAE4-A969-3A5DA80EAF3E}"/>
              </a:ext>
            </a:extLst>
          </p:cNvPr>
          <p:cNvSpPr txBox="1"/>
          <p:nvPr/>
        </p:nvSpPr>
        <p:spPr>
          <a:xfrm>
            <a:off x="6515100" y="2986385"/>
            <a:ext cx="4829175" cy="685800"/>
          </a:xfrm>
          <a:prstGeom prst="rect">
            <a:avLst/>
          </a:prstGeom>
          <a:noFill/>
        </p:spPr>
        <p:txBody>
          <a:bodyPr wrap="square" lIns="0" tIns="0" rIns="0" bIns="0" anchor="t">
            <a:spAutoFit/>
          </a:bodyPr>
          <a:lstStyle/>
          <a:p>
            <a:pPr>
              <a:lnSpc>
                <a:spcPts val="1800"/>
              </a:lnSpc>
            </a:pPr>
            <a:r>
              <a:rPr sz="1400" b="0" i="0" u="none" dirty="0">
                <a:solidFill>
                  <a:srgbClr val="475569"/>
                </a:solidFill>
                <a:latin typeface="Inter"/>
              </a:rPr>
              <a:t>The agent autonomously determines its execution path based on environment feedback, goal planning, reflection, and tool execution.</a:t>
            </a:r>
            <a:r>
              <a:rPr lang="en-IN" sz="1400" dirty="0">
                <a:solidFill>
                  <a:srgbClr val="475569"/>
                </a:solidFill>
                <a:latin typeface="Inter"/>
              </a:rPr>
              <a:t> [6]</a:t>
            </a:r>
            <a:endParaRPr sz="1400" b="0" i="0" u="none" dirty="0">
              <a:solidFill>
                <a:srgbClr val="475569"/>
              </a:solidFill>
              <a:latin typeface="Inter"/>
            </a:endParaRPr>
          </a:p>
        </p:txBody>
      </p:sp>
      <p:pic>
        <p:nvPicPr>
          <p:cNvPr id="81" name="Picture 80" descr="image.png">
            <a:extLst>
              <a:ext uri="{FF2B5EF4-FFF2-40B4-BE49-F238E27FC236}">
                <a16:creationId xmlns:a16="http://schemas.microsoft.com/office/drawing/2014/main" id="{D6639FB2-518C-7EDF-51B0-CF26A23447E6}"/>
              </a:ext>
            </a:extLst>
          </p:cNvPr>
          <p:cNvPicPr>
            <a:picLocks noChangeAspect="1"/>
          </p:cNvPicPr>
          <p:nvPr/>
        </p:nvPicPr>
        <p:blipFill>
          <a:blip r:embed="rId6"/>
          <a:stretch>
            <a:fillRect/>
          </a:stretch>
        </p:blipFill>
        <p:spPr>
          <a:xfrm>
            <a:off x="847725" y="2173039"/>
            <a:ext cx="1624012" cy="219075"/>
          </a:xfrm>
          <a:prstGeom prst="rect">
            <a:avLst/>
          </a:prstGeom>
        </p:spPr>
      </p:pic>
      <p:pic>
        <p:nvPicPr>
          <p:cNvPr id="83" name="Picture 82" descr="image.png">
            <a:extLst>
              <a:ext uri="{FF2B5EF4-FFF2-40B4-BE49-F238E27FC236}">
                <a16:creationId xmlns:a16="http://schemas.microsoft.com/office/drawing/2014/main" id="{CC2CD42F-7E8F-E5FB-AADD-9FFDFD60B182}"/>
              </a:ext>
            </a:extLst>
          </p:cNvPr>
          <p:cNvPicPr>
            <a:picLocks noChangeAspect="1"/>
          </p:cNvPicPr>
          <p:nvPr/>
        </p:nvPicPr>
        <p:blipFill>
          <a:blip r:embed="rId7"/>
          <a:stretch>
            <a:fillRect/>
          </a:stretch>
        </p:blipFill>
        <p:spPr>
          <a:xfrm>
            <a:off x="5505450" y="2187326"/>
            <a:ext cx="171450" cy="190500"/>
          </a:xfrm>
          <a:prstGeom prst="rect">
            <a:avLst/>
          </a:prstGeom>
        </p:spPr>
      </p:pic>
      <p:sp>
        <p:nvSpPr>
          <p:cNvPr id="85" name="TextBox 84">
            <a:extLst>
              <a:ext uri="{FF2B5EF4-FFF2-40B4-BE49-F238E27FC236}">
                <a16:creationId xmlns:a16="http://schemas.microsoft.com/office/drawing/2014/main" id="{24C4D24F-DBC5-A82B-BBE1-D8D930724BF3}"/>
              </a:ext>
            </a:extLst>
          </p:cNvPr>
          <p:cNvSpPr txBox="1"/>
          <p:nvPr/>
        </p:nvSpPr>
        <p:spPr>
          <a:xfrm>
            <a:off x="1076325" y="3805535"/>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Higher predictability and testability</a:t>
            </a:r>
          </a:p>
        </p:txBody>
      </p:sp>
      <p:sp>
        <p:nvSpPr>
          <p:cNvPr id="87" name="TextBox 86">
            <a:extLst>
              <a:ext uri="{FF2B5EF4-FFF2-40B4-BE49-F238E27FC236}">
                <a16:creationId xmlns:a16="http://schemas.microsoft.com/office/drawing/2014/main" id="{4B1DCA67-B544-4F89-F2C7-13E4678A85E7}"/>
              </a:ext>
            </a:extLst>
          </p:cNvPr>
          <p:cNvSpPr txBox="1"/>
          <p:nvPr/>
        </p:nvSpPr>
        <p:spPr>
          <a:xfrm>
            <a:off x="1076325" y="4134147"/>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Lower latency and controlled token expenditure</a:t>
            </a:r>
          </a:p>
        </p:txBody>
      </p:sp>
      <p:sp>
        <p:nvSpPr>
          <p:cNvPr id="89" name="TextBox 88">
            <a:extLst>
              <a:ext uri="{FF2B5EF4-FFF2-40B4-BE49-F238E27FC236}">
                <a16:creationId xmlns:a16="http://schemas.microsoft.com/office/drawing/2014/main" id="{7B1F7585-1FE2-B28C-83D0-D9923B134AFC}"/>
              </a:ext>
            </a:extLst>
          </p:cNvPr>
          <p:cNvSpPr txBox="1"/>
          <p:nvPr/>
        </p:nvSpPr>
        <p:spPr>
          <a:xfrm>
            <a:off x="1076325"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Ideal for standardized, step-by-step transformations</a:t>
            </a:r>
          </a:p>
        </p:txBody>
      </p:sp>
      <p:pic>
        <p:nvPicPr>
          <p:cNvPr id="91" name="Picture 90" descr="image.png">
            <a:extLst>
              <a:ext uri="{FF2B5EF4-FFF2-40B4-BE49-F238E27FC236}">
                <a16:creationId xmlns:a16="http://schemas.microsoft.com/office/drawing/2014/main" id="{8929A623-D183-4D51-22FD-1CDE3590CC89}"/>
              </a:ext>
            </a:extLst>
          </p:cNvPr>
          <p:cNvPicPr>
            <a:picLocks noChangeAspect="1"/>
          </p:cNvPicPr>
          <p:nvPr/>
        </p:nvPicPr>
        <p:blipFill>
          <a:blip r:embed="rId8"/>
          <a:stretch>
            <a:fillRect/>
          </a:stretch>
        </p:blipFill>
        <p:spPr>
          <a:xfrm>
            <a:off x="6515100" y="2173039"/>
            <a:ext cx="1804987" cy="219075"/>
          </a:xfrm>
          <a:prstGeom prst="rect">
            <a:avLst/>
          </a:prstGeom>
        </p:spPr>
      </p:pic>
      <p:pic>
        <p:nvPicPr>
          <p:cNvPr id="93" name="Picture 92" descr="image.png">
            <a:extLst>
              <a:ext uri="{FF2B5EF4-FFF2-40B4-BE49-F238E27FC236}">
                <a16:creationId xmlns:a16="http://schemas.microsoft.com/office/drawing/2014/main" id="{7A0D2E31-DCA1-BCAA-586D-94718D142CC0}"/>
              </a:ext>
            </a:extLst>
          </p:cNvPr>
          <p:cNvPicPr>
            <a:picLocks noChangeAspect="1"/>
          </p:cNvPicPr>
          <p:nvPr/>
        </p:nvPicPr>
        <p:blipFill>
          <a:blip r:embed="rId9"/>
          <a:stretch>
            <a:fillRect/>
          </a:stretch>
        </p:blipFill>
        <p:spPr>
          <a:xfrm>
            <a:off x="11106150" y="2187326"/>
            <a:ext cx="238125" cy="190500"/>
          </a:xfrm>
          <a:prstGeom prst="rect">
            <a:avLst/>
          </a:prstGeom>
        </p:spPr>
      </p:pic>
      <p:sp>
        <p:nvSpPr>
          <p:cNvPr id="95" name="TextBox 94">
            <a:extLst>
              <a:ext uri="{FF2B5EF4-FFF2-40B4-BE49-F238E27FC236}">
                <a16:creationId xmlns:a16="http://schemas.microsoft.com/office/drawing/2014/main" id="{A100D71F-F331-18CD-29B5-EE1A369B3561}"/>
              </a:ext>
            </a:extLst>
          </p:cNvPr>
          <p:cNvSpPr txBox="1"/>
          <p:nvPr/>
        </p:nvSpPr>
        <p:spPr>
          <a:xfrm>
            <a:off x="6743700" y="3805535"/>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High adaptability to open-ended goals</a:t>
            </a:r>
          </a:p>
        </p:txBody>
      </p:sp>
      <p:sp>
        <p:nvSpPr>
          <p:cNvPr id="97" name="TextBox 96">
            <a:extLst>
              <a:ext uri="{FF2B5EF4-FFF2-40B4-BE49-F238E27FC236}">
                <a16:creationId xmlns:a16="http://schemas.microsoft.com/office/drawing/2014/main" id="{A9E10581-1512-0A08-C1DF-D4E7343E3CB5}"/>
              </a:ext>
            </a:extLst>
          </p:cNvPr>
          <p:cNvSpPr txBox="1"/>
          <p:nvPr/>
        </p:nvSpPr>
        <p:spPr>
          <a:xfrm>
            <a:off x="6743700" y="4134147"/>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Dynamic tool selection and runtime recovery</a:t>
            </a:r>
          </a:p>
        </p:txBody>
      </p:sp>
      <p:sp>
        <p:nvSpPr>
          <p:cNvPr id="99" name="TextBox 98">
            <a:extLst>
              <a:ext uri="{FF2B5EF4-FFF2-40B4-BE49-F238E27FC236}">
                <a16:creationId xmlns:a16="http://schemas.microsoft.com/office/drawing/2014/main" id="{C8E86033-6E6B-8C07-2E69-D659B6F5C836}"/>
              </a:ext>
            </a:extLst>
          </p:cNvPr>
          <p:cNvSpPr txBox="1"/>
          <p:nvPr/>
        </p:nvSpPr>
        <p:spPr>
          <a:xfrm>
            <a:off x="6743700"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Handles complex multi-step reasoning environments</a:t>
            </a:r>
          </a:p>
        </p:txBody>
      </p:sp>
      <p:sp>
        <p:nvSpPr>
          <p:cNvPr id="101" name="TextBox 100">
            <a:extLst>
              <a:ext uri="{FF2B5EF4-FFF2-40B4-BE49-F238E27FC236}">
                <a16:creationId xmlns:a16="http://schemas.microsoft.com/office/drawing/2014/main" id="{475B35D0-FAA3-DED0-394F-87D065B94343}"/>
              </a:ext>
            </a:extLst>
          </p:cNvPr>
          <p:cNvSpPr txBox="1"/>
          <p:nvPr/>
        </p:nvSpPr>
        <p:spPr>
          <a:xfrm>
            <a:off x="847725" y="3824585"/>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3" name="TextBox 102">
            <a:extLst>
              <a:ext uri="{FF2B5EF4-FFF2-40B4-BE49-F238E27FC236}">
                <a16:creationId xmlns:a16="http://schemas.microsoft.com/office/drawing/2014/main" id="{D64816DF-60DF-AE72-DB3F-321DDF66457E}"/>
              </a:ext>
            </a:extLst>
          </p:cNvPr>
          <p:cNvSpPr txBox="1"/>
          <p:nvPr/>
        </p:nvSpPr>
        <p:spPr>
          <a:xfrm>
            <a:off x="847725" y="4153197"/>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5" name="TextBox 104">
            <a:extLst>
              <a:ext uri="{FF2B5EF4-FFF2-40B4-BE49-F238E27FC236}">
                <a16:creationId xmlns:a16="http://schemas.microsoft.com/office/drawing/2014/main" id="{9DEAADE7-C040-C497-AC0D-020B3D332383}"/>
              </a:ext>
            </a:extLst>
          </p:cNvPr>
          <p:cNvSpPr txBox="1"/>
          <p:nvPr/>
        </p:nvSpPr>
        <p:spPr>
          <a:xfrm>
            <a:off x="847725"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7" name="TextBox 106">
            <a:extLst>
              <a:ext uri="{FF2B5EF4-FFF2-40B4-BE49-F238E27FC236}">
                <a16:creationId xmlns:a16="http://schemas.microsoft.com/office/drawing/2014/main" id="{B7D69916-1D77-94C8-3AA9-30429A72FCC6}"/>
              </a:ext>
            </a:extLst>
          </p:cNvPr>
          <p:cNvSpPr txBox="1"/>
          <p:nvPr/>
        </p:nvSpPr>
        <p:spPr>
          <a:xfrm>
            <a:off x="6515100" y="3824585"/>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9" name="TextBox 108">
            <a:extLst>
              <a:ext uri="{FF2B5EF4-FFF2-40B4-BE49-F238E27FC236}">
                <a16:creationId xmlns:a16="http://schemas.microsoft.com/office/drawing/2014/main" id="{A666694A-C4AF-EA5B-2BFA-6081D9C7729E}"/>
              </a:ext>
            </a:extLst>
          </p:cNvPr>
          <p:cNvSpPr txBox="1"/>
          <p:nvPr/>
        </p:nvSpPr>
        <p:spPr>
          <a:xfrm>
            <a:off x="6515100" y="4153197"/>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11" name="TextBox 110">
            <a:extLst>
              <a:ext uri="{FF2B5EF4-FFF2-40B4-BE49-F238E27FC236}">
                <a16:creationId xmlns:a16="http://schemas.microsoft.com/office/drawing/2014/main" id="{77CFDEC3-BA52-68E4-3068-7A7732B63AF4}"/>
              </a:ext>
            </a:extLst>
          </p:cNvPr>
          <p:cNvSpPr txBox="1"/>
          <p:nvPr/>
        </p:nvSpPr>
        <p:spPr>
          <a:xfrm>
            <a:off x="6515100"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13" name="TextBox 112">
            <a:extLst>
              <a:ext uri="{FF2B5EF4-FFF2-40B4-BE49-F238E27FC236}">
                <a16:creationId xmlns:a16="http://schemas.microsoft.com/office/drawing/2014/main" id="{F42E5BF5-7DBC-48C3-5780-0E5C984B6C24}"/>
              </a:ext>
            </a:extLst>
          </p:cNvPr>
          <p:cNvSpPr txBox="1"/>
          <p:nvPr/>
        </p:nvSpPr>
        <p:spPr>
          <a:xfrm>
            <a:off x="733886" y="1211227"/>
            <a:ext cx="4150127" cy="379591"/>
          </a:xfrm>
          <a:prstGeom prst="rect">
            <a:avLst/>
          </a:prstGeom>
          <a:noFill/>
        </p:spPr>
        <p:txBody>
          <a:bodyPr wrap="square" lIns="0" tIns="0" rIns="0" bIns="0" anchor="ctr">
            <a:spAutoFit/>
          </a:bodyPr>
          <a:lstStyle/>
          <a:p>
            <a:pPr algn="l">
              <a:lnSpc>
                <a:spcPts val="3240"/>
              </a:lnSpc>
            </a:pPr>
            <a:r>
              <a:rPr sz="1900" i="0" u="none" dirty="0">
                <a:solidFill>
                  <a:schemeClr val="tx1">
                    <a:lumMod val="75000"/>
                    <a:lumOff val="25000"/>
                  </a:schemeClr>
                </a:solidFill>
                <a:latin typeface="Poppins SemiBold"/>
              </a:rPr>
              <a:t>Workflow vs Autonomous</a:t>
            </a:r>
          </a:p>
        </p:txBody>
      </p:sp>
      <p:sp>
        <p:nvSpPr>
          <p:cNvPr id="115" name="TextBox 114">
            <a:extLst>
              <a:ext uri="{FF2B5EF4-FFF2-40B4-BE49-F238E27FC236}">
                <a16:creationId xmlns:a16="http://schemas.microsoft.com/office/drawing/2014/main" id="{DA0505E4-98EA-A9A8-C34A-6172B5E481F3}"/>
              </a:ext>
            </a:extLst>
          </p:cNvPr>
          <p:cNvSpPr txBox="1"/>
          <p:nvPr/>
        </p:nvSpPr>
        <p:spPr>
          <a:xfrm>
            <a:off x="714836" y="550025"/>
            <a:ext cx="4150127" cy="677108"/>
          </a:xfrm>
          <a:prstGeom prst="rect">
            <a:avLst/>
          </a:prstGeom>
          <a:noFill/>
        </p:spPr>
        <p:txBody>
          <a:bodyPr wrap="square" lIns="0" tIns="0" rIns="0" bIns="0" anchor="t">
            <a:spAutoFit/>
          </a:bodyPr>
          <a:lstStyle/>
          <a:p>
            <a:pPr algn="l"/>
            <a:r>
              <a:rPr sz="4400" b="1" i="0" u="none" dirty="0">
                <a:solidFill>
                  <a:srgbClr val="0F172A"/>
                </a:solidFill>
                <a:latin typeface="Inter"/>
              </a:rPr>
              <a:t>Architectures</a:t>
            </a:r>
          </a:p>
        </p:txBody>
      </p:sp>
    </p:spTree>
    <p:extLst>
      <p:ext uri="{BB962C8B-B14F-4D97-AF65-F5344CB8AC3E}">
        <p14:creationId xmlns:p14="http://schemas.microsoft.com/office/powerpoint/2010/main" val="24790415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364B87-57FD-92D9-238E-F5AA79144D9E}"/>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37" name="Picture 36" descr="image.png">
            <a:extLst>
              <a:ext uri="{FF2B5EF4-FFF2-40B4-BE49-F238E27FC236}">
                <a16:creationId xmlns:a16="http://schemas.microsoft.com/office/drawing/2014/main" id="{7E95A2BB-B24A-ED54-C124-6E4F0C398EA9}"/>
              </a:ext>
            </a:extLst>
          </p:cNvPr>
          <p:cNvPicPr>
            <a:picLocks noChangeAspect="1"/>
          </p:cNvPicPr>
          <p:nvPr/>
        </p:nvPicPr>
        <p:blipFill>
          <a:blip r:embed="rId4">
            <a:grayscl/>
          </a:blip>
          <a:stretch>
            <a:fillRect/>
          </a:stretch>
        </p:blipFill>
        <p:spPr>
          <a:xfrm>
            <a:off x="571500" y="887160"/>
            <a:ext cx="5410200" cy="2781300"/>
          </a:xfrm>
          <a:prstGeom prst="rect">
            <a:avLst/>
          </a:prstGeom>
        </p:spPr>
      </p:pic>
      <p:pic>
        <p:nvPicPr>
          <p:cNvPr id="52" name="Picture 51" descr="image.png">
            <a:extLst>
              <a:ext uri="{FF2B5EF4-FFF2-40B4-BE49-F238E27FC236}">
                <a16:creationId xmlns:a16="http://schemas.microsoft.com/office/drawing/2014/main" id="{CAAE1145-CF45-725E-43C4-D41811AEE0AE}"/>
              </a:ext>
            </a:extLst>
          </p:cNvPr>
          <p:cNvPicPr>
            <a:picLocks noChangeAspect="1"/>
          </p:cNvPicPr>
          <p:nvPr/>
        </p:nvPicPr>
        <p:blipFill>
          <a:blip r:embed="rId5">
            <a:grayscl/>
          </a:blip>
          <a:stretch>
            <a:fillRect/>
          </a:stretch>
        </p:blipFill>
        <p:spPr>
          <a:xfrm>
            <a:off x="6210300" y="887160"/>
            <a:ext cx="5410200" cy="2781300"/>
          </a:xfrm>
          <a:prstGeom prst="rect">
            <a:avLst/>
          </a:prstGeom>
        </p:spPr>
      </p:pic>
      <p:pic>
        <p:nvPicPr>
          <p:cNvPr id="54" name="Picture 53" descr="image.png">
            <a:extLst>
              <a:ext uri="{FF2B5EF4-FFF2-40B4-BE49-F238E27FC236}">
                <a16:creationId xmlns:a16="http://schemas.microsoft.com/office/drawing/2014/main" id="{C9929F5E-829D-C07F-E9CD-28E7AFCFDF4F}"/>
              </a:ext>
            </a:extLst>
          </p:cNvPr>
          <p:cNvPicPr>
            <a:picLocks noChangeAspect="1"/>
          </p:cNvPicPr>
          <p:nvPr/>
        </p:nvPicPr>
        <p:blipFill>
          <a:blip r:embed="rId6">
            <a:duotone>
              <a:schemeClr val="accent1">
                <a:shade val="45000"/>
                <a:satMod val="135000"/>
              </a:schemeClr>
              <a:prstClr val="white"/>
            </a:duotone>
          </a:blip>
          <a:stretch>
            <a:fillRect/>
          </a:stretch>
        </p:blipFill>
        <p:spPr>
          <a:xfrm>
            <a:off x="809625" y="2458785"/>
            <a:ext cx="4933950" cy="381000"/>
          </a:xfrm>
          <a:prstGeom prst="rect">
            <a:avLst/>
          </a:prstGeom>
        </p:spPr>
      </p:pic>
      <p:pic>
        <p:nvPicPr>
          <p:cNvPr id="57" name="Picture 56" descr="image.png">
            <a:extLst>
              <a:ext uri="{FF2B5EF4-FFF2-40B4-BE49-F238E27FC236}">
                <a16:creationId xmlns:a16="http://schemas.microsoft.com/office/drawing/2014/main" id="{AB17C81C-C315-FF86-6112-705B7BA98638}"/>
              </a:ext>
            </a:extLst>
          </p:cNvPr>
          <p:cNvPicPr>
            <a:picLocks noChangeAspect="1"/>
          </p:cNvPicPr>
          <p:nvPr/>
        </p:nvPicPr>
        <p:blipFill>
          <a:blip r:embed="rId7">
            <a:duotone>
              <a:schemeClr val="accent1">
                <a:shade val="45000"/>
                <a:satMod val="135000"/>
              </a:schemeClr>
              <a:prstClr val="white"/>
            </a:duotone>
            <a:extLst>
              <a:ext uri="{BEBA8EAE-BF5A-486C-A8C5-ECC9F3942E4B}">
                <a14:imgProps xmlns:a14="http://schemas.microsoft.com/office/drawing/2010/main">
                  <a14:imgLayer r:embed="rId8">
                    <a14:imgEffect>
                      <a14:saturation sat="400000"/>
                    </a14:imgEffect>
                  </a14:imgLayer>
                </a14:imgProps>
              </a:ext>
            </a:extLst>
          </a:blip>
          <a:stretch>
            <a:fillRect/>
          </a:stretch>
        </p:blipFill>
        <p:spPr>
          <a:xfrm>
            <a:off x="6448425" y="2418722"/>
            <a:ext cx="4933950" cy="381000"/>
          </a:xfrm>
          <a:prstGeom prst="rect">
            <a:avLst/>
          </a:prstGeom>
        </p:spPr>
      </p:pic>
      <p:sp>
        <p:nvSpPr>
          <p:cNvPr id="59" name="Rectangle 58">
            <a:extLst>
              <a:ext uri="{FF2B5EF4-FFF2-40B4-BE49-F238E27FC236}">
                <a16:creationId xmlns:a16="http://schemas.microsoft.com/office/drawing/2014/main" id="{3A617B88-4E86-A5DA-062F-A953C0C88342}"/>
              </a:ext>
            </a:extLst>
          </p:cNvPr>
          <p:cNvSpPr/>
          <p:nvPr/>
        </p:nvSpPr>
        <p:spPr>
          <a:xfrm>
            <a:off x="809625" y="3087435"/>
            <a:ext cx="493395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a:extLst>
              <a:ext uri="{FF2B5EF4-FFF2-40B4-BE49-F238E27FC236}">
                <a16:creationId xmlns:a16="http://schemas.microsoft.com/office/drawing/2014/main" id="{9D17A182-D893-A12A-9463-60BDBCCD534A}"/>
              </a:ext>
            </a:extLst>
          </p:cNvPr>
          <p:cNvSpPr txBox="1"/>
          <p:nvPr/>
        </p:nvSpPr>
        <p:spPr>
          <a:xfrm>
            <a:off x="942975" y="3182685"/>
            <a:ext cx="4667250" cy="184666"/>
          </a:xfrm>
          <a:prstGeom prst="rect">
            <a:avLst/>
          </a:prstGeom>
          <a:noFill/>
        </p:spPr>
        <p:txBody>
          <a:bodyPr wrap="square" lIns="0" tIns="0" rIns="0" bIns="0" anchor="t">
            <a:spAutoFit/>
          </a:bodyPr>
          <a:lstStyle/>
          <a:p>
            <a:pPr algn="l"/>
            <a:r>
              <a:rPr sz="1200" b="1" i="0" u="none" dirty="0">
                <a:solidFill>
                  <a:srgbClr val="0F172A"/>
                </a:solidFill>
                <a:latin typeface="Inter"/>
              </a:rPr>
              <a:t>Use Cases:</a:t>
            </a:r>
            <a:r>
              <a:rPr sz="1200" b="0" i="0" u="none" dirty="0">
                <a:solidFill>
                  <a:srgbClr val="334155"/>
                </a:solidFill>
                <a:latin typeface="Inter"/>
              </a:rPr>
              <a:t> Multi-stage reasoning, document analysis, data transformation.</a:t>
            </a:r>
          </a:p>
        </p:txBody>
      </p:sp>
      <p:sp>
        <p:nvSpPr>
          <p:cNvPr id="64" name="Rectangle 63">
            <a:extLst>
              <a:ext uri="{FF2B5EF4-FFF2-40B4-BE49-F238E27FC236}">
                <a16:creationId xmlns:a16="http://schemas.microsoft.com/office/drawing/2014/main" id="{CD70C941-7534-4906-6231-567B1A0A659F}"/>
              </a:ext>
            </a:extLst>
          </p:cNvPr>
          <p:cNvSpPr/>
          <p:nvPr/>
        </p:nvSpPr>
        <p:spPr>
          <a:xfrm>
            <a:off x="809625" y="3087435"/>
            <a:ext cx="28575" cy="3429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a:extLst>
              <a:ext uri="{FF2B5EF4-FFF2-40B4-BE49-F238E27FC236}">
                <a16:creationId xmlns:a16="http://schemas.microsoft.com/office/drawing/2014/main" id="{E3EB1680-CD69-3540-12AD-24CF56DF5A05}"/>
              </a:ext>
            </a:extLst>
          </p:cNvPr>
          <p:cNvSpPr/>
          <p:nvPr/>
        </p:nvSpPr>
        <p:spPr>
          <a:xfrm>
            <a:off x="6448425" y="2935035"/>
            <a:ext cx="4933950" cy="4953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a:extLst>
              <a:ext uri="{FF2B5EF4-FFF2-40B4-BE49-F238E27FC236}">
                <a16:creationId xmlns:a16="http://schemas.microsoft.com/office/drawing/2014/main" id="{C75C50CB-8822-D73E-6FF7-065908E4ADE7}"/>
              </a:ext>
            </a:extLst>
          </p:cNvPr>
          <p:cNvSpPr txBox="1"/>
          <p:nvPr/>
        </p:nvSpPr>
        <p:spPr>
          <a:xfrm>
            <a:off x="6581775" y="3096274"/>
            <a:ext cx="4667250" cy="184666"/>
          </a:xfrm>
          <a:prstGeom prst="rect">
            <a:avLst/>
          </a:prstGeom>
          <a:noFill/>
        </p:spPr>
        <p:txBody>
          <a:bodyPr wrap="square" lIns="0" tIns="0" rIns="0" bIns="0" anchor="t">
            <a:spAutoFit/>
          </a:bodyPr>
          <a:lstStyle/>
          <a:p>
            <a:pPr algn="l"/>
            <a:r>
              <a:rPr sz="1200" b="1" i="0" u="none" dirty="0">
                <a:solidFill>
                  <a:srgbClr val="0F172A"/>
                </a:solidFill>
                <a:latin typeface="Inter"/>
              </a:rPr>
              <a:t>Use Cases:</a:t>
            </a:r>
            <a:r>
              <a:rPr sz="1200" b="0" i="0" u="none" dirty="0">
                <a:solidFill>
                  <a:srgbClr val="334155"/>
                </a:solidFill>
                <a:latin typeface="Inter"/>
              </a:rPr>
              <a:t> Document processing pipelines, automated report generation</a:t>
            </a:r>
          </a:p>
        </p:txBody>
      </p:sp>
      <p:sp>
        <p:nvSpPr>
          <p:cNvPr id="70" name="Rectangle 69">
            <a:extLst>
              <a:ext uri="{FF2B5EF4-FFF2-40B4-BE49-F238E27FC236}">
                <a16:creationId xmlns:a16="http://schemas.microsoft.com/office/drawing/2014/main" id="{234A0790-6580-FF79-002F-1CE4B9768ED4}"/>
              </a:ext>
            </a:extLst>
          </p:cNvPr>
          <p:cNvSpPr/>
          <p:nvPr/>
        </p:nvSpPr>
        <p:spPr>
          <a:xfrm>
            <a:off x="6448425" y="2935035"/>
            <a:ext cx="28575" cy="4953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a:extLst>
              <a:ext uri="{FF2B5EF4-FFF2-40B4-BE49-F238E27FC236}">
                <a16:creationId xmlns:a16="http://schemas.microsoft.com/office/drawing/2014/main" id="{C346E723-8DE0-20EA-8B4D-52747F7D63E2}"/>
              </a:ext>
            </a:extLst>
          </p:cNvPr>
          <p:cNvSpPr txBox="1"/>
          <p:nvPr/>
        </p:nvSpPr>
        <p:spPr>
          <a:xfrm>
            <a:off x="809625" y="1658685"/>
            <a:ext cx="4933950" cy="675441"/>
          </a:xfrm>
          <a:prstGeom prst="rect">
            <a:avLst/>
          </a:prstGeom>
          <a:noFill/>
        </p:spPr>
        <p:txBody>
          <a:bodyPr wrap="square" lIns="0" tIns="0" rIns="0" bIns="0" anchor="t">
            <a:spAutoFit/>
          </a:bodyPr>
          <a:lstStyle/>
          <a:p>
            <a:pPr>
              <a:lnSpc>
                <a:spcPts val="1800"/>
              </a:lnSpc>
            </a:pPr>
            <a:r>
              <a:rPr sz="1200" b="0" i="0" u="none" dirty="0">
                <a:latin typeface="Inter"/>
              </a:rPr>
              <a:t>Decomposes a task into a fixed sequence of LLM calls where the output of one step becomes the input context for the next, with validation gates</a:t>
            </a:r>
            <a:r>
              <a:rPr lang="en-IN" sz="1200" dirty="0">
                <a:latin typeface="Inter"/>
              </a:rPr>
              <a:t>, ensuring higher precision and intermediate quality control at each stage.</a:t>
            </a:r>
            <a:r>
              <a:rPr lang="en-IN" sz="1200" b="0" i="0" u="none" dirty="0">
                <a:latin typeface="Inter"/>
              </a:rPr>
              <a:t> </a:t>
            </a:r>
            <a:r>
              <a:rPr lang="en-IN" sz="1200" b="0" i="0" u="none" dirty="0">
                <a:solidFill>
                  <a:srgbClr val="475569"/>
                </a:solidFill>
                <a:latin typeface="Inter"/>
              </a:rPr>
              <a:t>[6]</a:t>
            </a:r>
            <a:endParaRPr sz="1200" b="0" i="0" u="none" dirty="0">
              <a:solidFill>
                <a:srgbClr val="475569"/>
              </a:solidFill>
              <a:latin typeface="Inter"/>
            </a:endParaRPr>
          </a:p>
        </p:txBody>
      </p:sp>
      <p:sp>
        <p:nvSpPr>
          <p:cNvPr id="74" name="TextBox 73">
            <a:extLst>
              <a:ext uri="{FF2B5EF4-FFF2-40B4-BE49-F238E27FC236}">
                <a16:creationId xmlns:a16="http://schemas.microsoft.com/office/drawing/2014/main" id="{EDBD3884-27E9-C5DB-52C2-7BD445809CB2}"/>
              </a:ext>
            </a:extLst>
          </p:cNvPr>
          <p:cNvSpPr txBox="1"/>
          <p:nvPr/>
        </p:nvSpPr>
        <p:spPr>
          <a:xfrm>
            <a:off x="6448425" y="1658685"/>
            <a:ext cx="4933950" cy="675441"/>
          </a:xfrm>
          <a:prstGeom prst="rect">
            <a:avLst/>
          </a:prstGeom>
          <a:noFill/>
        </p:spPr>
        <p:txBody>
          <a:bodyPr wrap="square" lIns="0" tIns="0" rIns="0" bIns="0" anchor="t">
            <a:spAutoFit/>
          </a:bodyPr>
          <a:lstStyle/>
          <a:p>
            <a:pPr>
              <a:lnSpc>
                <a:spcPts val="1800"/>
              </a:lnSpc>
            </a:pPr>
            <a:r>
              <a:rPr sz="1200" b="0" i="0" u="none" dirty="0">
                <a:latin typeface="Inter"/>
              </a:rPr>
              <a:t>Arranges steps into a strict, deterministic assembly line where structured data outputs pass directly between modular code stages</a:t>
            </a:r>
            <a:r>
              <a:rPr lang="en-IN" sz="1200" dirty="0">
                <a:latin typeface="Inter"/>
              </a:rPr>
              <a:t> , maintaining strict execution order and data schema consistency across stages. [6]</a:t>
            </a:r>
            <a:endParaRPr sz="1200" b="0" i="0" u="none" dirty="0">
              <a:latin typeface="Inter"/>
            </a:endParaRPr>
          </a:p>
        </p:txBody>
      </p:sp>
      <p:sp>
        <p:nvSpPr>
          <p:cNvPr id="82" name="TextBox 81">
            <a:extLst>
              <a:ext uri="{FF2B5EF4-FFF2-40B4-BE49-F238E27FC236}">
                <a16:creationId xmlns:a16="http://schemas.microsoft.com/office/drawing/2014/main" id="{79489C8C-F456-32F4-8F84-D82FB3CA692A}"/>
              </a:ext>
            </a:extLst>
          </p:cNvPr>
          <p:cNvSpPr txBox="1"/>
          <p:nvPr/>
        </p:nvSpPr>
        <p:spPr>
          <a:xfrm>
            <a:off x="867896" y="1179380"/>
            <a:ext cx="2170271" cy="251370"/>
          </a:xfrm>
          <a:prstGeom prst="rect">
            <a:avLst/>
          </a:prstGeom>
          <a:noFill/>
        </p:spPr>
        <p:txBody>
          <a:bodyPr wrap="square" lIns="0" tIns="0" rIns="0" bIns="0" anchor="t">
            <a:spAutoFit/>
          </a:bodyPr>
          <a:lstStyle/>
          <a:p>
            <a:pPr algn="l">
              <a:lnSpc>
                <a:spcPts val="1979"/>
              </a:lnSpc>
            </a:pPr>
            <a:r>
              <a:rPr sz="1650" b="0" i="0" u="none">
                <a:solidFill>
                  <a:schemeClr val="tx2"/>
                </a:solidFill>
                <a:latin typeface="Poppins SemiBold"/>
              </a:rPr>
              <a:t>1. Prompt Chaining</a:t>
            </a:r>
          </a:p>
        </p:txBody>
      </p:sp>
      <p:sp>
        <p:nvSpPr>
          <p:cNvPr id="86" name="TextBox 85">
            <a:extLst>
              <a:ext uri="{FF2B5EF4-FFF2-40B4-BE49-F238E27FC236}">
                <a16:creationId xmlns:a16="http://schemas.microsoft.com/office/drawing/2014/main" id="{636D1BC0-E966-9EDA-C7DB-494DB47D62CB}"/>
              </a:ext>
            </a:extLst>
          </p:cNvPr>
          <p:cNvSpPr txBox="1"/>
          <p:nvPr/>
        </p:nvSpPr>
        <p:spPr>
          <a:xfrm>
            <a:off x="6506696" y="1179380"/>
            <a:ext cx="2630328" cy="251370"/>
          </a:xfrm>
          <a:prstGeom prst="rect">
            <a:avLst/>
          </a:prstGeom>
          <a:noFill/>
        </p:spPr>
        <p:txBody>
          <a:bodyPr wrap="square" lIns="0" tIns="0" rIns="0" bIns="0" anchor="t">
            <a:spAutoFit/>
          </a:bodyPr>
          <a:lstStyle/>
          <a:p>
            <a:pPr algn="l">
              <a:lnSpc>
                <a:spcPts val="1979"/>
              </a:lnSpc>
            </a:pPr>
            <a:r>
              <a:rPr sz="1650" b="0" i="0" u="none">
                <a:solidFill>
                  <a:schemeClr val="tx2"/>
                </a:solidFill>
                <a:latin typeface="Poppins SemiBold"/>
              </a:rPr>
              <a:t>2. Sequential Workflow</a:t>
            </a:r>
          </a:p>
        </p:txBody>
      </p:sp>
      <p:pic>
        <p:nvPicPr>
          <p:cNvPr id="88" name="Picture 87" descr="image.png">
            <a:extLst>
              <a:ext uri="{FF2B5EF4-FFF2-40B4-BE49-F238E27FC236}">
                <a16:creationId xmlns:a16="http://schemas.microsoft.com/office/drawing/2014/main" id="{320DE679-D70E-DCD8-DA02-14EA365438B6}"/>
              </a:ext>
            </a:extLst>
          </p:cNvPr>
          <p:cNvPicPr>
            <a:picLocks noChangeAspect="1"/>
          </p:cNvPicPr>
          <p:nvPr/>
        </p:nvPicPr>
        <p:blipFill>
          <a:blip r:embed="rId9"/>
          <a:stretch>
            <a:fillRect/>
          </a:stretch>
        </p:blipFill>
        <p:spPr>
          <a:xfrm>
            <a:off x="578167" y="3805207"/>
            <a:ext cx="5410200" cy="2933700"/>
          </a:xfrm>
          <a:prstGeom prst="rect">
            <a:avLst/>
          </a:prstGeom>
        </p:spPr>
      </p:pic>
      <p:pic>
        <p:nvPicPr>
          <p:cNvPr id="90" name="Picture 89" descr="image.png">
            <a:extLst>
              <a:ext uri="{FF2B5EF4-FFF2-40B4-BE49-F238E27FC236}">
                <a16:creationId xmlns:a16="http://schemas.microsoft.com/office/drawing/2014/main" id="{F9E5CBA6-FBBC-8341-2217-F09225E157CF}"/>
              </a:ext>
            </a:extLst>
          </p:cNvPr>
          <p:cNvPicPr>
            <a:picLocks noChangeAspect="1"/>
          </p:cNvPicPr>
          <p:nvPr/>
        </p:nvPicPr>
        <p:blipFill>
          <a:blip r:embed="rId10"/>
          <a:stretch>
            <a:fillRect/>
          </a:stretch>
        </p:blipFill>
        <p:spPr>
          <a:xfrm>
            <a:off x="6216967" y="3805207"/>
            <a:ext cx="5410200" cy="2933700"/>
          </a:xfrm>
          <a:prstGeom prst="rect">
            <a:avLst/>
          </a:prstGeom>
        </p:spPr>
      </p:pic>
      <p:pic>
        <p:nvPicPr>
          <p:cNvPr id="92" name="Picture 91" descr="image.png">
            <a:extLst>
              <a:ext uri="{FF2B5EF4-FFF2-40B4-BE49-F238E27FC236}">
                <a16:creationId xmlns:a16="http://schemas.microsoft.com/office/drawing/2014/main" id="{FBE647FE-9BF1-3E0F-9B96-23C6FE31F07D}"/>
              </a:ext>
            </a:extLst>
          </p:cNvPr>
          <p:cNvPicPr>
            <a:picLocks noChangeAspect="1"/>
          </p:cNvPicPr>
          <p:nvPr/>
        </p:nvPicPr>
        <p:blipFill>
          <a:blip r:embed="rId11">
            <a:duotone>
              <a:schemeClr val="accent1">
                <a:shade val="45000"/>
                <a:satMod val="135000"/>
              </a:schemeClr>
              <a:prstClr val="white"/>
            </a:duotone>
          </a:blip>
          <a:stretch>
            <a:fillRect/>
          </a:stretch>
        </p:blipFill>
        <p:spPr>
          <a:xfrm>
            <a:off x="816292" y="5565370"/>
            <a:ext cx="4933950" cy="381000"/>
          </a:xfrm>
          <a:prstGeom prst="rect">
            <a:avLst/>
          </a:prstGeom>
        </p:spPr>
      </p:pic>
      <p:sp>
        <p:nvSpPr>
          <p:cNvPr id="96" name="Rectangle 95">
            <a:extLst>
              <a:ext uri="{FF2B5EF4-FFF2-40B4-BE49-F238E27FC236}">
                <a16:creationId xmlns:a16="http://schemas.microsoft.com/office/drawing/2014/main" id="{ECB6A967-D17D-00FC-B371-09981A847649}"/>
              </a:ext>
            </a:extLst>
          </p:cNvPr>
          <p:cNvSpPr/>
          <p:nvPr/>
        </p:nvSpPr>
        <p:spPr>
          <a:xfrm>
            <a:off x="816292" y="6005482"/>
            <a:ext cx="4933950" cy="4953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a:extLst>
              <a:ext uri="{FF2B5EF4-FFF2-40B4-BE49-F238E27FC236}">
                <a16:creationId xmlns:a16="http://schemas.microsoft.com/office/drawing/2014/main" id="{7032C358-81DC-3F91-8151-2EE9109968DE}"/>
              </a:ext>
            </a:extLst>
          </p:cNvPr>
          <p:cNvSpPr txBox="1"/>
          <p:nvPr/>
        </p:nvSpPr>
        <p:spPr>
          <a:xfrm>
            <a:off x="949642" y="6157294"/>
            <a:ext cx="4667250" cy="184666"/>
          </a:xfrm>
          <a:prstGeom prst="rect">
            <a:avLst/>
          </a:prstGeom>
          <a:noFill/>
        </p:spPr>
        <p:txBody>
          <a:bodyPr wrap="square" lIns="0" tIns="0" rIns="0" bIns="0" anchor="t">
            <a:spAutoFit/>
          </a:bodyPr>
          <a:lstStyle/>
          <a:p>
            <a:pPr algn="l"/>
            <a:r>
              <a:rPr sz="1200" b="1" i="0" u="none" dirty="0">
                <a:solidFill>
                  <a:srgbClr val="0F172A"/>
                </a:solidFill>
                <a:latin typeface="Inter"/>
              </a:rPr>
              <a:t>Use Cases:</a:t>
            </a:r>
            <a:r>
              <a:rPr sz="1200" b="0" i="0" u="none" dirty="0">
                <a:solidFill>
                  <a:srgbClr val="334155"/>
                </a:solidFill>
                <a:latin typeface="Inter"/>
              </a:rPr>
              <a:t> Customer support triage, query classification</a:t>
            </a:r>
          </a:p>
        </p:txBody>
      </p:sp>
      <p:sp>
        <p:nvSpPr>
          <p:cNvPr id="100" name="Rectangle 99">
            <a:extLst>
              <a:ext uri="{FF2B5EF4-FFF2-40B4-BE49-F238E27FC236}">
                <a16:creationId xmlns:a16="http://schemas.microsoft.com/office/drawing/2014/main" id="{A1C2C036-6CAC-C5A0-272F-6D9AC8E98A8F}"/>
              </a:ext>
            </a:extLst>
          </p:cNvPr>
          <p:cNvSpPr/>
          <p:nvPr/>
        </p:nvSpPr>
        <p:spPr>
          <a:xfrm>
            <a:off x="816292" y="6005482"/>
            <a:ext cx="28575" cy="4953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102" name="Rectangle 101">
            <a:extLst>
              <a:ext uri="{FF2B5EF4-FFF2-40B4-BE49-F238E27FC236}">
                <a16:creationId xmlns:a16="http://schemas.microsoft.com/office/drawing/2014/main" id="{CF831B61-3900-37B1-DD96-AD571ADCDDAD}"/>
              </a:ext>
            </a:extLst>
          </p:cNvPr>
          <p:cNvSpPr/>
          <p:nvPr/>
        </p:nvSpPr>
        <p:spPr>
          <a:xfrm>
            <a:off x="6455092" y="6393552"/>
            <a:ext cx="493395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a:extLst>
              <a:ext uri="{FF2B5EF4-FFF2-40B4-BE49-F238E27FC236}">
                <a16:creationId xmlns:a16="http://schemas.microsoft.com/office/drawing/2014/main" id="{241E0411-F5D0-E9BC-0AC0-A9324B29623E}"/>
              </a:ext>
            </a:extLst>
          </p:cNvPr>
          <p:cNvSpPr txBox="1"/>
          <p:nvPr/>
        </p:nvSpPr>
        <p:spPr>
          <a:xfrm>
            <a:off x="6588442" y="6488802"/>
            <a:ext cx="4667250" cy="184666"/>
          </a:xfrm>
          <a:prstGeom prst="rect">
            <a:avLst/>
          </a:prstGeom>
          <a:noFill/>
        </p:spPr>
        <p:txBody>
          <a:bodyPr wrap="square" lIns="0" tIns="0" rIns="0" bIns="0" anchor="t">
            <a:spAutoFit/>
          </a:bodyPr>
          <a:lstStyle/>
          <a:p>
            <a:pPr algn="l"/>
            <a:r>
              <a:rPr sz="1200" b="1" i="0" u="none" dirty="0">
                <a:solidFill>
                  <a:srgbClr val="0F172A"/>
                </a:solidFill>
                <a:latin typeface="Inter"/>
              </a:rPr>
              <a:t>Use Cases:</a:t>
            </a:r>
            <a:r>
              <a:rPr sz="1200" b="0" i="0" u="none" dirty="0">
                <a:solidFill>
                  <a:srgbClr val="334155"/>
                </a:solidFill>
                <a:latin typeface="Inter"/>
              </a:rPr>
              <a:t> Multi-aspect code reviews, guardrail checks</a:t>
            </a:r>
            <a:r>
              <a:rPr lang="en-IN" sz="1200" b="0" i="0" u="none" dirty="0">
                <a:solidFill>
                  <a:srgbClr val="334155"/>
                </a:solidFill>
                <a:latin typeface="Inter"/>
              </a:rPr>
              <a:t>.</a:t>
            </a:r>
            <a:endParaRPr sz="1200" b="0" i="0" u="none" dirty="0">
              <a:solidFill>
                <a:srgbClr val="334155"/>
              </a:solidFill>
              <a:latin typeface="Inter"/>
            </a:endParaRPr>
          </a:p>
        </p:txBody>
      </p:sp>
      <p:sp>
        <p:nvSpPr>
          <p:cNvPr id="106" name="Rectangle 105">
            <a:extLst>
              <a:ext uri="{FF2B5EF4-FFF2-40B4-BE49-F238E27FC236}">
                <a16:creationId xmlns:a16="http://schemas.microsoft.com/office/drawing/2014/main" id="{4F1C1E6C-8B64-2EB6-6D5A-E1073A842053}"/>
              </a:ext>
            </a:extLst>
          </p:cNvPr>
          <p:cNvSpPr/>
          <p:nvPr/>
        </p:nvSpPr>
        <p:spPr>
          <a:xfrm>
            <a:off x="6455092" y="6393554"/>
            <a:ext cx="28575" cy="3429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a:extLst>
              <a:ext uri="{FF2B5EF4-FFF2-40B4-BE49-F238E27FC236}">
                <a16:creationId xmlns:a16="http://schemas.microsoft.com/office/drawing/2014/main" id="{BD9A0FBC-D641-0DA1-5BE1-307B7403A9D0}"/>
              </a:ext>
            </a:extLst>
          </p:cNvPr>
          <p:cNvSpPr txBox="1"/>
          <p:nvPr/>
        </p:nvSpPr>
        <p:spPr>
          <a:xfrm>
            <a:off x="816292" y="4539024"/>
            <a:ext cx="4933950" cy="906274"/>
          </a:xfrm>
          <a:prstGeom prst="rect">
            <a:avLst/>
          </a:prstGeom>
          <a:noFill/>
        </p:spPr>
        <p:txBody>
          <a:bodyPr wrap="square" lIns="0" tIns="0" rIns="0" bIns="0" anchor="t">
            <a:spAutoFit/>
          </a:bodyPr>
          <a:lstStyle/>
          <a:p>
            <a:pPr>
              <a:lnSpc>
                <a:spcPts val="1800"/>
              </a:lnSpc>
            </a:pPr>
            <a:r>
              <a:rPr sz="1200" b="0" i="0" u="none" dirty="0">
                <a:latin typeface="Inter"/>
              </a:rPr>
              <a:t>Uses an initial router or classifier to direct incoming requests to specialized agents or processing paths with tailored prompts and tools</a:t>
            </a:r>
            <a:r>
              <a:rPr lang="en-IN" sz="1200" dirty="0">
                <a:latin typeface="Inter"/>
              </a:rPr>
              <a:t> , optimizing latency and cost by serving simple requests quickly and reserving larger, specialized models for complex tasks. [6]</a:t>
            </a:r>
            <a:endParaRPr sz="1200" b="0" i="0" u="none" dirty="0">
              <a:latin typeface="Inter"/>
            </a:endParaRPr>
          </a:p>
        </p:txBody>
      </p:sp>
      <p:sp>
        <p:nvSpPr>
          <p:cNvPr id="110" name="TextBox 109">
            <a:extLst>
              <a:ext uri="{FF2B5EF4-FFF2-40B4-BE49-F238E27FC236}">
                <a16:creationId xmlns:a16="http://schemas.microsoft.com/office/drawing/2014/main" id="{1A46A527-0EE7-7C4E-2E4F-42FC60554A59}"/>
              </a:ext>
            </a:extLst>
          </p:cNvPr>
          <p:cNvSpPr txBox="1"/>
          <p:nvPr/>
        </p:nvSpPr>
        <p:spPr>
          <a:xfrm>
            <a:off x="6455092" y="4576732"/>
            <a:ext cx="4933950" cy="906274"/>
          </a:xfrm>
          <a:prstGeom prst="rect">
            <a:avLst/>
          </a:prstGeom>
          <a:noFill/>
        </p:spPr>
        <p:txBody>
          <a:bodyPr wrap="square" lIns="0" tIns="0" rIns="0" bIns="0" anchor="t">
            <a:spAutoFit/>
          </a:bodyPr>
          <a:lstStyle/>
          <a:p>
            <a:pPr>
              <a:lnSpc>
                <a:spcPts val="1800"/>
              </a:lnSpc>
            </a:pPr>
            <a:r>
              <a:rPr sz="1200" b="0" i="0" u="none" dirty="0">
                <a:latin typeface="Inter"/>
              </a:rPr>
              <a:t>Distributes independent subtasks across concurrent LLM calls. Executes simultaneously and aggregates outputs to reduce total system latency</a:t>
            </a:r>
            <a:r>
              <a:rPr lang="en-IN" sz="1200" dirty="0">
                <a:latin typeface="Inter"/>
              </a:rPr>
              <a:t> , making it ideal for independent evaluation tasks, majority-voting consensus mechanisms, and multi-perspective verification. [6]</a:t>
            </a:r>
            <a:endParaRPr sz="1200" b="0" i="0" u="none" dirty="0">
              <a:latin typeface="Inter"/>
            </a:endParaRPr>
          </a:p>
        </p:txBody>
      </p:sp>
      <p:sp>
        <p:nvSpPr>
          <p:cNvPr id="118" name="TextBox 117">
            <a:extLst>
              <a:ext uri="{FF2B5EF4-FFF2-40B4-BE49-F238E27FC236}">
                <a16:creationId xmlns:a16="http://schemas.microsoft.com/office/drawing/2014/main" id="{3A1CB1F6-549A-20E9-B7A9-79E8381D8693}"/>
              </a:ext>
            </a:extLst>
          </p:cNvPr>
          <p:cNvSpPr txBox="1"/>
          <p:nvPr/>
        </p:nvSpPr>
        <p:spPr>
          <a:xfrm>
            <a:off x="854392" y="4092197"/>
            <a:ext cx="1130141" cy="251370"/>
          </a:xfrm>
          <a:prstGeom prst="rect">
            <a:avLst/>
          </a:prstGeom>
          <a:noFill/>
        </p:spPr>
        <p:txBody>
          <a:bodyPr wrap="square" lIns="0" tIns="0" rIns="0" bIns="0" anchor="t">
            <a:spAutoFit/>
          </a:bodyPr>
          <a:lstStyle/>
          <a:p>
            <a:pPr algn="l">
              <a:lnSpc>
                <a:spcPts val="1979"/>
              </a:lnSpc>
            </a:pPr>
            <a:r>
              <a:rPr sz="1650" b="0" i="0" u="none">
                <a:solidFill>
                  <a:schemeClr val="tx2"/>
                </a:solidFill>
                <a:latin typeface="Poppins SemiBold"/>
              </a:rPr>
              <a:t>3. Routing</a:t>
            </a:r>
          </a:p>
        </p:txBody>
      </p:sp>
      <p:sp>
        <p:nvSpPr>
          <p:cNvPr id="122" name="TextBox 121">
            <a:extLst>
              <a:ext uri="{FF2B5EF4-FFF2-40B4-BE49-F238E27FC236}">
                <a16:creationId xmlns:a16="http://schemas.microsoft.com/office/drawing/2014/main" id="{58837D6E-C334-00C7-A5A2-17DA89179EC2}"/>
              </a:ext>
            </a:extLst>
          </p:cNvPr>
          <p:cNvSpPr txBox="1"/>
          <p:nvPr/>
        </p:nvSpPr>
        <p:spPr>
          <a:xfrm>
            <a:off x="6531292" y="4092197"/>
            <a:ext cx="1940242" cy="251370"/>
          </a:xfrm>
          <a:prstGeom prst="rect">
            <a:avLst/>
          </a:prstGeom>
          <a:noFill/>
        </p:spPr>
        <p:txBody>
          <a:bodyPr wrap="square" lIns="0" tIns="0" rIns="0" bIns="0" anchor="t">
            <a:spAutoFit/>
          </a:bodyPr>
          <a:lstStyle/>
          <a:p>
            <a:pPr algn="l">
              <a:lnSpc>
                <a:spcPts val="1979"/>
              </a:lnSpc>
            </a:pPr>
            <a:r>
              <a:rPr sz="1650" b="0" i="0" u="none" dirty="0">
                <a:solidFill>
                  <a:schemeClr val="tx2"/>
                </a:solidFill>
                <a:latin typeface="Poppins SemiBold"/>
              </a:rPr>
              <a:t>4. Parallelization</a:t>
            </a:r>
          </a:p>
        </p:txBody>
      </p:sp>
      <p:sp>
        <p:nvSpPr>
          <p:cNvPr id="125" name="Rectangle: Rounded Corners 124">
            <a:extLst>
              <a:ext uri="{FF2B5EF4-FFF2-40B4-BE49-F238E27FC236}">
                <a16:creationId xmlns:a16="http://schemas.microsoft.com/office/drawing/2014/main" id="{115E54C0-360C-31D2-38CD-5C3101091887}"/>
              </a:ext>
            </a:extLst>
          </p:cNvPr>
          <p:cNvSpPr/>
          <p:nvPr/>
        </p:nvSpPr>
        <p:spPr>
          <a:xfrm>
            <a:off x="6448425" y="5520729"/>
            <a:ext cx="4926329" cy="824389"/>
          </a:xfrm>
          <a:prstGeom prst="roundRect">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4" name="TextBox 123">
            <a:extLst>
              <a:ext uri="{FF2B5EF4-FFF2-40B4-BE49-F238E27FC236}">
                <a16:creationId xmlns:a16="http://schemas.microsoft.com/office/drawing/2014/main" id="{4138BAD2-6DC7-1F2A-1FED-039B6DC9D0E4}"/>
              </a:ext>
            </a:extLst>
          </p:cNvPr>
          <p:cNvSpPr txBox="1"/>
          <p:nvPr/>
        </p:nvSpPr>
        <p:spPr>
          <a:xfrm>
            <a:off x="6506696" y="5520729"/>
            <a:ext cx="6441758" cy="738664"/>
          </a:xfrm>
          <a:prstGeom prst="rect">
            <a:avLst/>
          </a:prstGeom>
          <a:noFill/>
        </p:spPr>
        <p:txBody>
          <a:bodyPr wrap="square">
            <a:spAutoFit/>
          </a:bodyPr>
          <a:lstStyle/>
          <a:p>
            <a:r>
              <a:rPr lang="en-IN" sz="1400" b="1" dirty="0">
                <a:solidFill>
                  <a:srgbClr val="83A7EF"/>
                </a:solidFill>
                <a:cs typeface="Poppins" panose="00000500000000000000" pitchFamily="2" charset="0"/>
              </a:rPr>
              <a:t>                                 ┌→ Security ──</a:t>
            </a:r>
            <a:r>
              <a:rPr lang="en-IN" sz="1400" dirty="0">
                <a:solidFill>
                  <a:srgbClr val="83A7EF"/>
                </a:solidFill>
                <a:cs typeface="Poppins" panose="00000500000000000000" pitchFamily="2" charset="0"/>
              </a:rPr>
              <a:t>---</a:t>
            </a:r>
            <a:r>
              <a:rPr lang="en-IN" sz="1400" b="1" dirty="0">
                <a:solidFill>
                  <a:srgbClr val="83A7EF"/>
                </a:solidFill>
                <a:cs typeface="Poppins" panose="00000500000000000000" pitchFamily="2" charset="0"/>
              </a:rPr>
              <a:t>─┐</a:t>
            </a:r>
          </a:p>
          <a:p>
            <a:r>
              <a:rPr lang="en-IN" sz="1400" b="1" dirty="0">
                <a:solidFill>
                  <a:srgbClr val="83A7EF"/>
                </a:solidFill>
                <a:cs typeface="Poppins" panose="00000500000000000000" pitchFamily="2" charset="0"/>
              </a:rPr>
              <a:t>Input → Split ───┼→ Performance ┼→ Aggregate → Output</a:t>
            </a:r>
          </a:p>
          <a:p>
            <a:r>
              <a:rPr lang="en-IN" sz="1400" b="1" dirty="0">
                <a:solidFill>
                  <a:srgbClr val="83A7EF"/>
                </a:solidFill>
                <a:cs typeface="Poppins" panose="00000500000000000000" pitchFamily="2" charset="0"/>
              </a:rPr>
              <a:t>                                 └→ Quality ────</a:t>
            </a:r>
            <a:r>
              <a:rPr lang="en-IN" sz="1400" dirty="0">
                <a:solidFill>
                  <a:srgbClr val="83A7EF"/>
                </a:solidFill>
                <a:cs typeface="Poppins" panose="00000500000000000000" pitchFamily="2" charset="0"/>
              </a:rPr>
              <a:t>---</a:t>
            </a:r>
            <a:r>
              <a:rPr lang="en-IN" sz="1400" b="1" dirty="0">
                <a:solidFill>
                  <a:srgbClr val="83A7EF"/>
                </a:solidFill>
                <a:cs typeface="Poppins" panose="00000500000000000000" pitchFamily="2" charset="0"/>
              </a:rPr>
              <a:t>┘</a:t>
            </a:r>
          </a:p>
        </p:txBody>
      </p:sp>
      <p:sp>
        <p:nvSpPr>
          <p:cNvPr id="127" name="TextBox 126">
            <a:extLst>
              <a:ext uri="{FF2B5EF4-FFF2-40B4-BE49-F238E27FC236}">
                <a16:creationId xmlns:a16="http://schemas.microsoft.com/office/drawing/2014/main" id="{6D93F815-CE54-BE85-CFB9-CD59DB4A8D6A}"/>
              </a:ext>
            </a:extLst>
          </p:cNvPr>
          <p:cNvSpPr txBox="1"/>
          <p:nvPr/>
        </p:nvSpPr>
        <p:spPr>
          <a:xfrm>
            <a:off x="603094" y="289877"/>
            <a:ext cx="11601450"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a:t>
            </a:r>
            <a:endParaRPr sz="3200" b="1" i="0" u="none" dirty="0">
              <a:solidFill>
                <a:schemeClr val="tx2"/>
              </a:solidFill>
              <a:latin typeface="Inte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74988-6125-B2B8-735C-56FAC4379E76}"/>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AE50AC93-064D-9A12-EC02-A3C484D81B80}"/>
              </a:ext>
            </a:extLst>
          </p:cNvPr>
          <p:cNvPicPr>
            <a:picLocks noChangeAspect="1"/>
          </p:cNvPicPr>
          <p:nvPr/>
        </p:nvPicPr>
        <p:blipFill>
          <a:blip r:embed="rId3"/>
          <a:stretch>
            <a:fillRect/>
          </a:stretch>
        </p:blipFill>
        <p:spPr>
          <a:xfrm>
            <a:off x="19050" y="-50707"/>
            <a:ext cx="12192000" cy="6858000"/>
          </a:xfrm>
          <a:prstGeom prst="rect">
            <a:avLst/>
          </a:prstGeom>
        </p:spPr>
      </p:pic>
      <p:sp>
        <p:nvSpPr>
          <p:cNvPr id="127" name="TextBox 126">
            <a:extLst>
              <a:ext uri="{FF2B5EF4-FFF2-40B4-BE49-F238E27FC236}">
                <a16:creationId xmlns:a16="http://schemas.microsoft.com/office/drawing/2014/main" id="{96DB3ABB-B42C-552D-0972-413F4233828F}"/>
              </a:ext>
            </a:extLst>
          </p:cNvPr>
          <p:cNvSpPr txBox="1"/>
          <p:nvPr/>
        </p:nvSpPr>
        <p:spPr>
          <a:xfrm>
            <a:off x="603094" y="538235"/>
            <a:ext cx="11601450"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pic>
        <p:nvPicPr>
          <p:cNvPr id="3" name="Picture 2" descr="image.png">
            <a:extLst>
              <a:ext uri="{FF2B5EF4-FFF2-40B4-BE49-F238E27FC236}">
                <a16:creationId xmlns:a16="http://schemas.microsoft.com/office/drawing/2014/main" id="{53623F76-1937-AF55-52B4-2E322FE1E614}"/>
              </a:ext>
            </a:extLst>
          </p:cNvPr>
          <p:cNvPicPr>
            <a:picLocks noChangeAspect="1"/>
          </p:cNvPicPr>
          <p:nvPr/>
        </p:nvPicPr>
        <p:blipFill>
          <a:blip r:embed="rId4"/>
          <a:stretch>
            <a:fillRect/>
          </a:stretch>
        </p:blipFill>
        <p:spPr>
          <a:xfrm>
            <a:off x="571500" y="1239151"/>
            <a:ext cx="5381625" cy="5080614"/>
          </a:xfrm>
          <a:prstGeom prst="rect">
            <a:avLst/>
          </a:prstGeom>
        </p:spPr>
      </p:pic>
      <p:pic>
        <p:nvPicPr>
          <p:cNvPr id="5" name="Picture 4" descr="image.png">
            <a:extLst>
              <a:ext uri="{FF2B5EF4-FFF2-40B4-BE49-F238E27FC236}">
                <a16:creationId xmlns:a16="http://schemas.microsoft.com/office/drawing/2014/main" id="{A834B13C-C477-E42F-D022-9EFD0354DA43}"/>
              </a:ext>
            </a:extLst>
          </p:cNvPr>
          <p:cNvPicPr>
            <a:picLocks noChangeAspect="1"/>
          </p:cNvPicPr>
          <p:nvPr/>
        </p:nvPicPr>
        <p:blipFill>
          <a:blip r:embed="rId5"/>
          <a:stretch>
            <a:fillRect/>
          </a:stretch>
        </p:blipFill>
        <p:spPr>
          <a:xfrm>
            <a:off x="6238875" y="1239151"/>
            <a:ext cx="5381625" cy="5080614"/>
          </a:xfrm>
          <a:prstGeom prst="rect">
            <a:avLst/>
          </a:prstGeom>
        </p:spPr>
      </p:pic>
      <p:sp>
        <p:nvSpPr>
          <p:cNvPr id="12" name="Rectangle 11">
            <a:extLst>
              <a:ext uri="{FF2B5EF4-FFF2-40B4-BE49-F238E27FC236}">
                <a16:creationId xmlns:a16="http://schemas.microsoft.com/office/drawing/2014/main" id="{5DD216FB-61B2-7AF4-5651-8D9CE26A8071}"/>
              </a:ext>
            </a:extLst>
          </p:cNvPr>
          <p:cNvSpPr/>
          <p:nvPr/>
        </p:nvSpPr>
        <p:spPr>
          <a:xfrm>
            <a:off x="888647" y="5691388"/>
            <a:ext cx="4829175" cy="4953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1134ED0B-D160-9DE1-79A2-073686FBF760}"/>
              </a:ext>
            </a:extLst>
          </p:cNvPr>
          <p:cNvSpPr txBox="1"/>
          <p:nvPr/>
        </p:nvSpPr>
        <p:spPr>
          <a:xfrm>
            <a:off x="1021997" y="5786638"/>
            <a:ext cx="4562475"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Complex software development, automated research synthesis, multi-domain compliance analysis.</a:t>
            </a:r>
          </a:p>
        </p:txBody>
      </p:sp>
      <p:sp>
        <p:nvSpPr>
          <p:cNvPr id="16" name="Rectangle 15">
            <a:extLst>
              <a:ext uri="{FF2B5EF4-FFF2-40B4-BE49-F238E27FC236}">
                <a16:creationId xmlns:a16="http://schemas.microsoft.com/office/drawing/2014/main" id="{75E52725-9DE1-43F8-D00A-355033A42933}"/>
              </a:ext>
            </a:extLst>
          </p:cNvPr>
          <p:cNvSpPr/>
          <p:nvPr/>
        </p:nvSpPr>
        <p:spPr>
          <a:xfrm>
            <a:off x="888647" y="5691388"/>
            <a:ext cx="28575" cy="4953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a:extLst>
              <a:ext uri="{FF2B5EF4-FFF2-40B4-BE49-F238E27FC236}">
                <a16:creationId xmlns:a16="http://schemas.microsoft.com/office/drawing/2014/main" id="{FF4D3BF0-0AD2-86AC-11BD-AF147682E3B2}"/>
              </a:ext>
            </a:extLst>
          </p:cNvPr>
          <p:cNvSpPr/>
          <p:nvPr/>
        </p:nvSpPr>
        <p:spPr>
          <a:xfrm>
            <a:off x="6515100" y="4554976"/>
            <a:ext cx="4829175" cy="4953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52A7523B-C92C-848B-5752-368F27200C18}"/>
              </a:ext>
            </a:extLst>
          </p:cNvPr>
          <p:cNvSpPr txBox="1"/>
          <p:nvPr/>
        </p:nvSpPr>
        <p:spPr>
          <a:xfrm>
            <a:off x="6648450" y="4650226"/>
            <a:ext cx="4562475"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Code generation with test pass verification, high-stakes translation, quality-controlled drafting.</a:t>
            </a:r>
          </a:p>
        </p:txBody>
      </p:sp>
      <p:sp>
        <p:nvSpPr>
          <p:cNvPr id="22" name="Rectangle 21">
            <a:extLst>
              <a:ext uri="{FF2B5EF4-FFF2-40B4-BE49-F238E27FC236}">
                <a16:creationId xmlns:a16="http://schemas.microsoft.com/office/drawing/2014/main" id="{D9494930-051E-9DA8-19E1-FB127AD1EEED}"/>
              </a:ext>
            </a:extLst>
          </p:cNvPr>
          <p:cNvSpPr/>
          <p:nvPr/>
        </p:nvSpPr>
        <p:spPr>
          <a:xfrm>
            <a:off x="6515100" y="4554976"/>
            <a:ext cx="28575" cy="4953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3104F974-B6C0-B378-329C-23AABD6EAF6A}"/>
              </a:ext>
            </a:extLst>
          </p:cNvPr>
          <p:cNvSpPr txBox="1"/>
          <p:nvPr/>
        </p:nvSpPr>
        <p:spPr>
          <a:xfrm>
            <a:off x="847725" y="2128697"/>
            <a:ext cx="4829175" cy="685800"/>
          </a:xfrm>
          <a:prstGeom prst="rect">
            <a:avLst/>
          </a:prstGeom>
          <a:noFill/>
        </p:spPr>
        <p:txBody>
          <a:bodyPr wrap="square" lIns="0" tIns="0" rIns="0" bIns="0" anchor="t">
            <a:spAutoFit/>
          </a:bodyPr>
          <a:lstStyle/>
          <a:p>
            <a:pPr algn="l">
              <a:lnSpc>
                <a:spcPts val="1800"/>
              </a:lnSpc>
            </a:pPr>
            <a:r>
              <a:rPr sz="1200" b="0" i="0" u="none" dirty="0">
                <a:solidFill>
                  <a:srgbClr val="475569"/>
                </a:solidFill>
                <a:latin typeface="Inter"/>
              </a:rPr>
              <a:t>A central LLM dynamically analyzes a task, breaks it down into subtasks, delegates to specialized worker agents, and synthesizes the collected worker outputs into a final result.</a:t>
            </a:r>
            <a:r>
              <a:rPr lang="en-IN" sz="1200" b="0" i="0" u="none" dirty="0">
                <a:solidFill>
                  <a:srgbClr val="475569"/>
                </a:solidFill>
                <a:latin typeface="Inter"/>
              </a:rPr>
              <a:t> [6]</a:t>
            </a:r>
            <a:endParaRPr sz="1200" b="0" i="0" u="none" dirty="0">
              <a:solidFill>
                <a:srgbClr val="475569"/>
              </a:solidFill>
              <a:latin typeface="Inter"/>
            </a:endParaRPr>
          </a:p>
        </p:txBody>
      </p:sp>
      <p:sp>
        <p:nvSpPr>
          <p:cNvPr id="26" name="TextBox 25">
            <a:extLst>
              <a:ext uri="{FF2B5EF4-FFF2-40B4-BE49-F238E27FC236}">
                <a16:creationId xmlns:a16="http://schemas.microsoft.com/office/drawing/2014/main" id="{881D9922-3D66-1454-2ECD-B76E5C589A74}"/>
              </a:ext>
            </a:extLst>
          </p:cNvPr>
          <p:cNvSpPr txBox="1"/>
          <p:nvPr/>
        </p:nvSpPr>
        <p:spPr>
          <a:xfrm>
            <a:off x="6515100" y="2128697"/>
            <a:ext cx="4829175" cy="685800"/>
          </a:xfrm>
          <a:prstGeom prst="rect">
            <a:avLst/>
          </a:prstGeom>
          <a:noFill/>
        </p:spPr>
        <p:txBody>
          <a:bodyPr wrap="square" lIns="0" tIns="0" rIns="0" bIns="0" anchor="t">
            <a:spAutoFit/>
          </a:bodyPr>
          <a:lstStyle/>
          <a:p>
            <a:pPr algn="l">
              <a:lnSpc>
                <a:spcPts val="1800"/>
              </a:lnSpc>
            </a:pPr>
            <a:r>
              <a:rPr sz="1200" b="0" i="0" u="none" dirty="0">
                <a:solidFill>
                  <a:srgbClr val="475569"/>
                </a:solidFill>
                <a:latin typeface="Inter"/>
              </a:rPr>
              <a:t>Creates an iterative loop where a Generator LLM produces output and an Evaluator LLM assesses it against quality criteria, providing actionable feedback until thresholds are met.</a:t>
            </a:r>
            <a:r>
              <a:rPr lang="en-IN" sz="1200" b="0" i="0" u="none" dirty="0">
                <a:solidFill>
                  <a:srgbClr val="475569"/>
                </a:solidFill>
                <a:latin typeface="Inter"/>
              </a:rPr>
              <a:t>[6]</a:t>
            </a:r>
            <a:endParaRPr sz="1200" b="0" i="0" u="none" dirty="0">
              <a:solidFill>
                <a:srgbClr val="475569"/>
              </a:solidFill>
              <a:latin typeface="Inter"/>
            </a:endParaRPr>
          </a:p>
        </p:txBody>
      </p:sp>
      <p:sp>
        <p:nvSpPr>
          <p:cNvPr id="30" name="TextBox 29">
            <a:extLst>
              <a:ext uri="{FF2B5EF4-FFF2-40B4-BE49-F238E27FC236}">
                <a16:creationId xmlns:a16="http://schemas.microsoft.com/office/drawing/2014/main" id="{0A065BE8-311C-645B-ACF1-B3CF25C417B1}"/>
              </a:ext>
            </a:extLst>
          </p:cNvPr>
          <p:cNvSpPr txBox="1"/>
          <p:nvPr/>
        </p:nvSpPr>
        <p:spPr>
          <a:xfrm>
            <a:off x="903108" y="1515376"/>
            <a:ext cx="2880360"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5. Orchestrator–Workers</a:t>
            </a:r>
          </a:p>
        </p:txBody>
      </p:sp>
      <p:sp>
        <p:nvSpPr>
          <p:cNvPr id="32" name="Rectangle 31">
            <a:extLst>
              <a:ext uri="{FF2B5EF4-FFF2-40B4-BE49-F238E27FC236}">
                <a16:creationId xmlns:a16="http://schemas.microsoft.com/office/drawing/2014/main" id="{C2EAC975-A4BC-A9E2-5FDB-317807E4EA04}"/>
              </a:ext>
            </a:extLst>
          </p:cNvPr>
          <p:cNvSpPr/>
          <p:nvPr/>
        </p:nvSpPr>
        <p:spPr>
          <a:xfrm>
            <a:off x="903108" y="1861997"/>
            <a:ext cx="27432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A8152FAB-79C7-77A9-4DDF-B5EB8E16B4E7}"/>
              </a:ext>
            </a:extLst>
          </p:cNvPr>
          <p:cNvSpPr txBox="1"/>
          <p:nvPr/>
        </p:nvSpPr>
        <p:spPr>
          <a:xfrm>
            <a:off x="6541908" y="1515376"/>
            <a:ext cx="2670333"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6. Evaluator–Optimizer</a:t>
            </a:r>
          </a:p>
        </p:txBody>
      </p:sp>
      <p:sp>
        <p:nvSpPr>
          <p:cNvPr id="39" name="Rectangle 38">
            <a:extLst>
              <a:ext uri="{FF2B5EF4-FFF2-40B4-BE49-F238E27FC236}">
                <a16:creationId xmlns:a16="http://schemas.microsoft.com/office/drawing/2014/main" id="{A64FAB92-E58C-FE56-606A-5CFA58CB4434}"/>
              </a:ext>
            </a:extLst>
          </p:cNvPr>
          <p:cNvSpPr/>
          <p:nvPr/>
        </p:nvSpPr>
        <p:spPr>
          <a:xfrm>
            <a:off x="6541908" y="1861997"/>
            <a:ext cx="2543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a:extLst>
              <a:ext uri="{FF2B5EF4-FFF2-40B4-BE49-F238E27FC236}">
                <a16:creationId xmlns:a16="http://schemas.microsoft.com/office/drawing/2014/main" id="{D62EE7A0-BE14-DA6D-14EF-6004BDB08F32}"/>
              </a:ext>
            </a:extLst>
          </p:cNvPr>
          <p:cNvPicPr>
            <a:picLocks noChangeAspect="1"/>
          </p:cNvPicPr>
          <p:nvPr/>
        </p:nvPicPr>
        <p:blipFill>
          <a:blip r:embed="rId6">
            <a:duotone>
              <a:schemeClr val="accent1">
                <a:shade val="45000"/>
                <a:satMod val="135000"/>
              </a:schemeClr>
              <a:prstClr val="white"/>
            </a:duotone>
          </a:blip>
          <a:srcRect l="10759" r="11513"/>
          <a:stretch>
            <a:fillRect/>
          </a:stretch>
        </p:blipFill>
        <p:spPr>
          <a:xfrm>
            <a:off x="1021997" y="2928797"/>
            <a:ext cx="4446764" cy="2639464"/>
          </a:xfrm>
          <a:prstGeom prst="rect">
            <a:avLst/>
          </a:prstGeom>
        </p:spPr>
      </p:pic>
      <p:pic>
        <p:nvPicPr>
          <p:cNvPr id="43" name="Picture 42">
            <a:extLst>
              <a:ext uri="{FF2B5EF4-FFF2-40B4-BE49-F238E27FC236}">
                <a16:creationId xmlns:a16="http://schemas.microsoft.com/office/drawing/2014/main" id="{171B2FB1-7C80-36DC-B8CB-D9EC3CB0C369}"/>
              </a:ext>
            </a:extLst>
          </p:cNvPr>
          <p:cNvPicPr>
            <a:picLocks noChangeAspect="1"/>
          </p:cNvPicPr>
          <p:nvPr/>
        </p:nvPicPr>
        <p:blipFill>
          <a:blip r:embed="rId7">
            <a:duotone>
              <a:schemeClr val="accent1">
                <a:shade val="45000"/>
                <a:satMod val="135000"/>
              </a:schemeClr>
              <a:prstClr val="white"/>
            </a:duotone>
          </a:blip>
          <a:stretch>
            <a:fillRect/>
          </a:stretch>
        </p:blipFill>
        <p:spPr>
          <a:xfrm>
            <a:off x="6505575" y="3193341"/>
            <a:ext cx="4800600" cy="1021404"/>
          </a:xfrm>
          <a:prstGeom prst="rect">
            <a:avLst/>
          </a:prstGeom>
        </p:spPr>
      </p:pic>
    </p:spTree>
    <p:extLst>
      <p:ext uri="{BB962C8B-B14F-4D97-AF65-F5344CB8AC3E}">
        <p14:creationId xmlns:p14="http://schemas.microsoft.com/office/powerpoint/2010/main" val="1615261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41BD8-AECD-0C8E-C761-26675C3A5FB4}"/>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598B95-F470-70D8-6190-D12BC4303D34}"/>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2" name="Picture 1" descr="image.png">
            <a:extLst>
              <a:ext uri="{FF2B5EF4-FFF2-40B4-BE49-F238E27FC236}">
                <a16:creationId xmlns:a16="http://schemas.microsoft.com/office/drawing/2014/main" id="{99B401E6-1870-971D-83B6-1569740813EF}"/>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46200" y="2143293"/>
            <a:ext cx="5381625" cy="4121546"/>
          </a:xfrm>
          <a:prstGeom prst="rect">
            <a:avLst/>
          </a:prstGeom>
        </p:spPr>
      </p:pic>
      <p:pic>
        <p:nvPicPr>
          <p:cNvPr id="3" name="Picture 2" descr="image.png">
            <a:extLst>
              <a:ext uri="{FF2B5EF4-FFF2-40B4-BE49-F238E27FC236}">
                <a16:creationId xmlns:a16="http://schemas.microsoft.com/office/drawing/2014/main" id="{EE2A5FCA-BE5A-B19B-B165-CFD48FC37574}"/>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238875" y="2143294"/>
            <a:ext cx="5381625" cy="4121546"/>
          </a:xfrm>
          <a:prstGeom prst="rect">
            <a:avLst/>
          </a:prstGeom>
        </p:spPr>
      </p:pic>
      <p:pic>
        <p:nvPicPr>
          <p:cNvPr id="4" name="Picture 3" descr="image.png">
            <a:extLst>
              <a:ext uri="{FF2B5EF4-FFF2-40B4-BE49-F238E27FC236}">
                <a16:creationId xmlns:a16="http://schemas.microsoft.com/office/drawing/2014/main" id="{2CB0FA0B-20E7-0D12-8A31-BD73FE7C9F24}"/>
              </a:ext>
            </a:extLst>
          </p:cNvPr>
          <p:cNvPicPr>
            <a:picLocks noChangeAspect="1"/>
          </p:cNvPicPr>
          <p:nvPr/>
        </p:nvPicPr>
        <p:blipFill>
          <a:blip r:embed="rId8"/>
          <a:stretch>
            <a:fillRect/>
          </a:stretch>
        </p:blipFill>
        <p:spPr>
          <a:xfrm>
            <a:off x="812626" y="4599436"/>
            <a:ext cx="4791075" cy="944760"/>
          </a:xfrm>
          <a:prstGeom prst="rect">
            <a:avLst/>
          </a:prstGeom>
        </p:spPr>
      </p:pic>
      <p:pic>
        <p:nvPicPr>
          <p:cNvPr id="5" name="Picture 4" descr="image.png">
            <a:extLst>
              <a:ext uri="{FF2B5EF4-FFF2-40B4-BE49-F238E27FC236}">
                <a16:creationId xmlns:a16="http://schemas.microsoft.com/office/drawing/2014/main" id="{F6E41551-6D3E-7349-4DA7-1F8685461B19}"/>
              </a:ext>
            </a:extLst>
          </p:cNvPr>
          <p:cNvPicPr>
            <a:picLocks noChangeAspect="1"/>
          </p:cNvPicPr>
          <p:nvPr/>
        </p:nvPicPr>
        <p:blipFill>
          <a:blip r:embed="rId8"/>
          <a:stretch>
            <a:fillRect/>
          </a:stretch>
        </p:blipFill>
        <p:spPr>
          <a:xfrm>
            <a:off x="6438322" y="4610675"/>
            <a:ext cx="4791075" cy="944760"/>
          </a:xfrm>
          <a:prstGeom prst="rect">
            <a:avLst/>
          </a:prstGeom>
        </p:spPr>
      </p:pic>
      <p:sp>
        <p:nvSpPr>
          <p:cNvPr id="6" name="TextBox 5">
            <a:extLst>
              <a:ext uri="{FF2B5EF4-FFF2-40B4-BE49-F238E27FC236}">
                <a16:creationId xmlns:a16="http://schemas.microsoft.com/office/drawing/2014/main" id="{CB53899A-8652-1A72-709F-9B6CFB1573E1}"/>
              </a:ext>
            </a:extLst>
          </p:cNvPr>
          <p:cNvSpPr txBox="1"/>
          <p:nvPr/>
        </p:nvSpPr>
        <p:spPr>
          <a:xfrm>
            <a:off x="590550" y="823931"/>
            <a:ext cx="11601450" cy="430887"/>
          </a:xfrm>
          <a:prstGeom prst="rect">
            <a:avLst/>
          </a:prstGeom>
          <a:noFill/>
        </p:spPr>
        <p:txBody>
          <a:bodyPr wrap="square" lIns="0" tIns="0" rIns="0" bIns="0" anchor="t">
            <a:spAutoFit/>
          </a:bodyPr>
          <a:lstStyle/>
          <a:p>
            <a:r>
              <a:rPr lang="en-IN" sz="2800" b="1" dirty="0">
                <a:solidFill>
                  <a:srgbClr val="0F172A"/>
                </a:solidFill>
                <a:latin typeface="Poppins"/>
              </a:rPr>
              <a:t>Autonomous </a:t>
            </a:r>
            <a:r>
              <a:rPr lang="en-IN" sz="2800" b="1" dirty="0">
                <a:solidFill>
                  <a:schemeClr val="tx2"/>
                </a:solidFill>
                <a:latin typeface="Poppins"/>
              </a:rPr>
              <a:t>Patterns</a:t>
            </a:r>
            <a:endParaRPr sz="2800" b="1" i="0" u="none" dirty="0">
              <a:solidFill>
                <a:schemeClr val="tx2"/>
              </a:solidFill>
              <a:latin typeface="Inter"/>
            </a:endParaRPr>
          </a:p>
        </p:txBody>
      </p:sp>
      <p:sp>
        <p:nvSpPr>
          <p:cNvPr id="7" name="TextBox 6">
            <a:extLst>
              <a:ext uri="{FF2B5EF4-FFF2-40B4-BE49-F238E27FC236}">
                <a16:creationId xmlns:a16="http://schemas.microsoft.com/office/drawing/2014/main" id="{E723FC0E-8F75-1253-B0B9-4289E3B03707}"/>
              </a:ext>
            </a:extLst>
          </p:cNvPr>
          <p:cNvSpPr txBox="1"/>
          <p:nvPr/>
        </p:nvSpPr>
        <p:spPr>
          <a:xfrm>
            <a:off x="590550" y="1373539"/>
            <a:ext cx="11049000" cy="246221"/>
          </a:xfrm>
          <a:prstGeom prst="rect">
            <a:avLst/>
          </a:prstGeom>
          <a:noFill/>
        </p:spPr>
        <p:txBody>
          <a:bodyPr wrap="square" lIns="0" tIns="0" rIns="0" bIns="0" anchor="t">
            <a:spAutoFit/>
          </a:bodyPr>
          <a:lstStyle/>
          <a:p>
            <a:r>
              <a:rPr lang="en-US" sz="1600" dirty="0">
                <a:solidFill>
                  <a:srgbClr val="475569"/>
                </a:solidFill>
                <a:latin typeface="Inter"/>
              </a:rPr>
              <a:t>Systems where the model independently determines execution paths, tool selection, reflection loops, and agent collaboration.</a:t>
            </a:r>
            <a:endParaRPr sz="1500" b="0" i="0" u="none" dirty="0">
              <a:solidFill>
                <a:srgbClr val="64748B"/>
              </a:solidFill>
              <a:latin typeface="Inter"/>
            </a:endParaRPr>
          </a:p>
        </p:txBody>
      </p:sp>
      <p:sp>
        <p:nvSpPr>
          <p:cNvPr id="9" name="TextBox 8">
            <a:extLst>
              <a:ext uri="{FF2B5EF4-FFF2-40B4-BE49-F238E27FC236}">
                <a16:creationId xmlns:a16="http://schemas.microsoft.com/office/drawing/2014/main" id="{871A7746-53F7-1C6E-09A7-4542093209B8}"/>
              </a:ext>
            </a:extLst>
          </p:cNvPr>
          <p:cNvSpPr txBox="1"/>
          <p:nvPr/>
        </p:nvSpPr>
        <p:spPr>
          <a:xfrm>
            <a:off x="866476" y="2934540"/>
            <a:ext cx="4791075" cy="1367939"/>
          </a:xfrm>
          <a:prstGeom prst="rect">
            <a:avLst/>
          </a:prstGeom>
          <a:noFill/>
        </p:spPr>
        <p:txBody>
          <a:bodyPr wrap="square" lIns="0" tIns="0" rIns="0" bIns="0" anchor="t">
            <a:spAutoFit/>
          </a:bodyPr>
          <a:lstStyle/>
          <a:p>
            <a:pPr algn="just">
              <a:lnSpc>
                <a:spcPts val="1800"/>
              </a:lnSpc>
            </a:pPr>
            <a:r>
              <a:rPr lang="en-IN" sz="1200" dirty="0"/>
              <a:t>It combines reasoning and action in a dynamic, iterative loop where a single agent observes the environment, formulates a plan, executes an action using available tools or APIs, and evaluates the resulting feedback to decide the next step. By constantly re-evaluating its context, the model can course-correct on the fly, retry failed tool calls, or adjust its strategy based on intermediate outputs. </a:t>
            </a:r>
            <a:r>
              <a:rPr lang="en-IN" sz="1200" b="0" i="0" u="none" dirty="0">
                <a:solidFill>
                  <a:srgbClr val="475569"/>
                </a:solidFill>
                <a:latin typeface="Inter"/>
              </a:rPr>
              <a:t>[6]</a:t>
            </a:r>
            <a:endParaRPr sz="1200" b="0" i="0" u="none" dirty="0">
              <a:solidFill>
                <a:srgbClr val="475569"/>
              </a:solidFill>
              <a:latin typeface="Inter"/>
            </a:endParaRPr>
          </a:p>
        </p:txBody>
      </p:sp>
      <p:sp>
        <p:nvSpPr>
          <p:cNvPr id="11" name="TextBox 10">
            <a:extLst>
              <a:ext uri="{FF2B5EF4-FFF2-40B4-BE49-F238E27FC236}">
                <a16:creationId xmlns:a16="http://schemas.microsoft.com/office/drawing/2014/main" id="{92178ED1-E33D-124E-80BF-9267E88B41CB}"/>
              </a:ext>
            </a:extLst>
          </p:cNvPr>
          <p:cNvSpPr txBox="1"/>
          <p:nvPr/>
        </p:nvSpPr>
        <p:spPr>
          <a:xfrm>
            <a:off x="6534150" y="2956341"/>
            <a:ext cx="4791075" cy="906274"/>
          </a:xfrm>
          <a:prstGeom prst="rect">
            <a:avLst/>
          </a:prstGeom>
          <a:noFill/>
        </p:spPr>
        <p:txBody>
          <a:bodyPr wrap="square" lIns="0" tIns="0" rIns="0" bIns="0" anchor="t">
            <a:spAutoFit/>
          </a:bodyPr>
          <a:lstStyle/>
          <a:p>
            <a:pPr>
              <a:lnSpc>
                <a:spcPts val="1800"/>
              </a:lnSpc>
            </a:pPr>
            <a:r>
              <a:rPr lang="en-IN" sz="1200" dirty="0"/>
              <a:t>It generates an explicit plan for achieving a goal before beginning execution. The plan contains tasks and dependencies, while the agent can revise the plan when new information, failures, or unexpected results are encountered during execution.[6]</a:t>
            </a:r>
            <a:endParaRPr lang="en-US" sz="1200" dirty="0">
              <a:solidFill>
                <a:srgbClr val="475569"/>
              </a:solidFill>
              <a:latin typeface="Inter"/>
            </a:endParaRPr>
          </a:p>
        </p:txBody>
      </p:sp>
      <p:sp>
        <p:nvSpPr>
          <p:cNvPr id="13" name="TextBox 12">
            <a:extLst>
              <a:ext uri="{FF2B5EF4-FFF2-40B4-BE49-F238E27FC236}">
                <a16:creationId xmlns:a16="http://schemas.microsoft.com/office/drawing/2014/main" id="{F24A3E51-E479-7E8B-94E2-955F9888AEED}"/>
              </a:ext>
            </a:extLst>
          </p:cNvPr>
          <p:cNvSpPr txBox="1"/>
          <p:nvPr/>
        </p:nvSpPr>
        <p:spPr>
          <a:xfrm>
            <a:off x="873174" y="2444467"/>
            <a:ext cx="2910363" cy="295275"/>
          </a:xfrm>
          <a:prstGeom prst="rect">
            <a:avLst/>
          </a:prstGeom>
          <a:noFill/>
        </p:spPr>
        <p:txBody>
          <a:bodyPr wrap="square" lIns="0" tIns="0" rIns="0" bIns="0" anchor="t">
            <a:spAutoFit/>
          </a:bodyPr>
          <a:lstStyle/>
          <a:p>
            <a:pPr algn="l"/>
            <a:r>
              <a:rPr sz="1950" b="1" i="0" u="none" dirty="0">
                <a:solidFill>
                  <a:srgbClr val="1E3A8A"/>
                </a:solidFill>
                <a:latin typeface="Inter"/>
              </a:rPr>
              <a:t>1. </a:t>
            </a:r>
            <a:r>
              <a:rPr sz="1950" b="1" i="0" u="none" dirty="0" err="1">
                <a:solidFill>
                  <a:srgbClr val="1E3A8A"/>
                </a:solidFill>
                <a:latin typeface="Inter"/>
              </a:rPr>
              <a:t>ReAct</a:t>
            </a:r>
            <a:r>
              <a:rPr sz="1950" b="1" i="0" u="none" dirty="0">
                <a:solidFill>
                  <a:srgbClr val="1E3A8A"/>
                </a:solidFill>
                <a:latin typeface="Inter"/>
              </a:rPr>
              <a:t> (Reason &amp; Act)</a:t>
            </a:r>
          </a:p>
        </p:txBody>
      </p:sp>
      <p:pic>
        <p:nvPicPr>
          <p:cNvPr id="14" name="Picture 13" descr="image.png">
            <a:extLst>
              <a:ext uri="{FF2B5EF4-FFF2-40B4-BE49-F238E27FC236}">
                <a16:creationId xmlns:a16="http://schemas.microsoft.com/office/drawing/2014/main" id="{193B28E9-5B02-7808-60AC-81B5CAF20C98}"/>
              </a:ext>
            </a:extLst>
          </p:cNvPr>
          <p:cNvPicPr>
            <a:picLocks noChangeAspect="1"/>
          </p:cNvPicPr>
          <p:nvPr/>
        </p:nvPicPr>
        <p:blipFill>
          <a:blip r:embed="rId9">
            <a:duotone>
              <a:prstClr val="black"/>
              <a:schemeClr val="accent1">
                <a:tint val="45000"/>
                <a:satMod val="400000"/>
              </a:schemeClr>
            </a:duotone>
          </a:blip>
          <a:stretch>
            <a:fillRect/>
          </a:stretch>
        </p:blipFill>
        <p:spPr>
          <a:xfrm>
            <a:off x="1861864" y="5005141"/>
            <a:ext cx="114300" cy="133350"/>
          </a:xfrm>
          <a:prstGeom prst="rect">
            <a:avLst/>
          </a:prstGeom>
        </p:spPr>
      </p:pic>
      <p:pic>
        <p:nvPicPr>
          <p:cNvPr id="15" name="Picture 14" descr="image.png">
            <a:extLst>
              <a:ext uri="{FF2B5EF4-FFF2-40B4-BE49-F238E27FC236}">
                <a16:creationId xmlns:a16="http://schemas.microsoft.com/office/drawing/2014/main" id="{F2A3E21C-C0DD-7342-5F18-0D305090DA4C}"/>
              </a:ext>
            </a:extLst>
          </p:cNvPr>
          <p:cNvPicPr>
            <a:picLocks noChangeAspect="1"/>
          </p:cNvPicPr>
          <p:nvPr/>
        </p:nvPicPr>
        <p:blipFill>
          <a:blip r:embed="rId10">
            <a:duotone>
              <a:prstClr val="black"/>
              <a:schemeClr val="accent1">
                <a:tint val="45000"/>
                <a:satMod val="400000"/>
              </a:schemeClr>
            </a:duotone>
          </a:blip>
          <a:stretch>
            <a:fillRect/>
          </a:stretch>
        </p:blipFill>
        <p:spPr>
          <a:xfrm>
            <a:off x="3150715" y="5005141"/>
            <a:ext cx="114300" cy="133350"/>
          </a:xfrm>
          <a:prstGeom prst="rect">
            <a:avLst/>
          </a:prstGeom>
        </p:spPr>
      </p:pic>
      <p:pic>
        <p:nvPicPr>
          <p:cNvPr id="16" name="Picture 15" descr="image.png">
            <a:extLst>
              <a:ext uri="{FF2B5EF4-FFF2-40B4-BE49-F238E27FC236}">
                <a16:creationId xmlns:a16="http://schemas.microsoft.com/office/drawing/2014/main" id="{FA831D19-8EC2-7F9D-64A5-D0C180E7BCFB}"/>
              </a:ext>
            </a:extLst>
          </p:cNvPr>
          <p:cNvPicPr>
            <a:picLocks noChangeAspect="1"/>
          </p:cNvPicPr>
          <p:nvPr/>
        </p:nvPicPr>
        <p:blipFill>
          <a:blip r:embed="rId10">
            <a:duotone>
              <a:prstClr val="black"/>
              <a:schemeClr val="accent1">
                <a:tint val="45000"/>
                <a:satMod val="400000"/>
              </a:schemeClr>
            </a:duotone>
          </a:blip>
          <a:stretch>
            <a:fillRect/>
          </a:stretch>
        </p:blipFill>
        <p:spPr>
          <a:xfrm>
            <a:off x="4439567" y="5005141"/>
            <a:ext cx="114300" cy="133350"/>
          </a:xfrm>
          <a:prstGeom prst="rect">
            <a:avLst/>
          </a:prstGeom>
        </p:spPr>
      </p:pic>
      <p:sp>
        <p:nvSpPr>
          <p:cNvPr id="18" name="TextBox 17">
            <a:extLst>
              <a:ext uri="{FF2B5EF4-FFF2-40B4-BE49-F238E27FC236}">
                <a16:creationId xmlns:a16="http://schemas.microsoft.com/office/drawing/2014/main" id="{E3BDE99E-F7CE-6B12-745A-4BF5E7A8FFA7}"/>
              </a:ext>
            </a:extLst>
          </p:cNvPr>
          <p:cNvSpPr txBox="1"/>
          <p:nvPr/>
        </p:nvSpPr>
        <p:spPr>
          <a:xfrm>
            <a:off x="6534150" y="2474067"/>
            <a:ext cx="2930366" cy="300082"/>
          </a:xfrm>
          <a:prstGeom prst="rect">
            <a:avLst/>
          </a:prstGeom>
          <a:noFill/>
        </p:spPr>
        <p:txBody>
          <a:bodyPr wrap="square" lIns="0" tIns="0" rIns="0" bIns="0" anchor="t">
            <a:spAutoFit/>
          </a:bodyPr>
          <a:lstStyle/>
          <a:p>
            <a:pPr algn="l"/>
            <a:r>
              <a:rPr sz="1950" b="1" i="0" u="none" dirty="0">
                <a:solidFill>
                  <a:schemeClr val="tx2"/>
                </a:solidFill>
                <a:latin typeface="Inter"/>
              </a:rPr>
              <a:t>2. </a:t>
            </a:r>
            <a:r>
              <a:rPr lang="en-IN" sz="1950" b="1" i="0" u="none" dirty="0">
                <a:solidFill>
                  <a:schemeClr val="tx2"/>
                </a:solidFill>
                <a:latin typeface="Inter"/>
              </a:rPr>
              <a:t>Planning Agent</a:t>
            </a:r>
            <a:endParaRPr sz="1950" b="1" i="0" u="none" dirty="0">
              <a:solidFill>
                <a:schemeClr val="tx2"/>
              </a:solidFill>
              <a:latin typeface="Inter"/>
            </a:endParaRPr>
          </a:p>
        </p:txBody>
      </p:sp>
      <p:pic>
        <p:nvPicPr>
          <p:cNvPr id="19" name="Picture 18" descr="image.png">
            <a:extLst>
              <a:ext uri="{FF2B5EF4-FFF2-40B4-BE49-F238E27FC236}">
                <a16:creationId xmlns:a16="http://schemas.microsoft.com/office/drawing/2014/main" id="{7AA7FE0C-1B2A-14FA-4815-01D0A65152AD}"/>
              </a:ext>
            </a:extLst>
          </p:cNvPr>
          <p:cNvPicPr>
            <a:picLocks noChangeAspect="1"/>
          </p:cNvPicPr>
          <p:nvPr/>
        </p:nvPicPr>
        <p:blipFill>
          <a:blip r:embed="rId9">
            <a:duotone>
              <a:prstClr val="black"/>
              <a:schemeClr val="accent1">
                <a:tint val="45000"/>
                <a:satMod val="400000"/>
              </a:schemeClr>
            </a:duotone>
          </a:blip>
          <a:stretch>
            <a:fillRect/>
          </a:stretch>
        </p:blipFill>
        <p:spPr>
          <a:xfrm>
            <a:off x="7226298" y="5016380"/>
            <a:ext cx="114300" cy="133350"/>
          </a:xfrm>
          <a:prstGeom prst="rect">
            <a:avLst/>
          </a:prstGeom>
        </p:spPr>
      </p:pic>
      <p:sp>
        <p:nvSpPr>
          <p:cNvPr id="24" name="TextBox 23">
            <a:extLst>
              <a:ext uri="{FF2B5EF4-FFF2-40B4-BE49-F238E27FC236}">
                <a16:creationId xmlns:a16="http://schemas.microsoft.com/office/drawing/2014/main" id="{86D2DF3B-C66F-58A3-DFA5-FD27991F36FC}"/>
              </a:ext>
            </a:extLst>
          </p:cNvPr>
          <p:cNvSpPr txBox="1"/>
          <p:nvPr/>
        </p:nvSpPr>
        <p:spPr>
          <a:xfrm>
            <a:off x="1584151" y="5724719"/>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pic>
        <p:nvPicPr>
          <p:cNvPr id="25" name="Picture 24" descr="image.png">
            <a:extLst>
              <a:ext uri="{FF2B5EF4-FFF2-40B4-BE49-F238E27FC236}">
                <a16:creationId xmlns:a16="http://schemas.microsoft.com/office/drawing/2014/main" id="{CC2FDCA2-3FA0-09D0-08AD-245386AB0C20}"/>
              </a:ext>
            </a:extLst>
          </p:cNvPr>
          <p:cNvPicPr>
            <a:picLocks noChangeAspect="1"/>
          </p:cNvPicPr>
          <p:nvPr/>
        </p:nvPicPr>
        <p:blipFill>
          <a:blip r:embed="rId11">
            <a:duotone>
              <a:prstClr val="black"/>
              <a:schemeClr val="accent1">
                <a:tint val="45000"/>
                <a:satMod val="400000"/>
              </a:schemeClr>
            </a:duotone>
          </a:blip>
          <a:stretch>
            <a:fillRect/>
          </a:stretch>
        </p:blipFill>
        <p:spPr>
          <a:xfrm>
            <a:off x="10522587" y="4930943"/>
            <a:ext cx="219075" cy="190500"/>
          </a:xfrm>
          <a:prstGeom prst="rect">
            <a:avLst/>
          </a:prstGeom>
        </p:spPr>
      </p:pic>
      <p:sp>
        <p:nvSpPr>
          <p:cNvPr id="26" name="TextBox 25">
            <a:extLst>
              <a:ext uri="{FF2B5EF4-FFF2-40B4-BE49-F238E27FC236}">
                <a16:creationId xmlns:a16="http://schemas.microsoft.com/office/drawing/2014/main" id="{BADF4A0D-4B2E-6AA1-FA92-EED097F0E1CF}"/>
              </a:ext>
            </a:extLst>
          </p:cNvPr>
          <p:cNvSpPr txBox="1"/>
          <p:nvPr/>
        </p:nvSpPr>
        <p:spPr>
          <a:xfrm>
            <a:off x="10417812" y="5178593"/>
            <a:ext cx="428625" cy="125610"/>
          </a:xfrm>
          <a:prstGeom prst="rect">
            <a:avLst/>
          </a:prstGeom>
          <a:noFill/>
        </p:spPr>
        <p:txBody>
          <a:bodyPr wrap="square" lIns="0" tIns="0" rIns="0" bIns="0" anchor="t">
            <a:spAutoFit/>
          </a:bodyPr>
          <a:lstStyle/>
          <a:p>
            <a:pPr algn="ctr">
              <a:lnSpc>
                <a:spcPts val="989"/>
              </a:lnSpc>
            </a:pPr>
            <a:r>
              <a:rPr sz="825" b="0" i="0" u="none" dirty="0">
                <a:solidFill>
                  <a:srgbClr val="475569"/>
                </a:solidFill>
                <a:latin typeface="Inter SemiBold"/>
              </a:rPr>
              <a:t>Observe</a:t>
            </a:r>
          </a:p>
        </p:txBody>
      </p:sp>
      <p:pic>
        <p:nvPicPr>
          <p:cNvPr id="28" name="Picture 27" descr="image.png">
            <a:extLst>
              <a:ext uri="{FF2B5EF4-FFF2-40B4-BE49-F238E27FC236}">
                <a16:creationId xmlns:a16="http://schemas.microsoft.com/office/drawing/2014/main" id="{48E18088-4A9A-383E-D1E6-2DDEFFB7B14B}"/>
              </a:ext>
            </a:extLst>
          </p:cNvPr>
          <p:cNvPicPr>
            <a:picLocks noChangeAspect="1"/>
          </p:cNvPicPr>
          <p:nvPr/>
        </p:nvPicPr>
        <p:blipFill>
          <a:blip r:embed="rId12">
            <a:duotone>
              <a:prstClr val="black"/>
              <a:schemeClr val="accent1">
                <a:tint val="45000"/>
                <a:satMod val="400000"/>
              </a:schemeClr>
            </a:duotone>
          </a:blip>
          <a:stretch>
            <a:fillRect/>
          </a:stretch>
        </p:blipFill>
        <p:spPr>
          <a:xfrm>
            <a:off x="2468190" y="4751836"/>
            <a:ext cx="190500" cy="190500"/>
          </a:xfrm>
          <a:prstGeom prst="rect">
            <a:avLst/>
          </a:prstGeom>
        </p:spPr>
      </p:pic>
      <p:sp>
        <p:nvSpPr>
          <p:cNvPr id="29" name="TextBox 28">
            <a:extLst>
              <a:ext uri="{FF2B5EF4-FFF2-40B4-BE49-F238E27FC236}">
                <a16:creationId xmlns:a16="http://schemas.microsoft.com/office/drawing/2014/main" id="{F4EC0B42-E12B-F980-C35C-797F66D431D8}"/>
              </a:ext>
            </a:extLst>
          </p:cNvPr>
          <p:cNvSpPr txBox="1"/>
          <p:nvPr/>
        </p:nvSpPr>
        <p:spPr>
          <a:xfrm>
            <a:off x="2372940" y="4999486"/>
            <a:ext cx="38100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Reason</a:t>
            </a:r>
          </a:p>
        </p:txBody>
      </p:sp>
      <p:sp>
        <p:nvSpPr>
          <p:cNvPr id="30" name="TextBox 29">
            <a:extLst>
              <a:ext uri="{FF2B5EF4-FFF2-40B4-BE49-F238E27FC236}">
                <a16:creationId xmlns:a16="http://schemas.microsoft.com/office/drawing/2014/main" id="{EBB7F692-DA5C-8630-A488-3F104C8ED5B6}"/>
              </a:ext>
            </a:extLst>
          </p:cNvPr>
          <p:cNvSpPr txBox="1"/>
          <p:nvPr/>
        </p:nvSpPr>
        <p:spPr>
          <a:xfrm>
            <a:off x="2253877" y="5182247"/>
            <a:ext cx="619125" cy="209550"/>
          </a:xfrm>
          <a:prstGeom prst="rect">
            <a:avLst/>
          </a:prstGeom>
          <a:noFill/>
        </p:spPr>
        <p:txBody>
          <a:bodyPr wrap="square" lIns="0" tIns="0" rIns="0" bIns="0" anchor="t">
            <a:spAutoFit/>
          </a:bodyPr>
          <a:lstStyle/>
          <a:p>
            <a:pPr algn="ctr"/>
            <a:r>
              <a:rPr sz="675" b="0" i="0" u="none">
                <a:solidFill>
                  <a:srgbClr val="64748B"/>
                </a:solidFill>
                <a:latin typeface="Inter"/>
              </a:rPr>
              <a:t>Decide what to do next</a:t>
            </a:r>
          </a:p>
        </p:txBody>
      </p:sp>
      <p:pic>
        <p:nvPicPr>
          <p:cNvPr id="31" name="Picture 30" descr="image.png">
            <a:extLst>
              <a:ext uri="{FF2B5EF4-FFF2-40B4-BE49-F238E27FC236}">
                <a16:creationId xmlns:a16="http://schemas.microsoft.com/office/drawing/2014/main" id="{6AC93384-1E98-CC6B-6325-DF7DDA2BFBD5}"/>
              </a:ext>
            </a:extLst>
          </p:cNvPr>
          <p:cNvPicPr>
            <a:picLocks noChangeAspect="1"/>
          </p:cNvPicPr>
          <p:nvPr/>
        </p:nvPicPr>
        <p:blipFill>
          <a:blip r:embed="rId13">
            <a:duotone>
              <a:prstClr val="black"/>
              <a:schemeClr val="accent1">
                <a:tint val="45000"/>
                <a:satMod val="400000"/>
              </a:schemeClr>
            </a:duotone>
          </a:blip>
          <a:stretch>
            <a:fillRect/>
          </a:stretch>
        </p:blipFill>
        <p:spPr>
          <a:xfrm>
            <a:off x="3757041" y="4751836"/>
            <a:ext cx="190500" cy="190500"/>
          </a:xfrm>
          <a:prstGeom prst="rect">
            <a:avLst/>
          </a:prstGeom>
        </p:spPr>
      </p:pic>
      <p:sp>
        <p:nvSpPr>
          <p:cNvPr id="32" name="TextBox 31">
            <a:extLst>
              <a:ext uri="{FF2B5EF4-FFF2-40B4-BE49-F238E27FC236}">
                <a16:creationId xmlns:a16="http://schemas.microsoft.com/office/drawing/2014/main" id="{D53FBE65-CCE8-B122-D7AA-728F0E9AFA57}"/>
              </a:ext>
            </a:extLst>
          </p:cNvPr>
          <p:cNvSpPr txBox="1"/>
          <p:nvPr/>
        </p:nvSpPr>
        <p:spPr>
          <a:xfrm>
            <a:off x="3591060" y="5024771"/>
            <a:ext cx="528638" cy="124137"/>
          </a:xfrm>
          <a:prstGeom prst="rect">
            <a:avLst/>
          </a:prstGeom>
          <a:noFill/>
        </p:spPr>
        <p:txBody>
          <a:bodyPr wrap="square" lIns="0" tIns="0" rIns="0" bIns="0" anchor="t">
            <a:spAutoFit/>
          </a:bodyPr>
          <a:lstStyle/>
          <a:p>
            <a:pPr algn="ctr">
              <a:lnSpc>
                <a:spcPts val="989"/>
              </a:lnSpc>
            </a:pPr>
            <a:r>
              <a:rPr lang="en-IN" sz="825" dirty="0">
                <a:solidFill>
                  <a:srgbClr val="475569"/>
                </a:solidFill>
                <a:latin typeface="Inter SemiBold"/>
              </a:rPr>
              <a:t>Take Action</a:t>
            </a:r>
            <a:endParaRPr sz="825" b="0" i="0" u="none" dirty="0">
              <a:solidFill>
                <a:srgbClr val="475569"/>
              </a:solidFill>
              <a:latin typeface="Inter SemiBold"/>
            </a:endParaRPr>
          </a:p>
        </p:txBody>
      </p:sp>
      <p:sp>
        <p:nvSpPr>
          <p:cNvPr id="33" name="TextBox 32">
            <a:extLst>
              <a:ext uri="{FF2B5EF4-FFF2-40B4-BE49-F238E27FC236}">
                <a16:creationId xmlns:a16="http://schemas.microsoft.com/office/drawing/2014/main" id="{F22C97E8-6CBA-FFB1-E0BA-AF7393287E1D}"/>
              </a:ext>
            </a:extLst>
          </p:cNvPr>
          <p:cNvSpPr txBox="1"/>
          <p:nvPr/>
        </p:nvSpPr>
        <p:spPr>
          <a:xfrm>
            <a:off x="3542729" y="5182247"/>
            <a:ext cx="619125" cy="209550"/>
          </a:xfrm>
          <a:prstGeom prst="rect">
            <a:avLst/>
          </a:prstGeom>
          <a:noFill/>
        </p:spPr>
        <p:txBody>
          <a:bodyPr wrap="square" lIns="0" tIns="0" rIns="0" bIns="0" anchor="t">
            <a:spAutoFit/>
          </a:bodyPr>
          <a:lstStyle/>
          <a:p>
            <a:pPr algn="ctr"/>
            <a:r>
              <a:rPr sz="675" b="0" i="0" u="none">
                <a:solidFill>
                  <a:srgbClr val="64748B"/>
                </a:solidFill>
                <a:latin typeface="Inter"/>
              </a:rPr>
              <a:t>Use tools or APIs</a:t>
            </a:r>
          </a:p>
        </p:txBody>
      </p:sp>
      <p:pic>
        <p:nvPicPr>
          <p:cNvPr id="34" name="Picture 33" descr="image.png">
            <a:extLst>
              <a:ext uri="{FF2B5EF4-FFF2-40B4-BE49-F238E27FC236}">
                <a16:creationId xmlns:a16="http://schemas.microsoft.com/office/drawing/2014/main" id="{12B38969-487E-AF1F-CA75-6FDC9A3D56FF}"/>
              </a:ext>
            </a:extLst>
          </p:cNvPr>
          <p:cNvPicPr>
            <a:picLocks noChangeAspect="1"/>
          </p:cNvPicPr>
          <p:nvPr/>
        </p:nvPicPr>
        <p:blipFill>
          <a:blip r:embed="rId14">
            <a:duotone>
              <a:prstClr val="black"/>
              <a:schemeClr val="accent1">
                <a:tint val="45000"/>
                <a:satMod val="400000"/>
              </a:schemeClr>
            </a:duotone>
          </a:blip>
          <a:stretch>
            <a:fillRect/>
          </a:stretch>
        </p:blipFill>
        <p:spPr>
          <a:xfrm>
            <a:off x="5069705" y="4751836"/>
            <a:ext cx="142875" cy="190500"/>
          </a:xfrm>
          <a:prstGeom prst="rect">
            <a:avLst/>
          </a:prstGeom>
        </p:spPr>
      </p:pic>
      <p:sp>
        <p:nvSpPr>
          <p:cNvPr id="35" name="TextBox 34">
            <a:extLst>
              <a:ext uri="{FF2B5EF4-FFF2-40B4-BE49-F238E27FC236}">
                <a16:creationId xmlns:a16="http://schemas.microsoft.com/office/drawing/2014/main" id="{E26923B2-EB0A-8CB5-B90F-5E41CE13B0E6}"/>
              </a:ext>
            </a:extLst>
          </p:cNvPr>
          <p:cNvSpPr txBox="1"/>
          <p:nvPr/>
        </p:nvSpPr>
        <p:spPr>
          <a:xfrm>
            <a:off x="4922068" y="4999486"/>
            <a:ext cx="438150" cy="125610"/>
          </a:xfrm>
          <a:prstGeom prst="rect">
            <a:avLst/>
          </a:prstGeom>
          <a:noFill/>
        </p:spPr>
        <p:txBody>
          <a:bodyPr wrap="square" lIns="0" tIns="0" rIns="0" bIns="0" anchor="t">
            <a:spAutoFit/>
          </a:bodyPr>
          <a:lstStyle/>
          <a:p>
            <a:pPr algn="ctr">
              <a:lnSpc>
                <a:spcPts val="989"/>
              </a:lnSpc>
            </a:pPr>
            <a:r>
              <a:rPr sz="825" b="0" i="0" u="none" dirty="0">
                <a:solidFill>
                  <a:srgbClr val="475569"/>
                </a:solidFill>
                <a:latin typeface="Inter SemiBold"/>
              </a:rPr>
              <a:t>Evaluate</a:t>
            </a:r>
          </a:p>
        </p:txBody>
      </p:sp>
      <p:sp>
        <p:nvSpPr>
          <p:cNvPr id="36" name="TextBox 35">
            <a:extLst>
              <a:ext uri="{FF2B5EF4-FFF2-40B4-BE49-F238E27FC236}">
                <a16:creationId xmlns:a16="http://schemas.microsoft.com/office/drawing/2014/main" id="{2F09DD4B-ED56-133B-281C-2FCDC949D85D}"/>
              </a:ext>
            </a:extLst>
          </p:cNvPr>
          <p:cNvSpPr txBox="1"/>
          <p:nvPr/>
        </p:nvSpPr>
        <p:spPr>
          <a:xfrm>
            <a:off x="4831580" y="5182247"/>
            <a:ext cx="619125" cy="209550"/>
          </a:xfrm>
          <a:prstGeom prst="rect">
            <a:avLst/>
          </a:prstGeom>
          <a:noFill/>
        </p:spPr>
        <p:txBody>
          <a:bodyPr wrap="square" lIns="0" tIns="0" rIns="0" bIns="0" anchor="t">
            <a:spAutoFit/>
          </a:bodyPr>
          <a:lstStyle/>
          <a:p>
            <a:pPr algn="ctr"/>
            <a:r>
              <a:rPr sz="675" b="0" i="0" u="none" dirty="0">
                <a:solidFill>
                  <a:srgbClr val="64748B"/>
                </a:solidFill>
                <a:latin typeface="Inter"/>
              </a:rPr>
              <a:t>Review result &amp; feedback</a:t>
            </a:r>
          </a:p>
        </p:txBody>
      </p:sp>
      <p:sp>
        <p:nvSpPr>
          <p:cNvPr id="39" name="TextBox 38">
            <a:extLst>
              <a:ext uri="{FF2B5EF4-FFF2-40B4-BE49-F238E27FC236}">
                <a16:creationId xmlns:a16="http://schemas.microsoft.com/office/drawing/2014/main" id="{E9CB6A8A-548F-457F-E685-2A377FFD3CD7}"/>
              </a:ext>
            </a:extLst>
          </p:cNvPr>
          <p:cNvSpPr txBox="1"/>
          <p:nvPr/>
        </p:nvSpPr>
        <p:spPr>
          <a:xfrm>
            <a:off x="6612655" y="5743697"/>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pic>
        <p:nvPicPr>
          <p:cNvPr id="40" name="Picture 39" descr="image.png">
            <a:extLst>
              <a:ext uri="{FF2B5EF4-FFF2-40B4-BE49-F238E27FC236}">
                <a16:creationId xmlns:a16="http://schemas.microsoft.com/office/drawing/2014/main" id="{9077BBBE-8966-2E5D-A2B0-9C5675691690}"/>
              </a:ext>
            </a:extLst>
          </p:cNvPr>
          <p:cNvPicPr>
            <a:picLocks noChangeAspect="1"/>
          </p:cNvPicPr>
          <p:nvPr/>
        </p:nvPicPr>
        <p:blipFill>
          <a:blip r:embed="rId15">
            <a:duotone>
              <a:prstClr val="black"/>
              <a:schemeClr val="accent1">
                <a:tint val="45000"/>
                <a:satMod val="400000"/>
              </a:schemeClr>
            </a:duotone>
          </a:blip>
          <a:stretch>
            <a:fillRect/>
          </a:stretch>
        </p:blipFill>
        <p:spPr>
          <a:xfrm>
            <a:off x="6828847" y="4885738"/>
            <a:ext cx="142875" cy="190500"/>
          </a:xfrm>
          <a:prstGeom prst="rect">
            <a:avLst/>
          </a:prstGeom>
        </p:spPr>
      </p:pic>
      <p:sp>
        <p:nvSpPr>
          <p:cNvPr id="41" name="TextBox 40">
            <a:extLst>
              <a:ext uri="{FF2B5EF4-FFF2-40B4-BE49-F238E27FC236}">
                <a16:creationId xmlns:a16="http://schemas.microsoft.com/office/drawing/2014/main" id="{D4FDBD85-69D5-A612-1AA9-9621FA836E1D}"/>
              </a:ext>
            </a:extLst>
          </p:cNvPr>
          <p:cNvSpPr txBox="1"/>
          <p:nvPr/>
        </p:nvSpPr>
        <p:spPr>
          <a:xfrm>
            <a:off x="6724072" y="5170966"/>
            <a:ext cx="352425" cy="136832"/>
          </a:xfrm>
          <a:prstGeom prst="rect">
            <a:avLst/>
          </a:prstGeom>
          <a:noFill/>
        </p:spPr>
        <p:txBody>
          <a:bodyPr wrap="square" lIns="0" tIns="0" rIns="0" bIns="0" anchor="t">
            <a:spAutoFit/>
          </a:bodyPr>
          <a:lstStyle/>
          <a:p>
            <a:pPr algn="ctr">
              <a:lnSpc>
                <a:spcPts val="989"/>
              </a:lnSpc>
            </a:pPr>
            <a:r>
              <a:rPr lang="en-IN" sz="1200" b="0" i="0" u="none" dirty="0">
                <a:solidFill>
                  <a:srgbClr val="475569"/>
                </a:solidFill>
                <a:latin typeface="Inter SemiBold"/>
              </a:rPr>
              <a:t>Goal</a:t>
            </a:r>
            <a:endParaRPr sz="1200" b="0" i="0" u="none" dirty="0">
              <a:solidFill>
                <a:srgbClr val="475569"/>
              </a:solidFill>
              <a:latin typeface="Inter SemiBold"/>
            </a:endParaRPr>
          </a:p>
        </p:txBody>
      </p:sp>
      <p:sp>
        <p:nvSpPr>
          <p:cNvPr id="56" name="TextBox 55">
            <a:extLst>
              <a:ext uri="{FF2B5EF4-FFF2-40B4-BE49-F238E27FC236}">
                <a16:creationId xmlns:a16="http://schemas.microsoft.com/office/drawing/2014/main" id="{D1376D81-BA37-1BFD-BF40-79EA228C290D}"/>
              </a:ext>
            </a:extLst>
          </p:cNvPr>
          <p:cNvSpPr txBox="1"/>
          <p:nvPr/>
        </p:nvSpPr>
        <p:spPr>
          <a:xfrm>
            <a:off x="2985070" y="5713748"/>
            <a:ext cx="2090737" cy="17979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Q&amp;A</a:t>
            </a:r>
            <a:r>
              <a:rPr lang="en-IN" sz="1050" dirty="0">
                <a:solidFill>
                  <a:srgbClr val="334155"/>
                </a:solidFill>
                <a:latin typeface="Inter"/>
              </a:rPr>
              <a:t>, Code generation &amp; debugging</a:t>
            </a:r>
          </a:p>
        </p:txBody>
      </p:sp>
      <p:sp>
        <p:nvSpPr>
          <p:cNvPr id="63" name="TextBox 62">
            <a:extLst>
              <a:ext uri="{FF2B5EF4-FFF2-40B4-BE49-F238E27FC236}">
                <a16:creationId xmlns:a16="http://schemas.microsoft.com/office/drawing/2014/main" id="{62980336-EAAF-1095-0712-376007CB4CEE}"/>
              </a:ext>
            </a:extLst>
          </p:cNvPr>
          <p:cNvSpPr txBox="1"/>
          <p:nvPr/>
        </p:nvSpPr>
        <p:spPr>
          <a:xfrm>
            <a:off x="7881614" y="5725541"/>
            <a:ext cx="3431109" cy="179793"/>
          </a:xfrm>
          <a:prstGeom prst="rect">
            <a:avLst/>
          </a:prstGeom>
          <a:noFill/>
        </p:spPr>
        <p:txBody>
          <a:bodyPr wrap="square" lIns="0" tIns="0" rIns="0" bIns="0" anchor="t">
            <a:spAutoFit/>
          </a:bodyPr>
          <a:lstStyle/>
          <a:p>
            <a:pPr>
              <a:lnSpc>
                <a:spcPts val="1470"/>
              </a:lnSpc>
            </a:pPr>
            <a:r>
              <a:rPr lang="en-IN" sz="1050" dirty="0"/>
              <a:t>Content generation, document analysis, data transformation</a:t>
            </a:r>
            <a:endParaRPr sz="1050" b="0" i="0" u="none" dirty="0">
              <a:solidFill>
                <a:srgbClr val="334155"/>
              </a:solidFill>
              <a:latin typeface="Inter"/>
            </a:endParaRPr>
          </a:p>
        </p:txBody>
      </p:sp>
      <p:pic>
        <p:nvPicPr>
          <p:cNvPr id="22" name="Picture 21" descr="image.png">
            <a:extLst>
              <a:ext uri="{FF2B5EF4-FFF2-40B4-BE49-F238E27FC236}">
                <a16:creationId xmlns:a16="http://schemas.microsoft.com/office/drawing/2014/main" id="{1EFBFF11-9A33-3601-8929-62D42C50E975}"/>
              </a:ext>
            </a:extLst>
          </p:cNvPr>
          <p:cNvPicPr>
            <a:picLocks noChangeAspect="1"/>
          </p:cNvPicPr>
          <p:nvPr/>
        </p:nvPicPr>
        <p:blipFill>
          <a:blip r:embed="rId13">
            <a:duotone>
              <a:prstClr val="black"/>
              <a:schemeClr val="accent1">
                <a:tint val="45000"/>
                <a:satMod val="400000"/>
              </a:schemeClr>
            </a:duotone>
          </a:blip>
          <a:stretch>
            <a:fillRect/>
          </a:stretch>
        </p:blipFill>
        <p:spPr>
          <a:xfrm>
            <a:off x="7953224" y="4858184"/>
            <a:ext cx="190500" cy="190500"/>
          </a:xfrm>
          <a:prstGeom prst="rect">
            <a:avLst/>
          </a:prstGeom>
        </p:spPr>
      </p:pic>
      <p:sp>
        <p:nvSpPr>
          <p:cNvPr id="23" name="TextBox 22">
            <a:extLst>
              <a:ext uri="{FF2B5EF4-FFF2-40B4-BE49-F238E27FC236}">
                <a16:creationId xmlns:a16="http://schemas.microsoft.com/office/drawing/2014/main" id="{0C49527B-AB92-24F5-1C0E-B8DA27B1D03D}"/>
              </a:ext>
            </a:extLst>
          </p:cNvPr>
          <p:cNvSpPr txBox="1"/>
          <p:nvPr/>
        </p:nvSpPr>
        <p:spPr>
          <a:xfrm>
            <a:off x="7787243" y="5131119"/>
            <a:ext cx="528638" cy="252377"/>
          </a:xfrm>
          <a:prstGeom prst="rect">
            <a:avLst/>
          </a:prstGeom>
          <a:noFill/>
        </p:spPr>
        <p:txBody>
          <a:bodyPr wrap="square" lIns="0" tIns="0" rIns="0" bIns="0" anchor="t">
            <a:spAutoFit/>
          </a:bodyPr>
          <a:lstStyle/>
          <a:p>
            <a:pPr algn="ctr">
              <a:lnSpc>
                <a:spcPts val="989"/>
              </a:lnSpc>
            </a:pPr>
            <a:r>
              <a:rPr lang="en-IN" sz="825" dirty="0">
                <a:solidFill>
                  <a:srgbClr val="475569"/>
                </a:solidFill>
                <a:latin typeface="Inter SemiBold"/>
              </a:rPr>
              <a:t>Generate</a:t>
            </a:r>
          </a:p>
          <a:p>
            <a:pPr algn="ctr">
              <a:lnSpc>
                <a:spcPts val="989"/>
              </a:lnSpc>
            </a:pPr>
            <a:r>
              <a:rPr lang="en-IN" sz="825" b="0" i="0" u="none" dirty="0">
                <a:solidFill>
                  <a:srgbClr val="475569"/>
                </a:solidFill>
                <a:latin typeface="Inter SemiBold"/>
              </a:rPr>
              <a:t>Plan</a:t>
            </a:r>
            <a:endParaRPr sz="825" b="0" i="0" u="none" dirty="0">
              <a:solidFill>
                <a:srgbClr val="475569"/>
              </a:solidFill>
              <a:latin typeface="Inter SemiBold"/>
            </a:endParaRPr>
          </a:p>
        </p:txBody>
      </p:sp>
      <p:pic>
        <p:nvPicPr>
          <p:cNvPr id="38" name="Picture 37" descr="image.png">
            <a:extLst>
              <a:ext uri="{FF2B5EF4-FFF2-40B4-BE49-F238E27FC236}">
                <a16:creationId xmlns:a16="http://schemas.microsoft.com/office/drawing/2014/main" id="{A1C6C8C9-5800-2D85-1C03-0BB099020691}"/>
              </a:ext>
            </a:extLst>
          </p:cNvPr>
          <p:cNvPicPr>
            <a:picLocks noChangeAspect="1"/>
          </p:cNvPicPr>
          <p:nvPr/>
        </p:nvPicPr>
        <p:blipFill>
          <a:blip r:embed="rId9">
            <a:duotone>
              <a:prstClr val="black"/>
              <a:schemeClr val="accent1">
                <a:tint val="45000"/>
                <a:satMod val="400000"/>
              </a:schemeClr>
            </a:duotone>
          </a:blip>
          <a:stretch>
            <a:fillRect/>
          </a:stretch>
        </p:blipFill>
        <p:spPr>
          <a:xfrm>
            <a:off x="8651581" y="5028600"/>
            <a:ext cx="114300" cy="133350"/>
          </a:xfrm>
          <a:prstGeom prst="rect">
            <a:avLst/>
          </a:prstGeom>
        </p:spPr>
      </p:pic>
      <p:pic>
        <p:nvPicPr>
          <p:cNvPr id="52" name="Picture 51" descr="image.png">
            <a:extLst>
              <a:ext uri="{FF2B5EF4-FFF2-40B4-BE49-F238E27FC236}">
                <a16:creationId xmlns:a16="http://schemas.microsoft.com/office/drawing/2014/main" id="{90695234-DDE7-B3E1-D415-487A40AFE29E}"/>
              </a:ext>
            </a:extLst>
          </p:cNvPr>
          <p:cNvPicPr>
            <a:picLocks noChangeAspect="1"/>
          </p:cNvPicPr>
          <p:nvPr/>
        </p:nvPicPr>
        <p:blipFill>
          <a:blip r:embed="rId10">
            <a:duotone>
              <a:prstClr val="black"/>
              <a:schemeClr val="accent1">
                <a:tint val="45000"/>
                <a:satMod val="400000"/>
              </a:schemeClr>
            </a:duotone>
          </a:blip>
          <a:stretch>
            <a:fillRect/>
          </a:stretch>
        </p:blipFill>
        <p:spPr>
          <a:xfrm>
            <a:off x="9949856" y="5028600"/>
            <a:ext cx="114300" cy="133350"/>
          </a:xfrm>
          <a:prstGeom prst="rect">
            <a:avLst/>
          </a:prstGeom>
        </p:spPr>
      </p:pic>
      <p:pic>
        <p:nvPicPr>
          <p:cNvPr id="53" name="Picture 52" descr="image.png">
            <a:extLst>
              <a:ext uri="{FF2B5EF4-FFF2-40B4-BE49-F238E27FC236}">
                <a16:creationId xmlns:a16="http://schemas.microsoft.com/office/drawing/2014/main" id="{ADB42DB9-7242-CD68-274E-61F598A38C79}"/>
              </a:ext>
            </a:extLst>
          </p:cNvPr>
          <p:cNvPicPr>
            <a:picLocks noChangeAspect="1"/>
          </p:cNvPicPr>
          <p:nvPr/>
        </p:nvPicPr>
        <p:blipFill>
          <a:blip r:embed="rId12">
            <a:duotone>
              <a:prstClr val="black"/>
              <a:schemeClr val="accent1">
                <a:tint val="45000"/>
                <a:satMod val="400000"/>
              </a:schemeClr>
            </a:duotone>
          </a:blip>
          <a:stretch>
            <a:fillRect/>
          </a:stretch>
        </p:blipFill>
        <p:spPr>
          <a:xfrm>
            <a:off x="9257905" y="4869565"/>
            <a:ext cx="190500" cy="190500"/>
          </a:xfrm>
          <a:prstGeom prst="rect">
            <a:avLst/>
          </a:prstGeom>
        </p:spPr>
      </p:pic>
      <p:sp>
        <p:nvSpPr>
          <p:cNvPr id="54" name="TextBox 53">
            <a:extLst>
              <a:ext uri="{FF2B5EF4-FFF2-40B4-BE49-F238E27FC236}">
                <a16:creationId xmlns:a16="http://schemas.microsoft.com/office/drawing/2014/main" id="{B29589B0-E8AB-7F86-9E9C-88B2403569B7}"/>
              </a:ext>
            </a:extLst>
          </p:cNvPr>
          <p:cNvSpPr txBox="1"/>
          <p:nvPr/>
        </p:nvSpPr>
        <p:spPr>
          <a:xfrm>
            <a:off x="9162655" y="5117215"/>
            <a:ext cx="381000" cy="252377"/>
          </a:xfrm>
          <a:prstGeom prst="rect">
            <a:avLst/>
          </a:prstGeom>
          <a:noFill/>
        </p:spPr>
        <p:txBody>
          <a:bodyPr wrap="square" lIns="0" tIns="0" rIns="0" bIns="0" anchor="t">
            <a:spAutoFit/>
          </a:bodyPr>
          <a:lstStyle/>
          <a:p>
            <a:pPr algn="ctr">
              <a:lnSpc>
                <a:spcPts val="989"/>
              </a:lnSpc>
            </a:pPr>
            <a:r>
              <a:rPr lang="en-IN" sz="825" b="0" i="0" u="none" dirty="0">
                <a:solidFill>
                  <a:srgbClr val="475569"/>
                </a:solidFill>
                <a:latin typeface="Inter SemiBold"/>
              </a:rPr>
              <a:t>Execute </a:t>
            </a:r>
          </a:p>
          <a:p>
            <a:pPr algn="ctr">
              <a:lnSpc>
                <a:spcPts val="989"/>
              </a:lnSpc>
            </a:pPr>
            <a:r>
              <a:rPr lang="en-IN" sz="825" dirty="0">
                <a:solidFill>
                  <a:srgbClr val="475569"/>
                </a:solidFill>
                <a:latin typeface="Inter SemiBold"/>
              </a:rPr>
              <a:t>Task</a:t>
            </a:r>
            <a:endParaRPr sz="825" b="0" i="0" u="none" dirty="0">
              <a:solidFill>
                <a:srgbClr val="475569"/>
              </a:solidFill>
              <a:latin typeface="Inter SemiBold"/>
            </a:endParaRPr>
          </a:p>
        </p:txBody>
      </p:sp>
      <p:pic>
        <p:nvPicPr>
          <p:cNvPr id="57" name="Picture 56" descr="image.png">
            <a:extLst>
              <a:ext uri="{FF2B5EF4-FFF2-40B4-BE49-F238E27FC236}">
                <a16:creationId xmlns:a16="http://schemas.microsoft.com/office/drawing/2014/main" id="{62764AB4-F3EE-1425-1E3F-9226A7106523}"/>
              </a:ext>
            </a:extLst>
          </p:cNvPr>
          <p:cNvPicPr>
            <a:picLocks noChangeAspect="1"/>
          </p:cNvPicPr>
          <p:nvPr/>
        </p:nvPicPr>
        <p:blipFill>
          <a:blip r:embed="rId11">
            <a:duotone>
              <a:prstClr val="black"/>
              <a:schemeClr val="accent1">
                <a:tint val="45000"/>
                <a:satMod val="400000"/>
              </a:schemeClr>
            </a:duotone>
          </a:blip>
          <a:stretch>
            <a:fillRect/>
          </a:stretch>
        </p:blipFill>
        <p:spPr>
          <a:xfrm>
            <a:off x="1229938" y="4730762"/>
            <a:ext cx="219075" cy="190500"/>
          </a:xfrm>
          <a:prstGeom prst="rect">
            <a:avLst/>
          </a:prstGeom>
        </p:spPr>
      </p:pic>
      <p:sp>
        <p:nvSpPr>
          <p:cNvPr id="58" name="TextBox 57">
            <a:extLst>
              <a:ext uri="{FF2B5EF4-FFF2-40B4-BE49-F238E27FC236}">
                <a16:creationId xmlns:a16="http://schemas.microsoft.com/office/drawing/2014/main" id="{F851043B-D940-63E5-75C7-CCD6F0925656}"/>
              </a:ext>
            </a:extLst>
          </p:cNvPr>
          <p:cNvSpPr txBox="1"/>
          <p:nvPr/>
        </p:nvSpPr>
        <p:spPr>
          <a:xfrm>
            <a:off x="1125163" y="4978412"/>
            <a:ext cx="428625" cy="125610"/>
          </a:xfrm>
          <a:prstGeom prst="rect">
            <a:avLst/>
          </a:prstGeom>
          <a:noFill/>
        </p:spPr>
        <p:txBody>
          <a:bodyPr wrap="square" lIns="0" tIns="0" rIns="0" bIns="0" anchor="t">
            <a:spAutoFit/>
          </a:bodyPr>
          <a:lstStyle/>
          <a:p>
            <a:pPr algn="ctr">
              <a:lnSpc>
                <a:spcPts val="989"/>
              </a:lnSpc>
            </a:pPr>
            <a:r>
              <a:rPr sz="825" b="0" i="0" u="none" dirty="0">
                <a:solidFill>
                  <a:srgbClr val="475569"/>
                </a:solidFill>
                <a:latin typeface="Inter SemiBold"/>
              </a:rPr>
              <a:t>Observe</a:t>
            </a:r>
          </a:p>
        </p:txBody>
      </p:sp>
      <p:sp>
        <p:nvSpPr>
          <p:cNvPr id="59" name="TextBox 58">
            <a:extLst>
              <a:ext uri="{FF2B5EF4-FFF2-40B4-BE49-F238E27FC236}">
                <a16:creationId xmlns:a16="http://schemas.microsoft.com/office/drawing/2014/main" id="{0F9CB3E3-12A2-35AC-2277-DFE13E2A72A6}"/>
              </a:ext>
            </a:extLst>
          </p:cNvPr>
          <p:cNvSpPr txBox="1"/>
          <p:nvPr/>
        </p:nvSpPr>
        <p:spPr>
          <a:xfrm>
            <a:off x="1029913" y="5161173"/>
            <a:ext cx="619125" cy="209550"/>
          </a:xfrm>
          <a:prstGeom prst="rect">
            <a:avLst/>
          </a:prstGeom>
          <a:noFill/>
        </p:spPr>
        <p:txBody>
          <a:bodyPr wrap="square" lIns="0" tIns="0" rIns="0" bIns="0" anchor="t">
            <a:spAutoFit/>
          </a:bodyPr>
          <a:lstStyle/>
          <a:p>
            <a:pPr algn="ctr"/>
            <a:r>
              <a:rPr sz="675" b="0" i="0" u="none" dirty="0">
                <a:solidFill>
                  <a:srgbClr val="64748B"/>
                </a:solidFill>
                <a:latin typeface="Inter"/>
              </a:rPr>
              <a:t>Perceive the environment</a:t>
            </a:r>
          </a:p>
        </p:txBody>
      </p:sp>
    </p:spTree>
    <p:extLst>
      <p:ext uri="{BB962C8B-B14F-4D97-AF65-F5344CB8AC3E}">
        <p14:creationId xmlns:p14="http://schemas.microsoft.com/office/powerpoint/2010/main" val="869355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9138DB2E-103A-B6F8-7A56-44914CD16862}"/>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0550" y="1984352"/>
            <a:ext cx="5381625" cy="4416449"/>
          </a:xfrm>
          <a:prstGeom prst="rect">
            <a:avLst/>
          </a:prstGeom>
        </p:spPr>
      </p:pic>
      <p:pic>
        <p:nvPicPr>
          <p:cNvPr id="4" name="Picture 3" descr="image.png"/>
          <p:cNvPicPr>
            <a:picLocks noChangeAspect="1"/>
          </p:cNvPicPr>
          <p:nvPr/>
        </p:nvPicPr>
        <p:blipFill>
          <a:blip r:embed="rId5"/>
          <a:stretch>
            <a:fillRect/>
          </a:stretch>
        </p:blipFill>
        <p:spPr>
          <a:xfrm>
            <a:off x="913075" y="4580297"/>
            <a:ext cx="4791075" cy="944760"/>
          </a:xfrm>
          <a:prstGeom prst="rect">
            <a:avLst/>
          </a:prstGeom>
        </p:spPr>
      </p:pic>
      <p:sp>
        <p:nvSpPr>
          <p:cNvPr id="10" name="TextBox 9"/>
          <p:cNvSpPr txBox="1"/>
          <p:nvPr/>
        </p:nvSpPr>
        <p:spPr>
          <a:xfrm>
            <a:off x="885825" y="2945691"/>
            <a:ext cx="4791075" cy="906274"/>
          </a:xfrm>
          <a:prstGeom prst="rect">
            <a:avLst/>
          </a:prstGeom>
          <a:noFill/>
        </p:spPr>
        <p:txBody>
          <a:bodyPr wrap="square" lIns="0" tIns="0" rIns="0" bIns="0" anchor="t">
            <a:spAutoFit/>
          </a:bodyPr>
          <a:lstStyle/>
          <a:p>
            <a:pPr algn="just">
              <a:lnSpc>
                <a:spcPts val="1800"/>
              </a:lnSpc>
            </a:pPr>
            <a:r>
              <a:rPr lang="en-IN" sz="1200" dirty="0"/>
              <a:t>It introduces a self-evaluation stage where the agent examines its previous actions or output, identifies errors or inefficiencies, and modifies its strategy. The reflection can also be stored as memory and reused during subsequent attempts [6]</a:t>
            </a:r>
            <a:endParaRPr sz="1200" b="0" i="0" u="none" dirty="0">
              <a:solidFill>
                <a:srgbClr val="475569"/>
              </a:solidFill>
              <a:latin typeface="Inter"/>
            </a:endParaRPr>
          </a:p>
        </p:txBody>
      </p:sp>
      <p:sp>
        <p:nvSpPr>
          <p:cNvPr id="14" name="TextBox 13"/>
          <p:cNvSpPr txBox="1"/>
          <p:nvPr/>
        </p:nvSpPr>
        <p:spPr>
          <a:xfrm>
            <a:off x="913075" y="2403836"/>
            <a:ext cx="2920365" cy="300082"/>
          </a:xfrm>
          <a:prstGeom prst="rect">
            <a:avLst/>
          </a:prstGeom>
          <a:noFill/>
        </p:spPr>
        <p:txBody>
          <a:bodyPr wrap="square" lIns="0" tIns="0" rIns="0" bIns="0" anchor="t">
            <a:spAutoFit/>
          </a:bodyPr>
          <a:lstStyle/>
          <a:p>
            <a:r>
              <a:rPr sz="1950" b="1" i="0" u="none" dirty="0">
                <a:solidFill>
                  <a:schemeClr val="tx2"/>
                </a:solidFill>
                <a:latin typeface="Inter"/>
              </a:rPr>
              <a:t>3. </a:t>
            </a:r>
            <a:r>
              <a:rPr lang="en-IN" sz="1950" b="1" dirty="0">
                <a:solidFill>
                  <a:schemeClr val="tx2"/>
                </a:solidFill>
                <a:latin typeface="Inter"/>
              </a:rPr>
              <a:t>Reflection &amp; Self-Critique</a:t>
            </a:r>
            <a:endParaRPr sz="1950" b="1" i="0" u="none" dirty="0">
              <a:solidFill>
                <a:schemeClr val="tx2"/>
              </a:solidFill>
              <a:latin typeface="Inter"/>
            </a:endParaRPr>
          </a:p>
        </p:txBody>
      </p:sp>
      <p:pic>
        <p:nvPicPr>
          <p:cNvPr id="15" name="Picture 14" descr="image.png"/>
          <p:cNvPicPr>
            <a:picLocks noChangeAspect="1"/>
          </p:cNvPicPr>
          <p:nvPr/>
        </p:nvPicPr>
        <p:blipFill>
          <a:blip r:embed="rId6"/>
          <a:stretch>
            <a:fillRect/>
          </a:stretch>
        </p:blipFill>
        <p:spPr>
          <a:xfrm>
            <a:off x="1900400" y="4986002"/>
            <a:ext cx="114300" cy="133350"/>
          </a:xfrm>
          <a:prstGeom prst="rect">
            <a:avLst/>
          </a:prstGeom>
        </p:spPr>
      </p:pic>
      <p:pic>
        <p:nvPicPr>
          <p:cNvPr id="16" name="Picture 15" descr="image.png"/>
          <p:cNvPicPr>
            <a:picLocks noChangeAspect="1"/>
          </p:cNvPicPr>
          <p:nvPr/>
        </p:nvPicPr>
        <p:blipFill>
          <a:blip r:embed="rId7"/>
          <a:stretch>
            <a:fillRect/>
          </a:stretch>
        </p:blipFill>
        <p:spPr>
          <a:xfrm>
            <a:off x="3065427" y="4986002"/>
            <a:ext cx="114300" cy="133350"/>
          </a:xfrm>
          <a:prstGeom prst="rect">
            <a:avLst/>
          </a:prstGeom>
        </p:spPr>
      </p:pic>
      <p:pic>
        <p:nvPicPr>
          <p:cNvPr id="17" name="Picture 16" descr="image.png"/>
          <p:cNvPicPr>
            <a:picLocks noChangeAspect="1"/>
          </p:cNvPicPr>
          <p:nvPr/>
        </p:nvPicPr>
        <p:blipFill>
          <a:blip r:embed="rId7"/>
          <a:stretch>
            <a:fillRect/>
          </a:stretch>
        </p:blipFill>
        <p:spPr>
          <a:xfrm>
            <a:off x="4601928" y="4986002"/>
            <a:ext cx="114300" cy="133350"/>
          </a:xfrm>
          <a:prstGeom prst="rect">
            <a:avLst/>
          </a:prstGeom>
        </p:spPr>
      </p:pic>
      <p:sp>
        <p:nvSpPr>
          <p:cNvPr id="25" name="TextBox 24"/>
          <p:cNvSpPr txBox="1"/>
          <p:nvPr/>
        </p:nvSpPr>
        <p:spPr>
          <a:xfrm>
            <a:off x="1783259" y="5746488"/>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pic>
        <p:nvPicPr>
          <p:cNvPr id="26" name="Picture 25" descr="image.png"/>
          <p:cNvPicPr>
            <a:picLocks noChangeAspect="1"/>
          </p:cNvPicPr>
          <p:nvPr/>
        </p:nvPicPr>
        <p:blipFill>
          <a:blip r:embed="rId8">
            <a:duotone>
              <a:prstClr val="black"/>
              <a:schemeClr val="accent1">
                <a:tint val="45000"/>
                <a:satMod val="400000"/>
              </a:schemeClr>
            </a:duotone>
          </a:blip>
          <a:stretch>
            <a:fillRect/>
          </a:stretch>
        </p:blipFill>
        <p:spPr>
          <a:xfrm>
            <a:off x="1289312" y="4785084"/>
            <a:ext cx="171450" cy="190500"/>
          </a:xfrm>
          <a:prstGeom prst="rect">
            <a:avLst/>
          </a:prstGeom>
        </p:spPr>
      </p:pic>
      <p:sp>
        <p:nvSpPr>
          <p:cNvPr id="27" name="TextBox 26"/>
          <p:cNvSpPr txBox="1"/>
          <p:nvPr/>
        </p:nvSpPr>
        <p:spPr>
          <a:xfrm>
            <a:off x="1084525" y="5032734"/>
            <a:ext cx="5810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User Query</a:t>
            </a:r>
          </a:p>
        </p:txBody>
      </p:sp>
      <p:sp>
        <p:nvSpPr>
          <p:cNvPr id="28" name="TextBox 27"/>
          <p:cNvSpPr txBox="1"/>
          <p:nvPr/>
        </p:nvSpPr>
        <p:spPr>
          <a:xfrm>
            <a:off x="1065475" y="5215495"/>
            <a:ext cx="619125" cy="104775"/>
          </a:xfrm>
          <a:prstGeom prst="rect">
            <a:avLst/>
          </a:prstGeom>
          <a:noFill/>
        </p:spPr>
        <p:txBody>
          <a:bodyPr wrap="square" lIns="0" tIns="0" rIns="0" bIns="0" anchor="t">
            <a:spAutoFit/>
          </a:bodyPr>
          <a:lstStyle/>
          <a:p>
            <a:pPr algn="ctr"/>
            <a:r>
              <a:rPr sz="675" b="0" i="0" u="none">
                <a:solidFill>
                  <a:srgbClr val="64748B"/>
                </a:solidFill>
                <a:latin typeface="Inter"/>
              </a:rPr>
              <a:t>Input / Request</a:t>
            </a:r>
          </a:p>
        </p:txBody>
      </p:sp>
      <p:pic>
        <p:nvPicPr>
          <p:cNvPr id="29" name="Picture 28" descr="image.png"/>
          <p:cNvPicPr>
            <a:picLocks noChangeAspect="1"/>
          </p:cNvPicPr>
          <p:nvPr/>
        </p:nvPicPr>
        <p:blipFill>
          <a:blip r:embed="rId9">
            <a:duotone>
              <a:prstClr val="black"/>
              <a:schemeClr val="accent1">
                <a:tint val="45000"/>
                <a:satMod val="400000"/>
              </a:schemeClr>
            </a:duotone>
          </a:blip>
          <a:stretch>
            <a:fillRect/>
          </a:stretch>
        </p:blipFill>
        <p:spPr>
          <a:xfrm>
            <a:off x="2421001" y="4732697"/>
            <a:ext cx="238125" cy="190500"/>
          </a:xfrm>
          <a:prstGeom prst="rect">
            <a:avLst/>
          </a:prstGeom>
        </p:spPr>
      </p:pic>
      <p:sp>
        <p:nvSpPr>
          <p:cNvPr id="30" name="TextBox 29"/>
          <p:cNvSpPr txBox="1"/>
          <p:nvPr/>
        </p:nvSpPr>
        <p:spPr>
          <a:xfrm>
            <a:off x="2368614" y="4980347"/>
            <a:ext cx="34290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Router</a:t>
            </a:r>
          </a:p>
        </p:txBody>
      </p:sp>
      <p:sp>
        <p:nvSpPr>
          <p:cNvPr id="31" name="TextBox 30"/>
          <p:cNvSpPr txBox="1"/>
          <p:nvPr/>
        </p:nvSpPr>
        <p:spPr>
          <a:xfrm>
            <a:off x="2230501" y="5163108"/>
            <a:ext cx="619125" cy="209550"/>
          </a:xfrm>
          <a:prstGeom prst="rect">
            <a:avLst/>
          </a:prstGeom>
          <a:noFill/>
        </p:spPr>
        <p:txBody>
          <a:bodyPr wrap="square" lIns="0" tIns="0" rIns="0" bIns="0" anchor="t">
            <a:spAutoFit/>
          </a:bodyPr>
          <a:lstStyle/>
          <a:p>
            <a:pPr algn="ctr"/>
            <a:r>
              <a:rPr sz="675" b="0" i="0" u="none">
                <a:solidFill>
                  <a:srgbClr val="64748B"/>
                </a:solidFill>
                <a:latin typeface="Inter"/>
              </a:rPr>
              <a:t>Understand intent</a:t>
            </a:r>
          </a:p>
        </p:txBody>
      </p:sp>
      <p:pic>
        <p:nvPicPr>
          <p:cNvPr id="32" name="Picture 31" descr="image.png"/>
          <p:cNvPicPr>
            <a:picLocks noChangeAspect="1"/>
          </p:cNvPicPr>
          <p:nvPr/>
        </p:nvPicPr>
        <p:blipFill>
          <a:blip r:embed="rId10">
            <a:duotone>
              <a:prstClr val="black"/>
              <a:schemeClr val="accent1">
                <a:tint val="45000"/>
                <a:satMod val="400000"/>
              </a:schemeClr>
            </a:duotone>
          </a:blip>
          <a:stretch>
            <a:fillRect/>
          </a:stretch>
        </p:blipFill>
        <p:spPr>
          <a:xfrm>
            <a:off x="3771765" y="4732697"/>
            <a:ext cx="238125" cy="190500"/>
          </a:xfrm>
          <a:prstGeom prst="rect">
            <a:avLst/>
          </a:prstGeom>
        </p:spPr>
      </p:pic>
      <p:sp>
        <p:nvSpPr>
          <p:cNvPr id="33" name="TextBox 32"/>
          <p:cNvSpPr txBox="1"/>
          <p:nvPr/>
        </p:nvSpPr>
        <p:spPr>
          <a:xfrm>
            <a:off x="3395528" y="4980347"/>
            <a:ext cx="99060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Specialized Agents</a:t>
            </a:r>
          </a:p>
        </p:txBody>
      </p:sp>
      <p:sp>
        <p:nvSpPr>
          <p:cNvPr id="34" name="TextBox 33"/>
          <p:cNvSpPr txBox="1"/>
          <p:nvPr/>
        </p:nvSpPr>
        <p:spPr>
          <a:xfrm>
            <a:off x="3581265" y="5163108"/>
            <a:ext cx="619125" cy="209550"/>
          </a:xfrm>
          <a:prstGeom prst="rect">
            <a:avLst/>
          </a:prstGeom>
          <a:noFill/>
        </p:spPr>
        <p:txBody>
          <a:bodyPr wrap="square" lIns="0" tIns="0" rIns="0" bIns="0" anchor="t">
            <a:spAutoFit/>
          </a:bodyPr>
          <a:lstStyle/>
          <a:p>
            <a:pPr algn="ctr"/>
            <a:r>
              <a:rPr sz="675" b="0" i="0" u="none">
                <a:solidFill>
                  <a:srgbClr val="64748B"/>
                </a:solidFill>
                <a:latin typeface="Inter"/>
              </a:rPr>
              <a:t>Tech Support | Billing</a:t>
            </a:r>
          </a:p>
        </p:txBody>
      </p:sp>
      <p:pic>
        <p:nvPicPr>
          <p:cNvPr id="35" name="Picture 34" descr="image.png"/>
          <p:cNvPicPr>
            <a:picLocks noChangeAspect="1"/>
          </p:cNvPicPr>
          <p:nvPr/>
        </p:nvPicPr>
        <p:blipFill>
          <a:blip r:embed="rId11">
            <a:duotone>
              <a:prstClr val="black"/>
              <a:schemeClr val="accent1">
                <a:tint val="45000"/>
                <a:satMod val="400000"/>
              </a:schemeClr>
            </a:duotone>
          </a:blip>
          <a:stretch>
            <a:fillRect/>
          </a:stretch>
        </p:blipFill>
        <p:spPr>
          <a:xfrm>
            <a:off x="5146342" y="4732697"/>
            <a:ext cx="190500" cy="190500"/>
          </a:xfrm>
          <a:prstGeom prst="rect">
            <a:avLst/>
          </a:prstGeom>
        </p:spPr>
      </p:pic>
      <p:sp>
        <p:nvSpPr>
          <p:cNvPr id="36" name="TextBox 35"/>
          <p:cNvSpPr txBox="1"/>
          <p:nvPr/>
        </p:nvSpPr>
        <p:spPr>
          <a:xfrm>
            <a:off x="4984417" y="4980347"/>
            <a:ext cx="51435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Response</a:t>
            </a:r>
          </a:p>
        </p:txBody>
      </p:sp>
      <p:sp>
        <p:nvSpPr>
          <p:cNvPr id="37" name="TextBox 36"/>
          <p:cNvSpPr txBox="1"/>
          <p:nvPr/>
        </p:nvSpPr>
        <p:spPr>
          <a:xfrm>
            <a:off x="4932029" y="5163108"/>
            <a:ext cx="619125" cy="209550"/>
          </a:xfrm>
          <a:prstGeom prst="rect">
            <a:avLst/>
          </a:prstGeom>
          <a:noFill/>
        </p:spPr>
        <p:txBody>
          <a:bodyPr wrap="square" lIns="0" tIns="0" rIns="0" bIns="0" anchor="t">
            <a:spAutoFit/>
          </a:bodyPr>
          <a:lstStyle/>
          <a:p>
            <a:pPr algn="ctr"/>
            <a:r>
              <a:rPr sz="675" b="0" i="0" u="none">
                <a:solidFill>
                  <a:srgbClr val="64748B"/>
                </a:solidFill>
                <a:latin typeface="Inter"/>
              </a:rPr>
              <a:t>Return best answer</a:t>
            </a:r>
          </a:p>
        </p:txBody>
      </p:sp>
      <p:sp>
        <p:nvSpPr>
          <p:cNvPr id="55" name="TextBox 54"/>
          <p:cNvSpPr txBox="1"/>
          <p:nvPr/>
        </p:nvSpPr>
        <p:spPr>
          <a:xfrm>
            <a:off x="3038177" y="5732982"/>
            <a:ext cx="2090737"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Customer support automation</a:t>
            </a:r>
          </a:p>
        </p:txBody>
      </p:sp>
      <p:pic>
        <p:nvPicPr>
          <p:cNvPr id="13" name="Picture 12" descr="image.png">
            <a:extLst>
              <a:ext uri="{FF2B5EF4-FFF2-40B4-BE49-F238E27FC236}">
                <a16:creationId xmlns:a16="http://schemas.microsoft.com/office/drawing/2014/main" id="{B4BE80CF-3A06-85FA-87EC-9764A7953106}"/>
              </a:ext>
            </a:extLst>
          </p:cNvPr>
          <p:cNvPicPr>
            <a:picLocks noChangeAspect="1"/>
          </p:cNvPicPr>
          <p:nvPr/>
        </p:nvPicPr>
        <p:blipFill>
          <a:blip r:embed="rId12">
            <a:extLst>
              <a:ext uri="{BEBA8EAE-BF5A-486C-A8C5-ECC9F3942E4B}">
                <a14:imgProps xmlns:a14="http://schemas.microsoft.com/office/drawing/2010/main">
                  <a14:imgLayer r:embed="rId13">
                    <a14:imgEffect>
                      <a14:saturation sat="0"/>
                    </a14:imgEffect>
                  </a14:imgLayer>
                </a14:imgProps>
              </a:ext>
            </a:extLst>
          </a:blip>
          <a:stretch>
            <a:fillRect/>
          </a:stretch>
        </p:blipFill>
        <p:spPr>
          <a:xfrm>
            <a:off x="6257925" y="1984352"/>
            <a:ext cx="5381625" cy="4416449"/>
          </a:xfrm>
          <a:prstGeom prst="rect">
            <a:avLst/>
          </a:prstGeom>
        </p:spPr>
      </p:pic>
      <p:pic>
        <p:nvPicPr>
          <p:cNvPr id="23" name="Picture 22" descr="image.png">
            <a:extLst>
              <a:ext uri="{FF2B5EF4-FFF2-40B4-BE49-F238E27FC236}">
                <a16:creationId xmlns:a16="http://schemas.microsoft.com/office/drawing/2014/main" id="{ED1282EE-D803-7F64-3085-05DF8D0E7E28}"/>
              </a:ext>
            </a:extLst>
          </p:cNvPr>
          <p:cNvPicPr>
            <a:picLocks noChangeAspect="1"/>
          </p:cNvPicPr>
          <p:nvPr/>
        </p:nvPicPr>
        <p:blipFill>
          <a:blip r:embed="rId5"/>
          <a:stretch>
            <a:fillRect/>
          </a:stretch>
        </p:blipFill>
        <p:spPr>
          <a:xfrm>
            <a:off x="6553200" y="4675903"/>
            <a:ext cx="4791075" cy="944760"/>
          </a:xfrm>
          <a:prstGeom prst="rect">
            <a:avLst/>
          </a:prstGeom>
        </p:spPr>
      </p:pic>
      <p:pic>
        <p:nvPicPr>
          <p:cNvPr id="38" name="Picture 37" descr="image.png">
            <a:extLst>
              <a:ext uri="{FF2B5EF4-FFF2-40B4-BE49-F238E27FC236}">
                <a16:creationId xmlns:a16="http://schemas.microsoft.com/office/drawing/2014/main" id="{0039B32A-70A4-0E3E-1753-8814B3FC21DD}"/>
              </a:ext>
            </a:extLst>
          </p:cNvPr>
          <p:cNvPicPr>
            <a:picLocks noChangeAspect="1"/>
          </p:cNvPicPr>
          <p:nvPr/>
        </p:nvPicPr>
        <p:blipFill>
          <a:blip r:embed="rId14">
            <a:duotone>
              <a:prstClr val="black"/>
              <a:schemeClr val="accent1">
                <a:tint val="45000"/>
                <a:satMod val="400000"/>
              </a:schemeClr>
            </a:duotone>
          </a:blip>
          <a:stretch>
            <a:fillRect/>
          </a:stretch>
        </p:blipFill>
        <p:spPr>
          <a:xfrm>
            <a:off x="8404026" y="4875928"/>
            <a:ext cx="1905000" cy="544710"/>
          </a:xfrm>
          <a:prstGeom prst="rect">
            <a:avLst/>
          </a:prstGeom>
        </p:spPr>
      </p:pic>
      <p:sp>
        <p:nvSpPr>
          <p:cNvPr id="51" name="TextBox 50">
            <a:extLst>
              <a:ext uri="{FF2B5EF4-FFF2-40B4-BE49-F238E27FC236}">
                <a16:creationId xmlns:a16="http://schemas.microsoft.com/office/drawing/2014/main" id="{8544CA0E-7368-D4A3-061A-EA166DA91A7F}"/>
              </a:ext>
            </a:extLst>
          </p:cNvPr>
          <p:cNvSpPr txBox="1"/>
          <p:nvPr/>
        </p:nvSpPr>
        <p:spPr>
          <a:xfrm>
            <a:off x="6553200" y="2879702"/>
            <a:ext cx="4791075" cy="1367939"/>
          </a:xfrm>
          <a:prstGeom prst="rect">
            <a:avLst/>
          </a:prstGeom>
          <a:noFill/>
        </p:spPr>
        <p:txBody>
          <a:bodyPr wrap="square" lIns="0" tIns="0" rIns="0" bIns="0" anchor="t">
            <a:spAutoFit/>
          </a:bodyPr>
          <a:lstStyle/>
          <a:p>
            <a:pPr algn="just">
              <a:lnSpc>
                <a:spcPts val="1800"/>
              </a:lnSpc>
            </a:pPr>
            <a:r>
              <a:rPr lang="en-IN" sz="1200" dirty="0"/>
              <a:t>A </a:t>
            </a:r>
            <a:r>
              <a:rPr lang="en-IN" sz="1200" b="1" dirty="0"/>
              <a:t>Multi-Agent Swarm</a:t>
            </a:r>
            <a:r>
              <a:rPr lang="en-IN" sz="1200" dirty="0"/>
              <a:t> relies on a manager agent to orchestrate a ecosystem of domain-expert sub-agents working together toward a high-level goal. The manager breaks down complex user objectives into specific tasks and assigns them to specialized roles—such as a Coder for implementation, a Researcher for context gathering, and a Reviewer for quality assurance—who can debate, review each other's work, and iteratively refine deliverables. [6]</a:t>
            </a:r>
            <a:endParaRPr sz="1200" b="0" i="0" u="none" dirty="0">
              <a:solidFill>
                <a:srgbClr val="475569"/>
              </a:solidFill>
              <a:latin typeface="Inter"/>
            </a:endParaRPr>
          </a:p>
        </p:txBody>
      </p:sp>
      <p:sp>
        <p:nvSpPr>
          <p:cNvPr id="53" name="TextBox 52">
            <a:extLst>
              <a:ext uri="{FF2B5EF4-FFF2-40B4-BE49-F238E27FC236}">
                <a16:creationId xmlns:a16="http://schemas.microsoft.com/office/drawing/2014/main" id="{CE64DB09-8A39-42D4-A33F-2F57CB263045}"/>
              </a:ext>
            </a:extLst>
          </p:cNvPr>
          <p:cNvSpPr txBox="1"/>
          <p:nvPr/>
        </p:nvSpPr>
        <p:spPr>
          <a:xfrm>
            <a:off x="6524729" y="2394878"/>
            <a:ext cx="2760345" cy="300082"/>
          </a:xfrm>
          <a:prstGeom prst="rect">
            <a:avLst/>
          </a:prstGeom>
          <a:noFill/>
        </p:spPr>
        <p:txBody>
          <a:bodyPr wrap="square" lIns="0" tIns="0" rIns="0" bIns="0" anchor="t">
            <a:spAutoFit/>
          </a:bodyPr>
          <a:lstStyle/>
          <a:p>
            <a:pPr algn="l"/>
            <a:r>
              <a:rPr sz="1950" b="1" i="0" u="none" dirty="0">
                <a:solidFill>
                  <a:schemeClr val="tx2"/>
                </a:solidFill>
                <a:latin typeface="Inter"/>
              </a:rPr>
              <a:t>4. Multi-Agent Swarm</a:t>
            </a:r>
          </a:p>
        </p:txBody>
      </p:sp>
      <p:pic>
        <p:nvPicPr>
          <p:cNvPr id="56" name="Picture 55" descr="image.png">
            <a:extLst>
              <a:ext uri="{FF2B5EF4-FFF2-40B4-BE49-F238E27FC236}">
                <a16:creationId xmlns:a16="http://schemas.microsoft.com/office/drawing/2014/main" id="{0E59E063-2FE0-2EBD-A3E2-050126F742A9}"/>
              </a:ext>
            </a:extLst>
          </p:cNvPr>
          <p:cNvPicPr>
            <a:picLocks noChangeAspect="1"/>
          </p:cNvPicPr>
          <p:nvPr/>
        </p:nvPicPr>
        <p:blipFill>
          <a:blip r:embed="rId7">
            <a:duotone>
              <a:prstClr val="black"/>
              <a:schemeClr val="accent1">
                <a:tint val="45000"/>
                <a:satMod val="400000"/>
              </a:schemeClr>
            </a:duotone>
          </a:blip>
          <a:stretch>
            <a:fillRect/>
          </a:stretch>
        </p:blipFill>
        <p:spPr>
          <a:xfrm>
            <a:off x="7399287" y="5081608"/>
            <a:ext cx="114300" cy="133350"/>
          </a:xfrm>
          <a:prstGeom prst="rect">
            <a:avLst/>
          </a:prstGeom>
        </p:spPr>
      </p:pic>
      <p:pic>
        <p:nvPicPr>
          <p:cNvPr id="58" name="Picture 57" descr="image.png">
            <a:extLst>
              <a:ext uri="{FF2B5EF4-FFF2-40B4-BE49-F238E27FC236}">
                <a16:creationId xmlns:a16="http://schemas.microsoft.com/office/drawing/2014/main" id="{18863B98-04B6-C074-11DC-5CF299B2B285}"/>
              </a:ext>
            </a:extLst>
          </p:cNvPr>
          <p:cNvPicPr>
            <a:picLocks noChangeAspect="1"/>
          </p:cNvPicPr>
          <p:nvPr/>
        </p:nvPicPr>
        <p:blipFill>
          <a:blip r:embed="rId7">
            <a:duotone>
              <a:prstClr val="black"/>
              <a:schemeClr val="accent1">
                <a:tint val="45000"/>
                <a:satMod val="400000"/>
              </a:schemeClr>
            </a:duotone>
          </a:blip>
          <a:stretch>
            <a:fillRect/>
          </a:stretch>
        </p:blipFill>
        <p:spPr>
          <a:xfrm>
            <a:off x="8215163" y="5081608"/>
            <a:ext cx="114300" cy="133350"/>
          </a:xfrm>
          <a:prstGeom prst="rect">
            <a:avLst/>
          </a:prstGeom>
        </p:spPr>
      </p:pic>
      <p:pic>
        <p:nvPicPr>
          <p:cNvPr id="60" name="Picture 59" descr="image.png">
            <a:extLst>
              <a:ext uri="{FF2B5EF4-FFF2-40B4-BE49-F238E27FC236}">
                <a16:creationId xmlns:a16="http://schemas.microsoft.com/office/drawing/2014/main" id="{7435A56F-B414-ED88-D1E5-3834BF6CEDD2}"/>
              </a:ext>
            </a:extLst>
          </p:cNvPr>
          <p:cNvPicPr>
            <a:picLocks noChangeAspect="1"/>
          </p:cNvPicPr>
          <p:nvPr/>
        </p:nvPicPr>
        <p:blipFill>
          <a:blip r:embed="rId7">
            <a:duotone>
              <a:prstClr val="black"/>
              <a:schemeClr val="accent1">
                <a:tint val="45000"/>
                <a:satMod val="400000"/>
              </a:schemeClr>
            </a:duotone>
          </a:blip>
          <a:stretch>
            <a:fillRect/>
          </a:stretch>
        </p:blipFill>
        <p:spPr>
          <a:xfrm>
            <a:off x="10383589" y="5081608"/>
            <a:ext cx="114300" cy="133350"/>
          </a:xfrm>
          <a:prstGeom prst="rect">
            <a:avLst/>
          </a:prstGeom>
        </p:spPr>
      </p:pic>
      <p:sp>
        <p:nvSpPr>
          <p:cNvPr id="62" name="TextBox 61">
            <a:extLst>
              <a:ext uri="{FF2B5EF4-FFF2-40B4-BE49-F238E27FC236}">
                <a16:creationId xmlns:a16="http://schemas.microsoft.com/office/drawing/2014/main" id="{76B0C129-94E6-193D-87AD-9141A4A19220}"/>
              </a:ext>
            </a:extLst>
          </p:cNvPr>
          <p:cNvSpPr txBox="1"/>
          <p:nvPr/>
        </p:nvSpPr>
        <p:spPr>
          <a:xfrm>
            <a:off x="6905505" y="5838702"/>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pic>
        <p:nvPicPr>
          <p:cNvPr id="71" name="Picture 70" descr="image.png">
            <a:extLst>
              <a:ext uri="{FF2B5EF4-FFF2-40B4-BE49-F238E27FC236}">
                <a16:creationId xmlns:a16="http://schemas.microsoft.com/office/drawing/2014/main" id="{FF9B3DC3-027A-95EA-ED39-86F1D52AB4BB}"/>
              </a:ext>
            </a:extLst>
          </p:cNvPr>
          <p:cNvPicPr>
            <a:picLocks noChangeAspect="1"/>
          </p:cNvPicPr>
          <p:nvPr/>
        </p:nvPicPr>
        <p:blipFill>
          <a:blip r:embed="rId15">
            <a:duotone>
              <a:prstClr val="black"/>
              <a:schemeClr val="accent1">
                <a:tint val="45000"/>
                <a:satMod val="400000"/>
              </a:schemeClr>
            </a:duotone>
          </a:blip>
          <a:stretch>
            <a:fillRect/>
          </a:stretch>
        </p:blipFill>
        <p:spPr>
          <a:xfrm>
            <a:off x="6919912" y="4828303"/>
            <a:ext cx="190500" cy="190500"/>
          </a:xfrm>
          <a:prstGeom prst="rect">
            <a:avLst/>
          </a:prstGeom>
        </p:spPr>
      </p:pic>
      <p:sp>
        <p:nvSpPr>
          <p:cNvPr id="73" name="TextBox 72">
            <a:extLst>
              <a:ext uri="{FF2B5EF4-FFF2-40B4-BE49-F238E27FC236}">
                <a16:creationId xmlns:a16="http://schemas.microsoft.com/office/drawing/2014/main" id="{64FBFB71-D52D-FE47-96BB-73D1ABD87CB9}"/>
              </a:ext>
            </a:extLst>
          </p:cNvPr>
          <p:cNvSpPr txBox="1"/>
          <p:nvPr/>
        </p:nvSpPr>
        <p:spPr>
          <a:xfrm>
            <a:off x="6767512" y="5075953"/>
            <a:ext cx="49530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User Goal</a:t>
            </a:r>
          </a:p>
        </p:txBody>
      </p:sp>
      <p:sp>
        <p:nvSpPr>
          <p:cNvPr id="75" name="TextBox 74">
            <a:extLst>
              <a:ext uri="{FF2B5EF4-FFF2-40B4-BE49-F238E27FC236}">
                <a16:creationId xmlns:a16="http://schemas.microsoft.com/office/drawing/2014/main" id="{58DE1CA7-C2B0-0D27-7213-62DB845CA267}"/>
              </a:ext>
            </a:extLst>
          </p:cNvPr>
          <p:cNvSpPr txBox="1"/>
          <p:nvPr/>
        </p:nvSpPr>
        <p:spPr>
          <a:xfrm>
            <a:off x="6705600" y="5258714"/>
            <a:ext cx="619125" cy="209550"/>
          </a:xfrm>
          <a:prstGeom prst="rect">
            <a:avLst/>
          </a:prstGeom>
          <a:noFill/>
        </p:spPr>
        <p:txBody>
          <a:bodyPr wrap="square" lIns="0" tIns="0" rIns="0" bIns="0" anchor="t">
            <a:spAutoFit/>
          </a:bodyPr>
          <a:lstStyle/>
          <a:p>
            <a:pPr algn="ctr"/>
            <a:r>
              <a:rPr sz="675" b="0" i="0" u="none">
                <a:solidFill>
                  <a:srgbClr val="64748B"/>
                </a:solidFill>
                <a:latin typeface="Inter"/>
              </a:rPr>
              <a:t>Define objective</a:t>
            </a:r>
          </a:p>
        </p:txBody>
      </p:sp>
      <p:pic>
        <p:nvPicPr>
          <p:cNvPr id="77" name="Picture 76" descr="image.png">
            <a:extLst>
              <a:ext uri="{FF2B5EF4-FFF2-40B4-BE49-F238E27FC236}">
                <a16:creationId xmlns:a16="http://schemas.microsoft.com/office/drawing/2014/main" id="{85D69543-F293-29F8-A0CC-1BA5798DC80A}"/>
              </a:ext>
            </a:extLst>
          </p:cNvPr>
          <p:cNvPicPr>
            <a:picLocks noChangeAspect="1"/>
          </p:cNvPicPr>
          <p:nvPr/>
        </p:nvPicPr>
        <p:blipFill>
          <a:blip r:embed="rId16">
            <a:duotone>
              <a:prstClr val="black"/>
              <a:schemeClr val="accent1">
                <a:tint val="45000"/>
                <a:satMod val="400000"/>
              </a:schemeClr>
            </a:duotone>
          </a:blip>
          <a:stretch>
            <a:fillRect/>
          </a:stretch>
        </p:blipFill>
        <p:spPr>
          <a:xfrm>
            <a:off x="7778650" y="4880690"/>
            <a:ext cx="171450" cy="190500"/>
          </a:xfrm>
          <a:prstGeom prst="rect">
            <a:avLst/>
          </a:prstGeom>
        </p:spPr>
      </p:pic>
      <p:sp>
        <p:nvSpPr>
          <p:cNvPr id="79" name="TextBox 78">
            <a:extLst>
              <a:ext uri="{FF2B5EF4-FFF2-40B4-BE49-F238E27FC236}">
                <a16:creationId xmlns:a16="http://schemas.microsoft.com/office/drawing/2014/main" id="{C1ED71F1-1419-4979-CE4A-EC9F75BD6682}"/>
              </a:ext>
            </a:extLst>
          </p:cNvPr>
          <p:cNvSpPr txBox="1"/>
          <p:nvPr/>
        </p:nvSpPr>
        <p:spPr>
          <a:xfrm>
            <a:off x="7640538" y="5128340"/>
            <a:ext cx="447675" cy="125610"/>
          </a:xfrm>
          <a:prstGeom prst="rect">
            <a:avLst/>
          </a:prstGeom>
          <a:noFill/>
        </p:spPr>
        <p:txBody>
          <a:bodyPr wrap="square" lIns="0" tIns="0" rIns="0" bIns="0" anchor="t">
            <a:spAutoFit/>
          </a:bodyPr>
          <a:lstStyle/>
          <a:p>
            <a:pPr algn="ctr">
              <a:lnSpc>
                <a:spcPts val="989"/>
              </a:lnSpc>
            </a:pPr>
            <a:r>
              <a:rPr sz="825" b="0" i="0" u="none" dirty="0">
                <a:solidFill>
                  <a:srgbClr val="475569"/>
                </a:solidFill>
                <a:latin typeface="Inter SemiBold"/>
              </a:rPr>
              <a:t>Manager</a:t>
            </a:r>
          </a:p>
        </p:txBody>
      </p:sp>
      <p:sp>
        <p:nvSpPr>
          <p:cNvPr id="81" name="TextBox 80">
            <a:extLst>
              <a:ext uri="{FF2B5EF4-FFF2-40B4-BE49-F238E27FC236}">
                <a16:creationId xmlns:a16="http://schemas.microsoft.com/office/drawing/2014/main" id="{BC99C9C1-D2D6-86E2-2E32-E904AD14B3E4}"/>
              </a:ext>
            </a:extLst>
          </p:cNvPr>
          <p:cNvSpPr txBox="1"/>
          <p:nvPr/>
        </p:nvSpPr>
        <p:spPr>
          <a:xfrm>
            <a:off x="7588150" y="5311101"/>
            <a:ext cx="552450" cy="104775"/>
          </a:xfrm>
          <a:prstGeom prst="rect">
            <a:avLst/>
          </a:prstGeom>
          <a:noFill/>
        </p:spPr>
        <p:txBody>
          <a:bodyPr wrap="square" lIns="0" tIns="0" rIns="0" bIns="0" anchor="t">
            <a:spAutoFit/>
          </a:bodyPr>
          <a:lstStyle/>
          <a:p>
            <a:pPr algn="ctr"/>
            <a:r>
              <a:rPr sz="675" b="0" i="0" u="none">
                <a:solidFill>
                  <a:srgbClr val="64748B"/>
                </a:solidFill>
                <a:latin typeface="Inter"/>
              </a:rPr>
              <a:t>Plan &amp; assign</a:t>
            </a:r>
          </a:p>
        </p:txBody>
      </p:sp>
      <p:pic>
        <p:nvPicPr>
          <p:cNvPr id="83" name="Picture 82" descr="image.png">
            <a:extLst>
              <a:ext uri="{FF2B5EF4-FFF2-40B4-BE49-F238E27FC236}">
                <a16:creationId xmlns:a16="http://schemas.microsoft.com/office/drawing/2014/main" id="{884DBA0D-0CC8-CD20-A005-252084B910F7}"/>
              </a:ext>
            </a:extLst>
          </p:cNvPr>
          <p:cNvPicPr>
            <a:picLocks noChangeAspect="1"/>
          </p:cNvPicPr>
          <p:nvPr/>
        </p:nvPicPr>
        <p:blipFill>
          <a:blip r:embed="rId17">
            <a:duotone>
              <a:prstClr val="black"/>
              <a:schemeClr val="accent1">
                <a:tint val="45000"/>
                <a:satMod val="400000"/>
              </a:schemeClr>
            </a:duotone>
          </a:blip>
          <a:stretch>
            <a:fillRect/>
          </a:stretch>
        </p:blipFill>
        <p:spPr>
          <a:xfrm>
            <a:off x="10762952" y="4828303"/>
            <a:ext cx="238125" cy="190500"/>
          </a:xfrm>
          <a:prstGeom prst="rect">
            <a:avLst/>
          </a:prstGeom>
        </p:spPr>
      </p:pic>
      <p:sp>
        <p:nvSpPr>
          <p:cNvPr id="85" name="TextBox 84">
            <a:extLst>
              <a:ext uri="{FF2B5EF4-FFF2-40B4-BE49-F238E27FC236}">
                <a16:creationId xmlns:a16="http://schemas.microsoft.com/office/drawing/2014/main" id="{BC4494A5-98CB-951B-4FBE-6992677DF748}"/>
              </a:ext>
            </a:extLst>
          </p:cNvPr>
          <p:cNvSpPr txBox="1"/>
          <p:nvPr/>
        </p:nvSpPr>
        <p:spPr>
          <a:xfrm>
            <a:off x="10572452" y="5075953"/>
            <a:ext cx="6191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Final Output</a:t>
            </a:r>
          </a:p>
        </p:txBody>
      </p:sp>
      <p:sp>
        <p:nvSpPr>
          <p:cNvPr id="87" name="TextBox 86">
            <a:extLst>
              <a:ext uri="{FF2B5EF4-FFF2-40B4-BE49-F238E27FC236}">
                <a16:creationId xmlns:a16="http://schemas.microsoft.com/office/drawing/2014/main" id="{05BA3056-7246-CFDA-42D7-59B35BE7995C}"/>
              </a:ext>
            </a:extLst>
          </p:cNvPr>
          <p:cNvSpPr txBox="1"/>
          <p:nvPr/>
        </p:nvSpPr>
        <p:spPr>
          <a:xfrm>
            <a:off x="10572452" y="5258714"/>
            <a:ext cx="619125" cy="209550"/>
          </a:xfrm>
          <a:prstGeom prst="rect">
            <a:avLst/>
          </a:prstGeom>
          <a:noFill/>
        </p:spPr>
        <p:txBody>
          <a:bodyPr wrap="square" lIns="0" tIns="0" rIns="0" bIns="0" anchor="t">
            <a:spAutoFit/>
          </a:bodyPr>
          <a:lstStyle/>
          <a:p>
            <a:pPr algn="ctr"/>
            <a:r>
              <a:rPr sz="675" b="0" i="0" u="none">
                <a:solidFill>
                  <a:srgbClr val="64748B"/>
                </a:solidFill>
                <a:latin typeface="Inter"/>
              </a:rPr>
              <a:t>Integrated result</a:t>
            </a:r>
          </a:p>
        </p:txBody>
      </p:sp>
      <p:sp>
        <p:nvSpPr>
          <p:cNvPr id="89" name="TextBox 88">
            <a:extLst>
              <a:ext uri="{FF2B5EF4-FFF2-40B4-BE49-F238E27FC236}">
                <a16:creationId xmlns:a16="http://schemas.microsoft.com/office/drawing/2014/main" id="{5FC655BB-53B2-DCE8-E9FE-8382355DDA7E}"/>
              </a:ext>
            </a:extLst>
          </p:cNvPr>
          <p:cNvSpPr txBox="1"/>
          <p:nvPr/>
        </p:nvSpPr>
        <p:spPr>
          <a:xfrm>
            <a:off x="8159299" y="5824415"/>
            <a:ext cx="3184976" cy="37215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Software development teams</a:t>
            </a:r>
            <a:r>
              <a:rPr lang="en-IN" sz="1050" dirty="0">
                <a:solidFill>
                  <a:srgbClr val="334155"/>
                </a:solidFill>
                <a:latin typeface="Inter"/>
              </a:rPr>
              <a:t>, Threat analysis &amp; support</a:t>
            </a:r>
          </a:p>
          <a:p>
            <a:pPr algn="l">
              <a:lnSpc>
                <a:spcPts val="1470"/>
              </a:lnSpc>
            </a:pPr>
            <a:endParaRPr sz="1050" b="0" i="0" u="none" dirty="0">
              <a:solidFill>
                <a:srgbClr val="334155"/>
              </a:solidFill>
              <a:latin typeface="Inter"/>
            </a:endParaRPr>
          </a:p>
        </p:txBody>
      </p:sp>
      <p:pic>
        <p:nvPicPr>
          <p:cNvPr id="92" name="Picture 91" descr="image.png">
            <a:extLst>
              <a:ext uri="{FF2B5EF4-FFF2-40B4-BE49-F238E27FC236}">
                <a16:creationId xmlns:a16="http://schemas.microsoft.com/office/drawing/2014/main" id="{FA51491B-AEC3-81DA-2E88-5762073580E8}"/>
              </a:ext>
            </a:extLst>
          </p:cNvPr>
          <p:cNvPicPr>
            <a:picLocks noChangeAspect="1"/>
          </p:cNvPicPr>
          <p:nvPr/>
        </p:nvPicPr>
        <p:blipFill>
          <a:blip r:embed="rId18">
            <a:duotone>
              <a:prstClr val="black"/>
              <a:schemeClr val="accent1">
                <a:tint val="45000"/>
                <a:satMod val="400000"/>
              </a:schemeClr>
            </a:duotone>
          </a:blip>
          <a:stretch>
            <a:fillRect/>
          </a:stretch>
        </p:blipFill>
        <p:spPr>
          <a:xfrm>
            <a:off x="8565951" y="4961653"/>
            <a:ext cx="238125" cy="190500"/>
          </a:xfrm>
          <a:prstGeom prst="rect">
            <a:avLst/>
          </a:prstGeom>
        </p:spPr>
      </p:pic>
      <p:sp>
        <p:nvSpPr>
          <p:cNvPr id="96" name="TextBox 95">
            <a:extLst>
              <a:ext uri="{FF2B5EF4-FFF2-40B4-BE49-F238E27FC236}">
                <a16:creationId xmlns:a16="http://schemas.microsoft.com/office/drawing/2014/main" id="{89AFAE44-74C2-2934-A930-90811C7F77AB}"/>
              </a:ext>
            </a:extLst>
          </p:cNvPr>
          <p:cNvSpPr txBox="1"/>
          <p:nvPr/>
        </p:nvSpPr>
        <p:spPr>
          <a:xfrm>
            <a:off x="8527851" y="5209303"/>
            <a:ext cx="3143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Coder</a:t>
            </a:r>
          </a:p>
        </p:txBody>
      </p:sp>
      <p:pic>
        <p:nvPicPr>
          <p:cNvPr id="98" name="Picture 97" descr="image.png">
            <a:extLst>
              <a:ext uri="{FF2B5EF4-FFF2-40B4-BE49-F238E27FC236}">
                <a16:creationId xmlns:a16="http://schemas.microsoft.com/office/drawing/2014/main" id="{EA04C5F4-4EEF-611E-0348-1E2D07EFF958}"/>
              </a:ext>
            </a:extLst>
          </p:cNvPr>
          <p:cNvPicPr>
            <a:picLocks noChangeAspect="1"/>
          </p:cNvPicPr>
          <p:nvPr/>
        </p:nvPicPr>
        <p:blipFill>
          <a:blip r:embed="rId19">
            <a:duotone>
              <a:prstClr val="black"/>
              <a:schemeClr val="accent1">
                <a:tint val="45000"/>
                <a:satMod val="400000"/>
              </a:schemeClr>
            </a:duotone>
          </a:blip>
          <a:stretch>
            <a:fillRect/>
          </a:stretch>
        </p:blipFill>
        <p:spPr>
          <a:xfrm>
            <a:off x="9180314" y="4961653"/>
            <a:ext cx="190500" cy="190500"/>
          </a:xfrm>
          <a:prstGeom prst="rect">
            <a:avLst/>
          </a:prstGeom>
        </p:spPr>
      </p:pic>
      <p:sp>
        <p:nvSpPr>
          <p:cNvPr id="100" name="TextBox 99">
            <a:extLst>
              <a:ext uri="{FF2B5EF4-FFF2-40B4-BE49-F238E27FC236}">
                <a16:creationId xmlns:a16="http://schemas.microsoft.com/office/drawing/2014/main" id="{E1413270-5659-FA51-6D24-8E5409805B6A}"/>
              </a:ext>
            </a:extLst>
          </p:cNvPr>
          <p:cNvSpPr txBox="1"/>
          <p:nvPr/>
        </p:nvSpPr>
        <p:spPr>
          <a:xfrm>
            <a:off x="8985051" y="5209303"/>
            <a:ext cx="5810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Researcher</a:t>
            </a:r>
          </a:p>
        </p:txBody>
      </p:sp>
      <p:pic>
        <p:nvPicPr>
          <p:cNvPr id="102" name="Picture 101" descr="image.png">
            <a:extLst>
              <a:ext uri="{FF2B5EF4-FFF2-40B4-BE49-F238E27FC236}">
                <a16:creationId xmlns:a16="http://schemas.microsoft.com/office/drawing/2014/main" id="{27B54DED-2867-64FF-4FDE-58EC5745FF7C}"/>
              </a:ext>
            </a:extLst>
          </p:cNvPr>
          <p:cNvPicPr>
            <a:picLocks noChangeAspect="1"/>
          </p:cNvPicPr>
          <p:nvPr/>
        </p:nvPicPr>
        <p:blipFill>
          <a:blip r:embed="rId20">
            <a:duotone>
              <a:prstClr val="black"/>
              <a:schemeClr val="accent1">
                <a:tint val="45000"/>
                <a:satMod val="400000"/>
              </a:schemeClr>
            </a:duotone>
          </a:blip>
          <a:stretch>
            <a:fillRect/>
          </a:stretch>
        </p:blipFill>
        <p:spPr>
          <a:xfrm>
            <a:off x="9875639" y="4961653"/>
            <a:ext cx="142875" cy="190500"/>
          </a:xfrm>
          <a:prstGeom prst="rect">
            <a:avLst/>
          </a:prstGeom>
        </p:spPr>
      </p:pic>
      <p:sp>
        <p:nvSpPr>
          <p:cNvPr id="104" name="TextBox 103">
            <a:extLst>
              <a:ext uri="{FF2B5EF4-FFF2-40B4-BE49-F238E27FC236}">
                <a16:creationId xmlns:a16="http://schemas.microsoft.com/office/drawing/2014/main" id="{66EBDB3A-A305-5CDD-0E96-3FBA76F80BB0}"/>
              </a:ext>
            </a:extLst>
          </p:cNvPr>
          <p:cNvSpPr txBox="1"/>
          <p:nvPr/>
        </p:nvSpPr>
        <p:spPr>
          <a:xfrm>
            <a:off x="9708951" y="5209303"/>
            <a:ext cx="47625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Reviewer</a:t>
            </a:r>
          </a:p>
        </p:txBody>
      </p:sp>
      <p:sp>
        <p:nvSpPr>
          <p:cNvPr id="106" name="Rectangle 105">
            <a:extLst>
              <a:ext uri="{FF2B5EF4-FFF2-40B4-BE49-F238E27FC236}">
                <a16:creationId xmlns:a16="http://schemas.microsoft.com/office/drawing/2014/main" id="{0547FE0A-0845-6E80-3BDA-A82DD1969D65}"/>
              </a:ext>
            </a:extLst>
          </p:cNvPr>
          <p:cNvSpPr/>
          <p:nvPr/>
        </p:nvSpPr>
        <p:spPr>
          <a:xfrm>
            <a:off x="8913227" y="4785441"/>
            <a:ext cx="832425" cy="133350"/>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8" name="TextBox 107">
            <a:extLst>
              <a:ext uri="{FF2B5EF4-FFF2-40B4-BE49-F238E27FC236}">
                <a16:creationId xmlns:a16="http://schemas.microsoft.com/office/drawing/2014/main" id="{F280C396-CBE2-F0AE-28B6-9CB5267AA11E}"/>
              </a:ext>
            </a:extLst>
          </p:cNvPr>
          <p:cNvSpPr txBox="1"/>
          <p:nvPr/>
        </p:nvSpPr>
        <p:spPr>
          <a:xfrm>
            <a:off x="9030324" y="4797733"/>
            <a:ext cx="876300" cy="92333"/>
          </a:xfrm>
          <a:prstGeom prst="rect">
            <a:avLst/>
          </a:prstGeom>
          <a:noFill/>
        </p:spPr>
        <p:txBody>
          <a:bodyPr wrap="square" lIns="0" tIns="0" rIns="0" bIns="0" anchor="t">
            <a:spAutoFit/>
          </a:bodyPr>
          <a:lstStyle/>
          <a:p>
            <a:pPr algn="l"/>
            <a:r>
              <a:rPr sz="600" b="0" i="0" u="none" dirty="0">
                <a:solidFill>
                  <a:srgbClr val="64748B"/>
                </a:solidFill>
                <a:latin typeface="Inter"/>
              </a:rPr>
              <a:t>Specialized Agents</a:t>
            </a:r>
          </a:p>
        </p:txBody>
      </p:sp>
      <p:sp>
        <p:nvSpPr>
          <p:cNvPr id="114" name="TextBox 113">
            <a:extLst>
              <a:ext uri="{FF2B5EF4-FFF2-40B4-BE49-F238E27FC236}">
                <a16:creationId xmlns:a16="http://schemas.microsoft.com/office/drawing/2014/main" id="{FC82C60A-CB44-AD73-5FDA-EFE04AB263E5}"/>
              </a:ext>
            </a:extLst>
          </p:cNvPr>
          <p:cNvSpPr txBox="1"/>
          <p:nvPr/>
        </p:nvSpPr>
        <p:spPr>
          <a:xfrm>
            <a:off x="590550" y="823931"/>
            <a:ext cx="11601450" cy="430887"/>
          </a:xfrm>
          <a:prstGeom prst="rect">
            <a:avLst/>
          </a:prstGeom>
          <a:noFill/>
        </p:spPr>
        <p:txBody>
          <a:bodyPr wrap="square" lIns="0" tIns="0" rIns="0" bIns="0" anchor="t">
            <a:spAutoFit/>
          </a:bodyPr>
          <a:lstStyle/>
          <a:p>
            <a:r>
              <a:rPr lang="en-IN" sz="2800" b="1" dirty="0">
                <a:solidFill>
                  <a:srgbClr val="0F172A"/>
                </a:solidFill>
                <a:latin typeface="Poppins"/>
              </a:rPr>
              <a:t>Autonomous </a:t>
            </a:r>
            <a:r>
              <a:rPr lang="en-IN" sz="2800" b="1" dirty="0">
                <a:solidFill>
                  <a:schemeClr val="tx2"/>
                </a:solidFill>
                <a:latin typeface="Poppins"/>
              </a:rPr>
              <a:t>Patterns </a:t>
            </a:r>
            <a:r>
              <a:rPr lang="en-IN" sz="2800" dirty="0">
                <a:solidFill>
                  <a:schemeClr val="tx2"/>
                </a:solidFill>
                <a:latin typeface="Poppins"/>
              </a:rPr>
              <a:t>(Cont.)</a:t>
            </a:r>
            <a:endParaRPr sz="2800" i="0" u="none" dirty="0">
              <a:solidFill>
                <a:schemeClr val="tx2"/>
              </a:solidFill>
              <a:latin typeface="Inter"/>
            </a:endParaRPr>
          </a:p>
        </p:txBody>
      </p:sp>
      <p:sp>
        <p:nvSpPr>
          <p:cNvPr id="116" name="TextBox 115">
            <a:extLst>
              <a:ext uri="{FF2B5EF4-FFF2-40B4-BE49-F238E27FC236}">
                <a16:creationId xmlns:a16="http://schemas.microsoft.com/office/drawing/2014/main" id="{F5A58B47-F158-0049-95CC-7967351CF516}"/>
              </a:ext>
            </a:extLst>
          </p:cNvPr>
          <p:cNvSpPr txBox="1"/>
          <p:nvPr/>
        </p:nvSpPr>
        <p:spPr>
          <a:xfrm>
            <a:off x="590550" y="1373539"/>
            <a:ext cx="11049000" cy="246221"/>
          </a:xfrm>
          <a:prstGeom prst="rect">
            <a:avLst/>
          </a:prstGeom>
          <a:noFill/>
        </p:spPr>
        <p:txBody>
          <a:bodyPr wrap="square" lIns="0" tIns="0" rIns="0" bIns="0" anchor="t">
            <a:spAutoFit/>
          </a:bodyPr>
          <a:lstStyle/>
          <a:p>
            <a:r>
              <a:rPr lang="en-US" sz="1600" dirty="0">
                <a:solidFill>
                  <a:srgbClr val="475569"/>
                </a:solidFill>
                <a:latin typeface="Inter"/>
              </a:rPr>
              <a:t>Systems where the model independently determines execution paths, tool selection, reflection loops, and agent collaboration.</a:t>
            </a:r>
            <a:endParaRPr sz="1500" b="0" i="0" u="none" dirty="0">
              <a:solidFill>
                <a:srgbClr val="64748B"/>
              </a:solidFill>
              <a:latin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38CB1-F2DC-C3FF-8546-5F2D0ABDBC9B}"/>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F866FC8-C03B-B0C0-8C69-333EE42E6659}"/>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2DCE5F83-2CB1-45A5-111E-D0EAC2575EC7}"/>
              </a:ext>
            </a:extLst>
          </p:cNvPr>
          <p:cNvSpPr txBox="1"/>
          <p:nvPr/>
        </p:nvSpPr>
        <p:spPr>
          <a:xfrm>
            <a:off x="590550" y="823931"/>
            <a:ext cx="11601450" cy="492443"/>
          </a:xfrm>
          <a:prstGeom prst="rect">
            <a:avLst/>
          </a:prstGeom>
          <a:noFill/>
        </p:spPr>
        <p:txBody>
          <a:bodyPr wrap="square" lIns="0" tIns="0" rIns="0" bIns="0" anchor="t">
            <a:spAutoFit/>
          </a:bodyPr>
          <a:lstStyle/>
          <a:p>
            <a:r>
              <a:rPr lang="en-IN" sz="3200" b="1" dirty="0">
                <a:latin typeface="Inter"/>
              </a:rPr>
              <a:t>What is </a:t>
            </a:r>
            <a:r>
              <a:rPr lang="en-IN" sz="3200" b="1" dirty="0">
                <a:solidFill>
                  <a:schemeClr val="tx2"/>
                </a:solidFill>
                <a:latin typeface="Inter"/>
              </a:rPr>
              <a:t>MCP</a:t>
            </a:r>
            <a:r>
              <a:rPr lang="en-IN" sz="3200" b="1" dirty="0">
                <a:latin typeface="Inter"/>
              </a:rPr>
              <a:t> &amp; Why Do We Need It?</a:t>
            </a:r>
            <a:endParaRPr sz="3200" b="1" i="0" u="none" dirty="0">
              <a:solidFill>
                <a:srgbClr val="0F172A"/>
              </a:solidFill>
              <a:latin typeface="Inter"/>
            </a:endParaRPr>
          </a:p>
        </p:txBody>
      </p:sp>
      <p:sp>
        <p:nvSpPr>
          <p:cNvPr id="8" name="TextBox 7">
            <a:extLst>
              <a:ext uri="{FF2B5EF4-FFF2-40B4-BE49-F238E27FC236}">
                <a16:creationId xmlns:a16="http://schemas.microsoft.com/office/drawing/2014/main" id="{EDAC0DA3-50AF-3BEA-5875-3D8006D98DAD}"/>
              </a:ext>
            </a:extLst>
          </p:cNvPr>
          <p:cNvSpPr txBox="1"/>
          <p:nvPr/>
        </p:nvSpPr>
        <p:spPr>
          <a:xfrm>
            <a:off x="590549" y="1562762"/>
            <a:ext cx="10883695" cy="1569660"/>
          </a:xfrm>
          <a:prstGeom prst="rect">
            <a:avLst/>
          </a:prstGeom>
          <a:noFill/>
        </p:spPr>
        <p:txBody>
          <a:bodyPr wrap="square">
            <a:spAutoFit/>
          </a:bodyPr>
          <a:lstStyle/>
          <a:p>
            <a:pPr marL="342900" lvl="0" indent="-342900" algn="just">
              <a:buFont typeface="Arial" panose="020B0604020202020204" pitchFamily="34" charset="0"/>
              <a:buChar char="•"/>
            </a:pPr>
            <a:r>
              <a:rPr lang="en-IN" sz="1600" b="1" dirty="0">
                <a:latin typeface="Inter"/>
              </a:rPr>
              <a:t>The Core Problem: </a:t>
            </a:r>
            <a:r>
              <a:rPr lang="en-IN" sz="1600" dirty="0">
                <a:latin typeface="Inter"/>
              </a:rPr>
              <a:t>LLM knowledge is frozen at training time &amp; LLMs Agents cannot inherently interact with the outside world (real-time data, business systems, APIs).</a:t>
            </a:r>
          </a:p>
          <a:p>
            <a:pPr marL="742950" lvl="1" indent="-285750" algn="just">
              <a:buFont typeface="Arial" panose="020B0604020202020204" pitchFamily="34" charset="0"/>
              <a:buChar char="•"/>
            </a:pPr>
            <a:endParaRPr lang="en-IN" sz="1600" dirty="0">
              <a:latin typeface="Inter"/>
            </a:endParaRPr>
          </a:p>
          <a:p>
            <a:pPr marL="342900" lvl="0" indent="-342900" algn="just">
              <a:buFont typeface="Arial" panose="020B0604020202020204" pitchFamily="34" charset="0"/>
              <a:buChar char="•"/>
            </a:pPr>
            <a:r>
              <a:rPr lang="en-IN" sz="1600" b="1" dirty="0">
                <a:latin typeface="Inter"/>
              </a:rPr>
              <a:t>The Solution (MCP): </a:t>
            </a:r>
            <a:r>
              <a:rPr lang="en-IN" sz="1600" b="0" i="0" dirty="0">
                <a:solidFill>
                  <a:srgbClr val="141413"/>
                </a:solidFill>
                <a:effectLst/>
                <a:latin typeface="anthropicSerif"/>
              </a:rPr>
              <a:t>The Model Context Protocol is an open standard that enables developers to build secure, two-way connections between their data sources and AI-powered tools. The architecture is straightforward: developers can either expose their data through MCP servers or build AI applications (MCP clients) that connect to these servers [18]</a:t>
            </a:r>
            <a:endParaRPr lang="en-IN" sz="1600" dirty="0">
              <a:latin typeface="Inter"/>
            </a:endParaRPr>
          </a:p>
        </p:txBody>
      </p:sp>
      <p:pic>
        <p:nvPicPr>
          <p:cNvPr id="13" name="Picture 12">
            <a:extLst>
              <a:ext uri="{FF2B5EF4-FFF2-40B4-BE49-F238E27FC236}">
                <a16:creationId xmlns:a16="http://schemas.microsoft.com/office/drawing/2014/main" id="{999419FE-6B10-AC78-0010-489451A79B74}"/>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0"/>
                    </a14:imgEffect>
                  </a14:imgLayer>
                </a14:imgProps>
              </a:ext>
            </a:extLst>
          </a:blip>
          <a:srcRect l="3553" t="11044" r="5608" b="6106"/>
          <a:stretch>
            <a:fillRect/>
          </a:stretch>
        </p:blipFill>
        <p:spPr>
          <a:xfrm>
            <a:off x="5820696" y="3244925"/>
            <a:ext cx="5653548" cy="2900517"/>
          </a:xfrm>
          <a:prstGeom prst="rect">
            <a:avLst/>
          </a:prstGeom>
        </p:spPr>
      </p:pic>
      <p:sp>
        <p:nvSpPr>
          <p:cNvPr id="23" name="TextBox 22">
            <a:extLst>
              <a:ext uri="{FF2B5EF4-FFF2-40B4-BE49-F238E27FC236}">
                <a16:creationId xmlns:a16="http://schemas.microsoft.com/office/drawing/2014/main" id="{0BC9DE60-7B50-BC23-D50B-C51A44B7737A}"/>
              </a:ext>
            </a:extLst>
          </p:cNvPr>
          <p:cNvSpPr txBox="1"/>
          <p:nvPr/>
        </p:nvSpPr>
        <p:spPr>
          <a:xfrm>
            <a:off x="518651" y="3351035"/>
            <a:ext cx="5085735" cy="2369880"/>
          </a:xfrm>
          <a:prstGeom prst="rect">
            <a:avLst/>
          </a:prstGeom>
          <a:noFill/>
        </p:spPr>
        <p:txBody>
          <a:bodyPr wrap="square">
            <a:spAutoFit/>
          </a:bodyPr>
          <a:lstStyle/>
          <a:p>
            <a:pPr lvl="0" algn="just">
              <a:spcAft>
                <a:spcPts val="600"/>
              </a:spcAft>
            </a:pPr>
            <a:r>
              <a:rPr lang="en-IN" sz="1600" dirty="0">
                <a:latin typeface="Inter"/>
              </a:rPr>
              <a:t>Here is a simplified look at how MCP would handle this:</a:t>
            </a:r>
          </a:p>
          <a:p>
            <a:pPr lvl="0" algn="just">
              <a:spcAft>
                <a:spcPts val="600"/>
              </a:spcAft>
            </a:pPr>
            <a:r>
              <a:rPr lang="en-IN" sz="1600" b="1" dirty="0"/>
              <a:t>1. Discover Tools:</a:t>
            </a:r>
            <a:r>
              <a:rPr lang="en-IN" sz="1600" dirty="0"/>
              <a:t> AI realizes it needs external help and finds the database and email tools registered on MCP.</a:t>
            </a:r>
          </a:p>
          <a:p>
            <a:pPr lvl="0" algn="just">
              <a:spcAft>
                <a:spcPts val="600"/>
              </a:spcAft>
            </a:pPr>
            <a:r>
              <a:rPr lang="en-IN" sz="1600" b="1" dirty="0"/>
              <a:t>2. Fetch Data:</a:t>
            </a:r>
            <a:r>
              <a:rPr lang="en-IN" sz="1600" dirty="0"/>
              <a:t> AI requests the sales report via MCP; the database server fetches and returns the report.</a:t>
            </a:r>
          </a:p>
          <a:p>
            <a:pPr lvl="0" algn="just">
              <a:spcAft>
                <a:spcPts val="600"/>
              </a:spcAft>
            </a:pPr>
            <a:r>
              <a:rPr lang="en-IN" sz="1600" b="1" dirty="0"/>
              <a:t>3. Send Email:</a:t>
            </a:r>
            <a:r>
              <a:rPr lang="en-IN" sz="1600" dirty="0"/>
              <a:t> AI hands the report to the email tool, which sends it to the manager.</a:t>
            </a:r>
          </a:p>
          <a:p>
            <a:pPr lvl="0" algn="just">
              <a:spcAft>
                <a:spcPts val="600"/>
              </a:spcAft>
            </a:pPr>
            <a:r>
              <a:rPr lang="en-IN" sz="1600" b="1" dirty="0"/>
              <a:t>4. Confirm:</a:t>
            </a:r>
            <a:r>
              <a:rPr lang="en-IN" sz="1600" dirty="0"/>
              <a:t> AI tells you the task is finished. [18][6]</a:t>
            </a:r>
          </a:p>
        </p:txBody>
      </p:sp>
    </p:spTree>
    <p:extLst>
      <p:ext uri="{BB962C8B-B14F-4D97-AF65-F5344CB8AC3E}">
        <p14:creationId xmlns:p14="http://schemas.microsoft.com/office/powerpoint/2010/main" val="2607785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B4DC5-DB62-54E5-9AE7-32BC2305032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EF4E189A-26A8-93AF-424A-5AFD1D7DF8FB}"/>
              </a:ext>
            </a:extLst>
          </p:cNvPr>
          <p:cNvPicPr>
            <a:picLocks noChangeAspect="1"/>
          </p:cNvPicPr>
          <p:nvPr/>
        </p:nvPicPr>
        <p:blipFill>
          <a:blip r:embed="rId2"/>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1162022C-5766-11A3-E6EB-7037624406DF}"/>
              </a:ext>
            </a:extLst>
          </p:cNvPr>
          <p:cNvSpPr txBox="1"/>
          <p:nvPr/>
        </p:nvSpPr>
        <p:spPr>
          <a:xfrm>
            <a:off x="581024" y="2014811"/>
            <a:ext cx="10588546" cy="577081"/>
          </a:xfrm>
          <a:prstGeom prst="rect">
            <a:avLst/>
          </a:prstGeom>
          <a:noFill/>
        </p:spPr>
        <p:txBody>
          <a:bodyPr wrap="square" lIns="0" tIns="0" rIns="0" bIns="0" anchor="t">
            <a:spAutoFit/>
          </a:bodyPr>
          <a:lstStyle/>
          <a:p>
            <a:pPr algn="just">
              <a:lnSpc>
                <a:spcPts val="2250"/>
              </a:lnSpc>
              <a:spcBef>
                <a:spcPts val="600"/>
              </a:spcBef>
            </a:pPr>
            <a:r>
              <a:rPr lang="en-IN" dirty="0"/>
              <a:t>A skill is a self-contained capability module that gives an agent expertise in a specific domain or task. Unlike a raw tool (which exposes a single function), a skill encompasses:</a:t>
            </a:r>
          </a:p>
        </p:txBody>
      </p:sp>
      <p:sp>
        <p:nvSpPr>
          <p:cNvPr id="26" name="TextBox 25">
            <a:extLst>
              <a:ext uri="{FF2B5EF4-FFF2-40B4-BE49-F238E27FC236}">
                <a16:creationId xmlns:a16="http://schemas.microsoft.com/office/drawing/2014/main" id="{9BDCFD32-F124-9509-4C80-B9B4101305B2}"/>
              </a:ext>
            </a:extLst>
          </p:cNvPr>
          <p:cNvSpPr txBox="1"/>
          <p:nvPr/>
        </p:nvSpPr>
        <p:spPr>
          <a:xfrm>
            <a:off x="581024" y="1463680"/>
            <a:ext cx="3040380" cy="361950"/>
          </a:xfrm>
          <a:prstGeom prst="rect">
            <a:avLst/>
          </a:prstGeom>
          <a:noFill/>
        </p:spPr>
        <p:txBody>
          <a:bodyPr wrap="square" lIns="0" tIns="0" rIns="0" bIns="0" anchor="t">
            <a:spAutoFit/>
          </a:bodyPr>
          <a:lstStyle/>
          <a:p>
            <a:pPr algn="l"/>
            <a:r>
              <a:rPr sz="2400" b="1" i="0" u="none" dirty="0">
                <a:solidFill>
                  <a:srgbClr val="0F172A"/>
                </a:solidFill>
                <a:latin typeface="Urbanist"/>
              </a:rPr>
              <a:t>What Is a Skill?</a:t>
            </a:r>
          </a:p>
        </p:txBody>
      </p:sp>
      <p:sp>
        <p:nvSpPr>
          <p:cNvPr id="38" name="TextBox 37">
            <a:extLst>
              <a:ext uri="{FF2B5EF4-FFF2-40B4-BE49-F238E27FC236}">
                <a16:creationId xmlns:a16="http://schemas.microsoft.com/office/drawing/2014/main" id="{BD50D0D5-CAEE-5F8E-246B-D846137E41AB}"/>
              </a:ext>
            </a:extLst>
          </p:cNvPr>
          <p:cNvSpPr txBox="1"/>
          <p:nvPr/>
        </p:nvSpPr>
        <p:spPr>
          <a:xfrm>
            <a:off x="476852" y="538230"/>
            <a:ext cx="11581447" cy="577081"/>
          </a:xfrm>
          <a:prstGeom prst="rect">
            <a:avLst/>
          </a:prstGeom>
          <a:noFill/>
        </p:spPr>
        <p:txBody>
          <a:bodyPr wrap="square" lIns="0" tIns="0" rIns="0" bIns="0" anchor="t">
            <a:spAutoFit/>
          </a:bodyPr>
          <a:lstStyle/>
          <a:p>
            <a:pPr algn="l">
              <a:lnSpc>
                <a:spcPts val="4455"/>
              </a:lnSpc>
            </a:pPr>
            <a:r>
              <a:rPr sz="4050" b="1" i="0" u="none" dirty="0">
                <a:solidFill>
                  <a:srgbClr val="0F172A"/>
                </a:solidFill>
                <a:latin typeface="Urbanist"/>
              </a:rPr>
              <a:t>Agent </a:t>
            </a:r>
            <a:r>
              <a:rPr sz="4050" b="1" i="0" u="none" dirty="0">
                <a:solidFill>
                  <a:schemeClr val="tx2"/>
                </a:solidFill>
                <a:latin typeface="Urbanist"/>
              </a:rPr>
              <a:t>Skills</a:t>
            </a:r>
            <a:r>
              <a:rPr sz="4050" b="1" i="0" u="none" dirty="0">
                <a:solidFill>
                  <a:srgbClr val="0F172A"/>
                </a:solidFill>
                <a:latin typeface="Urbanist"/>
              </a:rPr>
              <a:t>: Composable Capabilities</a:t>
            </a:r>
          </a:p>
        </p:txBody>
      </p:sp>
      <p:pic>
        <p:nvPicPr>
          <p:cNvPr id="46" name="Picture 45">
            <a:extLst>
              <a:ext uri="{FF2B5EF4-FFF2-40B4-BE49-F238E27FC236}">
                <a16:creationId xmlns:a16="http://schemas.microsoft.com/office/drawing/2014/main" id="{D40F67E2-04F3-B393-F44F-E9940E31FD13}"/>
              </a:ext>
            </a:extLst>
          </p:cNvPr>
          <p:cNvPicPr>
            <a:picLocks noChangeAspect="1"/>
          </p:cNvPicPr>
          <p:nvPr/>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6872197" y="2887579"/>
            <a:ext cx="4925499" cy="3183554"/>
          </a:xfrm>
          <a:prstGeom prst="rect">
            <a:avLst/>
          </a:prstGeom>
        </p:spPr>
      </p:pic>
      <p:sp>
        <p:nvSpPr>
          <p:cNvPr id="48" name="TextBox 47">
            <a:extLst>
              <a:ext uri="{FF2B5EF4-FFF2-40B4-BE49-F238E27FC236}">
                <a16:creationId xmlns:a16="http://schemas.microsoft.com/office/drawing/2014/main" id="{89A7768D-7039-E98B-2936-68A2D0F229C7}"/>
              </a:ext>
            </a:extLst>
          </p:cNvPr>
          <p:cNvSpPr txBox="1"/>
          <p:nvPr/>
        </p:nvSpPr>
        <p:spPr>
          <a:xfrm>
            <a:off x="476851" y="2725130"/>
            <a:ext cx="6236465" cy="3631763"/>
          </a:xfrm>
          <a:prstGeom prst="rect">
            <a:avLst/>
          </a:prstGeom>
          <a:noFill/>
        </p:spPr>
        <p:txBody>
          <a:bodyPr wrap="square">
            <a:spAutoFit/>
          </a:bodyPr>
          <a:lstStyle/>
          <a:p>
            <a:pPr marL="285750" indent="-285750" algn="just">
              <a:lnSpc>
                <a:spcPts val="2250"/>
              </a:lnSpc>
              <a:spcBef>
                <a:spcPts val="600"/>
              </a:spcBef>
              <a:buFont typeface="Arial" panose="020B0604020202020204" pitchFamily="34" charset="0"/>
              <a:buChar char="•"/>
            </a:pPr>
            <a:r>
              <a:rPr lang="en-US" sz="1800" b="1" dirty="0"/>
              <a:t>System prompt augmentation: </a:t>
            </a:r>
            <a:r>
              <a:rPr lang="en-US" sz="1800" dirty="0"/>
              <a:t>Domain-specific instructions, constraints, and persona elements injected into the agent’s context.</a:t>
            </a:r>
          </a:p>
          <a:p>
            <a:pPr marL="285750" indent="-285750" algn="just">
              <a:lnSpc>
                <a:spcPts val="2250"/>
              </a:lnSpc>
              <a:spcBef>
                <a:spcPts val="600"/>
              </a:spcBef>
              <a:buFont typeface="Arial" panose="020B0604020202020204" pitchFamily="34" charset="0"/>
              <a:buChar char="•"/>
            </a:pPr>
            <a:r>
              <a:rPr lang="en-US" sz="1800" b="1" dirty="0"/>
              <a:t>Tool bindings: </a:t>
            </a:r>
            <a:r>
              <a:rPr lang="en-US" sz="1800" dirty="0"/>
              <a:t>One or more tools the skill requires (APIs, MCP servers, local commands).</a:t>
            </a:r>
          </a:p>
          <a:p>
            <a:pPr marL="285750" indent="-285750" algn="just">
              <a:lnSpc>
                <a:spcPts val="2250"/>
              </a:lnSpc>
              <a:spcBef>
                <a:spcPts val="600"/>
              </a:spcBef>
              <a:buFont typeface="Arial" panose="020B0604020202020204" pitchFamily="34" charset="0"/>
              <a:buChar char="•"/>
            </a:pPr>
            <a:r>
              <a:rPr lang="en-US" sz="1800" b="1" dirty="0"/>
              <a:t>Knowledge: </a:t>
            </a:r>
            <a:r>
              <a:rPr lang="en-US" sz="1800" dirty="0"/>
              <a:t>Reference material, examples, or few-shot demonstrations the agent needs to execute the skill correctly.</a:t>
            </a:r>
          </a:p>
          <a:p>
            <a:pPr marL="285750" indent="-285750" algn="just">
              <a:lnSpc>
                <a:spcPts val="2250"/>
              </a:lnSpc>
              <a:spcBef>
                <a:spcPts val="600"/>
              </a:spcBef>
              <a:buFont typeface="Arial" panose="020B0604020202020204" pitchFamily="34" charset="0"/>
              <a:buChar char="•"/>
            </a:pPr>
            <a:r>
              <a:rPr lang="en-US" sz="1800" b="1" dirty="0"/>
              <a:t>Workflow logic: </a:t>
            </a:r>
            <a:r>
              <a:rPr lang="en-US" sz="1800" dirty="0"/>
              <a:t>Multi-step procedures, decision trees, or conditional flows that guide the agent through complex tasks.</a:t>
            </a:r>
          </a:p>
          <a:p>
            <a:pPr marL="285750" indent="-285750" algn="just">
              <a:lnSpc>
                <a:spcPts val="2250"/>
              </a:lnSpc>
              <a:spcBef>
                <a:spcPts val="600"/>
              </a:spcBef>
              <a:buFont typeface="Arial" panose="020B0604020202020204" pitchFamily="34" charset="0"/>
              <a:buChar char="•"/>
            </a:pPr>
            <a:r>
              <a:rPr lang="en-US" sz="1800" b="1" dirty="0"/>
              <a:t>Guardrails: </a:t>
            </a:r>
            <a:r>
              <a:rPr lang="en-US" sz="1800" dirty="0"/>
              <a:t>Skill-specific safety constraints, output format requirements, and validation rules. [6]</a:t>
            </a:r>
            <a:endParaRPr lang="en-US" sz="1800" b="0" i="0" u="none" dirty="0">
              <a:solidFill>
                <a:srgbClr val="334155"/>
              </a:solidFill>
              <a:latin typeface="Urbanist"/>
            </a:endParaRPr>
          </a:p>
        </p:txBody>
      </p:sp>
    </p:spTree>
    <p:extLst>
      <p:ext uri="{BB962C8B-B14F-4D97-AF65-F5344CB8AC3E}">
        <p14:creationId xmlns:p14="http://schemas.microsoft.com/office/powerpoint/2010/main" val="2266103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18" name="TextBox 17"/>
          <p:cNvSpPr txBox="1"/>
          <p:nvPr/>
        </p:nvSpPr>
        <p:spPr>
          <a:xfrm>
            <a:off x="571500" y="37572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Agentic </a:t>
            </a:r>
            <a:r>
              <a:rPr sz="3300" b="1" i="0" u="none" dirty="0">
                <a:solidFill>
                  <a:srgbClr val="2563EB"/>
                </a:solidFill>
                <a:latin typeface="Inter"/>
              </a:rPr>
              <a:t>Frameworks</a:t>
            </a:r>
          </a:p>
        </p:txBody>
      </p:sp>
      <p:graphicFrame>
        <p:nvGraphicFramePr>
          <p:cNvPr id="19" name="Table 18">
            <a:extLst>
              <a:ext uri="{FF2B5EF4-FFF2-40B4-BE49-F238E27FC236}">
                <a16:creationId xmlns:a16="http://schemas.microsoft.com/office/drawing/2014/main" id="{129F9555-D699-C3C4-1F84-8A79F8D652AC}"/>
              </a:ext>
            </a:extLst>
          </p:cNvPr>
          <p:cNvGraphicFramePr>
            <a:graphicFrameLocks noGrp="1"/>
          </p:cNvGraphicFramePr>
          <p:nvPr>
            <p:extLst>
              <p:ext uri="{D42A27DB-BD31-4B8C-83A1-F6EECF244321}">
                <p14:modId xmlns:p14="http://schemas.microsoft.com/office/powerpoint/2010/main" val="1088228415"/>
              </p:ext>
            </p:extLst>
          </p:nvPr>
        </p:nvGraphicFramePr>
        <p:xfrm>
          <a:off x="571500" y="1063176"/>
          <a:ext cx="10951908" cy="5419104"/>
        </p:xfrm>
        <a:graphic>
          <a:graphicData uri="http://schemas.openxmlformats.org/drawingml/2006/table">
            <a:tbl>
              <a:tblPr/>
              <a:tblGrid>
                <a:gridCol w="1825318">
                  <a:extLst>
                    <a:ext uri="{9D8B030D-6E8A-4147-A177-3AD203B41FA5}">
                      <a16:colId xmlns:a16="http://schemas.microsoft.com/office/drawing/2014/main" val="3296468212"/>
                    </a:ext>
                  </a:extLst>
                </a:gridCol>
                <a:gridCol w="1825318">
                  <a:extLst>
                    <a:ext uri="{9D8B030D-6E8A-4147-A177-3AD203B41FA5}">
                      <a16:colId xmlns:a16="http://schemas.microsoft.com/office/drawing/2014/main" val="2433383122"/>
                    </a:ext>
                  </a:extLst>
                </a:gridCol>
                <a:gridCol w="1825318">
                  <a:extLst>
                    <a:ext uri="{9D8B030D-6E8A-4147-A177-3AD203B41FA5}">
                      <a16:colId xmlns:a16="http://schemas.microsoft.com/office/drawing/2014/main" val="3440802060"/>
                    </a:ext>
                  </a:extLst>
                </a:gridCol>
                <a:gridCol w="1749527">
                  <a:extLst>
                    <a:ext uri="{9D8B030D-6E8A-4147-A177-3AD203B41FA5}">
                      <a16:colId xmlns:a16="http://schemas.microsoft.com/office/drawing/2014/main" val="313064993"/>
                    </a:ext>
                  </a:extLst>
                </a:gridCol>
                <a:gridCol w="1901109">
                  <a:extLst>
                    <a:ext uri="{9D8B030D-6E8A-4147-A177-3AD203B41FA5}">
                      <a16:colId xmlns:a16="http://schemas.microsoft.com/office/drawing/2014/main" val="1155137944"/>
                    </a:ext>
                  </a:extLst>
                </a:gridCol>
                <a:gridCol w="1825318">
                  <a:extLst>
                    <a:ext uri="{9D8B030D-6E8A-4147-A177-3AD203B41FA5}">
                      <a16:colId xmlns:a16="http://schemas.microsoft.com/office/drawing/2014/main" val="2842996800"/>
                    </a:ext>
                  </a:extLst>
                </a:gridCol>
              </a:tblGrid>
              <a:tr h="468216">
                <a:tc>
                  <a:txBody>
                    <a:bodyPr/>
                    <a:lstStyle/>
                    <a:p>
                      <a:pPr marL="0" marR="0" algn="ctr" rtl="0">
                        <a:spcAft>
                          <a:spcPts val="2400"/>
                        </a:spcAft>
                        <a:buNone/>
                      </a:pPr>
                      <a:r>
                        <a:rPr lang="en-IN" sz="1500" b="1" dirty="0">
                          <a:solidFill>
                            <a:srgbClr val="1F1F1F"/>
                          </a:solidFill>
                          <a:effectLst/>
                          <a:latin typeface="Inter"/>
                        </a:rPr>
                        <a:t>Framework</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Execution Model</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Core Strengths</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Key Limitations</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Ideal Use Cases</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Offline / Local Capability</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936376244"/>
                  </a:ext>
                </a:extLst>
              </a:tr>
              <a:tr h="1123048">
                <a:tc>
                  <a:txBody>
                    <a:bodyPr/>
                    <a:lstStyle/>
                    <a:p>
                      <a:pPr marL="0" marR="0" algn="ctr" rtl="0">
                        <a:spcAft>
                          <a:spcPts val="2400"/>
                        </a:spcAft>
                        <a:buNone/>
                      </a:pPr>
                      <a:r>
                        <a:rPr lang="en-IN" sz="1500" b="1" dirty="0" err="1">
                          <a:solidFill>
                            <a:srgbClr val="1F1F1F"/>
                          </a:solidFill>
                          <a:effectLst/>
                          <a:latin typeface="Inter"/>
                        </a:rPr>
                        <a:t>LangChain</a:t>
                      </a:r>
                      <a:r>
                        <a:rPr lang="en-IN" sz="1500" b="1" dirty="0">
                          <a:solidFill>
                            <a:srgbClr val="1F1F1F"/>
                          </a:solidFill>
                          <a:effectLst/>
                          <a:latin typeface="Inter"/>
                        </a:rPr>
                        <a:t> [7]</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dirty="0">
                          <a:solidFill>
                            <a:srgbClr val="1F1F1F"/>
                          </a:solidFill>
                          <a:effectLst/>
                          <a:latin typeface="Inter"/>
                        </a:rPr>
                        <a:t>Chained Prompting &amp; Tools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Rich toolset, extensive RAG ecosystem, vast API integrations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Workflow complexity at scale, abstractions can hide errors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General LLM applications, retrieval-augmented generation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dirty="0">
                          <a:solidFill>
                            <a:srgbClr val="1F1F1F"/>
                          </a:solidFill>
                          <a:effectLst/>
                          <a:latin typeface="Inter"/>
                        </a:rPr>
                        <a:t>Excellent:</a:t>
                      </a:r>
                      <a:r>
                        <a:rPr lang="en-IN" sz="1400" dirty="0">
                          <a:solidFill>
                            <a:srgbClr val="1F1F1F"/>
                          </a:solidFill>
                          <a:effectLst/>
                          <a:latin typeface="Inter"/>
                        </a:rPr>
                        <a:t> Natively connects to local LLMs (</a:t>
                      </a:r>
                      <a:r>
                        <a:rPr lang="en-IN" sz="1400" dirty="0" err="1">
                          <a:solidFill>
                            <a:srgbClr val="1F1F1F"/>
                          </a:solidFill>
                          <a:effectLst/>
                          <a:latin typeface="Inter"/>
                        </a:rPr>
                        <a:t>Ollama</a:t>
                      </a:r>
                      <a:r>
                        <a:rPr lang="en-IN" sz="1400" dirty="0">
                          <a:solidFill>
                            <a:srgbClr val="1F1F1F"/>
                          </a:solidFill>
                          <a:effectLst/>
                          <a:latin typeface="Inter"/>
                        </a:rPr>
                        <a:t>, Llama.cpp) and local vector stores (Chroma).</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2733084250"/>
                  </a:ext>
                </a:extLst>
              </a:tr>
              <a:tr h="1123048">
                <a:tc>
                  <a:txBody>
                    <a:bodyPr/>
                    <a:lstStyle/>
                    <a:p>
                      <a:pPr marL="0" marR="0" algn="ctr" rtl="0">
                        <a:spcAft>
                          <a:spcPts val="2400"/>
                        </a:spcAft>
                        <a:buNone/>
                      </a:pPr>
                      <a:r>
                        <a:rPr lang="en-IN" sz="1500" b="1" dirty="0" err="1">
                          <a:solidFill>
                            <a:srgbClr val="1F1F1F"/>
                          </a:solidFill>
                          <a:effectLst/>
                          <a:latin typeface="Inter"/>
                        </a:rPr>
                        <a:t>LangGraph</a:t>
                      </a:r>
                      <a:r>
                        <a:rPr lang="en-IN" sz="1500" b="1" dirty="0">
                          <a:solidFill>
                            <a:srgbClr val="1F1F1F"/>
                          </a:solidFill>
                          <a:effectLst/>
                          <a:latin typeface="Inter"/>
                        </a:rPr>
                        <a:t> [8]</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dirty="0">
                          <a:solidFill>
                            <a:srgbClr val="1F1F1F"/>
                          </a:solidFill>
                          <a:effectLst/>
                          <a:latin typeface="Inter"/>
                        </a:rPr>
                        <a:t>Stateful Graph Orchestration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Cycles and loops, robust state persistence, time-travel debugging</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Steeper learning curve, excessive setup for simple tasks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Production-grade multi-agent systems, human-in-the-loop control</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a:solidFill>
                            <a:srgbClr val="1F1F1F"/>
                          </a:solidFill>
                          <a:effectLst/>
                          <a:latin typeface="Inter"/>
                        </a:rPr>
                        <a:t>Excellent:</a:t>
                      </a:r>
                      <a:r>
                        <a:rPr lang="en-IN" sz="1400">
                          <a:solidFill>
                            <a:srgbClr val="1F1F1F"/>
                          </a:solidFill>
                          <a:effectLst/>
                          <a:latin typeface="Inter"/>
                        </a:rPr>
                        <a:t> Inherits LangChain's local capabilities; operates entirely offline with self-hosted models.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1687860845"/>
                  </a:ext>
                </a:extLst>
              </a:tr>
              <a:tr h="1341325">
                <a:tc>
                  <a:txBody>
                    <a:bodyPr/>
                    <a:lstStyle/>
                    <a:p>
                      <a:pPr marL="0" marR="0" algn="ctr" rtl="0">
                        <a:spcAft>
                          <a:spcPts val="2400"/>
                        </a:spcAft>
                        <a:buNone/>
                      </a:pPr>
                      <a:r>
                        <a:rPr lang="en-IN" sz="1500" b="1" dirty="0" err="1">
                          <a:solidFill>
                            <a:srgbClr val="1F1F1F"/>
                          </a:solidFill>
                          <a:effectLst/>
                          <a:latin typeface="Inter"/>
                        </a:rPr>
                        <a:t>CrewAI</a:t>
                      </a:r>
                      <a:r>
                        <a:rPr lang="en-IN" sz="1500" b="1" dirty="0">
                          <a:solidFill>
                            <a:srgbClr val="1F1F1F"/>
                          </a:solidFill>
                          <a:effectLst/>
                          <a:latin typeface="Inter"/>
                        </a:rPr>
                        <a:t> [9]</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a:solidFill>
                            <a:srgbClr val="1F1F1F"/>
                          </a:solidFill>
                          <a:effectLst/>
                          <a:latin typeface="Inter"/>
                        </a:rPr>
                        <a:t>Role-based Team Collaboration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Easy setup, intuitive agent personas, automatic task delegation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Limited dynamic branching and complex workflow flow control</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Autonomous research pipelines, content creation, structured teams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dirty="0">
                          <a:solidFill>
                            <a:srgbClr val="1F1F1F"/>
                          </a:solidFill>
                          <a:effectLst/>
                          <a:latin typeface="Inter"/>
                        </a:rPr>
                        <a:t>Strong:</a:t>
                      </a:r>
                      <a:r>
                        <a:rPr lang="en-IN" sz="1400" dirty="0">
                          <a:solidFill>
                            <a:srgbClr val="1F1F1F"/>
                          </a:solidFill>
                          <a:effectLst/>
                          <a:latin typeface="Inter"/>
                        </a:rPr>
                        <a:t> Explicitly supports local execution by binding agents to local endpoints via </a:t>
                      </a:r>
                      <a:r>
                        <a:rPr lang="en-IN" sz="1400" dirty="0" err="1">
                          <a:solidFill>
                            <a:srgbClr val="1F1F1F"/>
                          </a:solidFill>
                          <a:effectLst/>
                          <a:latin typeface="Inter"/>
                        </a:rPr>
                        <a:t>Ollama</a:t>
                      </a:r>
                      <a:r>
                        <a:rPr lang="en-IN" sz="1400" dirty="0">
                          <a:solidFill>
                            <a:srgbClr val="1F1F1F"/>
                          </a:solidFill>
                          <a:effectLst/>
                          <a:latin typeface="Inter"/>
                        </a:rPr>
                        <a:t> or </a:t>
                      </a:r>
                      <a:r>
                        <a:rPr lang="en-IN" sz="1400" dirty="0" err="1">
                          <a:solidFill>
                            <a:srgbClr val="1F1F1F"/>
                          </a:solidFill>
                          <a:effectLst/>
                          <a:latin typeface="Inter"/>
                        </a:rPr>
                        <a:t>LiteLLM</a:t>
                      </a:r>
                      <a:r>
                        <a:rPr lang="en-IN" sz="1400" dirty="0">
                          <a:solidFill>
                            <a:srgbClr val="1F1F1F"/>
                          </a:solidFill>
                          <a:effectLst/>
                          <a:latin typeface="Inter"/>
                        </a:rPr>
                        <a:t>.</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3456865933"/>
                  </a:ext>
                </a:extLst>
              </a:tr>
              <a:tr h="1341325">
                <a:tc>
                  <a:txBody>
                    <a:bodyPr/>
                    <a:lstStyle/>
                    <a:p>
                      <a:pPr marL="0" marR="0" algn="ctr" rtl="0">
                        <a:spcAft>
                          <a:spcPts val="2400"/>
                        </a:spcAft>
                        <a:buNone/>
                      </a:pPr>
                      <a:r>
                        <a:rPr lang="en-IN" sz="1500" b="1" dirty="0">
                          <a:solidFill>
                            <a:srgbClr val="1F1F1F"/>
                          </a:solidFill>
                          <a:effectLst/>
                          <a:latin typeface="Inter"/>
                        </a:rPr>
                        <a:t>OpenAI Agents SDK [10]</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dirty="0">
                          <a:solidFill>
                            <a:srgbClr val="1F1F1F"/>
                          </a:solidFill>
                          <a:effectLst/>
                          <a:latin typeface="Inter"/>
                        </a:rPr>
                        <a:t>Lightweight Handoffs &amp; Guardrails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Minimal abstractions, built-in tracing, standardized routing primitives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Lacks built-in persistent long-term memory or native graph structures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Rapid deployment of production agents, voice pipelines, clear delegation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dirty="0">
                          <a:solidFill>
                            <a:srgbClr val="1F1F1F"/>
                          </a:solidFill>
                          <a:effectLst/>
                          <a:latin typeface="Inter"/>
                        </a:rPr>
                        <a:t>Very Good:</a:t>
                      </a:r>
                      <a:r>
                        <a:rPr lang="en-IN" sz="1400" dirty="0">
                          <a:solidFill>
                            <a:srgbClr val="1F1F1F"/>
                          </a:solidFill>
                          <a:effectLst/>
                          <a:latin typeface="Inter"/>
                        </a:rPr>
                        <a:t> Provider-agnostic design allows it to run offline by routing to local models via the Chat Completions API.</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3338199989"/>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5" name="Picture 4"/>
          <p:cNvPicPr>
            <a:picLocks noChangeAspect="1"/>
          </p:cNvPicPr>
          <p:nvPr/>
        </p:nvPicPr>
        <p:blipFill>
          <a:blip r:embed="rId3">
            <a:duotone>
              <a:schemeClr val="accent1">
                <a:shade val="45000"/>
                <a:satMod val="135000"/>
              </a:schemeClr>
              <a:prstClr val="white"/>
            </a:duotone>
          </a:blip>
          <a:srcRect/>
          <a:stretch/>
        </p:blipFill>
        <p:spPr>
          <a:xfrm>
            <a:off x="1190539" y="1157478"/>
            <a:ext cx="9013639" cy="2383750"/>
          </a:xfrm>
          <a:prstGeom prst="rect">
            <a:avLst/>
          </a:prstGeom>
        </p:spPr>
      </p:pic>
      <p:sp>
        <p:nvSpPr>
          <p:cNvPr id="3" name="TextBox 2"/>
          <p:cNvSpPr txBox="1"/>
          <p:nvPr/>
        </p:nvSpPr>
        <p:spPr>
          <a:xfrm>
            <a:off x="571500" y="1157478"/>
            <a:ext cx="10848822" cy="492443"/>
          </a:xfrm>
          <a:prstGeom prst="rect">
            <a:avLst/>
          </a:prstGeom>
          <a:noFill/>
        </p:spPr>
        <p:txBody>
          <a:bodyPr wrap="square" lIns="0" tIns="0" rIns="0" bIns="0" anchor="t">
            <a:spAutoFit/>
          </a:bodyPr>
          <a:lstStyle/>
          <a:p>
            <a:pPr algn="just">
              <a:defRPr sz="2000"/>
            </a:pPr>
            <a:r>
              <a:rPr lang="en-US" sz="1600" dirty="0">
                <a:latin typeface="Inter"/>
              </a:rPr>
              <a:t>The Traditional Software Development Life Cycle (SDLC) is the structured framework that engineering teams follow to plan, design, build, test, and deploy software applications from initial concept. </a:t>
            </a:r>
          </a:p>
        </p:txBody>
      </p:sp>
      <p:sp>
        <p:nvSpPr>
          <p:cNvPr id="14" name="TextBox 13"/>
          <p:cNvSpPr txBox="1"/>
          <p:nvPr/>
        </p:nvSpPr>
        <p:spPr>
          <a:xfrm>
            <a:off x="571500" y="542032"/>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The </a:t>
            </a:r>
            <a:r>
              <a:rPr sz="3300" b="1" i="0" u="none" dirty="0">
                <a:solidFill>
                  <a:srgbClr val="2563EB"/>
                </a:solidFill>
                <a:latin typeface="Inter"/>
              </a:rPr>
              <a:t>Traditional SDLC</a:t>
            </a:r>
          </a:p>
        </p:txBody>
      </p:sp>
      <p:pic>
        <p:nvPicPr>
          <p:cNvPr id="6" name="Picture 5">
            <a:extLst>
              <a:ext uri="{FF2B5EF4-FFF2-40B4-BE49-F238E27FC236}">
                <a16:creationId xmlns:a16="http://schemas.microsoft.com/office/drawing/2014/main" id="{FE6F527F-E6A0-E09A-E8A3-5BDE2563D7AF}"/>
              </a:ext>
            </a:extLst>
          </p:cNvPr>
          <p:cNvPicPr>
            <a:picLocks noChangeAspect="1"/>
          </p:cNvPicPr>
          <p:nvPr/>
        </p:nvPicPr>
        <p:blipFill>
          <a:blip r:embed="rId4"/>
          <a:stretch>
            <a:fillRect/>
          </a:stretch>
        </p:blipFill>
        <p:spPr>
          <a:xfrm>
            <a:off x="1405744" y="4513008"/>
            <a:ext cx="9180334" cy="2245188"/>
          </a:xfrm>
          <a:prstGeom prst="rect">
            <a:avLst/>
          </a:prstGeom>
        </p:spPr>
      </p:pic>
      <p:sp>
        <p:nvSpPr>
          <p:cNvPr id="16" name="TextBox 15">
            <a:extLst>
              <a:ext uri="{FF2B5EF4-FFF2-40B4-BE49-F238E27FC236}">
                <a16:creationId xmlns:a16="http://schemas.microsoft.com/office/drawing/2014/main" id="{0F3CF981-F4E7-6250-EC53-D95CA12BD3A0}"/>
              </a:ext>
            </a:extLst>
          </p:cNvPr>
          <p:cNvSpPr txBox="1"/>
          <p:nvPr/>
        </p:nvSpPr>
        <p:spPr>
          <a:xfrm>
            <a:off x="671589" y="3247764"/>
            <a:ext cx="10848822" cy="1723549"/>
          </a:xfrm>
          <a:prstGeom prst="rect">
            <a:avLst/>
          </a:prstGeom>
          <a:noFill/>
        </p:spPr>
        <p:txBody>
          <a:bodyPr wrap="square" lIns="0" tIns="0" rIns="0" bIns="0" anchor="t">
            <a:spAutoFit/>
          </a:bodyPr>
          <a:lstStyle/>
          <a:p>
            <a:pPr algn="just">
              <a:defRPr sz="2000"/>
            </a:pPr>
            <a:r>
              <a:rPr lang="en-IN" sz="1600" dirty="0">
                <a:latin typeface="Inter"/>
              </a:rPr>
              <a:t>This Manual SDLC execution creates severe friction—engineers waste most of their time on administrative handoffs, environment setups, regression testing, and ticketing overhead instead of writing core logic.[5]</a:t>
            </a:r>
          </a:p>
          <a:p>
            <a:pPr algn="just">
              <a:defRPr sz="2000"/>
            </a:pPr>
            <a:endParaRPr lang="en-IN" sz="1600" b="1" dirty="0">
              <a:latin typeface="Inter"/>
            </a:endParaRPr>
          </a:p>
          <a:p>
            <a:pPr algn="just">
              <a:defRPr sz="2000"/>
            </a:pPr>
            <a:r>
              <a:rPr lang="en-US" sz="1600" b="1" dirty="0">
                <a:solidFill>
                  <a:schemeClr val="accent1">
                    <a:lumMod val="50000"/>
                  </a:schemeClr>
                </a:solidFill>
                <a:latin typeface="Inter"/>
              </a:rPr>
              <a:t>So, Our Aim is to automate the Traditional SDLC </a:t>
            </a:r>
            <a:r>
              <a:rPr lang="en-IN" sz="1600" b="1" dirty="0">
                <a:solidFill>
                  <a:schemeClr val="accent1">
                    <a:lumMod val="50000"/>
                  </a:schemeClr>
                </a:solidFill>
                <a:latin typeface="Inter"/>
              </a:rPr>
              <a:t>with Agentic AI, </a:t>
            </a:r>
            <a:r>
              <a:rPr lang="en-IN" sz="1600" dirty="0">
                <a:latin typeface="Inter"/>
              </a:rPr>
              <a:t>which will replaces these static bottlenecks with continuous, self-healing pipelines that autonomously execute tests, patch build failures, flag vulnerabilities, and manage releases. This </a:t>
            </a:r>
            <a:r>
              <a:rPr lang="en-IN" sz="1600" b="1" dirty="0">
                <a:latin typeface="Inter"/>
              </a:rPr>
              <a:t>eliminates human error, compresses cycle times from months to hours, and frees development teams to focus on high-value architecture and innovation.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1120" y="-12025"/>
            <a:ext cx="12301220" cy="6858000"/>
          </a:xfrm>
          <a:prstGeom prst="rect">
            <a:avLst/>
          </a:prstGeom>
        </p:spPr>
      </p:pic>
      <p:sp>
        <p:nvSpPr>
          <p:cNvPr id="37" name="Rectangle: Rounded Corners 36">
            <a:extLst>
              <a:ext uri="{FF2B5EF4-FFF2-40B4-BE49-F238E27FC236}">
                <a16:creationId xmlns:a16="http://schemas.microsoft.com/office/drawing/2014/main" id="{3140C37B-D52A-8E41-CE37-9FB27AC870E6}"/>
              </a:ext>
            </a:extLst>
          </p:cNvPr>
          <p:cNvSpPr/>
          <p:nvPr/>
        </p:nvSpPr>
        <p:spPr>
          <a:xfrm>
            <a:off x="762000" y="5419562"/>
            <a:ext cx="4502150" cy="595623"/>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5" name="Rectangle: Rounded Corners 34">
            <a:extLst>
              <a:ext uri="{FF2B5EF4-FFF2-40B4-BE49-F238E27FC236}">
                <a16:creationId xmlns:a16="http://schemas.microsoft.com/office/drawing/2014/main" id="{8EADB9D7-CABA-C15E-65E0-02CBC0788E5D}"/>
              </a:ext>
            </a:extLst>
          </p:cNvPr>
          <p:cNvSpPr/>
          <p:nvPr/>
        </p:nvSpPr>
        <p:spPr>
          <a:xfrm>
            <a:off x="762000" y="4000743"/>
            <a:ext cx="4502150" cy="1233999"/>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3" name="Rectangle: Rounded Corners 32">
            <a:extLst>
              <a:ext uri="{FF2B5EF4-FFF2-40B4-BE49-F238E27FC236}">
                <a16:creationId xmlns:a16="http://schemas.microsoft.com/office/drawing/2014/main" id="{CE2CCB64-612D-62FF-FD45-08A7D393C5E6}"/>
              </a:ext>
            </a:extLst>
          </p:cNvPr>
          <p:cNvSpPr/>
          <p:nvPr/>
        </p:nvSpPr>
        <p:spPr>
          <a:xfrm>
            <a:off x="762000" y="3263846"/>
            <a:ext cx="4502150" cy="568436"/>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1" name="Rectangle: Rounded Corners 30">
            <a:extLst>
              <a:ext uri="{FF2B5EF4-FFF2-40B4-BE49-F238E27FC236}">
                <a16:creationId xmlns:a16="http://schemas.microsoft.com/office/drawing/2014/main" id="{A36B0AC3-D7D0-B89C-6F21-AAB4BB83F14C}"/>
              </a:ext>
            </a:extLst>
          </p:cNvPr>
          <p:cNvSpPr/>
          <p:nvPr/>
        </p:nvSpPr>
        <p:spPr>
          <a:xfrm>
            <a:off x="762000" y="1890340"/>
            <a:ext cx="4502150" cy="1219272"/>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3" name="Picture 2" descr="image.png"/>
          <p:cNvPicPr>
            <a:picLocks noChangeAspect="1"/>
          </p:cNvPicPr>
          <p:nvPr/>
        </p:nvPicPr>
        <p:blipFill>
          <a:blip r:embed="rId3"/>
          <a:stretch>
            <a:fillRect/>
          </a:stretch>
        </p:blipFill>
        <p:spPr>
          <a:xfrm>
            <a:off x="6334125" y="1890340"/>
            <a:ext cx="5286375" cy="4124845"/>
          </a:xfrm>
          <a:prstGeom prst="rect">
            <a:avLst/>
          </a:prstGeom>
        </p:spPr>
      </p:pic>
      <p:pic>
        <p:nvPicPr>
          <p:cNvPr id="4" name="Picture 3" descr="image.png"/>
          <p:cNvPicPr>
            <a:picLocks noChangeAspect="1"/>
          </p:cNvPicPr>
          <p:nvPr/>
        </p:nvPicPr>
        <p:blipFill>
          <a:blip r:embed="rId4"/>
          <a:stretch>
            <a:fillRect/>
          </a:stretch>
        </p:blipFill>
        <p:spPr>
          <a:xfrm>
            <a:off x="1089095" y="2060080"/>
            <a:ext cx="304800" cy="304800"/>
          </a:xfrm>
          <a:prstGeom prst="rect">
            <a:avLst/>
          </a:prstGeom>
        </p:spPr>
      </p:pic>
      <p:pic>
        <p:nvPicPr>
          <p:cNvPr id="5" name="Picture 4" descr="image.png"/>
          <p:cNvPicPr>
            <a:picLocks noChangeAspect="1"/>
          </p:cNvPicPr>
          <p:nvPr/>
        </p:nvPicPr>
        <p:blipFill>
          <a:blip r:embed="rId5"/>
          <a:stretch>
            <a:fillRect/>
          </a:stretch>
        </p:blipFill>
        <p:spPr>
          <a:xfrm>
            <a:off x="1108145" y="2615059"/>
            <a:ext cx="304800" cy="304800"/>
          </a:xfrm>
          <a:prstGeom prst="rect">
            <a:avLst/>
          </a:prstGeom>
        </p:spPr>
      </p:pic>
      <p:pic>
        <p:nvPicPr>
          <p:cNvPr id="6" name="Picture 5" descr="image.png"/>
          <p:cNvPicPr>
            <a:picLocks noChangeAspect="1"/>
          </p:cNvPicPr>
          <p:nvPr/>
        </p:nvPicPr>
        <p:blipFill>
          <a:blip r:embed="rId6"/>
          <a:stretch>
            <a:fillRect/>
          </a:stretch>
        </p:blipFill>
        <p:spPr>
          <a:xfrm>
            <a:off x="1089095" y="3385000"/>
            <a:ext cx="304800" cy="304800"/>
          </a:xfrm>
          <a:prstGeom prst="rect">
            <a:avLst/>
          </a:prstGeom>
        </p:spPr>
      </p:pic>
      <p:pic>
        <p:nvPicPr>
          <p:cNvPr id="7" name="Picture 6" descr="image.png"/>
          <p:cNvPicPr>
            <a:picLocks noChangeAspect="1"/>
          </p:cNvPicPr>
          <p:nvPr/>
        </p:nvPicPr>
        <p:blipFill>
          <a:blip r:embed="rId7"/>
          <a:stretch>
            <a:fillRect/>
          </a:stretch>
        </p:blipFill>
        <p:spPr>
          <a:xfrm>
            <a:off x="1089095" y="4162780"/>
            <a:ext cx="304800" cy="304800"/>
          </a:xfrm>
          <a:prstGeom prst="rect">
            <a:avLst/>
          </a:prstGeom>
        </p:spPr>
      </p:pic>
      <p:pic>
        <p:nvPicPr>
          <p:cNvPr id="8" name="Picture 7" descr="image.png"/>
          <p:cNvPicPr>
            <a:picLocks noChangeAspect="1"/>
          </p:cNvPicPr>
          <p:nvPr/>
        </p:nvPicPr>
        <p:blipFill>
          <a:blip r:embed="rId8"/>
          <a:stretch>
            <a:fillRect/>
          </a:stretch>
        </p:blipFill>
        <p:spPr>
          <a:xfrm>
            <a:off x="1089095" y="4651456"/>
            <a:ext cx="304800" cy="304800"/>
          </a:xfrm>
          <a:prstGeom prst="rect">
            <a:avLst/>
          </a:prstGeom>
        </p:spPr>
      </p:pic>
      <p:pic>
        <p:nvPicPr>
          <p:cNvPr id="9" name="Picture 8" descr="image.png"/>
          <p:cNvPicPr>
            <a:picLocks noChangeAspect="1"/>
          </p:cNvPicPr>
          <p:nvPr/>
        </p:nvPicPr>
        <p:blipFill>
          <a:blip r:embed="rId9"/>
          <a:stretch>
            <a:fillRect/>
          </a:stretch>
        </p:blipFill>
        <p:spPr>
          <a:xfrm>
            <a:off x="1089095" y="5543427"/>
            <a:ext cx="304800" cy="304800"/>
          </a:xfrm>
          <a:prstGeom prst="rect">
            <a:avLst/>
          </a:prstGeom>
        </p:spPr>
      </p:pic>
      <p:sp>
        <p:nvSpPr>
          <p:cNvPr id="10" name="TextBox 9"/>
          <p:cNvSpPr txBox="1"/>
          <p:nvPr/>
        </p:nvSpPr>
        <p:spPr>
          <a:xfrm>
            <a:off x="573037" y="1028700"/>
            <a:ext cx="5286375" cy="609600"/>
          </a:xfrm>
          <a:prstGeom prst="rect">
            <a:avLst/>
          </a:prstGeom>
          <a:noFill/>
        </p:spPr>
        <p:txBody>
          <a:bodyPr wrap="square" lIns="0" tIns="0" rIns="0" bIns="0" anchor="t">
            <a:spAutoFit/>
          </a:bodyPr>
          <a:lstStyle/>
          <a:p>
            <a:pPr algn="l">
              <a:lnSpc>
                <a:spcPts val="2400"/>
              </a:lnSpc>
            </a:pPr>
            <a:r>
              <a:rPr sz="1500" b="0" i="0" u="none" dirty="0">
                <a:solidFill>
                  <a:srgbClr val="475569"/>
                </a:solidFill>
                <a:latin typeface="Inter"/>
              </a:rPr>
              <a:t>A modular pipeline with integrated </a:t>
            </a:r>
            <a:r>
              <a:rPr sz="1500" b="1" i="0" u="none" dirty="0">
                <a:solidFill>
                  <a:srgbClr val="475569"/>
                </a:solidFill>
                <a:latin typeface="Inter"/>
              </a:rPr>
              <a:t>Human-in-the-Loop (HITL)</a:t>
            </a:r>
            <a:r>
              <a:rPr sz="1500" b="0" i="0" u="none" dirty="0">
                <a:solidFill>
                  <a:srgbClr val="475569"/>
                </a:solidFill>
                <a:latin typeface="Inter"/>
              </a:rPr>
              <a:t> governance gates to ensure enterprise safety.</a:t>
            </a:r>
          </a:p>
        </p:txBody>
      </p:sp>
      <p:sp>
        <p:nvSpPr>
          <p:cNvPr id="11" name="TextBox 10"/>
          <p:cNvSpPr txBox="1"/>
          <p:nvPr/>
        </p:nvSpPr>
        <p:spPr>
          <a:xfrm>
            <a:off x="6935978" y="2653159"/>
            <a:ext cx="4930616" cy="295275"/>
          </a:xfrm>
          <a:prstGeom prst="rect">
            <a:avLst/>
          </a:prstGeom>
          <a:noFill/>
        </p:spPr>
        <p:txBody>
          <a:bodyPr wrap="square" lIns="242738" tIns="0" rIns="0" bIns="0" anchor="t">
            <a:spAutoFit/>
          </a:bodyPr>
          <a:lstStyle/>
          <a:p>
            <a:pPr algn="l"/>
            <a:r>
              <a:rPr sz="1950" b="0" i="0" u="none" dirty="0">
                <a:solidFill>
                  <a:srgbClr val="2563EB"/>
                </a:solidFill>
                <a:latin typeface="Inter SemiBold"/>
              </a:rPr>
              <a:t>Continuous Loop</a:t>
            </a:r>
          </a:p>
        </p:txBody>
      </p:sp>
      <p:sp>
        <p:nvSpPr>
          <p:cNvPr id="12" name="TextBox 11"/>
          <p:cNvSpPr txBox="1"/>
          <p:nvPr/>
        </p:nvSpPr>
        <p:spPr>
          <a:xfrm>
            <a:off x="6784367" y="3148460"/>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7. Monitoring &amp; Learning:</a:t>
            </a:r>
            <a:r>
              <a:rPr sz="1500" b="0" i="0" u="none" dirty="0">
                <a:solidFill>
                  <a:srgbClr val="334155"/>
                </a:solidFill>
                <a:latin typeface="Inter"/>
              </a:rPr>
              <a:t> Consumes production logs, metrics, and user feedback to detect errors and optimize prompts.</a:t>
            </a:r>
          </a:p>
        </p:txBody>
      </p:sp>
      <p:sp>
        <p:nvSpPr>
          <p:cNvPr id="13" name="TextBox 12"/>
          <p:cNvSpPr txBox="1"/>
          <p:nvPr/>
        </p:nvSpPr>
        <p:spPr>
          <a:xfrm>
            <a:off x="6784367" y="4205735"/>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8. Organizational Memory:</a:t>
            </a:r>
            <a:r>
              <a:rPr sz="1500" b="0" i="0" u="none" dirty="0">
                <a:solidFill>
                  <a:srgbClr val="334155"/>
                </a:solidFill>
                <a:latin typeface="Inter"/>
              </a:rPr>
              <a:t> Captures all requirements,</a:t>
            </a:r>
            <a:endParaRPr lang="en-IN" sz="1500" b="0" i="0" u="none" dirty="0">
              <a:solidFill>
                <a:srgbClr val="334155"/>
              </a:solidFill>
              <a:latin typeface="Inter"/>
            </a:endParaRPr>
          </a:p>
          <a:p>
            <a:pPr algn="l">
              <a:lnSpc>
                <a:spcPts val="2400"/>
              </a:lnSpc>
            </a:pPr>
            <a:r>
              <a:rPr sz="1500" b="0" i="0" u="none" dirty="0">
                <a:solidFill>
                  <a:srgbClr val="334155"/>
                </a:solidFill>
                <a:latin typeface="Inter"/>
              </a:rPr>
              <a:t>code, reviews, and bug fixes into a Knowledge Graph for cross-sprint learning.</a:t>
            </a:r>
          </a:p>
        </p:txBody>
      </p:sp>
      <p:sp>
        <p:nvSpPr>
          <p:cNvPr id="15" name="Rectangle 14"/>
          <p:cNvSpPr/>
          <p:nvPr/>
        </p:nvSpPr>
        <p:spPr>
          <a:xfrm>
            <a:off x="1231970" y="3123601"/>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231970" y="3838858"/>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231970" y="5257677"/>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10"/>
          <a:stretch>
            <a:fillRect/>
          </a:stretch>
        </p:blipFill>
        <p:spPr>
          <a:xfrm>
            <a:off x="6784367" y="2691260"/>
            <a:ext cx="242738" cy="247650"/>
          </a:xfrm>
          <a:prstGeom prst="rect">
            <a:avLst/>
          </a:prstGeom>
        </p:spPr>
      </p:pic>
      <p:sp>
        <p:nvSpPr>
          <p:cNvPr id="20" name="TextBox 19"/>
          <p:cNvSpPr txBox="1"/>
          <p:nvPr/>
        </p:nvSpPr>
        <p:spPr>
          <a:xfrm>
            <a:off x="1536770" y="2104324"/>
            <a:ext cx="2095500" cy="230832"/>
          </a:xfrm>
          <a:prstGeom prst="rect">
            <a:avLst/>
          </a:prstGeom>
          <a:noFill/>
        </p:spPr>
        <p:txBody>
          <a:bodyPr wrap="square" lIns="0" tIns="0" rIns="0" bIns="0" anchor="t">
            <a:spAutoFit/>
          </a:bodyPr>
          <a:lstStyle/>
          <a:p>
            <a:pPr algn="l"/>
            <a:r>
              <a:rPr sz="1500" b="0" i="0" u="none" dirty="0">
                <a:solidFill>
                  <a:srgbClr val="1E293B"/>
                </a:solidFill>
                <a:latin typeface="Inter Medium"/>
              </a:rPr>
              <a:t>Requirement Engineering</a:t>
            </a:r>
          </a:p>
        </p:txBody>
      </p:sp>
      <p:sp>
        <p:nvSpPr>
          <p:cNvPr id="22" name="TextBox 21"/>
          <p:cNvSpPr txBox="1"/>
          <p:nvPr/>
        </p:nvSpPr>
        <p:spPr>
          <a:xfrm>
            <a:off x="1555820" y="2653159"/>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Planning</a:t>
            </a:r>
          </a:p>
        </p:txBody>
      </p:sp>
      <p:sp>
        <p:nvSpPr>
          <p:cNvPr id="23" name="TextBox 22"/>
          <p:cNvSpPr txBox="1"/>
          <p:nvPr/>
        </p:nvSpPr>
        <p:spPr>
          <a:xfrm>
            <a:off x="3816980" y="2694674"/>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24" name="TextBox 23"/>
          <p:cNvSpPr txBox="1"/>
          <p:nvPr/>
        </p:nvSpPr>
        <p:spPr>
          <a:xfrm>
            <a:off x="1536770" y="342310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Architecture &amp; Design</a:t>
            </a:r>
          </a:p>
        </p:txBody>
      </p:sp>
      <p:sp>
        <p:nvSpPr>
          <p:cNvPr id="25" name="TextBox 24"/>
          <p:cNvSpPr txBox="1"/>
          <p:nvPr/>
        </p:nvSpPr>
        <p:spPr>
          <a:xfrm>
            <a:off x="3832295" y="3442150"/>
            <a:ext cx="1047750" cy="190500"/>
          </a:xfrm>
          <a:prstGeom prst="rect">
            <a:avLst/>
          </a:prstGeom>
          <a:noFill/>
        </p:spPr>
        <p:txBody>
          <a:bodyPr wrap="square" lIns="0" tIns="0" rIns="0" bIns="0" anchor="ctr">
            <a:spAutoFit/>
          </a:bodyPr>
          <a:lstStyle/>
          <a:p>
            <a:pPr algn="l"/>
            <a:r>
              <a:rPr sz="1200" b="0" i="0" u="none">
                <a:solidFill>
                  <a:srgbClr val="16A34A"/>
                </a:solidFill>
                <a:latin typeface="Inter SemiBold"/>
              </a:rPr>
              <a:t>HITL Approval</a:t>
            </a:r>
          </a:p>
        </p:txBody>
      </p:sp>
      <p:sp>
        <p:nvSpPr>
          <p:cNvPr id="26" name="TextBox 25"/>
          <p:cNvSpPr txBox="1"/>
          <p:nvPr/>
        </p:nvSpPr>
        <p:spPr>
          <a:xfrm>
            <a:off x="1536770" y="420088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Development</a:t>
            </a:r>
          </a:p>
        </p:txBody>
      </p:sp>
      <p:sp>
        <p:nvSpPr>
          <p:cNvPr id="27" name="TextBox 26"/>
          <p:cNvSpPr txBox="1"/>
          <p:nvPr/>
        </p:nvSpPr>
        <p:spPr>
          <a:xfrm>
            <a:off x="1509875" y="4650569"/>
            <a:ext cx="2550014" cy="461665"/>
          </a:xfrm>
          <a:prstGeom prst="rect">
            <a:avLst/>
          </a:prstGeom>
          <a:noFill/>
        </p:spPr>
        <p:txBody>
          <a:bodyPr wrap="square" lIns="0" tIns="0" rIns="0" bIns="0" anchor="t">
            <a:spAutoFit/>
          </a:bodyPr>
          <a:lstStyle/>
          <a:p>
            <a:r>
              <a:rPr sz="1500" b="0" i="0" u="none" dirty="0">
                <a:solidFill>
                  <a:srgbClr val="1E293B"/>
                </a:solidFill>
                <a:latin typeface="Inter Medium"/>
              </a:rPr>
              <a:t>Verification (</a:t>
            </a:r>
            <a:r>
              <a:rPr lang="en-IN" sz="1500" dirty="0"/>
              <a:t>Quality Assurance (Testing)</a:t>
            </a:r>
            <a:r>
              <a:rPr sz="1500" b="0" i="0" u="none" dirty="0">
                <a:solidFill>
                  <a:srgbClr val="1E293B"/>
                </a:solidFill>
                <a:latin typeface="Inter Medium"/>
              </a:rPr>
              <a:t>/Security)</a:t>
            </a:r>
          </a:p>
        </p:txBody>
      </p:sp>
      <p:sp>
        <p:nvSpPr>
          <p:cNvPr id="29" name="TextBox 28"/>
          <p:cNvSpPr txBox="1"/>
          <p:nvPr/>
        </p:nvSpPr>
        <p:spPr>
          <a:xfrm>
            <a:off x="1536770" y="5581527"/>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Deployment</a:t>
            </a:r>
          </a:p>
        </p:txBody>
      </p:sp>
      <p:sp>
        <p:nvSpPr>
          <p:cNvPr id="30" name="TextBox 29"/>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sp>
        <p:nvSpPr>
          <p:cNvPr id="71" name="TextBox 70">
            <a:extLst>
              <a:ext uri="{FF2B5EF4-FFF2-40B4-BE49-F238E27FC236}">
                <a16:creationId xmlns:a16="http://schemas.microsoft.com/office/drawing/2014/main" id="{0D8EC028-5D16-CAD3-E5F3-8A9A85590BA4}"/>
              </a:ext>
            </a:extLst>
          </p:cNvPr>
          <p:cNvSpPr txBox="1"/>
          <p:nvPr/>
        </p:nvSpPr>
        <p:spPr>
          <a:xfrm>
            <a:off x="3895047" y="4923758"/>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73" name="TextBox 72">
            <a:extLst>
              <a:ext uri="{FF2B5EF4-FFF2-40B4-BE49-F238E27FC236}">
                <a16:creationId xmlns:a16="http://schemas.microsoft.com/office/drawing/2014/main" id="{B8EED8D0-6A02-FEF3-83D7-CFE4AC8EE770}"/>
              </a:ext>
            </a:extLst>
          </p:cNvPr>
          <p:cNvSpPr txBox="1"/>
          <p:nvPr/>
        </p:nvSpPr>
        <p:spPr>
          <a:xfrm>
            <a:off x="3832295" y="5686757"/>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E3C082F-0A42-D7B8-A67F-ED7E627C39F9}"/>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CDC49EFA-0EB5-3FCD-11F0-66179AEDD2F8}"/>
              </a:ext>
            </a:extLst>
          </p:cNvPr>
          <p:cNvPicPr>
            <a:picLocks noChangeAspect="1"/>
          </p:cNvPicPr>
          <p:nvPr/>
        </p:nvPicPr>
        <p:blipFill>
          <a:blip r:embed="rId2"/>
          <a:stretch>
            <a:fillRect/>
          </a:stretch>
        </p:blipFill>
        <p:spPr>
          <a:xfrm>
            <a:off x="-71120" y="-12025"/>
            <a:ext cx="12301220" cy="6955436"/>
          </a:xfrm>
          <a:prstGeom prst="rect">
            <a:avLst/>
          </a:prstGeom>
        </p:spPr>
      </p:pic>
      <p:sp>
        <p:nvSpPr>
          <p:cNvPr id="30" name="TextBox 29">
            <a:extLst>
              <a:ext uri="{FF2B5EF4-FFF2-40B4-BE49-F238E27FC236}">
                <a16:creationId xmlns:a16="http://schemas.microsoft.com/office/drawing/2014/main" id="{B7C9B56D-539F-ECA1-86D9-A377C11B350D}"/>
              </a:ext>
            </a:extLst>
          </p:cNvPr>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pic>
        <p:nvPicPr>
          <p:cNvPr id="17" name="Picture 16">
            <a:extLst>
              <a:ext uri="{FF2B5EF4-FFF2-40B4-BE49-F238E27FC236}">
                <a16:creationId xmlns:a16="http://schemas.microsoft.com/office/drawing/2014/main" id="{B9733B2C-8C17-D677-B8A0-F33792DAA4E4}"/>
              </a:ext>
            </a:extLst>
          </p:cNvPr>
          <p:cNvPicPr>
            <a:picLocks noChangeAspect="1"/>
          </p:cNvPicPr>
          <p:nvPr/>
        </p:nvPicPr>
        <p:blipFill>
          <a:blip r:embed="rId3"/>
          <a:srcRect t="-483" b="10106"/>
          <a:stretch>
            <a:fillRect/>
          </a:stretch>
        </p:blipFill>
        <p:spPr>
          <a:xfrm>
            <a:off x="-16510" y="1054511"/>
            <a:ext cx="12192000" cy="5395452"/>
          </a:xfrm>
          <a:prstGeom prst="rect">
            <a:avLst/>
          </a:prstGeom>
        </p:spPr>
      </p:pic>
    </p:spTree>
    <p:extLst>
      <p:ext uri="{BB962C8B-B14F-4D97-AF65-F5344CB8AC3E}">
        <p14:creationId xmlns:p14="http://schemas.microsoft.com/office/powerpoint/2010/main" val="22553069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03242" y="1224731"/>
            <a:ext cx="11049000" cy="609600"/>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While highly capable, existing autonomous systems index heavily on code generation, lacking end-to-end SDLC orchestration and organizational memory.</a:t>
            </a:r>
          </a:p>
        </p:txBody>
      </p:sp>
      <p:sp>
        <p:nvSpPr>
          <p:cNvPr id="4" name="Rounded Rectangle 3"/>
          <p:cNvSpPr/>
          <p:nvPr/>
        </p:nvSpPr>
        <p:spPr>
          <a:xfrm>
            <a:off x="561972" y="2119312"/>
            <a:ext cx="11049000" cy="3295650"/>
          </a:xfrm>
          <a:prstGeom prst="roundRect">
            <a:avLst>
              <a:gd name="adj" fmla="val 0"/>
            </a:avLst>
          </a:prstGeom>
          <a:solidFill>
            <a:srgbClr val="FFFFFF"/>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extLst>
              <p:ext uri="{D42A27DB-BD31-4B8C-83A1-F6EECF244321}">
                <p14:modId xmlns:p14="http://schemas.microsoft.com/office/powerpoint/2010/main" val="2734106552"/>
              </p:ext>
            </p:extLst>
          </p:nvPr>
        </p:nvGraphicFramePr>
        <p:xfrm>
          <a:off x="561972" y="2119312"/>
          <a:ext cx="11039472" cy="3295650"/>
        </p:xfrm>
        <a:graphic>
          <a:graphicData uri="http://schemas.openxmlformats.org/drawingml/2006/table">
            <a:tbl>
              <a:tblPr firstRow="1" bandRow="1">
                <a:tableStyleId>{5C22544A-7EE6-4342-B048-85BDC9FD1C3A}</a:tableStyleId>
              </a:tblPr>
              <a:tblGrid>
                <a:gridCol w="2839194">
                  <a:extLst>
                    <a:ext uri="{9D8B030D-6E8A-4147-A177-3AD203B41FA5}">
                      <a16:colId xmlns:a16="http://schemas.microsoft.com/office/drawing/2014/main" val="20000"/>
                    </a:ext>
                  </a:extLst>
                </a:gridCol>
                <a:gridCol w="2139701">
                  <a:extLst>
                    <a:ext uri="{9D8B030D-6E8A-4147-A177-3AD203B41FA5}">
                      <a16:colId xmlns:a16="http://schemas.microsoft.com/office/drawing/2014/main" val="20001"/>
                    </a:ext>
                  </a:extLst>
                </a:gridCol>
                <a:gridCol w="1351954">
                  <a:extLst>
                    <a:ext uri="{9D8B030D-6E8A-4147-A177-3AD203B41FA5}">
                      <a16:colId xmlns:a16="http://schemas.microsoft.com/office/drawing/2014/main" val="20002"/>
                    </a:ext>
                  </a:extLst>
                </a:gridCol>
                <a:gridCol w="1375469">
                  <a:extLst>
                    <a:ext uri="{9D8B030D-6E8A-4147-A177-3AD203B41FA5}">
                      <a16:colId xmlns:a16="http://schemas.microsoft.com/office/drawing/2014/main" val="20003"/>
                    </a:ext>
                  </a:extLst>
                </a:gridCol>
                <a:gridCol w="1398984">
                  <a:extLst>
                    <a:ext uri="{9D8B030D-6E8A-4147-A177-3AD203B41FA5}">
                      <a16:colId xmlns:a16="http://schemas.microsoft.com/office/drawing/2014/main" val="20004"/>
                    </a:ext>
                  </a:extLst>
                </a:gridCol>
                <a:gridCol w="1934170">
                  <a:extLst>
                    <a:ext uri="{9D8B030D-6E8A-4147-A177-3AD203B41FA5}">
                      <a16:colId xmlns:a16="http://schemas.microsoft.com/office/drawing/2014/main" val="20005"/>
                    </a:ext>
                  </a:extLst>
                </a:gridCol>
              </a:tblGrid>
              <a:tr h="659130">
                <a:tc>
                  <a:txBody>
                    <a:bodyPr/>
                    <a:lstStyle/>
                    <a:p>
                      <a:pPr algn="l"/>
                      <a:r>
                        <a:rPr sz="1500" b="0" i="0" u="none">
                          <a:solidFill>
                            <a:srgbClr val="0F172A"/>
                          </a:solidFill>
                          <a:latin typeface="Inter SemiBold"/>
                        </a:rPr>
                        <a:t>System</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Requirements</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Design</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Coding</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Testing</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Deployment</a:t>
                      </a:r>
                    </a:p>
                  </a:txBody>
                  <a:tcPr marL="63500" marR="63500" marT="25400" marB="25400" anchor="ctr">
                    <a:lnL>
                      <a:noFill/>
                    </a:lnL>
                    <a:lnR>
                      <a:noFill/>
                    </a:lnR>
                    <a:lnT>
                      <a:noFill/>
                    </a:lnT>
                    <a:lnB>
                      <a:noFill/>
                    </a:lnB>
                    <a:solidFill>
                      <a:srgbClr val="F1F5F9"/>
                    </a:solidFill>
                  </a:tcPr>
                </a:tc>
                <a:extLst>
                  <a:ext uri="{0D108BD9-81ED-4DB2-BD59-A6C34878D82A}">
                    <a16:rowId xmlns:a16="http://schemas.microsoft.com/office/drawing/2014/main" val="10000"/>
                  </a:ext>
                </a:extLst>
              </a:tr>
              <a:tr h="659130">
                <a:tc>
                  <a:txBody>
                    <a:bodyPr/>
                    <a:lstStyle/>
                    <a:p>
                      <a:pPr algn="l"/>
                      <a:r>
                        <a:rPr sz="1500" b="1" i="0" u="none" dirty="0">
                          <a:solidFill>
                            <a:srgbClr val="334155"/>
                          </a:solidFill>
                          <a:latin typeface="Inter"/>
                        </a:rPr>
                        <a:t>Devin / </a:t>
                      </a:r>
                      <a:r>
                        <a:rPr sz="1500" b="1" i="0" u="none" dirty="0" err="1">
                          <a:solidFill>
                            <a:srgbClr val="334155"/>
                          </a:solidFill>
                          <a:latin typeface="Inter"/>
                        </a:rPr>
                        <a:t>OpenHands</a:t>
                      </a:r>
                      <a:r>
                        <a:rPr lang="en-IN" sz="1500" b="1" i="0" u="none" dirty="0">
                          <a:solidFill>
                            <a:srgbClr val="334155"/>
                          </a:solidFill>
                          <a:latin typeface="Inter"/>
                        </a:rPr>
                        <a:t> [14][15]</a:t>
                      </a:r>
                      <a:endParaRPr sz="1500" b="1" i="0" u="none" dirty="0">
                        <a:solidFill>
                          <a:srgbClr val="334155"/>
                        </a:solidFill>
                        <a:latin typeface="Inter"/>
                      </a:endParaRPr>
                    </a:p>
                  </a:txBody>
                  <a:tcPr marL="63500" marR="63500" marT="25400" marB="25400" anchor="ctr">
                    <a:lnL>
                      <a:noFill/>
                    </a:lnL>
                    <a:lnR>
                      <a:noFill/>
                    </a:lnR>
                    <a:lnT>
                      <a:noFill/>
                    </a:lnT>
                    <a:lnB>
                      <a:noFill/>
                    </a:lnB>
                    <a:noFill/>
                  </a:tcPr>
                </a:tc>
                <a:tc>
                  <a:txBody>
                    <a:bodyPr/>
                    <a:lstStyle/>
                    <a:p>
                      <a:pPr algn="l"/>
                      <a:r>
                        <a:rPr sz="1500" b="0" i="0" u="none">
                          <a:solidFill>
                            <a:srgbClr val="F59E0B"/>
                          </a:solidFill>
                          <a:latin typeface="Inter"/>
                        </a:rPr>
                        <a:t>Partial</a:t>
                      </a:r>
                    </a:p>
                  </a:txBody>
                  <a:tcPr marL="63500" marR="63500" marT="25400" marB="25400" anchor="ctr">
                    <a:lnL>
                      <a:noFill/>
                    </a:lnL>
                    <a:lnR>
                      <a:noFill/>
                    </a:lnR>
                    <a:lnT>
                      <a:noFill/>
                    </a:lnT>
                    <a:lnB>
                      <a:noFill/>
                    </a:lnB>
                    <a:noFill/>
                  </a:tcPr>
                </a:tc>
                <a:tc>
                  <a:txBody>
                    <a:bodyPr/>
                    <a:lstStyle/>
                    <a:p>
                      <a:pPr algn="l"/>
                      <a:r>
                        <a:rPr sz="1500" b="0" i="0" u="none">
                          <a:solidFill>
                            <a:srgbClr val="F59E0B"/>
                          </a:solidFill>
                          <a:latin typeface="Inter"/>
                        </a:rPr>
                        <a:t>Partial</a:t>
                      </a:r>
                    </a:p>
                  </a:txBody>
                  <a:tcPr marL="6350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F59E0B"/>
                          </a:solidFill>
                          <a:latin typeface="Inter"/>
                        </a:rPr>
                        <a:t>Partial</a:t>
                      </a:r>
                    </a:p>
                  </a:txBody>
                  <a:tcPr marL="63500" marR="63500" marT="25400" marB="25400" anchor="ctr">
                    <a:lnL>
                      <a:noFill/>
                    </a:lnL>
                    <a:lnR>
                      <a:noFill/>
                    </a:lnR>
                    <a:lnT>
                      <a:noFill/>
                    </a:lnT>
                    <a:lnB>
                      <a:noFill/>
                    </a:lnB>
                    <a:noFill/>
                  </a:tcPr>
                </a:tc>
                <a:extLst>
                  <a:ext uri="{0D108BD9-81ED-4DB2-BD59-A6C34878D82A}">
                    <a16:rowId xmlns:a16="http://schemas.microsoft.com/office/drawing/2014/main" val="10001"/>
                  </a:ext>
                </a:extLst>
              </a:tr>
              <a:tr h="659130">
                <a:tc>
                  <a:txBody>
                    <a:bodyPr/>
                    <a:lstStyle/>
                    <a:p>
                      <a:pPr algn="l"/>
                      <a:r>
                        <a:rPr sz="1500" b="1" i="0" u="none" dirty="0" err="1">
                          <a:solidFill>
                            <a:srgbClr val="334155"/>
                          </a:solidFill>
                          <a:latin typeface="Inter"/>
                        </a:rPr>
                        <a:t>MetaGPT</a:t>
                      </a:r>
                      <a:r>
                        <a:rPr sz="1500" b="1" i="0" u="none" dirty="0">
                          <a:solidFill>
                            <a:srgbClr val="334155"/>
                          </a:solidFill>
                          <a:latin typeface="Inter"/>
                        </a:rPr>
                        <a:t> / </a:t>
                      </a:r>
                      <a:r>
                        <a:rPr sz="1500" b="1" i="0" u="none" dirty="0" err="1">
                          <a:solidFill>
                            <a:srgbClr val="334155"/>
                          </a:solidFill>
                          <a:latin typeface="Inter"/>
                        </a:rPr>
                        <a:t>ChatDev</a:t>
                      </a:r>
                      <a:r>
                        <a:rPr lang="en-IN" sz="1500" b="1" i="0" u="none" dirty="0">
                          <a:solidFill>
                            <a:srgbClr val="334155"/>
                          </a:solidFill>
                          <a:latin typeface="Inter"/>
                        </a:rPr>
                        <a:t> [11][12]</a:t>
                      </a:r>
                      <a:endParaRPr sz="1500" b="1" i="0" u="none" dirty="0">
                        <a:solidFill>
                          <a:srgbClr val="334155"/>
                        </a:solidFill>
                        <a:latin typeface="Inter"/>
                      </a:endParaRPr>
                    </a:p>
                  </a:txBody>
                  <a:tcPr marL="63500" marR="63500" marT="25400" marB="25400" anchor="ctr">
                    <a:lnL>
                      <a:noFill/>
                    </a:lnL>
                    <a:lnR>
                      <a:noFill/>
                    </a:lnR>
                    <a:lnT>
                      <a:noFill/>
                    </a:lnT>
                    <a:lnB>
                      <a:noFill/>
                    </a:lnB>
                    <a:noFill/>
                  </a:tcPr>
                </a:tc>
                <a:tc>
                  <a:txBody>
                    <a:bodyPr/>
                    <a:lstStyle/>
                    <a:p>
                      <a:pPr algn="l"/>
                      <a:r>
                        <a:rPr sz="1500" b="0" i="0" u="none" dirty="0">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dirty="0">
                          <a:solidFill>
                            <a:srgbClr val="F59E0B"/>
                          </a:solidFill>
                          <a:latin typeface="Inter"/>
                        </a:rPr>
                        <a:t>Partial</a:t>
                      </a:r>
                    </a:p>
                  </a:txBody>
                  <a:tcPr marL="63500"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extLst>
                  <a:ext uri="{0D108BD9-81ED-4DB2-BD59-A6C34878D82A}">
                    <a16:rowId xmlns:a16="http://schemas.microsoft.com/office/drawing/2014/main" val="10002"/>
                  </a:ext>
                </a:extLst>
              </a:tr>
              <a:tr h="659130">
                <a:tc>
                  <a:txBody>
                    <a:bodyPr/>
                    <a:lstStyle/>
                    <a:p>
                      <a:pPr algn="l"/>
                      <a:r>
                        <a:rPr sz="1500" b="1" i="0" u="none" dirty="0">
                          <a:solidFill>
                            <a:srgbClr val="334155"/>
                          </a:solidFill>
                          <a:latin typeface="Inter"/>
                        </a:rPr>
                        <a:t>SWE-Agent</a:t>
                      </a:r>
                      <a:r>
                        <a:rPr lang="en-IN" sz="1500" b="1" i="0" u="none" dirty="0">
                          <a:solidFill>
                            <a:srgbClr val="334155"/>
                          </a:solidFill>
                          <a:latin typeface="Inter"/>
                        </a:rPr>
                        <a:t> [13]</a:t>
                      </a:r>
                      <a:endParaRPr sz="1500" b="1" i="0" u="none" dirty="0">
                        <a:solidFill>
                          <a:srgbClr val="334155"/>
                        </a:solidFill>
                        <a:latin typeface="Inter"/>
                      </a:endParaRPr>
                    </a:p>
                  </a:txBody>
                  <a:tcPr marL="63500"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extLst>
                  <a:ext uri="{0D108BD9-81ED-4DB2-BD59-A6C34878D82A}">
                    <a16:rowId xmlns:a16="http://schemas.microsoft.com/office/drawing/2014/main" val="10003"/>
                  </a:ext>
                </a:extLst>
              </a:tr>
              <a:tr h="659130">
                <a:tc>
                  <a:txBody>
                    <a:bodyPr/>
                    <a:lstStyle/>
                    <a:p>
                      <a:pPr algn="l"/>
                      <a:r>
                        <a:rPr sz="1500" b="1" i="0" u="none">
                          <a:solidFill>
                            <a:srgbClr val="334155"/>
                          </a:solidFill>
                          <a:latin typeface="Inter"/>
                        </a:rPr>
                        <a:t>Proposed System</a:t>
                      </a:r>
                    </a:p>
                  </a:txBody>
                  <a:tcPr marL="63500" marR="63500" marT="25400" marB="25400" anchor="ctr">
                    <a:lnL>
                      <a:noFill/>
                    </a:lnL>
                    <a:lnR>
                      <a:noFill/>
                    </a:lnR>
                    <a:lnT>
                      <a:noFill/>
                    </a:lnT>
                    <a:lnB>
                      <a:noFill/>
                    </a:lnB>
                    <a:noFill/>
                  </a:tcPr>
                </a:tc>
                <a:tc>
                  <a:txBody>
                    <a:bodyPr/>
                    <a:lstStyle/>
                    <a:p>
                      <a:pPr algn="l"/>
                      <a:r>
                        <a:rPr sz="1500" b="0" i="0" u="none" dirty="0">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dirty="0">
                          <a:solidFill>
                            <a:srgbClr val="16A34A"/>
                          </a:solidFill>
                          <a:latin typeface="Inter"/>
                        </a:rPr>
                        <a:t>Yes</a:t>
                      </a:r>
                    </a:p>
                  </a:txBody>
                  <a:tcPr marL="285750" marR="63500" marT="25400" marB="25400" anchor="ctr">
                    <a:lnL>
                      <a:noFill/>
                    </a:lnL>
                    <a:lnR>
                      <a:noFill/>
                    </a:lnR>
                    <a:lnT>
                      <a:noFill/>
                    </a:lnT>
                    <a:lnB>
                      <a:noFill/>
                    </a:lnB>
                    <a:noFill/>
                  </a:tcPr>
                </a:tc>
                <a:extLst>
                  <a:ext uri="{0D108BD9-81ED-4DB2-BD59-A6C34878D82A}">
                    <a16:rowId xmlns:a16="http://schemas.microsoft.com/office/drawing/2014/main" val="10004"/>
                  </a:ext>
                </a:extLst>
              </a:tr>
            </a:tbl>
          </a:graphicData>
        </a:graphic>
      </p:graphicFrame>
      <p:sp>
        <p:nvSpPr>
          <p:cNvPr id="6" name="Rectangle 5"/>
          <p:cNvSpPr/>
          <p:nvPr/>
        </p:nvSpPr>
        <p:spPr>
          <a:xfrm>
            <a:off x="566734" y="2771774"/>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405928" y="2771774"/>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545630" y="2771774"/>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97585" y="2771774"/>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273054" y="2771774"/>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72039" y="2771774"/>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734" y="3428999"/>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05928" y="3428999"/>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545630" y="3428999"/>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897585" y="3428999"/>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73054" y="3428999"/>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72039" y="3428999"/>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66734" y="4086224"/>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405928" y="4086224"/>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545630" y="4086224"/>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897585" y="4086224"/>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73054" y="4086224"/>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672039" y="4086224"/>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66734" y="4743449"/>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405928" y="4743449"/>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545630" y="4743449"/>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97585" y="4743449"/>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273054" y="4743449"/>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9672039" y="4743449"/>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71500" y="57150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Identifying the </a:t>
            </a:r>
            <a:r>
              <a:rPr sz="3300" b="1" i="0" u="none" dirty="0">
                <a:solidFill>
                  <a:srgbClr val="2563EB"/>
                </a:solidFill>
                <a:latin typeface="Inter"/>
              </a:rPr>
              <a:t>Gap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71500" y="1657350"/>
            <a:ext cx="5334000" cy="4629150"/>
          </a:xfrm>
          <a:prstGeom prst="rect">
            <a:avLst/>
          </a:prstGeom>
        </p:spPr>
      </p:pic>
      <p:pic>
        <p:nvPicPr>
          <p:cNvPr id="4" name="Picture 3" descr="image.png"/>
          <p:cNvPicPr>
            <a:picLocks noChangeAspect="1"/>
          </p:cNvPicPr>
          <p:nvPr/>
        </p:nvPicPr>
        <p:blipFill>
          <a:blip r:embed="rId4"/>
          <a:stretch>
            <a:fillRect/>
          </a:stretch>
        </p:blipFill>
        <p:spPr>
          <a:xfrm>
            <a:off x="6286500" y="1657350"/>
            <a:ext cx="5334000" cy="4629150"/>
          </a:xfrm>
          <a:prstGeom prst="rect">
            <a:avLst/>
          </a:prstGeom>
        </p:spPr>
      </p:pic>
      <p:sp>
        <p:nvSpPr>
          <p:cNvPr id="5" name="TextBox 4"/>
          <p:cNvSpPr txBox="1"/>
          <p:nvPr/>
        </p:nvSpPr>
        <p:spPr>
          <a:xfrm>
            <a:off x="962025" y="2047875"/>
            <a:ext cx="4780597" cy="295275"/>
          </a:xfrm>
          <a:prstGeom prst="rect">
            <a:avLst/>
          </a:prstGeom>
          <a:noFill/>
        </p:spPr>
        <p:txBody>
          <a:bodyPr wrap="square" lIns="309413" tIns="0" rIns="0" bIns="0" anchor="t">
            <a:spAutoFit/>
          </a:bodyPr>
          <a:lstStyle/>
          <a:p>
            <a:pPr algn="l"/>
            <a:r>
              <a:rPr sz="1950" b="0" i="0" u="none">
                <a:solidFill>
                  <a:srgbClr val="EF4444"/>
                </a:solidFill>
                <a:latin typeface="Inter SemiBold"/>
              </a:rPr>
              <a:t>Traditional: Fixed Agents</a:t>
            </a:r>
          </a:p>
        </p:txBody>
      </p:sp>
      <p:sp>
        <p:nvSpPr>
          <p:cNvPr id="6" name="TextBox 5"/>
          <p:cNvSpPr txBox="1"/>
          <p:nvPr/>
        </p:nvSpPr>
        <p:spPr>
          <a:xfrm>
            <a:off x="962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Standard agentic systems rely on rigid, hardcoded workflows (e.g., always Planner → Developer → Tester).</a:t>
            </a:r>
          </a:p>
        </p:txBody>
      </p:sp>
      <p:sp>
        <p:nvSpPr>
          <p:cNvPr id="7" name="TextBox 6"/>
          <p:cNvSpPr txBox="1"/>
          <p:nvPr/>
        </p:nvSpPr>
        <p:spPr>
          <a:xfrm>
            <a:off x="6677025" y="2047875"/>
            <a:ext cx="4780597" cy="295275"/>
          </a:xfrm>
          <a:prstGeom prst="rect">
            <a:avLst/>
          </a:prstGeom>
          <a:noFill/>
        </p:spPr>
        <p:txBody>
          <a:bodyPr wrap="square" lIns="309413" tIns="0" rIns="0" bIns="0" anchor="t">
            <a:spAutoFit/>
          </a:bodyPr>
          <a:lstStyle/>
          <a:p>
            <a:pPr algn="l"/>
            <a:r>
              <a:rPr sz="1950" b="0" i="0" u="none">
                <a:solidFill>
                  <a:srgbClr val="16A34A"/>
                </a:solidFill>
                <a:latin typeface="Inter SemiBold"/>
              </a:rPr>
              <a:t>Proposed: Dynamic Generation</a:t>
            </a:r>
          </a:p>
        </p:txBody>
      </p:sp>
      <p:sp>
        <p:nvSpPr>
          <p:cNvPr id="8" name="TextBox 7"/>
          <p:cNvSpPr txBox="1"/>
          <p:nvPr/>
        </p:nvSpPr>
        <p:spPr>
          <a:xfrm>
            <a:off x="6677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The Orchestrator analyzes project complexity, risk, and size before execution to spawn agents on-the-fly.</a:t>
            </a:r>
          </a:p>
        </p:txBody>
      </p:sp>
      <p:sp>
        <p:nvSpPr>
          <p:cNvPr id="10" name="TextBox 9"/>
          <p:cNvSpPr txBox="1"/>
          <p:nvPr/>
        </p:nvSpPr>
        <p:spPr>
          <a:xfrm>
            <a:off x="1247775" y="3543300"/>
            <a:ext cx="4267200" cy="3048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Inefficient for small tasks (over-engineered).</a:t>
            </a:r>
          </a:p>
        </p:txBody>
      </p:sp>
      <p:sp>
        <p:nvSpPr>
          <p:cNvPr id="11" name="TextBox 10"/>
          <p:cNvSpPr txBox="1"/>
          <p:nvPr/>
        </p:nvSpPr>
        <p:spPr>
          <a:xfrm>
            <a:off x="1247775" y="4019550"/>
            <a:ext cx="4267200" cy="609600"/>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Lacks specialized roles (Security, DevOps) for complex enterprise apps.</a:t>
            </a:r>
            <a:r>
              <a:rPr lang="en-IN" sz="1500" b="0" i="0" u="none" dirty="0">
                <a:solidFill>
                  <a:srgbClr val="334155"/>
                </a:solidFill>
                <a:latin typeface="Inter"/>
              </a:rPr>
              <a:t> [1]</a:t>
            </a:r>
            <a:endParaRPr sz="1500" b="0" i="0" u="none" dirty="0">
              <a:solidFill>
                <a:srgbClr val="334155"/>
              </a:solidFill>
              <a:latin typeface="Inter"/>
            </a:endParaRPr>
          </a:p>
        </p:txBody>
      </p:sp>
      <p:sp>
        <p:nvSpPr>
          <p:cNvPr id="13" name="TextBox 12"/>
          <p:cNvSpPr txBox="1"/>
          <p:nvPr/>
        </p:nvSpPr>
        <p:spPr>
          <a:xfrm>
            <a:off x="6962775" y="3543300"/>
            <a:ext cx="4267200" cy="3048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Small Script:</a:t>
            </a:r>
            <a:r>
              <a:rPr sz="1500" b="0" i="0" u="none">
                <a:solidFill>
                  <a:srgbClr val="334155"/>
                </a:solidFill>
                <a:latin typeface="Inter"/>
              </a:rPr>
              <a:t> Spawns Planner + Developer.</a:t>
            </a:r>
          </a:p>
        </p:txBody>
      </p:sp>
      <p:sp>
        <p:nvSpPr>
          <p:cNvPr id="14" name="TextBox 13"/>
          <p:cNvSpPr txBox="1"/>
          <p:nvPr/>
        </p:nvSpPr>
        <p:spPr>
          <a:xfrm>
            <a:off x="6962775" y="4019550"/>
            <a:ext cx="4267200" cy="6096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Enterprise App:</a:t>
            </a:r>
            <a:r>
              <a:rPr sz="1500" b="0" i="0" u="none">
                <a:solidFill>
                  <a:srgbClr val="334155"/>
                </a:solidFill>
                <a:latin typeface="Inter"/>
              </a:rPr>
              <a:t> Spawns Architect, Backend, Frontend, Security, QA, DevOps.</a:t>
            </a:r>
          </a:p>
        </p:txBody>
      </p:sp>
      <p:sp>
        <p:nvSpPr>
          <p:cNvPr id="15" name="TextBox 14"/>
          <p:cNvSpPr txBox="1"/>
          <p:nvPr/>
        </p:nvSpPr>
        <p:spPr>
          <a:xfrm>
            <a:off x="6962775" y="4800600"/>
            <a:ext cx="4267200" cy="6096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Agents are retired when tasks complete, saving compute.</a:t>
            </a:r>
          </a:p>
        </p:txBody>
      </p:sp>
      <p:sp>
        <p:nvSpPr>
          <p:cNvPr id="16" name="TextBox 15"/>
          <p:cNvSpPr txBox="1"/>
          <p:nvPr/>
        </p:nvSpPr>
        <p:spPr>
          <a:xfrm>
            <a:off x="962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7" name="TextBox 16"/>
          <p:cNvSpPr txBox="1"/>
          <p:nvPr/>
        </p:nvSpPr>
        <p:spPr>
          <a:xfrm>
            <a:off x="962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8" name="TextBox 17"/>
          <p:cNvSpPr txBox="1"/>
          <p:nvPr/>
        </p:nvSpPr>
        <p:spPr>
          <a:xfrm>
            <a:off x="6677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9" name="TextBox 18"/>
          <p:cNvSpPr txBox="1"/>
          <p:nvPr/>
        </p:nvSpPr>
        <p:spPr>
          <a:xfrm>
            <a:off x="6677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0" name="TextBox 19"/>
          <p:cNvSpPr txBox="1"/>
          <p:nvPr/>
        </p:nvSpPr>
        <p:spPr>
          <a:xfrm>
            <a:off x="6677025" y="48577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1" name="TextBox 20"/>
          <p:cNvSpPr txBox="1"/>
          <p:nvPr/>
        </p:nvSpPr>
        <p:spPr>
          <a:xfrm>
            <a:off x="571500" y="571500"/>
            <a:ext cx="11601450" cy="514350"/>
          </a:xfrm>
          <a:prstGeom prst="rect">
            <a:avLst/>
          </a:prstGeom>
          <a:noFill/>
        </p:spPr>
        <p:txBody>
          <a:bodyPr wrap="square" lIns="0" tIns="0" rIns="0" bIns="0" anchor="t">
            <a:spAutoFit/>
          </a:bodyPr>
          <a:lstStyle/>
          <a:p>
            <a:pPr algn="l"/>
            <a:r>
              <a:rPr sz="3300" b="1" i="0" u="none">
                <a:solidFill>
                  <a:srgbClr val="0F172A"/>
                </a:solidFill>
                <a:latin typeface="Inter"/>
              </a:rPr>
              <a:t>Core Innovation: </a:t>
            </a:r>
            <a:r>
              <a:rPr sz="3300" b="1" i="0" u="none">
                <a:solidFill>
                  <a:srgbClr val="2563EB"/>
                </a:solidFill>
                <a:latin typeface="Inter"/>
              </a:rPr>
              <a:t>Adaptive Team Generation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C148C6CA-BA22-0BFD-A6EE-48E3BBF21684}"/>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
        <p:nvSpPr>
          <p:cNvPr id="4" name="TextBox 3"/>
          <p:cNvSpPr txBox="1"/>
          <p:nvPr/>
        </p:nvSpPr>
        <p:spPr>
          <a:xfrm>
            <a:off x="651025" y="1933446"/>
            <a:ext cx="3365450" cy="553998"/>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Beyond Traditional Memory:</a:t>
            </a:r>
            <a:endParaRPr kumimoji="0" lang="en-IN" b="0" i="0" u="none" strike="noStrike" kern="1200" cap="none" spc="0" normalizeH="0" baseline="0" noProof="0" dirty="0">
              <a:ln>
                <a:noFill/>
              </a:ln>
              <a:solidFill>
                <a:srgbClr val="475569"/>
              </a:solidFill>
              <a:effectLst/>
              <a:uLnTx/>
              <a:uFillTx/>
              <a:latin typeface="Inter Medium"/>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A Context-Aware Project Memory</a:t>
            </a:r>
          </a:p>
        </p:txBody>
      </p:sp>
      <p:sp>
        <p:nvSpPr>
          <p:cNvPr id="5" name="TextBox 4"/>
          <p:cNvSpPr txBox="1"/>
          <p:nvPr/>
        </p:nvSpPr>
        <p:spPr>
          <a:xfrm>
            <a:off x="651025" y="3084575"/>
            <a:ext cx="4141834" cy="897169"/>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The Problem:</a:t>
            </a:r>
            <a:r>
              <a:rPr kumimoji="0" sz="1500" b="0" i="0" u="none" strike="noStrike" kern="1200" cap="none" spc="0" normalizeH="0" baseline="0" noProof="0" dirty="0">
                <a:ln>
                  <a:noFill/>
                </a:ln>
                <a:solidFill>
                  <a:srgbClr val="334155"/>
                </a:solidFill>
                <a:effectLst/>
                <a:uLnTx/>
                <a:uFillTx/>
                <a:latin typeface="Inter"/>
                <a:ea typeface="+mn-ea"/>
                <a:cs typeface="+mn-cs"/>
              </a:rPr>
              <a:t> Current AI agents retrieve entire repositories or large documents, resulting in high token consumption and irrelevant context.</a:t>
            </a:r>
            <a:r>
              <a:rPr kumimoji="0" lang="en-IN" sz="1500" b="0" i="0" u="none" strike="noStrike" kern="1200" cap="none" spc="0" normalizeH="0" baseline="0" noProof="0" dirty="0">
                <a:ln>
                  <a:noFill/>
                </a:ln>
                <a:solidFill>
                  <a:srgbClr val="334155"/>
                </a:solidFill>
                <a:effectLst/>
                <a:uLnTx/>
                <a:uFillTx/>
                <a:latin typeface="Inter"/>
                <a:ea typeface="+mn-ea"/>
                <a:cs typeface="+mn-cs"/>
              </a:rPr>
              <a:t> [1]</a:t>
            </a:r>
            <a:endParaRPr kumimoji="0" sz="1500" b="0" i="0" u="none" strike="noStrike" kern="1200" cap="none" spc="0" normalizeH="0" baseline="0" noProof="0" dirty="0">
              <a:ln>
                <a:noFill/>
              </a:ln>
              <a:solidFill>
                <a:srgbClr val="334155"/>
              </a:solidFill>
              <a:effectLst/>
              <a:uLnTx/>
              <a:uFillTx/>
              <a:latin typeface="Inter"/>
              <a:ea typeface="+mn-ea"/>
              <a:cs typeface="+mn-cs"/>
            </a:endParaRPr>
          </a:p>
        </p:txBody>
      </p:sp>
      <p:sp>
        <p:nvSpPr>
          <p:cNvPr id="6" name="TextBox 5"/>
          <p:cNvSpPr txBox="1"/>
          <p:nvPr/>
        </p:nvSpPr>
        <p:spPr>
          <a:xfrm>
            <a:off x="651025" y="4578875"/>
            <a:ext cx="3884104" cy="1204945"/>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Our Solution:</a:t>
            </a:r>
            <a:r>
              <a:rPr kumimoji="0" sz="1500" b="0" i="0" u="none" strike="noStrike" kern="1200" cap="none" spc="0" normalizeH="0" baseline="0" noProof="0" dirty="0">
                <a:ln>
                  <a:noFill/>
                </a:ln>
                <a:solidFill>
                  <a:srgbClr val="334155"/>
                </a:solidFill>
                <a:effectLst/>
                <a:uLnTx/>
                <a:uFillTx/>
                <a:latin typeface="Inter"/>
                <a:ea typeface="+mn-ea"/>
                <a:cs typeface="+mn-cs"/>
              </a:rPr>
              <a:t> Our proposed HSKG stores the software project as a hierarchical graph, enabling agents to retrieve only the smallest relevant subgraph required for a task.</a:t>
            </a:r>
          </a:p>
        </p:txBody>
      </p:sp>
      <p:pic>
        <p:nvPicPr>
          <p:cNvPr id="8" name="Picture 7" descr="image.png">
            <a:extLst>
              <a:ext uri="{FF2B5EF4-FFF2-40B4-BE49-F238E27FC236}">
                <a16:creationId xmlns:a16="http://schemas.microsoft.com/office/drawing/2014/main" id="{C8894353-4957-A2E0-39B0-543F843E4B23}"/>
              </a:ext>
            </a:extLst>
          </p:cNvPr>
          <p:cNvPicPr>
            <a:picLocks noChangeAspect="1"/>
          </p:cNvPicPr>
          <p:nvPr/>
        </p:nvPicPr>
        <p:blipFill>
          <a:blip r:embed="rId3"/>
          <a:stretch>
            <a:fillRect/>
          </a:stretch>
        </p:blipFill>
        <p:spPr>
          <a:xfrm>
            <a:off x="4740205" y="1165202"/>
            <a:ext cx="3365450" cy="5418667"/>
          </a:xfrm>
          <a:prstGeom prst="rect">
            <a:avLst/>
          </a:prstGeom>
        </p:spPr>
      </p:pic>
      <p:pic>
        <p:nvPicPr>
          <p:cNvPr id="10" name="Picture 9" descr="image.png">
            <a:extLst>
              <a:ext uri="{FF2B5EF4-FFF2-40B4-BE49-F238E27FC236}">
                <a16:creationId xmlns:a16="http://schemas.microsoft.com/office/drawing/2014/main" id="{CECFA41D-13C9-DCB9-66E2-F0072055DA33}"/>
              </a:ext>
            </a:extLst>
          </p:cNvPr>
          <p:cNvPicPr>
            <a:picLocks noChangeAspect="1"/>
          </p:cNvPicPr>
          <p:nvPr/>
        </p:nvPicPr>
        <p:blipFill>
          <a:blip r:embed="rId4"/>
          <a:stretch>
            <a:fillRect/>
          </a:stretch>
        </p:blipFill>
        <p:spPr>
          <a:xfrm>
            <a:off x="8310731" y="1205440"/>
            <a:ext cx="3365599" cy="5418667"/>
          </a:xfrm>
          <a:prstGeom prst="rect">
            <a:avLst/>
          </a:prstGeom>
        </p:spPr>
      </p:pic>
      <p:pic>
        <p:nvPicPr>
          <p:cNvPr id="12" name="Picture 11" descr="image.png">
            <a:extLst>
              <a:ext uri="{FF2B5EF4-FFF2-40B4-BE49-F238E27FC236}">
                <a16:creationId xmlns:a16="http://schemas.microsoft.com/office/drawing/2014/main" id="{A9C44036-61A8-EAFF-080D-463D5EB47DAE}"/>
              </a:ext>
            </a:extLst>
          </p:cNvPr>
          <p:cNvPicPr>
            <a:picLocks noChangeAspect="1"/>
          </p:cNvPicPr>
          <p:nvPr/>
        </p:nvPicPr>
        <p:blipFill>
          <a:blip r:embed="rId5"/>
          <a:stretch>
            <a:fillRect/>
          </a:stretch>
        </p:blipFill>
        <p:spPr>
          <a:xfrm>
            <a:off x="5109641" y="2400720"/>
            <a:ext cx="2774900" cy="1905000"/>
          </a:xfrm>
          <a:prstGeom prst="rect">
            <a:avLst/>
          </a:prstGeom>
        </p:spPr>
      </p:pic>
      <p:pic>
        <p:nvPicPr>
          <p:cNvPr id="14" name="Picture 13" descr="image.png">
            <a:extLst>
              <a:ext uri="{FF2B5EF4-FFF2-40B4-BE49-F238E27FC236}">
                <a16:creationId xmlns:a16="http://schemas.microsoft.com/office/drawing/2014/main" id="{F43C9D70-D90B-24BB-82BB-1FE1034C86B1}"/>
              </a:ext>
            </a:extLst>
          </p:cNvPr>
          <p:cNvPicPr>
            <a:picLocks noChangeAspect="1"/>
          </p:cNvPicPr>
          <p:nvPr/>
        </p:nvPicPr>
        <p:blipFill>
          <a:blip r:embed="rId6"/>
          <a:stretch>
            <a:fillRect/>
          </a:stretch>
        </p:blipFill>
        <p:spPr>
          <a:xfrm>
            <a:off x="8632189" y="2302833"/>
            <a:ext cx="2775049" cy="695325"/>
          </a:xfrm>
          <a:prstGeom prst="rect">
            <a:avLst/>
          </a:prstGeom>
        </p:spPr>
      </p:pic>
      <p:pic>
        <p:nvPicPr>
          <p:cNvPr id="16" name="Picture 15">
            <a:extLst>
              <a:ext uri="{FF2B5EF4-FFF2-40B4-BE49-F238E27FC236}">
                <a16:creationId xmlns:a16="http://schemas.microsoft.com/office/drawing/2014/main" id="{C12D879C-E449-8EE8-C292-2DEF48407B4B}"/>
              </a:ext>
            </a:extLst>
          </p:cNvPr>
          <p:cNvPicPr>
            <a:picLocks noChangeAspect="1"/>
          </p:cNvPicPr>
          <p:nvPr/>
        </p:nvPicPr>
        <p:blipFill>
          <a:blip r:embed="rId7"/>
          <a:srcRect/>
          <a:stretch/>
        </p:blipFill>
        <p:spPr>
          <a:xfrm>
            <a:off x="8658223" y="3196196"/>
            <a:ext cx="2775049" cy="867202"/>
          </a:xfrm>
          <a:prstGeom prst="rect">
            <a:avLst/>
          </a:prstGeom>
        </p:spPr>
      </p:pic>
      <p:pic>
        <p:nvPicPr>
          <p:cNvPr id="18" name="Picture 17" descr="image.png">
            <a:extLst>
              <a:ext uri="{FF2B5EF4-FFF2-40B4-BE49-F238E27FC236}">
                <a16:creationId xmlns:a16="http://schemas.microsoft.com/office/drawing/2014/main" id="{3450BF5F-ACC6-1481-77A0-89F91D2119A1}"/>
              </a:ext>
            </a:extLst>
          </p:cNvPr>
          <p:cNvPicPr>
            <a:picLocks noChangeAspect="1"/>
          </p:cNvPicPr>
          <p:nvPr/>
        </p:nvPicPr>
        <p:blipFill>
          <a:blip r:embed="rId8"/>
          <a:stretch>
            <a:fillRect/>
          </a:stretch>
        </p:blipFill>
        <p:spPr>
          <a:xfrm>
            <a:off x="5109641" y="1524420"/>
            <a:ext cx="476250" cy="476250"/>
          </a:xfrm>
          <a:prstGeom prst="rect">
            <a:avLst/>
          </a:prstGeom>
        </p:spPr>
      </p:pic>
      <p:sp>
        <p:nvSpPr>
          <p:cNvPr id="20" name="TextBox 19">
            <a:extLst>
              <a:ext uri="{FF2B5EF4-FFF2-40B4-BE49-F238E27FC236}">
                <a16:creationId xmlns:a16="http://schemas.microsoft.com/office/drawing/2014/main" id="{F2BC2538-76AC-5EA5-9CD1-0F4C45DCC710}"/>
              </a:ext>
            </a:extLst>
          </p:cNvPr>
          <p:cNvSpPr txBox="1"/>
          <p:nvPr/>
        </p:nvSpPr>
        <p:spPr>
          <a:xfrm>
            <a:off x="5728766" y="1595857"/>
            <a:ext cx="1608901"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Project Graph</a:t>
            </a:r>
          </a:p>
        </p:txBody>
      </p:sp>
      <p:sp>
        <p:nvSpPr>
          <p:cNvPr id="22" name="TextBox 21">
            <a:extLst>
              <a:ext uri="{FF2B5EF4-FFF2-40B4-BE49-F238E27FC236}">
                <a16:creationId xmlns:a16="http://schemas.microsoft.com/office/drawing/2014/main" id="{FF81CDCC-DDC8-74B1-835F-DEF5155317C5}"/>
              </a:ext>
            </a:extLst>
          </p:cNvPr>
          <p:cNvSpPr txBox="1"/>
          <p:nvPr/>
        </p:nvSpPr>
        <p:spPr>
          <a:xfrm>
            <a:off x="5262041" y="2572170"/>
            <a:ext cx="605872" cy="213776"/>
          </a:xfrm>
          <a:prstGeom prst="rect">
            <a:avLst/>
          </a:prstGeom>
          <a:noFill/>
        </p:spPr>
        <p:txBody>
          <a:bodyPr wrap="square" lIns="0" tIns="0" rIns="0" bIns="0" anchor="t">
            <a:spAutoFit/>
          </a:bodyPr>
          <a:lstStyle/>
          <a:p>
            <a:pPr algn="l">
              <a:lnSpc>
                <a:spcPts val="1800"/>
              </a:lnSpc>
            </a:pPr>
            <a:r>
              <a:rPr sz="1200" b="1" i="0" u="none">
                <a:solidFill>
                  <a:srgbClr val="2563EB"/>
                </a:solidFill>
                <a:latin typeface="monospace"/>
              </a:rPr>
              <a:t>Project</a:t>
            </a:r>
          </a:p>
        </p:txBody>
      </p:sp>
      <p:sp>
        <p:nvSpPr>
          <p:cNvPr id="24" name="TextBox 23">
            <a:extLst>
              <a:ext uri="{FF2B5EF4-FFF2-40B4-BE49-F238E27FC236}">
                <a16:creationId xmlns:a16="http://schemas.microsoft.com/office/drawing/2014/main" id="{AA13F7FD-E8AF-B22C-71D4-B2B1E68640E6}"/>
              </a:ext>
            </a:extLst>
          </p:cNvPr>
          <p:cNvSpPr txBox="1"/>
          <p:nvPr/>
        </p:nvSpPr>
        <p:spPr>
          <a:xfrm>
            <a:off x="5452541" y="27817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Authentication</a:t>
            </a:r>
            <a:r>
              <a:rPr dirty="0"/>
              <a:t>
</a:t>
            </a:r>
            <a:r>
              <a:rPr sz="1200" b="0" i="0" u="none" dirty="0">
                <a:solidFill>
                  <a:srgbClr val="0F172A"/>
                </a:solidFill>
                <a:latin typeface="monospace"/>
              </a:rPr>
              <a:t>    Login, Register</a:t>
            </a:r>
          </a:p>
        </p:txBody>
      </p:sp>
      <p:sp>
        <p:nvSpPr>
          <p:cNvPr id="26" name="TextBox 25">
            <a:extLst>
              <a:ext uri="{FF2B5EF4-FFF2-40B4-BE49-F238E27FC236}">
                <a16:creationId xmlns:a16="http://schemas.microsoft.com/office/drawing/2014/main" id="{87B79403-EE1D-2590-3964-5B017F6ECAA7}"/>
              </a:ext>
            </a:extLst>
          </p:cNvPr>
          <p:cNvSpPr txBox="1"/>
          <p:nvPr/>
        </p:nvSpPr>
        <p:spPr>
          <a:xfrm>
            <a:off x="5452541" y="3238920"/>
            <a:ext cx="2157172" cy="457200"/>
          </a:xfrm>
          <a:prstGeom prst="rect">
            <a:avLst/>
          </a:prstGeom>
          <a:noFill/>
        </p:spPr>
        <p:txBody>
          <a:bodyPr wrap="square" lIns="0" tIns="0" rIns="0" bIns="0" anchor="t">
            <a:spAutoFit/>
          </a:bodyPr>
          <a:lstStyle/>
          <a:p>
            <a:pPr algn="l">
              <a:lnSpc>
                <a:spcPts val="1800"/>
              </a:lnSpc>
            </a:pPr>
            <a:r>
              <a:rPr sz="1200" b="0" i="0" u="none">
                <a:solidFill>
                  <a:srgbClr val="0F172A"/>
                </a:solidFill>
                <a:latin typeface="monospace"/>
              </a:rPr>
              <a:t>Inventory</a:t>
            </a:r>
            <a:r>
              <a:t>
</a:t>
            </a:r>
            <a:r>
              <a:rPr sz="1200" b="0" i="0" u="none">
                <a:solidFill>
                  <a:srgbClr val="0F172A"/>
                </a:solidFill>
                <a:latin typeface="monospace"/>
              </a:rPr>
              <a:t>    Product, Stock</a:t>
            </a:r>
          </a:p>
        </p:txBody>
      </p:sp>
      <p:sp>
        <p:nvSpPr>
          <p:cNvPr id="28" name="TextBox 27">
            <a:extLst>
              <a:ext uri="{FF2B5EF4-FFF2-40B4-BE49-F238E27FC236}">
                <a16:creationId xmlns:a16="http://schemas.microsoft.com/office/drawing/2014/main" id="{FC3AFB7E-1C71-262A-88A1-0636E38B5FF1}"/>
              </a:ext>
            </a:extLst>
          </p:cNvPr>
          <p:cNvSpPr txBox="1"/>
          <p:nvPr/>
        </p:nvSpPr>
        <p:spPr>
          <a:xfrm>
            <a:off x="5563098" y="36961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Invoice</a:t>
            </a:r>
            <a:r>
              <a:rPr dirty="0"/>
              <a:t>
</a:t>
            </a:r>
            <a:r>
              <a:rPr sz="1200" b="0" i="0" u="none" dirty="0">
                <a:solidFill>
                  <a:srgbClr val="0F172A"/>
                </a:solidFill>
                <a:latin typeface="monospace"/>
              </a:rPr>
              <a:t>    Create, Payment</a:t>
            </a:r>
          </a:p>
        </p:txBody>
      </p:sp>
      <p:pic>
        <p:nvPicPr>
          <p:cNvPr id="30" name="Picture 29" descr="image.png">
            <a:extLst>
              <a:ext uri="{FF2B5EF4-FFF2-40B4-BE49-F238E27FC236}">
                <a16:creationId xmlns:a16="http://schemas.microsoft.com/office/drawing/2014/main" id="{61E5B721-F27F-9A91-2215-100B6E6A7F34}"/>
              </a:ext>
            </a:extLst>
          </p:cNvPr>
          <p:cNvPicPr>
            <a:picLocks noChangeAspect="1"/>
          </p:cNvPicPr>
          <p:nvPr/>
        </p:nvPicPr>
        <p:blipFill>
          <a:blip r:embed="rId9"/>
          <a:stretch>
            <a:fillRect/>
          </a:stretch>
        </p:blipFill>
        <p:spPr>
          <a:xfrm>
            <a:off x="8632189" y="1426533"/>
            <a:ext cx="476250" cy="476250"/>
          </a:xfrm>
          <a:prstGeom prst="rect">
            <a:avLst/>
          </a:prstGeom>
        </p:spPr>
      </p:pic>
      <p:sp>
        <p:nvSpPr>
          <p:cNvPr id="32" name="TextBox 31">
            <a:extLst>
              <a:ext uri="{FF2B5EF4-FFF2-40B4-BE49-F238E27FC236}">
                <a16:creationId xmlns:a16="http://schemas.microsoft.com/office/drawing/2014/main" id="{92D2E74F-B994-818F-03DF-284A4E268508}"/>
              </a:ext>
            </a:extLst>
          </p:cNvPr>
          <p:cNvSpPr txBox="1"/>
          <p:nvPr/>
        </p:nvSpPr>
        <p:spPr>
          <a:xfrm>
            <a:off x="9269076" y="1564658"/>
            <a:ext cx="2155924"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Context</a:t>
            </a:r>
            <a:r>
              <a:rPr lang="en-IN" sz="1800" b="0" i="0" u="none" dirty="0">
                <a:solidFill>
                  <a:srgbClr val="0F172A"/>
                </a:solidFill>
                <a:latin typeface="Poppins SemiBold"/>
              </a:rPr>
              <a:t>-</a:t>
            </a:r>
            <a:r>
              <a:rPr sz="1800" b="0" i="0" u="none" dirty="0">
                <a:solidFill>
                  <a:srgbClr val="0F172A"/>
                </a:solidFill>
                <a:latin typeface="Poppins SemiBold"/>
              </a:rPr>
              <a:t>Aware</a:t>
            </a:r>
          </a:p>
        </p:txBody>
      </p:sp>
      <p:pic>
        <p:nvPicPr>
          <p:cNvPr id="34" name="Picture 33" descr="image.png">
            <a:extLst>
              <a:ext uri="{FF2B5EF4-FFF2-40B4-BE49-F238E27FC236}">
                <a16:creationId xmlns:a16="http://schemas.microsoft.com/office/drawing/2014/main" id="{882A0E9C-DFF4-A7E1-CF68-679BD9791604}"/>
              </a:ext>
            </a:extLst>
          </p:cNvPr>
          <p:cNvPicPr>
            <a:picLocks noChangeAspect="1"/>
          </p:cNvPicPr>
          <p:nvPr/>
        </p:nvPicPr>
        <p:blipFill>
          <a:blip r:embed="rId10"/>
          <a:stretch>
            <a:fillRect/>
          </a:stretch>
        </p:blipFill>
        <p:spPr>
          <a:xfrm>
            <a:off x="5219178" y="1648245"/>
            <a:ext cx="257175" cy="228600"/>
          </a:xfrm>
          <a:prstGeom prst="rect">
            <a:avLst/>
          </a:prstGeom>
        </p:spPr>
      </p:pic>
      <p:sp>
        <p:nvSpPr>
          <p:cNvPr id="36" name="TextBox 35">
            <a:extLst>
              <a:ext uri="{FF2B5EF4-FFF2-40B4-BE49-F238E27FC236}">
                <a16:creationId xmlns:a16="http://schemas.microsoft.com/office/drawing/2014/main" id="{43E909B9-3386-C9EC-DD9B-F9AD6805D318}"/>
              </a:ext>
            </a:extLst>
          </p:cNvPr>
          <p:cNvSpPr txBox="1"/>
          <p:nvPr/>
        </p:nvSpPr>
        <p:spPr>
          <a:xfrm>
            <a:off x="5262041" y="2781720"/>
            <a:ext cx="466725"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38" name="TextBox 37">
            <a:extLst>
              <a:ext uri="{FF2B5EF4-FFF2-40B4-BE49-F238E27FC236}">
                <a16:creationId xmlns:a16="http://schemas.microsoft.com/office/drawing/2014/main" id="{F698F0DB-254F-2D40-2AD9-A970CA668489}"/>
              </a:ext>
            </a:extLst>
          </p:cNvPr>
          <p:cNvSpPr txBox="1"/>
          <p:nvPr/>
        </p:nvSpPr>
        <p:spPr>
          <a:xfrm>
            <a:off x="5262041" y="3238920"/>
            <a:ext cx="306597"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40" name="TextBox 39">
            <a:extLst>
              <a:ext uri="{FF2B5EF4-FFF2-40B4-BE49-F238E27FC236}">
                <a16:creationId xmlns:a16="http://schemas.microsoft.com/office/drawing/2014/main" id="{1BD22A3C-922F-6B77-4B7C-BBEDDC1C654D}"/>
              </a:ext>
            </a:extLst>
          </p:cNvPr>
          <p:cNvSpPr txBox="1"/>
          <p:nvPr/>
        </p:nvSpPr>
        <p:spPr>
          <a:xfrm>
            <a:off x="5262041" y="3696120"/>
            <a:ext cx="306597" cy="213776"/>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 </a:t>
            </a:r>
          </a:p>
        </p:txBody>
      </p:sp>
      <p:pic>
        <p:nvPicPr>
          <p:cNvPr id="42" name="Picture 41" descr="image.png">
            <a:extLst>
              <a:ext uri="{FF2B5EF4-FFF2-40B4-BE49-F238E27FC236}">
                <a16:creationId xmlns:a16="http://schemas.microsoft.com/office/drawing/2014/main" id="{1D2CA2AD-8227-4D6B-04FF-8A120F7E02C9}"/>
              </a:ext>
            </a:extLst>
          </p:cNvPr>
          <p:cNvPicPr>
            <a:picLocks noChangeAspect="1"/>
          </p:cNvPicPr>
          <p:nvPr/>
        </p:nvPicPr>
        <p:blipFill>
          <a:blip r:embed="rId11"/>
          <a:stretch>
            <a:fillRect/>
          </a:stretch>
        </p:blipFill>
        <p:spPr>
          <a:xfrm>
            <a:off x="8756014" y="1550358"/>
            <a:ext cx="228600" cy="228600"/>
          </a:xfrm>
          <a:prstGeom prst="rect">
            <a:avLst/>
          </a:prstGeom>
        </p:spPr>
      </p:pic>
      <p:sp>
        <p:nvSpPr>
          <p:cNvPr id="44" name="TextBox 43">
            <a:extLst>
              <a:ext uri="{FF2B5EF4-FFF2-40B4-BE49-F238E27FC236}">
                <a16:creationId xmlns:a16="http://schemas.microsoft.com/office/drawing/2014/main" id="{AFE40426-94BF-0EC7-C272-59D3C5005D5D}"/>
              </a:ext>
            </a:extLst>
          </p:cNvPr>
          <p:cNvSpPr txBox="1"/>
          <p:nvPr/>
        </p:nvSpPr>
        <p:spPr>
          <a:xfrm>
            <a:off x="9653002" y="2483808"/>
            <a:ext cx="694036" cy="173124"/>
          </a:xfrm>
          <a:prstGeom prst="rect">
            <a:avLst/>
          </a:prstGeom>
          <a:noFill/>
        </p:spPr>
        <p:txBody>
          <a:bodyPr wrap="square" lIns="0" tIns="0" rIns="0" bIns="0" anchor="t">
            <a:spAutoFit/>
          </a:bodyPr>
          <a:lstStyle/>
          <a:p>
            <a:pPr algn="ctr"/>
            <a:r>
              <a:rPr sz="1125" b="1" i="0" u="none">
                <a:solidFill>
                  <a:srgbClr val="334155"/>
                </a:solidFill>
                <a:latin typeface="Inter"/>
              </a:rPr>
              <a:t>Instead of:</a:t>
            </a:r>
          </a:p>
        </p:txBody>
      </p:sp>
      <p:sp>
        <p:nvSpPr>
          <p:cNvPr id="46" name="TextBox 45">
            <a:extLst>
              <a:ext uri="{FF2B5EF4-FFF2-40B4-BE49-F238E27FC236}">
                <a16:creationId xmlns:a16="http://schemas.microsoft.com/office/drawing/2014/main" id="{6C0AE494-88C7-BA10-3B01-D4B27A084DF8}"/>
              </a:ext>
            </a:extLst>
          </p:cNvPr>
          <p:cNvSpPr txBox="1"/>
          <p:nvPr/>
        </p:nvSpPr>
        <p:spPr>
          <a:xfrm>
            <a:off x="5003950" y="4452825"/>
            <a:ext cx="2837960" cy="1815882"/>
          </a:xfrm>
          <a:prstGeom prst="rect">
            <a:avLst/>
          </a:prstGeom>
          <a:noFill/>
        </p:spPr>
        <p:txBody>
          <a:bodyPr wrap="square">
            <a:spAutoFit/>
          </a:bodyPr>
          <a:lstStyle/>
          <a:p>
            <a:pPr>
              <a:buNone/>
            </a:pPr>
            <a:r>
              <a:rPr lang="en-IN" sz="1600" b="1" dirty="0"/>
              <a:t>Purpose</a:t>
            </a:r>
            <a:endParaRPr lang="en-IN" sz="1600" dirty="0"/>
          </a:p>
          <a:p>
            <a:pPr marL="285750" lvl="0" indent="-285750">
              <a:buFont typeface="Arial" panose="020B0604020202020204" pitchFamily="34" charset="0"/>
              <a:buChar char="•"/>
            </a:pPr>
            <a:r>
              <a:rPr lang="en-IN" sz="1600" dirty="0"/>
              <a:t>Represents the complete SDLC structure </a:t>
            </a:r>
          </a:p>
          <a:p>
            <a:pPr marL="285750" lvl="0" indent="-285750">
              <a:buFont typeface="Arial" panose="020B0604020202020204" pitchFamily="34" charset="0"/>
              <a:buChar char="•"/>
            </a:pPr>
            <a:r>
              <a:rPr lang="en-IN" sz="1600" dirty="0"/>
              <a:t>Maintains hierarchy between project components </a:t>
            </a:r>
          </a:p>
          <a:p>
            <a:pPr marL="285750" lvl="0" indent="-285750">
              <a:buFont typeface="Arial" panose="020B0604020202020204" pitchFamily="34" charset="0"/>
              <a:buChar char="•"/>
            </a:pPr>
            <a:r>
              <a:rPr lang="en-IN" sz="1600" dirty="0"/>
              <a:t>Enables modular navigation </a:t>
            </a:r>
          </a:p>
        </p:txBody>
      </p:sp>
      <p:sp>
        <p:nvSpPr>
          <p:cNvPr id="48" name="TextBox 47">
            <a:extLst>
              <a:ext uri="{FF2B5EF4-FFF2-40B4-BE49-F238E27FC236}">
                <a16:creationId xmlns:a16="http://schemas.microsoft.com/office/drawing/2014/main" id="{12D4B858-718C-3FEB-4BCC-04D8417C0C8D}"/>
              </a:ext>
            </a:extLst>
          </p:cNvPr>
          <p:cNvSpPr txBox="1"/>
          <p:nvPr/>
        </p:nvSpPr>
        <p:spPr>
          <a:xfrm>
            <a:off x="8632189" y="4677015"/>
            <a:ext cx="2792811" cy="1569660"/>
          </a:xfrm>
          <a:prstGeom prst="rect">
            <a:avLst/>
          </a:prstGeom>
          <a:noFill/>
        </p:spPr>
        <p:txBody>
          <a:bodyPr wrap="square">
            <a:spAutoFit/>
          </a:bodyPr>
          <a:lstStyle/>
          <a:p>
            <a:pPr>
              <a:buNone/>
            </a:pPr>
            <a:r>
              <a:rPr lang="en-IN" sz="1600" b="1" dirty="0"/>
              <a:t>Benefits</a:t>
            </a:r>
          </a:p>
          <a:p>
            <a:pPr marL="342900" lvl="0" indent="-342900">
              <a:buFont typeface="Arial" panose="020B0604020202020204" pitchFamily="34" charset="0"/>
              <a:buChar char="•"/>
            </a:pPr>
            <a:r>
              <a:rPr lang="en-IN" sz="1600" dirty="0"/>
              <a:t>Minimal context </a:t>
            </a:r>
          </a:p>
          <a:p>
            <a:pPr marL="342900" lvl="0" indent="-342900">
              <a:buFont typeface="Arial" panose="020B0604020202020204" pitchFamily="34" charset="0"/>
              <a:buChar char="•"/>
            </a:pPr>
            <a:r>
              <a:rPr lang="en-IN" sz="1600" dirty="0"/>
              <a:t>Lower token usage </a:t>
            </a:r>
          </a:p>
          <a:p>
            <a:pPr marL="342900" lvl="0" indent="-342900">
              <a:buFont typeface="Arial" panose="020B0604020202020204" pitchFamily="34" charset="0"/>
              <a:buChar char="•"/>
            </a:pPr>
            <a:r>
              <a:rPr lang="en-IN" sz="1600" dirty="0"/>
              <a:t>Faster reasoning </a:t>
            </a:r>
          </a:p>
          <a:p>
            <a:pPr marL="342900" lvl="0" indent="-342900">
              <a:buFont typeface="Arial" panose="020B0604020202020204" pitchFamily="34" charset="0"/>
              <a:buChar char="•"/>
            </a:pPr>
            <a:r>
              <a:rPr lang="en-IN" sz="1600" dirty="0"/>
              <a:t>Better accuracy </a:t>
            </a:r>
          </a:p>
          <a:p>
            <a:pPr marL="342900" lvl="0" indent="-342900">
              <a:buFont typeface="Arial" panose="020B0604020202020204" pitchFamily="34" charset="0"/>
              <a:buChar char="•"/>
            </a:pPr>
            <a:r>
              <a:rPr lang="en-IN" sz="1600" dirty="0"/>
              <a:t>Reduced hallucination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571500" y="1325909"/>
            <a:ext cx="11049000" cy="589392"/>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Deploying via offline models ensures data privacy. Model selection is based on VRAM footprint</a:t>
            </a:r>
            <a:r>
              <a:rPr lang="en-IN" sz="1500" dirty="0">
                <a:solidFill>
                  <a:srgbClr val="334155"/>
                </a:solidFill>
                <a:latin typeface="Inter"/>
              </a:rPr>
              <a:t>, T</a:t>
            </a:r>
            <a:r>
              <a:rPr sz="1500" b="0" i="0" u="none" dirty="0">
                <a:solidFill>
                  <a:srgbClr val="334155"/>
                </a:solidFill>
                <a:latin typeface="Inter"/>
              </a:rPr>
              <a:t>raining data freshness</a:t>
            </a:r>
            <a:r>
              <a:rPr lang="en-IN" sz="1500" b="0" i="0" u="none" dirty="0">
                <a:solidFill>
                  <a:srgbClr val="334155"/>
                </a:solidFill>
                <a:latin typeface="Inter"/>
              </a:rPr>
              <a:t>, Suitable for Agentic Operations</a:t>
            </a:r>
            <a:r>
              <a:rPr sz="1500" b="0" i="0" u="none" dirty="0">
                <a:solidFill>
                  <a:srgbClr val="334155"/>
                </a:solidFill>
                <a:latin typeface="Inter"/>
              </a:rPr>
              <a:t>.</a:t>
            </a:r>
          </a:p>
        </p:txBody>
      </p:sp>
      <p:sp>
        <p:nvSpPr>
          <p:cNvPr id="23" name="TextBox 22"/>
          <p:cNvSpPr txBox="1"/>
          <p:nvPr/>
        </p:nvSpPr>
        <p:spPr>
          <a:xfrm>
            <a:off x="571500" y="57149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Local Offline </a:t>
            </a:r>
            <a:r>
              <a:rPr sz="3300" b="1" i="0" u="none" dirty="0">
                <a:solidFill>
                  <a:srgbClr val="2563EB"/>
                </a:solidFill>
                <a:latin typeface="Inter"/>
              </a:rPr>
              <a:t>Execution Strategy</a:t>
            </a:r>
          </a:p>
        </p:txBody>
      </p:sp>
      <p:graphicFrame>
        <p:nvGraphicFramePr>
          <p:cNvPr id="3" name="Table 2">
            <a:extLst>
              <a:ext uri="{FF2B5EF4-FFF2-40B4-BE49-F238E27FC236}">
                <a16:creationId xmlns:a16="http://schemas.microsoft.com/office/drawing/2014/main" id="{2AA6FC51-8DBD-43A2-56EB-F2C2A62376BA}"/>
              </a:ext>
            </a:extLst>
          </p:cNvPr>
          <p:cNvGraphicFramePr>
            <a:graphicFrameLocks noGrp="1"/>
          </p:cNvGraphicFramePr>
          <p:nvPr>
            <p:extLst>
              <p:ext uri="{D42A27DB-BD31-4B8C-83A1-F6EECF244321}">
                <p14:modId xmlns:p14="http://schemas.microsoft.com/office/powerpoint/2010/main" val="269185049"/>
              </p:ext>
            </p:extLst>
          </p:nvPr>
        </p:nvGraphicFramePr>
        <p:xfrm>
          <a:off x="571501" y="2093145"/>
          <a:ext cx="11049000" cy="4034312"/>
        </p:xfrm>
        <a:graphic>
          <a:graphicData uri="http://schemas.openxmlformats.org/drawingml/2006/table">
            <a:tbl>
              <a:tblPr>
                <a:tableStyleId>{2D5ABB26-0587-4C30-8999-92F81FD0307C}</a:tableStyleId>
              </a:tblPr>
              <a:tblGrid>
                <a:gridCol w="2209800">
                  <a:extLst>
                    <a:ext uri="{9D8B030D-6E8A-4147-A177-3AD203B41FA5}">
                      <a16:colId xmlns:a16="http://schemas.microsoft.com/office/drawing/2014/main" val="1348557304"/>
                    </a:ext>
                  </a:extLst>
                </a:gridCol>
                <a:gridCol w="2209800">
                  <a:extLst>
                    <a:ext uri="{9D8B030D-6E8A-4147-A177-3AD203B41FA5}">
                      <a16:colId xmlns:a16="http://schemas.microsoft.com/office/drawing/2014/main" val="3070456705"/>
                    </a:ext>
                  </a:extLst>
                </a:gridCol>
                <a:gridCol w="2209800">
                  <a:extLst>
                    <a:ext uri="{9D8B030D-6E8A-4147-A177-3AD203B41FA5}">
                      <a16:colId xmlns:a16="http://schemas.microsoft.com/office/drawing/2014/main" val="601088068"/>
                    </a:ext>
                  </a:extLst>
                </a:gridCol>
                <a:gridCol w="2209800">
                  <a:extLst>
                    <a:ext uri="{9D8B030D-6E8A-4147-A177-3AD203B41FA5}">
                      <a16:colId xmlns:a16="http://schemas.microsoft.com/office/drawing/2014/main" val="3846660940"/>
                    </a:ext>
                  </a:extLst>
                </a:gridCol>
                <a:gridCol w="2209800">
                  <a:extLst>
                    <a:ext uri="{9D8B030D-6E8A-4147-A177-3AD203B41FA5}">
                      <a16:colId xmlns:a16="http://schemas.microsoft.com/office/drawing/2014/main" val="311613139"/>
                    </a:ext>
                  </a:extLst>
                </a:gridCol>
              </a:tblGrid>
              <a:tr h="498062">
                <a:tc>
                  <a:txBody>
                    <a:bodyPr/>
                    <a:lstStyle/>
                    <a:p>
                      <a:pPr>
                        <a:buNone/>
                      </a:pPr>
                      <a:r>
                        <a:rPr lang="en-IN" sz="1400" b="1"/>
                        <a:t>Model (4-bit Quant)</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Recommended Hardware (VRAM)</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Knowledge Cutoff</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buNone/>
                      </a:pPr>
                      <a:r>
                        <a:rPr lang="en-IN" sz="1400" b="1"/>
                        <a:t>Agent Capability</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Best Use Case</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558253585"/>
                  </a:ext>
                </a:extLst>
              </a:tr>
              <a:tr h="647482">
                <a:tc>
                  <a:txBody>
                    <a:bodyPr/>
                    <a:lstStyle/>
                    <a:p>
                      <a:pPr>
                        <a:buNone/>
                      </a:pPr>
                      <a:r>
                        <a:rPr lang="en-IN" sz="1400" b="1"/>
                        <a:t>Gemma 4 4B</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Laptop / iGPU (~5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dirty="0"/>
                        <a:t>Early 2026</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Basic assistants, RAG, lightweight offline agents</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4273148"/>
                  </a:ext>
                </a:extLst>
              </a:tr>
              <a:tr h="796902">
                <a:tc>
                  <a:txBody>
                    <a:bodyPr/>
                    <a:lstStyle/>
                    <a:p>
                      <a:pPr>
                        <a:buNone/>
                      </a:pPr>
                      <a:r>
                        <a:rPr lang="en-IN" sz="1400" b="1" dirty="0"/>
                        <a:t>Gemma 4 12B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dirty="0"/>
                        <a:t>RTX 4070 (8–10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2026</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dirty="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General-purpose AI agents with good reasoning &amp; tool use</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22028612"/>
                  </a:ext>
                </a:extLst>
              </a:tr>
              <a:tr h="647482">
                <a:tc>
                  <a:txBody>
                    <a:bodyPr/>
                    <a:lstStyle/>
                    <a:p>
                      <a:pPr>
                        <a:buNone/>
                      </a:pPr>
                      <a:r>
                        <a:rPr lang="en-IN" sz="1400" b="1" dirty="0"/>
                        <a:t>Mistral Small 3.2 (24B)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RTX 4090 (16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2025</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Enterprise agents, multi-tool workflows, planning</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7034541"/>
                  </a:ext>
                </a:extLst>
              </a:tr>
              <a:tr h="647482">
                <a:tc>
                  <a:txBody>
                    <a:bodyPr/>
                    <a:lstStyle/>
                    <a:p>
                      <a:pPr>
                        <a:buNone/>
                      </a:pPr>
                      <a:r>
                        <a:rPr lang="en-IN" sz="1400" b="1" dirty="0"/>
                        <a:t>Qwen3-Coder 32B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Workstation / Mac M-Series (20–22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2025</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Coding agents, debugging, software engineering</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5683234"/>
                  </a:ext>
                </a:extLst>
              </a:tr>
              <a:tr h="796902">
                <a:tc>
                  <a:txBody>
                    <a:bodyPr/>
                    <a:lstStyle/>
                    <a:p>
                      <a:pPr>
                        <a:buNone/>
                      </a:pPr>
                      <a:r>
                        <a:rPr lang="en-IN" sz="1400" b="1" dirty="0"/>
                        <a:t>Llama 3.3 70B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Multi-GPU / High-End Server (48+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Late 2023*</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dirty="0"/>
                        <a:t>Research, complex planning, multi-agent orchestration</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1216395"/>
                  </a:ext>
                </a:extLst>
              </a:tr>
            </a:tbl>
          </a:graphicData>
        </a:graphic>
      </p:graphicFrame>
      <p:sp>
        <p:nvSpPr>
          <p:cNvPr id="6" name="TextBox 5">
            <a:extLst>
              <a:ext uri="{FF2B5EF4-FFF2-40B4-BE49-F238E27FC236}">
                <a16:creationId xmlns:a16="http://schemas.microsoft.com/office/drawing/2014/main" id="{FDAF922B-4B4F-0F5C-4CFB-0E6D2F50B079}"/>
              </a:ext>
            </a:extLst>
          </p:cNvPr>
          <p:cNvSpPr txBox="1"/>
          <p:nvPr/>
        </p:nvSpPr>
        <p:spPr>
          <a:xfrm>
            <a:off x="497608" y="6339348"/>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Box 5"/>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p:cNvPicPr>
            <a:picLocks noChangeAspect="1"/>
          </p:cNvPicPr>
          <p:nvPr/>
        </p:nvPicPr>
        <p:blipFill>
          <a:blip r:embed="rId2"/>
          <a:stretch>
            <a:fillRect/>
          </a:stretch>
        </p:blipFill>
        <p:spPr>
          <a:xfrm>
            <a:off x="-127000" y="-20320"/>
            <a:ext cx="12446000" cy="6858000"/>
          </a:xfrm>
          <a:prstGeom prst="rect">
            <a:avLst/>
          </a:prstGeom>
        </p:spPr>
      </p:pic>
      <p:sp>
        <p:nvSpPr>
          <p:cNvPr id="7" name="TextBox 6">
            <a:extLst>
              <a:ext uri="{FF2B5EF4-FFF2-40B4-BE49-F238E27FC236}">
                <a16:creationId xmlns:a16="http://schemas.microsoft.com/office/drawing/2014/main" id="{1F89E271-73A2-A27E-5A7A-195F2FB1D8C6}"/>
              </a:ext>
            </a:extLst>
          </p:cNvPr>
          <p:cNvSpPr txBox="1"/>
          <p:nvPr/>
        </p:nvSpPr>
        <p:spPr>
          <a:xfrm>
            <a:off x="701370" y="607695"/>
            <a:ext cx="2100255" cy="600164"/>
          </a:xfrm>
          <a:prstGeom prst="rect">
            <a:avLst/>
          </a:prstGeom>
          <a:noFill/>
        </p:spPr>
        <p:txBody>
          <a:bodyPr wrap="none" rtlCol="0">
            <a:spAutoFit/>
          </a:bodyPr>
          <a:lstStyle/>
          <a:p>
            <a:r>
              <a:rPr lang="en-IN" sz="3300" b="1" dirty="0">
                <a:latin typeface="Inter"/>
              </a:rPr>
              <a:t>Conclusion</a:t>
            </a:r>
            <a:endParaRPr lang="en-IN" sz="3300" b="1" dirty="0">
              <a:solidFill>
                <a:srgbClr val="2563EB"/>
              </a:solidFill>
              <a:latin typeface="Inter"/>
            </a:endParaRPr>
          </a:p>
        </p:txBody>
      </p:sp>
      <p:sp>
        <p:nvSpPr>
          <p:cNvPr id="8" name="TextBox 7">
            <a:extLst>
              <a:ext uri="{FF2B5EF4-FFF2-40B4-BE49-F238E27FC236}">
                <a16:creationId xmlns:a16="http://schemas.microsoft.com/office/drawing/2014/main" id="{52FFAFDB-284E-FABD-EC24-FB53EBFFF922}"/>
              </a:ext>
            </a:extLst>
          </p:cNvPr>
          <p:cNvSpPr txBox="1"/>
          <p:nvPr/>
        </p:nvSpPr>
        <p:spPr>
          <a:xfrm>
            <a:off x="701370" y="1564640"/>
            <a:ext cx="10982631" cy="2169825"/>
          </a:xfrm>
          <a:prstGeom prst="rect">
            <a:avLst/>
          </a:prstGeom>
          <a:noFill/>
        </p:spPr>
        <p:txBody>
          <a:bodyPr wrap="square" rtlCol="0">
            <a:spAutoFit/>
          </a:bodyPr>
          <a:lstStyle/>
          <a:p>
            <a:pPr algn="just"/>
            <a:r>
              <a:rPr lang="en-IN" sz="1500" dirty="0">
                <a:latin typeface="Inter"/>
              </a:rPr>
              <a:t>We are proposing an </a:t>
            </a:r>
            <a:r>
              <a:rPr lang="en-IN" sz="1500" b="1" dirty="0">
                <a:latin typeface="Inter"/>
              </a:rPr>
              <a:t>Autonomous Software Development Lifecycle (A-SDLC)</a:t>
            </a:r>
            <a:r>
              <a:rPr lang="en-IN" sz="1500" dirty="0">
                <a:latin typeface="Inter"/>
              </a:rPr>
              <a:t> framework that transforms traditional software engineering into an </a:t>
            </a:r>
            <a:r>
              <a:rPr lang="en-IN" sz="1500" b="1" dirty="0">
                <a:latin typeface="Inter"/>
              </a:rPr>
              <a:t>AI-Orchestrated Software Engineering Organization</a:t>
            </a:r>
            <a:r>
              <a:rPr lang="en-IN" sz="1500" dirty="0">
                <a:latin typeface="Inter"/>
              </a:rPr>
              <a:t>.</a:t>
            </a:r>
          </a:p>
          <a:p>
            <a:pPr algn="just"/>
            <a:endParaRPr lang="en-IN" sz="1500" dirty="0">
              <a:latin typeface="Inter"/>
            </a:endParaRPr>
          </a:p>
          <a:p>
            <a:pPr algn="just"/>
            <a:r>
              <a:rPr lang="en-IN" sz="1500" dirty="0">
                <a:latin typeface="Inter"/>
              </a:rPr>
              <a:t>Instead of isolated coding assistants, the system coordinates multiple specialized AI agents across the complete SDLC—from </a:t>
            </a:r>
            <a:r>
              <a:rPr lang="en-IN" sz="1500" b="1" dirty="0">
                <a:latin typeface="Inter"/>
              </a:rPr>
              <a:t>requirements engineering</a:t>
            </a:r>
            <a:r>
              <a:rPr lang="en-IN" sz="1500" dirty="0">
                <a:latin typeface="Inter"/>
              </a:rPr>
              <a:t> to </a:t>
            </a:r>
            <a:r>
              <a:rPr lang="en-IN" sz="1500" b="1" dirty="0">
                <a:latin typeface="Inter"/>
              </a:rPr>
              <a:t>continuous monitoring and learning</a:t>
            </a:r>
            <a:r>
              <a:rPr lang="en-IN" sz="1500" dirty="0">
                <a:latin typeface="Inter"/>
              </a:rPr>
              <a:t>.</a:t>
            </a:r>
          </a:p>
          <a:p>
            <a:pPr algn="just"/>
            <a:endParaRPr lang="en-IN" sz="1500" dirty="0">
              <a:latin typeface="Inter"/>
            </a:endParaRPr>
          </a:p>
          <a:p>
            <a:pPr algn="just"/>
            <a:endParaRPr lang="en-IN" sz="1500" dirty="0">
              <a:latin typeface="Inter"/>
            </a:endParaRPr>
          </a:p>
          <a:p>
            <a:pPr algn="just"/>
            <a:endParaRPr lang="en-IN" sz="1500" dirty="0">
              <a:latin typeface="Inter"/>
            </a:endParaRPr>
          </a:p>
          <a:p>
            <a:pPr algn="just"/>
            <a:endParaRPr lang="en-IN" sz="1500" dirty="0">
              <a:latin typeface="Inter"/>
            </a:endParaRPr>
          </a:p>
        </p:txBody>
      </p:sp>
      <p:sp>
        <p:nvSpPr>
          <p:cNvPr id="106" name="TextBox 105">
            <a:extLst>
              <a:ext uri="{FF2B5EF4-FFF2-40B4-BE49-F238E27FC236}">
                <a16:creationId xmlns:a16="http://schemas.microsoft.com/office/drawing/2014/main" id="{A0B5A693-1607-FD0D-DBB0-E8445D6CC513}"/>
              </a:ext>
            </a:extLst>
          </p:cNvPr>
          <p:cNvSpPr txBox="1"/>
          <p:nvPr/>
        </p:nvSpPr>
        <p:spPr>
          <a:xfrm>
            <a:off x="835865" y="3271837"/>
            <a:ext cx="5550693" cy="314325"/>
          </a:xfrm>
          <a:prstGeom prst="rect">
            <a:avLst/>
          </a:prstGeom>
          <a:noFill/>
        </p:spPr>
        <p:txBody>
          <a:bodyPr wrap="square" lIns="0" tIns="0" rIns="0" bIns="0" anchor="t">
            <a:spAutoFit/>
          </a:bodyPr>
          <a:lstStyle/>
          <a:p>
            <a:pPr algn="l"/>
            <a:r>
              <a:rPr sz="1650" b="1" i="0" u="none">
                <a:solidFill>
                  <a:srgbClr val="0F172A"/>
                </a:solidFill>
                <a:latin typeface="Poppins"/>
              </a:rPr>
              <a:t>Expected Outcomes</a:t>
            </a:r>
          </a:p>
        </p:txBody>
      </p:sp>
      <p:sp>
        <p:nvSpPr>
          <p:cNvPr id="108" name="TextBox 107">
            <a:extLst>
              <a:ext uri="{FF2B5EF4-FFF2-40B4-BE49-F238E27FC236}">
                <a16:creationId xmlns:a16="http://schemas.microsoft.com/office/drawing/2014/main" id="{04E7DDFE-768C-D219-C521-13495D1F11A9}"/>
              </a:ext>
            </a:extLst>
          </p:cNvPr>
          <p:cNvSpPr txBox="1"/>
          <p:nvPr/>
        </p:nvSpPr>
        <p:spPr>
          <a:xfrm>
            <a:off x="1188290" y="377666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Reduced context size and token consumption</a:t>
            </a:r>
          </a:p>
        </p:txBody>
      </p:sp>
      <p:sp>
        <p:nvSpPr>
          <p:cNvPr id="110" name="TextBox 109">
            <a:extLst>
              <a:ext uri="{FF2B5EF4-FFF2-40B4-BE49-F238E27FC236}">
                <a16:creationId xmlns:a16="http://schemas.microsoft.com/office/drawing/2014/main" id="{D7F4456A-FFC2-F6BB-C366-047FB4A94C0D}"/>
              </a:ext>
            </a:extLst>
          </p:cNvPr>
          <p:cNvSpPr txBox="1"/>
          <p:nvPr/>
        </p:nvSpPr>
        <p:spPr>
          <a:xfrm>
            <a:off x="1188290" y="413861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Faster and more accurate software development</a:t>
            </a:r>
          </a:p>
        </p:txBody>
      </p:sp>
      <p:sp>
        <p:nvSpPr>
          <p:cNvPr id="112" name="TextBox 111">
            <a:extLst>
              <a:ext uri="{FF2B5EF4-FFF2-40B4-BE49-F238E27FC236}">
                <a16:creationId xmlns:a16="http://schemas.microsoft.com/office/drawing/2014/main" id="{51FD3D4B-2D8D-1398-75A5-5798D9FC8104}"/>
              </a:ext>
            </a:extLst>
          </p:cNvPr>
          <p:cNvSpPr txBox="1"/>
          <p:nvPr/>
        </p:nvSpPr>
        <p:spPr>
          <a:xfrm>
            <a:off x="1188290" y="450056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Improved traceability across the SDLC</a:t>
            </a:r>
          </a:p>
        </p:txBody>
      </p:sp>
      <p:sp>
        <p:nvSpPr>
          <p:cNvPr id="114" name="TextBox 113">
            <a:extLst>
              <a:ext uri="{FF2B5EF4-FFF2-40B4-BE49-F238E27FC236}">
                <a16:creationId xmlns:a16="http://schemas.microsoft.com/office/drawing/2014/main" id="{E73D4014-86D0-0F9F-27DA-28FF06974CC3}"/>
              </a:ext>
            </a:extLst>
          </p:cNvPr>
          <p:cNvSpPr txBox="1"/>
          <p:nvPr/>
        </p:nvSpPr>
        <p:spPr>
          <a:xfrm>
            <a:off x="1188290" y="486251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Persistent engineering knowledge</a:t>
            </a:r>
          </a:p>
        </p:txBody>
      </p:sp>
      <p:pic>
        <p:nvPicPr>
          <p:cNvPr id="128" name="Picture 127" descr="image.png">
            <a:extLst>
              <a:ext uri="{FF2B5EF4-FFF2-40B4-BE49-F238E27FC236}">
                <a16:creationId xmlns:a16="http://schemas.microsoft.com/office/drawing/2014/main" id="{B60B6D2B-5DE3-7090-DD1B-1B02FDFE23A0}"/>
              </a:ext>
            </a:extLst>
          </p:cNvPr>
          <p:cNvPicPr>
            <a:picLocks noChangeAspect="1"/>
          </p:cNvPicPr>
          <p:nvPr/>
        </p:nvPicPr>
        <p:blipFill>
          <a:blip r:embed="rId3"/>
          <a:stretch>
            <a:fillRect/>
          </a:stretch>
        </p:blipFill>
        <p:spPr>
          <a:xfrm>
            <a:off x="835865" y="3771900"/>
            <a:ext cx="209550" cy="219075"/>
          </a:xfrm>
          <a:prstGeom prst="rect">
            <a:avLst/>
          </a:prstGeom>
        </p:spPr>
      </p:pic>
      <p:pic>
        <p:nvPicPr>
          <p:cNvPr id="130" name="Picture 129" descr="image.png">
            <a:extLst>
              <a:ext uri="{FF2B5EF4-FFF2-40B4-BE49-F238E27FC236}">
                <a16:creationId xmlns:a16="http://schemas.microsoft.com/office/drawing/2014/main" id="{56190B3E-1981-C098-5E90-E0BEE0580BE5}"/>
              </a:ext>
            </a:extLst>
          </p:cNvPr>
          <p:cNvPicPr>
            <a:picLocks noChangeAspect="1"/>
          </p:cNvPicPr>
          <p:nvPr/>
        </p:nvPicPr>
        <p:blipFill>
          <a:blip r:embed="rId3"/>
          <a:stretch>
            <a:fillRect/>
          </a:stretch>
        </p:blipFill>
        <p:spPr>
          <a:xfrm>
            <a:off x="835865" y="4133850"/>
            <a:ext cx="209550" cy="219075"/>
          </a:xfrm>
          <a:prstGeom prst="rect">
            <a:avLst/>
          </a:prstGeom>
        </p:spPr>
      </p:pic>
      <p:pic>
        <p:nvPicPr>
          <p:cNvPr id="132" name="Picture 131" descr="image.png">
            <a:extLst>
              <a:ext uri="{FF2B5EF4-FFF2-40B4-BE49-F238E27FC236}">
                <a16:creationId xmlns:a16="http://schemas.microsoft.com/office/drawing/2014/main" id="{A4CC8115-3F4C-33B4-77DA-E981D8E77912}"/>
              </a:ext>
            </a:extLst>
          </p:cNvPr>
          <p:cNvPicPr>
            <a:picLocks noChangeAspect="1"/>
          </p:cNvPicPr>
          <p:nvPr/>
        </p:nvPicPr>
        <p:blipFill>
          <a:blip r:embed="rId3"/>
          <a:stretch>
            <a:fillRect/>
          </a:stretch>
        </p:blipFill>
        <p:spPr>
          <a:xfrm>
            <a:off x="835865" y="4495800"/>
            <a:ext cx="209550" cy="219075"/>
          </a:xfrm>
          <a:prstGeom prst="rect">
            <a:avLst/>
          </a:prstGeom>
        </p:spPr>
      </p:pic>
      <p:pic>
        <p:nvPicPr>
          <p:cNvPr id="134" name="Picture 133" descr="image.png">
            <a:extLst>
              <a:ext uri="{FF2B5EF4-FFF2-40B4-BE49-F238E27FC236}">
                <a16:creationId xmlns:a16="http://schemas.microsoft.com/office/drawing/2014/main" id="{4D4651EE-C88D-E6BA-38F1-E14847DEFDC0}"/>
              </a:ext>
            </a:extLst>
          </p:cNvPr>
          <p:cNvPicPr>
            <a:picLocks noChangeAspect="1"/>
          </p:cNvPicPr>
          <p:nvPr/>
        </p:nvPicPr>
        <p:blipFill>
          <a:blip r:embed="rId3"/>
          <a:stretch>
            <a:fillRect/>
          </a:stretch>
        </p:blipFill>
        <p:spPr>
          <a:xfrm>
            <a:off x="835865" y="4857750"/>
            <a:ext cx="209550" cy="219075"/>
          </a:xfrm>
          <a:prstGeom prst="rect">
            <a:avLst/>
          </a:prstGeom>
        </p:spPr>
      </p:pic>
      <p:sp>
        <p:nvSpPr>
          <p:cNvPr id="4" name="Rectangle 3">
            <a:extLst>
              <a:ext uri="{FF2B5EF4-FFF2-40B4-BE49-F238E27FC236}">
                <a16:creationId xmlns:a16="http://schemas.microsoft.com/office/drawing/2014/main" id="{89409D1F-C205-C268-4D1E-23F4817CFC66}"/>
              </a:ext>
            </a:extLst>
          </p:cNvPr>
          <p:cNvSpPr/>
          <p:nvPr/>
        </p:nvSpPr>
        <p:spPr>
          <a:xfrm>
            <a:off x="760362" y="1201407"/>
            <a:ext cx="2124075" cy="19050"/>
          </a:xfrm>
          <a:prstGeom prst="rect">
            <a:avLst/>
          </a:prstGeom>
          <a:solidFill>
            <a:srgbClr val="38BDF8"/>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descr="image.png">
            <a:extLst>
              <a:ext uri="{FF2B5EF4-FFF2-40B4-BE49-F238E27FC236}">
                <a16:creationId xmlns:a16="http://schemas.microsoft.com/office/drawing/2014/main" id="{79FB4A8F-71C5-327D-3986-3FDF98E36CBD}"/>
              </a:ext>
            </a:extLst>
          </p:cNvPr>
          <p:cNvPicPr>
            <a:picLocks noChangeAspect="1"/>
          </p:cNvPicPr>
          <p:nvPr/>
        </p:nvPicPr>
        <p:blipFill>
          <a:blip r:embed="rId2"/>
          <a:stretch>
            <a:fillRect/>
          </a:stretch>
        </p:blipFill>
        <p:spPr>
          <a:xfrm>
            <a:off x="-241877" y="-20324"/>
            <a:ext cx="12446000" cy="6858000"/>
          </a:xfrm>
          <a:prstGeom prst="rect">
            <a:avLst/>
          </a:prstGeom>
        </p:spPr>
      </p:pic>
      <p:sp>
        <p:nvSpPr>
          <p:cNvPr id="3" name="TextBox 2"/>
          <p:cNvSpPr txBox="1"/>
          <p:nvPr/>
        </p:nvSpPr>
        <p:spPr>
          <a:xfrm>
            <a:off x="495300" y="1332976"/>
            <a:ext cx="5600700" cy="246221"/>
          </a:xfrm>
          <a:prstGeom prst="rect">
            <a:avLst/>
          </a:prstGeom>
          <a:noFill/>
        </p:spPr>
        <p:txBody>
          <a:bodyPr wrap="square" lIns="0" tIns="0" rIns="0" bIns="0" anchor="t">
            <a:spAutoFit/>
          </a:bodyPr>
          <a:lstStyle/>
          <a:p>
            <a:pPr algn="l"/>
            <a:r>
              <a:rPr sz="1600" b="1" i="0" u="none" dirty="0">
                <a:latin typeface="Inter"/>
              </a:rPr>
              <a:t>Research Papers</a:t>
            </a:r>
            <a:r>
              <a:rPr lang="en-IN" sz="1600" b="1" i="0" u="none" dirty="0">
                <a:latin typeface="Inter"/>
              </a:rPr>
              <a:t> &amp; Book</a:t>
            </a:r>
            <a:endParaRPr sz="1600" b="1" i="0" u="none" dirty="0">
              <a:latin typeface="Inter"/>
            </a:endParaRPr>
          </a:p>
        </p:txBody>
      </p:sp>
      <p:sp>
        <p:nvSpPr>
          <p:cNvPr id="4" name="Rectangle 3"/>
          <p:cNvSpPr/>
          <p:nvPr/>
        </p:nvSpPr>
        <p:spPr>
          <a:xfrm>
            <a:off x="495300" y="1704451"/>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 name="TextBox 4"/>
          <p:cNvSpPr txBox="1"/>
          <p:nvPr/>
        </p:nvSpPr>
        <p:spPr>
          <a:xfrm>
            <a:off x="6210300" y="1332976"/>
            <a:ext cx="5600700" cy="246221"/>
          </a:xfrm>
          <a:prstGeom prst="rect">
            <a:avLst/>
          </a:prstGeom>
          <a:noFill/>
        </p:spPr>
        <p:txBody>
          <a:bodyPr wrap="square" lIns="0" tIns="0" rIns="0" bIns="0" anchor="t">
            <a:spAutoFit/>
          </a:bodyPr>
          <a:lstStyle/>
          <a:p>
            <a:pPr algn="l"/>
            <a:r>
              <a:rPr lang="en-IN" sz="1600" b="1" i="0" u="none" dirty="0">
                <a:latin typeface="Inter"/>
              </a:rPr>
              <a:t>Articles &amp; Official Documentations</a:t>
            </a:r>
            <a:endParaRPr sz="1600" b="1" i="0" u="none" dirty="0">
              <a:latin typeface="Inter"/>
            </a:endParaRPr>
          </a:p>
        </p:txBody>
      </p:sp>
      <p:sp>
        <p:nvSpPr>
          <p:cNvPr id="6" name="Rectangle 5"/>
          <p:cNvSpPr/>
          <p:nvPr/>
        </p:nvSpPr>
        <p:spPr>
          <a:xfrm>
            <a:off x="6210300" y="1704451"/>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TextBox 6"/>
          <p:cNvSpPr txBox="1"/>
          <p:nvPr/>
        </p:nvSpPr>
        <p:spPr>
          <a:xfrm>
            <a:off x="495300" y="1904476"/>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[1]</a:t>
            </a:r>
            <a:r>
              <a:rPr sz="1400" b="0" i="0" u="none" dirty="0">
                <a:latin typeface="Inter"/>
              </a:rPr>
              <a:t> He, J., </a:t>
            </a:r>
            <a:r>
              <a:rPr sz="1400" b="0" i="0" u="none" dirty="0" err="1">
                <a:latin typeface="Inter"/>
              </a:rPr>
              <a:t>Treude</a:t>
            </a:r>
            <a:r>
              <a:rPr sz="1400" b="0" i="0" u="none" dirty="0">
                <a:latin typeface="Inter"/>
              </a:rPr>
              <a:t>, C., &amp; Lo, D. (2025). </a:t>
            </a:r>
            <a:r>
              <a:rPr sz="1400" b="0" i="1" u="none" dirty="0">
                <a:latin typeface="Inter"/>
              </a:rPr>
              <a:t>LLM-Based Multi-Agent Systems for Software Engineering: Literature Review, Vision...</a:t>
            </a:r>
            <a:r>
              <a:rPr sz="1400" b="0" i="0" u="none" dirty="0">
                <a:latin typeface="Inter"/>
              </a:rPr>
              <a:t> ACM TOSEM.</a:t>
            </a:r>
          </a:p>
        </p:txBody>
      </p:sp>
      <p:sp>
        <p:nvSpPr>
          <p:cNvPr id="8" name="TextBox 7"/>
          <p:cNvSpPr txBox="1"/>
          <p:nvPr/>
        </p:nvSpPr>
        <p:spPr>
          <a:xfrm>
            <a:off x="495300" y="2445317"/>
            <a:ext cx="5334000" cy="426541"/>
          </a:xfrm>
          <a:prstGeom prst="rect">
            <a:avLst/>
          </a:prstGeom>
          <a:noFill/>
        </p:spPr>
        <p:txBody>
          <a:bodyPr wrap="square" lIns="0" tIns="0" rIns="0" bIns="0" anchor="t">
            <a:spAutoFit/>
          </a:bodyPr>
          <a:lstStyle/>
          <a:p>
            <a:pPr algn="l">
              <a:lnSpc>
                <a:spcPts val="1679"/>
              </a:lnSpc>
            </a:pPr>
            <a:r>
              <a:rPr sz="1400" b="1" i="0" u="none">
                <a:latin typeface="Inter"/>
              </a:rPr>
              <a:t>[2]</a:t>
            </a:r>
            <a:r>
              <a:rPr sz="1400" b="0" i="0" u="none">
                <a:latin typeface="Inter"/>
              </a:rPr>
              <a:t> Apostolou, S. A., et al. (2026). </a:t>
            </a:r>
            <a:r>
              <a:rPr sz="1400" b="0" i="1" u="none">
                <a:latin typeface="Inter"/>
              </a:rPr>
              <a:t>Assistance to Autonomy: A Systematic Literature Review of Agentic AI across the SDLC</a:t>
            </a:r>
            <a:r>
              <a:rPr sz="1400" b="0" i="0" u="none">
                <a:latin typeface="Inter"/>
              </a:rPr>
              <a:t>. arXiv.</a:t>
            </a:r>
          </a:p>
        </p:txBody>
      </p:sp>
      <p:sp>
        <p:nvSpPr>
          <p:cNvPr id="9" name="TextBox 8"/>
          <p:cNvSpPr txBox="1"/>
          <p:nvPr/>
        </p:nvSpPr>
        <p:spPr>
          <a:xfrm>
            <a:off x="495300" y="2986159"/>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[3]</a:t>
            </a:r>
            <a:r>
              <a:rPr sz="1400" b="0" i="0" u="none" dirty="0">
                <a:latin typeface="Inter"/>
              </a:rPr>
              <a:t> </a:t>
            </a:r>
            <a:r>
              <a:rPr sz="1400" b="0" i="1" u="none" dirty="0">
                <a:latin typeface="Inter"/>
              </a:rPr>
              <a:t>Agentic AI in the Software Development Lifecycle: Architecture, Empirical Evidence...</a:t>
            </a:r>
            <a:r>
              <a:rPr sz="1400" b="0" i="0" u="none" dirty="0">
                <a:latin typeface="Inter"/>
              </a:rPr>
              <a:t> (2026). </a:t>
            </a:r>
            <a:r>
              <a:rPr sz="1400" b="0" i="0" u="none" dirty="0" err="1">
                <a:latin typeface="Inter"/>
              </a:rPr>
              <a:t>arXiv</a:t>
            </a:r>
            <a:r>
              <a:rPr sz="1400" b="0" i="0" u="none" dirty="0">
                <a:latin typeface="Inter"/>
              </a:rPr>
              <a:t>.</a:t>
            </a:r>
          </a:p>
        </p:txBody>
      </p:sp>
      <p:sp>
        <p:nvSpPr>
          <p:cNvPr id="10" name="TextBox 9"/>
          <p:cNvSpPr txBox="1"/>
          <p:nvPr/>
        </p:nvSpPr>
        <p:spPr>
          <a:xfrm>
            <a:off x="495300" y="3527000"/>
            <a:ext cx="5524500" cy="646908"/>
          </a:xfrm>
          <a:prstGeom prst="rect">
            <a:avLst/>
          </a:prstGeom>
          <a:noFill/>
        </p:spPr>
        <p:txBody>
          <a:bodyPr wrap="square" lIns="0" tIns="0" rIns="0" bIns="0" anchor="t">
            <a:spAutoFit/>
          </a:bodyPr>
          <a:lstStyle/>
          <a:p>
            <a:pPr algn="just">
              <a:lnSpc>
                <a:spcPts val="1679"/>
              </a:lnSpc>
            </a:pPr>
            <a:r>
              <a:rPr sz="1400" b="1" u="none" dirty="0">
                <a:latin typeface="Inter"/>
              </a:rPr>
              <a:t>[4]</a:t>
            </a:r>
            <a:r>
              <a:rPr lang="en-IN" sz="1400" b="1" u="none" dirty="0">
                <a:latin typeface="Inter"/>
              </a:rPr>
              <a:t> </a:t>
            </a:r>
            <a:r>
              <a:rPr lang="en-IN" sz="1400" b="1" dirty="0">
                <a:latin typeface="Inter"/>
              </a:rPr>
              <a:t> </a:t>
            </a:r>
            <a:r>
              <a:rPr lang="en-IN" sz="1400" i="1" dirty="0">
                <a:latin typeface="Inter"/>
              </a:rPr>
              <a:t>Veselka </a:t>
            </a:r>
            <a:r>
              <a:rPr lang="en-IN" sz="1400" i="1" dirty="0" err="1">
                <a:latin typeface="Inter"/>
              </a:rPr>
              <a:t>Sasheva</a:t>
            </a:r>
            <a:r>
              <a:rPr lang="en-IN" sz="1400" i="1" dirty="0">
                <a:latin typeface="Inter"/>
              </a:rPr>
              <a:t> Petrova-Dimitrova, “Classifications of intelligence agents and their applications,” Fundamental sciences and applications, Vol. 28, No. 1, 2022</a:t>
            </a:r>
            <a:r>
              <a:rPr lang="en-IN" sz="1200" i="1" dirty="0">
                <a:latin typeface="Inter"/>
              </a:rPr>
              <a:t>.</a:t>
            </a:r>
            <a:endParaRPr sz="1200" b="0" i="1" u="none" dirty="0">
              <a:latin typeface="Inter"/>
            </a:endParaRPr>
          </a:p>
        </p:txBody>
      </p:sp>
      <p:sp>
        <p:nvSpPr>
          <p:cNvPr id="11" name="TextBox 10"/>
          <p:cNvSpPr txBox="1"/>
          <p:nvPr/>
        </p:nvSpPr>
        <p:spPr>
          <a:xfrm>
            <a:off x="495300" y="4315198"/>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[5]</a:t>
            </a:r>
            <a:r>
              <a:rPr sz="1400" b="0" i="0" u="none" dirty="0">
                <a:latin typeface="Inter"/>
              </a:rPr>
              <a:t> Sommerville, I. </a:t>
            </a:r>
            <a:r>
              <a:rPr sz="1400" b="0" i="1" u="none" dirty="0">
                <a:latin typeface="Inter"/>
              </a:rPr>
              <a:t>Software Engineering (10th Edition)</a:t>
            </a:r>
            <a:r>
              <a:rPr sz="1400" b="0" i="0" u="none" dirty="0">
                <a:latin typeface="Inter"/>
              </a:rPr>
              <a:t>.</a:t>
            </a:r>
            <a:endParaRPr lang="en-IN" sz="1400" b="0" i="0" u="none" dirty="0">
              <a:latin typeface="Inter"/>
            </a:endParaRPr>
          </a:p>
        </p:txBody>
      </p:sp>
      <p:sp>
        <p:nvSpPr>
          <p:cNvPr id="12" name="TextBox 11"/>
          <p:cNvSpPr txBox="1"/>
          <p:nvPr/>
        </p:nvSpPr>
        <p:spPr>
          <a:xfrm>
            <a:off x="6210300" y="1904476"/>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7</a:t>
            </a:r>
            <a:r>
              <a:rPr sz="1400" b="1" i="0" u="none" dirty="0">
                <a:latin typeface="Inter"/>
              </a:rPr>
              <a:t>]</a:t>
            </a:r>
            <a:r>
              <a:rPr sz="1400" b="0" i="0" u="none" dirty="0">
                <a:latin typeface="Inter"/>
              </a:rPr>
              <a:t> </a:t>
            </a:r>
            <a:r>
              <a:rPr sz="1400" b="0" i="1" u="none" dirty="0" err="1">
                <a:latin typeface="Inter"/>
              </a:rPr>
              <a:t>LangChain</a:t>
            </a:r>
            <a:r>
              <a:rPr sz="1400" b="0" i="1" u="none" dirty="0">
                <a:latin typeface="Inter"/>
              </a:rPr>
              <a:t> Documentation</a:t>
            </a:r>
            <a:r>
              <a:rPr sz="1400" b="0" i="0" u="none" dirty="0">
                <a:latin typeface="Inter"/>
              </a:rPr>
              <a:t>.</a:t>
            </a:r>
          </a:p>
        </p:txBody>
      </p:sp>
      <p:sp>
        <p:nvSpPr>
          <p:cNvPr id="13" name="TextBox 12"/>
          <p:cNvSpPr txBox="1"/>
          <p:nvPr/>
        </p:nvSpPr>
        <p:spPr>
          <a:xfrm>
            <a:off x="6210300" y="2232046"/>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8</a:t>
            </a:r>
            <a:r>
              <a:rPr sz="1400" b="1" i="0" u="none" dirty="0">
                <a:latin typeface="Inter"/>
              </a:rPr>
              <a:t>]</a:t>
            </a:r>
            <a:r>
              <a:rPr sz="1400" b="0" i="0" u="none" dirty="0">
                <a:latin typeface="Inter"/>
              </a:rPr>
              <a:t> </a:t>
            </a:r>
            <a:r>
              <a:rPr sz="1400" b="0" i="1" u="none" dirty="0" err="1">
                <a:latin typeface="Inter"/>
              </a:rPr>
              <a:t>LangGraph</a:t>
            </a:r>
            <a:r>
              <a:rPr sz="1400" b="0" i="1" u="none" dirty="0">
                <a:latin typeface="Inter"/>
              </a:rPr>
              <a:t> Documentation</a:t>
            </a:r>
            <a:r>
              <a:rPr sz="1400" b="0" i="0" u="none" dirty="0">
                <a:latin typeface="Inter"/>
              </a:rPr>
              <a:t>.</a:t>
            </a:r>
          </a:p>
        </p:txBody>
      </p:sp>
      <p:sp>
        <p:nvSpPr>
          <p:cNvPr id="14" name="TextBox 13"/>
          <p:cNvSpPr txBox="1"/>
          <p:nvPr/>
        </p:nvSpPr>
        <p:spPr>
          <a:xfrm>
            <a:off x="6210300" y="2559617"/>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9</a:t>
            </a:r>
            <a:r>
              <a:rPr sz="1400" b="1" i="0" u="none" dirty="0">
                <a:latin typeface="Inter"/>
              </a:rPr>
              <a:t>]</a:t>
            </a:r>
            <a:r>
              <a:rPr sz="1400" b="0" i="0" u="none" dirty="0">
                <a:latin typeface="Inter"/>
              </a:rPr>
              <a:t> </a:t>
            </a:r>
            <a:r>
              <a:rPr sz="1400" b="0" i="1" u="none" dirty="0" err="1">
                <a:latin typeface="Inter"/>
              </a:rPr>
              <a:t>CrewAI</a:t>
            </a:r>
            <a:r>
              <a:rPr sz="1400" b="0" i="1" u="none" dirty="0">
                <a:latin typeface="Inter"/>
              </a:rPr>
              <a:t> Documentation</a:t>
            </a:r>
            <a:r>
              <a:rPr sz="1400" b="0" i="0" u="none" dirty="0">
                <a:latin typeface="Inter"/>
              </a:rPr>
              <a:t>.</a:t>
            </a:r>
          </a:p>
        </p:txBody>
      </p:sp>
      <p:sp>
        <p:nvSpPr>
          <p:cNvPr id="15" name="TextBox 14"/>
          <p:cNvSpPr txBox="1"/>
          <p:nvPr/>
        </p:nvSpPr>
        <p:spPr>
          <a:xfrm>
            <a:off x="6210300" y="2887188"/>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10</a:t>
            </a:r>
            <a:r>
              <a:rPr sz="1400" b="1" i="0" u="none" dirty="0">
                <a:latin typeface="Inter"/>
              </a:rPr>
              <a:t>]</a:t>
            </a:r>
            <a:r>
              <a:rPr sz="1400" b="0" i="0" u="none" dirty="0">
                <a:latin typeface="Inter"/>
              </a:rPr>
              <a:t> </a:t>
            </a:r>
            <a:r>
              <a:rPr sz="1400" b="0" i="1" u="none" dirty="0">
                <a:latin typeface="Inter"/>
              </a:rPr>
              <a:t>OpenAI Agents SDK Documentation</a:t>
            </a:r>
            <a:r>
              <a:rPr sz="1400" b="0" i="0" u="none" dirty="0">
                <a:latin typeface="Inter"/>
              </a:rPr>
              <a:t>.</a:t>
            </a:r>
          </a:p>
        </p:txBody>
      </p:sp>
      <p:sp>
        <p:nvSpPr>
          <p:cNvPr id="16" name="TextBox 15"/>
          <p:cNvSpPr txBox="1"/>
          <p:nvPr/>
        </p:nvSpPr>
        <p:spPr>
          <a:xfrm>
            <a:off x="6210300" y="3214759"/>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1</a:t>
            </a:r>
            <a:r>
              <a:rPr sz="1400" b="1" i="0" u="none" dirty="0">
                <a:latin typeface="Inter"/>
              </a:rPr>
              <a:t>]</a:t>
            </a:r>
            <a:r>
              <a:rPr sz="1400" b="0" i="0" u="none" dirty="0">
                <a:latin typeface="Inter"/>
              </a:rPr>
              <a:t> Hong, S., et al. (2024). </a:t>
            </a:r>
            <a:r>
              <a:rPr sz="1400" b="0" i="1" u="none" dirty="0" err="1">
                <a:latin typeface="Inter"/>
              </a:rPr>
              <a:t>MetaGPT</a:t>
            </a:r>
            <a:r>
              <a:rPr sz="1400" b="0" i="1" u="none" dirty="0">
                <a:latin typeface="Inter"/>
              </a:rPr>
              <a:t>: Meta Programming for Multi-Agent Collaborative Framework</a:t>
            </a:r>
            <a:r>
              <a:rPr sz="1400" b="0" i="0" u="none" dirty="0">
                <a:latin typeface="Inter"/>
              </a:rPr>
              <a:t>.</a:t>
            </a:r>
          </a:p>
        </p:txBody>
      </p:sp>
      <p:sp>
        <p:nvSpPr>
          <p:cNvPr id="17" name="TextBox 16"/>
          <p:cNvSpPr txBox="1"/>
          <p:nvPr/>
        </p:nvSpPr>
        <p:spPr>
          <a:xfrm>
            <a:off x="6210300" y="3755600"/>
            <a:ext cx="5334000" cy="428900"/>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2</a:t>
            </a:r>
            <a:r>
              <a:rPr sz="1400" b="1" i="0" u="none" dirty="0">
                <a:latin typeface="Inter"/>
              </a:rPr>
              <a:t>]</a:t>
            </a:r>
            <a:r>
              <a:rPr sz="1400" b="0" i="0" u="none" dirty="0">
                <a:latin typeface="Inter"/>
              </a:rPr>
              <a:t> Qian, C., et al. (2024). </a:t>
            </a:r>
            <a:r>
              <a:rPr sz="1400" b="0" i="1" u="none" dirty="0" err="1">
                <a:latin typeface="Inter"/>
              </a:rPr>
              <a:t>ChatDev</a:t>
            </a:r>
            <a:r>
              <a:rPr sz="1400" b="0" i="1" u="none" dirty="0">
                <a:latin typeface="Inter"/>
              </a:rPr>
              <a:t>: Communicative Agents for Software Development</a:t>
            </a:r>
            <a:r>
              <a:rPr sz="1400" b="0" i="0" u="none" dirty="0">
                <a:latin typeface="Inter"/>
              </a:rPr>
              <a:t>.</a:t>
            </a:r>
          </a:p>
        </p:txBody>
      </p:sp>
      <p:sp>
        <p:nvSpPr>
          <p:cNvPr id="18" name="TextBox 17"/>
          <p:cNvSpPr txBox="1"/>
          <p:nvPr/>
        </p:nvSpPr>
        <p:spPr>
          <a:xfrm>
            <a:off x="6210300" y="4296441"/>
            <a:ext cx="5334000" cy="428900"/>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3</a:t>
            </a:r>
            <a:r>
              <a:rPr sz="1400" b="1" i="0" u="none" dirty="0">
                <a:latin typeface="Inter"/>
              </a:rPr>
              <a:t>]</a:t>
            </a:r>
            <a:r>
              <a:rPr sz="1400" b="0" i="0" u="none" dirty="0">
                <a:latin typeface="Inter"/>
              </a:rPr>
              <a:t> Yang, J., et al. (2024). </a:t>
            </a:r>
            <a:r>
              <a:rPr sz="1400" b="0" i="1" u="none" dirty="0">
                <a:latin typeface="Inter"/>
              </a:rPr>
              <a:t>SWE-Agent: Agent-Computer Interfaces Enable Automated SE</a:t>
            </a:r>
            <a:r>
              <a:rPr sz="1400" b="0" i="0" u="none" dirty="0">
                <a:latin typeface="Inter"/>
              </a:rPr>
              <a:t>.</a:t>
            </a:r>
          </a:p>
        </p:txBody>
      </p:sp>
      <p:sp>
        <p:nvSpPr>
          <p:cNvPr id="19" name="TextBox 18"/>
          <p:cNvSpPr txBox="1"/>
          <p:nvPr/>
        </p:nvSpPr>
        <p:spPr>
          <a:xfrm>
            <a:off x="6210300" y="4837283"/>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4</a:t>
            </a:r>
            <a:r>
              <a:rPr sz="1400" b="1" i="0" u="none" dirty="0">
                <a:latin typeface="Inter"/>
              </a:rPr>
              <a:t>]</a:t>
            </a:r>
            <a:r>
              <a:rPr sz="1400" b="0" i="0" u="none" dirty="0">
                <a:latin typeface="Inter"/>
              </a:rPr>
              <a:t> </a:t>
            </a:r>
            <a:r>
              <a:rPr sz="1400" b="0" i="1" u="none" dirty="0" err="1">
                <a:latin typeface="Inter"/>
              </a:rPr>
              <a:t>OpenHands</a:t>
            </a:r>
            <a:r>
              <a:rPr sz="1400" b="0" i="1" u="none" dirty="0">
                <a:latin typeface="Inter"/>
              </a:rPr>
              <a:t> Project</a:t>
            </a:r>
            <a:r>
              <a:rPr sz="1400" b="0" i="0" u="none" dirty="0">
                <a:latin typeface="Inter"/>
              </a:rPr>
              <a:t>.</a:t>
            </a:r>
          </a:p>
        </p:txBody>
      </p:sp>
      <p:sp>
        <p:nvSpPr>
          <p:cNvPr id="20" name="TextBox 19"/>
          <p:cNvSpPr txBox="1"/>
          <p:nvPr/>
        </p:nvSpPr>
        <p:spPr>
          <a:xfrm>
            <a:off x="6220132" y="5164854"/>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5</a:t>
            </a:r>
            <a:r>
              <a:rPr sz="1400" b="1" i="0" u="none" dirty="0">
                <a:latin typeface="Inter"/>
              </a:rPr>
              <a:t>]</a:t>
            </a:r>
            <a:r>
              <a:rPr sz="1400" b="0" i="0" u="none" dirty="0">
                <a:latin typeface="Inter"/>
              </a:rPr>
              <a:t> Cognition AI – </a:t>
            </a:r>
            <a:r>
              <a:rPr sz="1400" b="0" i="1" u="none" dirty="0">
                <a:latin typeface="Inter"/>
              </a:rPr>
              <a:t>Devin: AI Software Engineer</a:t>
            </a:r>
            <a:r>
              <a:rPr sz="1400" b="0" i="0" u="none" dirty="0">
                <a:latin typeface="Inter"/>
              </a:rPr>
              <a:t>.</a:t>
            </a:r>
          </a:p>
        </p:txBody>
      </p:sp>
      <p:sp>
        <p:nvSpPr>
          <p:cNvPr id="35" name="TextBox 34"/>
          <p:cNvSpPr txBox="1"/>
          <p:nvPr/>
        </p:nvSpPr>
        <p:spPr>
          <a:xfrm>
            <a:off x="495300" y="484060"/>
            <a:ext cx="2230278" cy="461665"/>
          </a:xfrm>
          <a:prstGeom prst="rect">
            <a:avLst/>
          </a:prstGeom>
          <a:noFill/>
        </p:spPr>
        <p:txBody>
          <a:bodyPr wrap="square" lIns="0" tIns="0" rIns="0" bIns="0" anchor="t">
            <a:spAutoFit/>
          </a:bodyPr>
          <a:lstStyle/>
          <a:p>
            <a:pPr algn="l"/>
            <a:r>
              <a:rPr sz="3000" b="1" i="0" u="none" dirty="0">
                <a:latin typeface="Inter"/>
              </a:rPr>
              <a:t>References</a:t>
            </a:r>
          </a:p>
        </p:txBody>
      </p:sp>
      <p:sp>
        <p:nvSpPr>
          <p:cNvPr id="36" name="Rectangle 35"/>
          <p:cNvSpPr/>
          <p:nvPr/>
        </p:nvSpPr>
        <p:spPr>
          <a:xfrm>
            <a:off x="495300" y="1046035"/>
            <a:ext cx="2124075" cy="19050"/>
          </a:xfrm>
          <a:prstGeom prst="rect">
            <a:avLst/>
          </a:prstGeom>
          <a:solidFill>
            <a:srgbClr val="38BDF8"/>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6E8E62BB-505E-5A2F-08B5-EE941234AD41}"/>
              </a:ext>
            </a:extLst>
          </p:cNvPr>
          <p:cNvSpPr txBox="1"/>
          <p:nvPr/>
        </p:nvSpPr>
        <p:spPr>
          <a:xfrm>
            <a:off x="6220132" y="5497162"/>
            <a:ext cx="5334000" cy="428900"/>
          </a:xfrm>
          <a:prstGeom prst="rect">
            <a:avLst/>
          </a:prstGeom>
          <a:noFill/>
        </p:spPr>
        <p:txBody>
          <a:bodyPr wrap="square" lIns="0" tIns="0" rIns="0" bIns="0" anchor="t">
            <a:spAutoFit/>
          </a:bodyPr>
          <a:lstStyle/>
          <a:p>
            <a:pPr>
              <a:lnSpc>
                <a:spcPts val="1679"/>
              </a:lnSpc>
            </a:pPr>
            <a:r>
              <a:rPr lang="en-IN" sz="1400" b="1" dirty="0">
                <a:latin typeface="Inter"/>
              </a:rPr>
              <a:t>[16] </a:t>
            </a:r>
            <a:r>
              <a:rPr lang="en-IN" sz="1400" i="1" dirty="0">
                <a:latin typeface="Inter"/>
              </a:rPr>
              <a:t>Microsoft-copilot/for-individuals/do-more-with-ai/general-ai/understanding-ai-agents-vs-chatbots?</a:t>
            </a:r>
            <a:endParaRPr sz="1400" i="1" u="none" dirty="0">
              <a:latin typeface="Inter"/>
            </a:endParaRPr>
          </a:p>
        </p:txBody>
      </p:sp>
      <p:sp>
        <p:nvSpPr>
          <p:cNvPr id="22" name="TextBox 21">
            <a:extLst>
              <a:ext uri="{FF2B5EF4-FFF2-40B4-BE49-F238E27FC236}">
                <a16:creationId xmlns:a16="http://schemas.microsoft.com/office/drawing/2014/main" id="{58149381-955F-2B37-3862-782D5C80C1DD}"/>
              </a:ext>
            </a:extLst>
          </p:cNvPr>
          <p:cNvSpPr txBox="1"/>
          <p:nvPr/>
        </p:nvSpPr>
        <p:spPr>
          <a:xfrm>
            <a:off x="6220132" y="6006937"/>
            <a:ext cx="5334000" cy="210892"/>
          </a:xfrm>
          <a:prstGeom prst="rect">
            <a:avLst/>
          </a:prstGeom>
          <a:noFill/>
        </p:spPr>
        <p:txBody>
          <a:bodyPr wrap="square" lIns="0" tIns="0" rIns="0" bIns="0" anchor="t">
            <a:spAutoFit/>
          </a:bodyPr>
          <a:lstStyle/>
          <a:p>
            <a:pPr>
              <a:lnSpc>
                <a:spcPts val="1679"/>
              </a:lnSpc>
            </a:pPr>
            <a:r>
              <a:rPr lang="en-IN" sz="1400" b="1" dirty="0">
                <a:latin typeface="Inter"/>
              </a:rPr>
              <a:t>[17] </a:t>
            </a:r>
            <a:r>
              <a:rPr lang="en-IN" sz="1400" i="1" dirty="0">
                <a:latin typeface="Inter"/>
              </a:rPr>
              <a:t>IBM: https://www.ibm.com/think/topics/ai-agents</a:t>
            </a:r>
            <a:endParaRPr sz="1400" i="1" u="none" dirty="0">
              <a:latin typeface="Inter"/>
            </a:endParaRPr>
          </a:p>
        </p:txBody>
      </p:sp>
      <p:sp>
        <p:nvSpPr>
          <p:cNvPr id="23" name="TextBox 22">
            <a:extLst>
              <a:ext uri="{FF2B5EF4-FFF2-40B4-BE49-F238E27FC236}">
                <a16:creationId xmlns:a16="http://schemas.microsoft.com/office/drawing/2014/main" id="{A08DFA41-5778-0F5C-F51F-B44ED9727639}"/>
              </a:ext>
            </a:extLst>
          </p:cNvPr>
          <p:cNvSpPr txBox="1"/>
          <p:nvPr/>
        </p:nvSpPr>
        <p:spPr>
          <a:xfrm>
            <a:off x="6220132" y="6316860"/>
            <a:ext cx="5334000" cy="428900"/>
          </a:xfrm>
          <a:prstGeom prst="rect">
            <a:avLst/>
          </a:prstGeom>
          <a:noFill/>
        </p:spPr>
        <p:txBody>
          <a:bodyPr wrap="square" lIns="0" tIns="0" rIns="0" bIns="0" anchor="t">
            <a:spAutoFit/>
          </a:bodyPr>
          <a:lstStyle/>
          <a:p>
            <a:pPr>
              <a:lnSpc>
                <a:spcPts val="1679"/>
              </a:lnSpc>
            </a:pPr>
            <a:r>
              <a:rPr lang="en-IN" sz="1400" b="1" dirty="0">
                <a:latin typeface="Inter"/>
              </a:rPr>
              <a:t>[18] </a:t>
            </a:r>
            <a:r>
              <a:rPr lang="en-IN" sz="1400" i="1" dirty="0">
                <a:latin typeface="Inter"/>
              </a:rPr>
              <a:t>Google Cloud</a:t>
            </a:r>
            <a:r>
              <a:rPr lang="en-IN" sz="1400" b="1" dirty="0">
                <a:latin typeface="Inter"/>
              </a:rPr>
              <a:t>: </a:t>
            </a:r>
            <a:r>
              <a:rPr lang="en-IN" sz="1400" i="1" dirty="0">
                <a:latin typeface="Inter"/>
              </a:rPr>
              <a:t>cloud.google.com/discover/what-is-model-context-protocol</a:t>
            </a:r>
            <a:endParaRPr sz="1400" i="1" u="none" dirty="0">
              <a:latin typeface="Inter"/>
            </a:endParaRPr>
          </a:p>
        </p:txBody>
      </p:sp>
      <p:sp>
        <p:nvSpPr>
          <p:cNvPr id="21" name="TextBox 20">
            <a:extLst>
              <a:ext uri="{FF2B5EF4-FFF2-40B4-BE49-F238E27FC236}">
                <a16:creationId xmlns:a16="http://schemas.microsoft.com/office/drawing/2014/main" id="{B3325A52-7925-E8C0-42FF-7619CA0F7468}"/>
              </a:ext>
            </a:extLst>
          </p:cNvPr>
          <p:cNvSpPr txBox="1"/>
          <p:nvPr/>
        </p:nvSpPr>
        <p:spPr>
          <a:xfrm>
            <a:off x="495300" y="4591939"/>
            <a:ext cx="5610532" cy="861774"/>
          </a:xfrm>
          <a:prstGeom prst="rect">
            <a:avLst/>
          </a:prstGeom>
          <a:noFill/>
        </p:spPr>
        <p:txBody>
          <a:bodyPr wrap="square" lIns="0" tIns="0" rIns="0" bIns="0" anchor="t">
            <a:spAutoFit/>
          </a:bodyPr>
          <a:lstStyle/>
          <a:p>
            <a:r>
              <a:rPr sz="1400" b="1" i="0" u="none" dirty="0">
                <a:latin typeface="Inter"/>
              </a:rPr>
              <a:t>[</a:t>
            </a:r>
            <a:r>
              <a:rPr lang="en-IN" sz="1400" b="1" i="0" u="none" dirty="0">
                <a:latin typeface="Inter"/>
              </a:rPr>
              <a:t>6</a:t>
            </a:r>
            <a:r>
              <a:rPr sz="1400" b="1" i="0" u="none" dirty="0">
                <a:latin typeface="Inter"/>
              </a:rPr>
              <a:t>]</a:t>
            </a:r>
            <a:r>
              <a:rPr sz="1400" b="0" i="0" u="none" dirty="0">
                <a:latin typeface="Inter"/>
              </a:rPr>
              <a:t> </a:t>
            </a:r>
            <a:r>
              <a:rPr lang="en-IN" sz="1400" dirty="0"/>
              <a:t>The Hitchhiker's Guide to Agentic AI: From Foundations to Systems by</a:t>
            </a:r>
          </a:p>
          <a:p>
            <a:r>
              <a:rPr lang="en-IN" sz="1400" dirty="0">
                <a:hlinkClick r:id="rId3"/>
              </a:rPr>
              <a:t>Haggai Roitman</a:t>
            </a:r>
            <a:endParaRPr lang="en-IN" sz="1400" dirty="0"/>
          </a:p>
          <a:p>
            <a:br>
              <a:rPr lang="en-IN" sz="1400" dirty="0"/>
            </a:br>
            <a:endParaRPr lang="en-IN" sz="1400" b="0" i="0" u="none" dirty="0">
              <a:latin typeface="Inte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74B636A-EEAD-78BB-9121-0D9E5F13743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30942B-D517-8939-2F9F-FFB3488A77E3}"/>
              </a:ext>
            </a:extLst>
          </p:cNvPr>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a:extLst>
              <a:ext uri="{FF2B5EF4-FFF2-40B4-BE49-F238E27FC236}">
                <a16:creationId xmlns:a16="http://schemas.microsoft.com/office/drawing/2014/main" id="{DAD3B9FC-D4F5-728A-3BC6-14807CFC7D41}"/>
              </a:ext>
            </a:extLst>
          </p:cNvPr>
          <p:cNvPicPr>
            <a:picLocks noChangeAspect="1"/>
          </p:cNvPicPr>
          <p:nvPr/>
        </p:nvPicPr>
        <p:blipFill>
          <a:blip r:embed="rId2"/>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14F4D3A6-0717-E18B-22C6-D0EBDD70B4CF}"/>
              </a:ext>
            </a:extLst>
          </p:cNvPr>
          <p:cNvSpPr txBox="1"/>
          <p:nvPr/>
        </p:nvSpPr>
        <p:spPr>
          <a:xfrm>
            <a:off x="4521530" y="2967335"/>
            <a:ext cx="3148939" cy="923330"/>
          </a:xfrm>
          <a:prstGeom prst="rect">
            <a:avLst/>
          </a:prstGeom>
          <a:noFill/>
        </p:spPr>
        <p:txBody>
          <a:bodyPr wrap="none" rtlCol="0">
            <a:spAutoFit/>
          </a:bodyPr>
          <a:lstStyle/>
          <a:p>
            <a:r>
              <a:rPr lang="en-IN" sz="5400" b="1" dirty="0">
                <a:solidFill>
                  <a:srgbClr val="2563EB"/>
                </a:solidFill>
              </a:rPr>
              <a:t>Thank You</a:t>
            </a:r>
          </a:p>
        </p:txBody>
      </p:sp>
    </p:spTree>
    <p:extLst>
      <p:ext uri="{BB962C8B-B14F-4D97-AF65-F5344CB8AC3E}">
        <p14:creationId xmlns:p14="http://schemas.microsoft.com/office/powerpoint/2010/main" val="4111202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1197</TotalTime>
  <Words>3194</Words>
  <Application>Microsoft Office PowerPoint</Application>
  <PresentationFormat>Widescreen</PresentationFormat>
  <Paragraphs>363</Paragraphs>
  <Slides>23</Slides>
  <Notes>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23</vt:i4>
      </vt:variant>
    </vt:vector>
  </HeadingPairs>
  <TitlesOfParts>
    <vt:vector size="36" baseType="lpstr">
      <vt:lpstr>anthropicSerif</vt:lpstr>
      <vt:lpstr>Arial</vt:lpstr>
      <vt:lpstr>Arial SemiBold</vt:lpstr>
      <vt:lpstr>Calibri</vt:lpstr>
      <vt:lpstr>Inter</vt:lpstr>
      <vt:lpstr>Inter Medium</vt:lpstr>
      <vt:lpstr>Inter SemiBold</vt:lpstr>
      <vt:lpstr>Lato Medium</vt:lpstr>
      <vt:lpstr>monospace</vt:lpstr>
      <vt:lpstr>Poppins</vt:lpstr>
      <vt:lpstr>Poppins SemiBold</vt:lpstr>
      <vt:lpstr>Urbanist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Abhishek Raj</cp:lastModifiedBy>
  <cp:revision>21</cp:revision>
  <dcterms:created xsi:type="dcterms:W3CDTF">2013-01-27T09:14:16Z</dcterms:created>
  <dcterms:modified xsi:type="dcterms:W3CDTF">2026-08-11T18:20:18Z</dcterms:modified>
  <cp:category/>
</cp:coreProperties>
</file>