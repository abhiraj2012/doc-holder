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70" r:id="rId3"/>
    <p:sldId id="292" r:id="rId4"/>
    <p:sldId id="293" r:id="rId5"/>
    <p:sldId id="282" r:id="rId6"/>
    <p:sldId id="274" r:id="rId7"/>
    <p:sldId id="286" r:id="rId8"/>
    <p:sldId id="283" r:id="rId9"/>
    <p:sldId id="281" r:id="rId10"/>
    <p:sldId id="275" r:id="rId11"/>
    <p:sldId id="280" r:id="rId12"/>
    <p:sldId id="297" r:id="rId13"/>
    <p:sldId id="288" r:id="rId14"/>
    <p:sldId id="289" r:id="rId15"/>
    <p:sldId id="285" r:id="rId16"/>
    <p:sldId id="287" r:id="rId17"/>
    <p:sldId id="290" r:id="rId18"/>
    <p:sldId id="298" r:id="rId19"/>
    <p:sldId id="284" r:id="rId20"/>
    <p:sldId id="294" r:id="rId21"/>
    <p:sldId id="301" r:id="rId22"/>
    <p:sldId id="300" r:id="rId23"/>
    <p:sldId id="257" r:id="rId24"/>
    <p:sldId id="261" r:id="rId25"/>
    <p:sldId id="276" r:id="rId26"/>
    <p:sldId id="267" r:id="rId27"/>
    <p:sldId id="295" r:id="rId28"/>
    <p:sldId id="291" r:id="rId29"/>
    <p:sldId id="296" r:id="rId30"/>
    <p:sldId id="264" r:id="rId31"/>
    <p:sldId id="265" r:id="rId32"/>
    <p:sldId id="277" r:id="rId33"/>
    <p:sldId id="26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E0F2FE"/>
    <a:srgbClr val="F3FAFF"/>
    <a:srgbClr val="83A7EF"/>
    <a:srgbClr val="2563E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03" autoAdjust="0"/>
    <p:restoredTop sz="94118" autoAdjust="0"/>
  </p:normalViewPr>
  <p:slideViewPr>
    <p:cSldViewPr snapToGrid="0" snapToObjects="1">
      <p:cViewPr varScale="1">
        <p:scale>
          <a:sx n="77" d="100"/>
          <a:sy n="77" d="100"/>
        </p:scale>
        <p:origin x="63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Raj" userId="ec53bef3328aea19" providerId="LiveId" clId="{FE3006E0-C7AA-49B6-8C6C-5F4CFE0E1F07}"/>
    <pc:docChg chg="undo custSel addSld delSld modSld sldOrd">
      <pc:chgData name="Abhishek Raj" userId="ec53bef3328aea19" providerId="LiveId" clId="{FE3006E0-C7AA-49B6-8C6C-5F4CFE0E1F07}" dt="2026-09-28T13:23:08.298" v="3577" actId="20577"/>
      <pc:docMkLst>
        <pc:docMk/>
      </pc:docMkLst>
      <pc:sldChg chg="modSp mod">
        <pc:chgData name="Abhishek Raj" userId="ec53bef3328aea19" providerId="LiveId" clId="{FE3006E0-C7AA-49B6-8C6C-5F4CFE0E1F07}" dt="2026-09-28T13:23:08.298" v="3577" actId="20577"/>
        <pc:sldMkLst>
          <pc:docMk/>
          <pc:sldMk cId="3534305611" sldId="286"/>
        </pc:sldMkLst>
        <pc:spChg chg="mod">
          <ac:chgData name="Abhishek Raj" userId="ec53bef3328aea19" providerId="LiveId" clId="{FE3006E0-C7AA-49B6-8C6C-5F4CFE0E1F07}" dt="2026-09-28T13:23:08.298" v="3577" actId="20577"/>
          <ac:spMkLst>
            <pc:docMk/>
            <pc:sldMk cId="3534305611" sldId="286"/>
            <ac:spMk id="4" creationId="{15321072-F84B-69EE-A08C-00A96B4152F7}"/>
          </ac:spMkLst>
        </pc:spChg>
      </pc:sldChg>
      <pc:sldChg chg="addSp delSp modSp add mod">
        <pc:chgData name="Abhishek Raj" userId="ec53bef3328aea19" providerId="LiveId" clId="{FE3006E0-C7AA-49B6-8C6C-5F4CFE0E1F07}" dt="2026-09-02T11:12:46.249" v="3571"/>
        <pc:sldMkLst>
          <pc:docMk/>
          <pc:sldMk cId="3093204693" sldId="294"/>
        </pc:sldMkLst>
        <pc:spChg chg="add mod">
          <ac:chgData name="Abhishek Raj" userId="ec53bef3328aea19" providerId="LiveId" clId="{FE3006E0-C7AA-49B6-8C6C-5F4CFE0E1F07}" dt="2026-09-02T11:08:37.708" v="3553" actId="1076"/>
          <ac:spMkLst>
            <pc:docMk/>
            <pc:sldMk cId="3093204693" sldId="294"/>
            <ac:spMk id="4" creationId="{1CD6B7D8-047E-4B53-8DDC-EA25D1B03047}"/>
          </ac:spMkLst>
        </pc:spChg>
        <pc:spChg chg="mod">
          <ac:chgData name="Abhishek Raj" userId="ec53bef3328aea19" providerId="LiveId" clId="{FE3006E0-C7AA-49B6-8C6C-5F4CFE0E1F07}" dt="2026-09-02T11:08:49.112" v="3561" actId="1037"/>
          <ac:spMkLst>
            <pc:docMk/>
            <pc:sldMk cId="3093204693" sldId="294"/>
            <ac:spMk id="38" creationId="{28B96B9F-62C4-6091-63DA-9C4A4F8A10F7}"/>
          </ac:spMkLst>
        </pc:spChg>
        <pc:picChg chg="add mod">
          <ac:chgData name="Abhishek Raj" userId="ec53bef3328aea19" providerId="LiveId" clId="{FE3006E0-C7AA-49B6-8C6C-5F4CFE0E1F07}" dt="2026-09-02T11:12:46.249" v="3571"/>
          <ac:picMkLst>
            <pc:docMk/>
            <pc:sldMk cId="3093204693" sldId="294"/>
            <ac:picMk id="5" creationId="{C86B5B3D-931A-831A-886A-04E9FEF6596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FA4A4F-6DE4-4020-9306-941990ECF1ED}" type="datetimeFigureOut">
              <a:rPr lang="en-IN" smtClean="0"/>
              <a:t>28-09-2026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3646CC-1C58-4C51-BD13-7005EB5322C4}" type="slidenum">
              <a:rPr lang="en-IN" smtClean="0"/>
              <a:t>‹#›</a:t>
            </a:fld>
            <a:endParaRPr lang="en-IN"/>
          </a:p>
        </p:txBody>
      </p:sp>
    </p:spTree>
    <p:extLst>
      <p:ext uri="{BB962C8B-B14F-4D97-AF65-F5344CB8AC3E}">
        <p14:creationId xmlns:p14="http://schemas.microsoft.com/office/powerpoint/2010/main" val="163906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DCF8A-73E8-149D-0872-C8E2C01A8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0A533-471C-FBB6-B7DF-A9361E717C5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6066E3E-6BA7-C7AB-8AA2-F2878C579F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0C88811-C671-2A92-DD27-C2B741E90707}"/>
              </a:ext>
            </a:extLst>
          </p:cNvPr>
          <p:cNvSpPr>
            <a:spLocks noGrp="1"/>
          </p:cNvSpPr>
          <p:nvPr>
            <p:ph type="sldNum" sz="quarter" idx="5"/>
          </p:nvPr>
        </p:nvSpPr>
        <p:spPr/>
        <p:txBody>
          <a:bodyPr/>
          <a:lstStyle/>
          <a:p>
            <a:fld id="{2D3646CC-1C58-4C51-BD13-7005EB5322C4}" type="slidenum">
              <a:rPr lang="en-IN" smtClean="0"/>
              <a:t>5</a:t>
            </a:fld>
            <a:endParaRPr lang="en-IN"/>
          </a:p>
        </p:txBody>
      </p:sp>
    </p:spTree>
    <p:extLst>
      <p:ext uri="{BB962C8B-B14F-4D97-AF65-F5344CB8AC3E}">
        <p14:creationId xmlns:p14="http://schemas.microsoft.com/office/powerpoint/2010/main" val="2640849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3646CC-1C58-4C51-BD13-7005EB5322C4}" type="slidenum">
              <a:rPr lang="en-IN" smtClean="0"/>
              <a:t>6</a:t>
            </a:fld>
            <a:endParaRPr lang="en-IN"/>
          </a:p>
        </p:txBody>
      </p:sp>
    </p:spTree>
    <p:extLst>
      <p:ext uri="{BB962C8B-B14F-4D97-AF65-F5344CB8AC3E}">
        <p14:creationId xmlns:p14="http://schemas.microsoft.com/office/powerpoint/2010/main" val="3215263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D4E44-D37D-9B1D-3528-877532A81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5B3BB-7A1C-D4C0-FF74-90640B2992A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AA53CE-EE70-F93E-3BD2-FFA4B9E210C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A5B7659-0A0A-04C6-8A6A-F4AFCAB397C7}"/>
              </a:ext>
            </a:extLst>
          </p:cNvPr>
          <p:cNvSpPr>
            <a:spLocks noGrp="1"/>
          </p:cNvSpPr>
          <p:nvPr>
            <p:ph type="sldNum" sz="quarter" idx="5"/>
          </p:nvPr>
        </p:nvSpPr>
        <p:spPr/>
        <p:txBody>
          <a:bodyPr/>
          <a:lstStyle/>
          <a:p>
            <a:fld id="{2D3646CC-1C58-4C51-BD13-7005EB5322C4}" type="slidenum">
              <a:rPr lang="en-IN" smtClean="0"/>
              <a:t>7</a:t>
            </a:fld>
            <a:endParaRPr lang="en-IN"/>
          </a:p>
        </p:txBody>
      </p:sp>
    </p:spTree>
    <p:extLst>
      <p:ext uri="{BB962C8B-B14F-4D97-AF65-F5344CB8AC3E}">
        <p14:creationId xmlns:p14="http://schemas.microsoft.com/office/powerpoint/2010/main" val="2778023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353FD-EF86-11E7-1659-84976105A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009293-47BA-C732-A254-2C5088F88A3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A719BF4-0856-8C9D-5BAB-3E53DF31E71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6606E23-75FF-41C3-F3F7-7E194C5B5F21}"/>
              </a:ext>
            </a:extLst>
          </p:cNvPr>
          <p:cNvSpPr>
            <a:spLocks noGrp="1"/>
          </p:cNvSpPr>
          <p:nvPr>
            <p:ph type="sldNum" sz="quarter" idx="5"/>
          </p:nvPr>
        </p:nvSpPr>
        <p:spPr/>
        <p:txBody>
          <a:bodyPr/>
          <a:lstStyle/>
          <a:p>
            <a:fld id="{2D3646CC-1C58-4C51-BD13-7005EB5322C4}" type="slidenum">
              <a:rPr lang="en-IN" smtClean="0"/>
              <a:t>8</a:t>
            </a:fld>
            <a:endParaRPr lang="en-IN"/>
          </a:p>
        </p:txBody>
      </p:sp>
    </p:spTree>
    <p:extLst>
      <p:ext uri="{BB962C8B-B14F-4D97-AF65-F5344CB8AC3E}">
        <p14:creationId xmlns:p14="http://schemas.microsoft.com/office/powerpoint/2010/main" val="600967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FF192-0167-C838-CDA4-10F78CF09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5A80E-C9D0-3938-BD62-E0A92F3ED01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ABC86A7-2616-E23C-9D18-367A5405F2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5C927B9-BC98-7C27-A0DD-E67D8EBDD11C}"/>
              </a:ext>
            </a:extLst>
          </p:cNvPr>
          <p:cNvSpPr>
            <a:spLocks noGrp="1"/>
          </p:cNvSpPr>
          <p:nvPr>
            <p:ph type="sldNum" sz="quarter" idx="5"/>
          </p:nvPr>
        </p:nvSpPr>
        <p:spPr/>
        <p:txBody>
          <a:bodyPr/>
          <a:lstStyle/>
          <a:p>
            <a:fld id="{2D3646CC-1C58-4C51-BD13-7005EB5322C4}" type="slidenum">
              <a:rPr lang="en-IN" smtClean="0"/>
              <a:t>9</a:t>
            </a:fld>
            <a:endParaRPr lang="en-IN"/>
          </a:p>
        </p:txBody>
      </p:sp>
    </p:spTree>
    <p:extLst>
      <p:ext uri="{BB962C8B-B14F-4D97-AF65-F5344CB8AC3E}">
        <p14:creationId xmlns:p14="http://schemas.microsoft.com/office/powerpoint/2010/main" val="2493319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png"/><Relationship Id="rId7" Type="http://schemas.microsoft.com/office/2007/relationships/hdphoto" Target="../media/hdphoto4.wdp"/><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2.png"/><Relationship Id="rId5" Type="http://schemas.microsoft.com/office/2007/relationships/hdphoto" Target="../media/hdphoto3.wdp"/><Relationship Id="rId4" Type="http://schemas.openxmlformats.org/officeDocument/2006/relationships/image" Target="../media/image21.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6.wdp"/><Relationship Id="rId5" Type="http://schemas.openxmlformats.org/officeDocument/2006/relationships/image" Target="../media/image26.png"/><Relationship Id="rId4" Type="http://schemas.microsoft.com/office/2007/relationships/hdphoto" Target="../media/hdphoto5.wdp"/></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7.wdp"/></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8.wdp"/></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9.wdp"/></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0.wdp"/></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18" Type="http://schemas.openxmlformats.org/officeDocument/2006/relationships/image" Target="../media/image77.png"/><Relationship Id="rId26" Type="http://schemas.openxmlformats.org/officeDocument/2006/relationships/image" Target="../media/image85.png"/><Relationship Id="rId3" Type="http://schemas.openxmlformats.org/officeDocument/2006/relationships/image" Target="../media/image62.png"/><Relationship Id="rId21" Type="http://schemas.openxmlformats.org/officeDocument/2006/relationships/image" Target="../media/image80.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5" Type="http://schemas.openxmlformats.org/officeDocument/2006/relationships/image" Target="../media/image84.png"/><Relationship Id="rId2" Type="http://schemas.openxmlformats.org/officeDocument/2006/relationships/image" Target="../media/image61.png"/><Relationship Id="rId16" Type="http://schemas.openxmlformats.org/officeDocument/2006/relationships/image" Target="../media/image75.png"/><Relationship Id="rId20" Type="http://schemas.openxmlformats.org/officeDocument/2006/relationships/image" Target="../media/image79.png"/><Relationship Id="rId29"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65.png"/><Relationship Id="rId11" Type="http://schemas.openxmlformats.org/officeDocument/2006/relationships/image" Target="../media/image70.png"/><Relationship Id="rId24" Type="http://schemas.openxmlformats.org/officeDocument/2006/relationships/image" Target="../media/image83.png"/><Relationship Id="rId32" Type="http://schemas.openxmlformats.org/officeDocument/2006/relationships/image" Target="../media/image91.png"/><Relationship Id="rId5" Type="http://schemas.openxmlformats.org/officeDocument/2006/relationships/image" Target="../media/image64.png"/><Relationship Id="rId15" Type="http://schemas.openxmlformats.org/officeDocument/2006/relationships/image" Target="../media/image74.png"/><Relationship Id="rId23" Type="http://schemas.openxmlformats.org/officeDocument/2006/relationships/image" Target="../media/image82.png"/><Relationship Id="rId28" Type="http://schemas.openxmlformats.org/officeDocument/2006/relationships/image" Target="../media/image87.png"/><Relationship Id="rId10" Type="http://schemas.openxmlformats.org/officeDocument/2006/relationships/image" Target="../media/image69.png"/><Relationship Id="rId19" Type="http://schemas.openxmlformats.org/officeDocument/2006/relationships/image" Target="../media/image78.png"/><Relationship Id="rId31" Type="http://schemas.openxmlformats.org/officeDocument/2006/relationships/image" Target="../media/image90.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 Id="rId22" Type="http://schemas.openxmlformats.org/officeDocument/2006/relationships/image" Target="../media/image81.png"/><Relationship Id="rId27" Type="http://schemas.openxmlformats.org/officeDocument/2006/relationships/image" Target="../media/image86.png"/><Relationship Id="rId30" Type="http://schemas.openxmlformats.org/officeDocument/2006/relationships/image" Target="../media/image89.png"/></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hyperlink" Target="https://www.anthropic.com/engineering/demystifying-evals-for-ai-agents" TargetMode="External"/><Relationship Id="rId3" Type="http://schemas.openxmlformats.org/officeDocument/2006/relationships/hyperlink" Target="https://arxiv.org/search/cs?searchtype=author&amp;query=Roitman,+H" TargetMode="External"/><Relationship Id="rId7" Type="http://schemas.openxmlformats.org/officeDocument/2006/relationships/hyperlink" Target="https://www.langchain.com/blog/the-anatomy-of-an-agent-harness"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ibm.com/think/topics/ai-agents" TargetMode="External"/><Relationship Id="rId5" Type="http://schemas.openxmlformats.org/officeDocument/2006/relationships/hyperlink" Target="https://openai.com/index/harness-engineering/" TargetMode="External"/><Relationship Id="rId4" Type="http://schemas.openxmlformats.org/officeDocument/2006/relationships/hyperlink" Target="https://githubnext.com/projects/copilot-workspace/"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27819" y="0"/>
            <a:ext cx="12472219" cy="6858000"/>
          </a:xfrm>
          <a:prstGeom prst="rect">
            <a:avLst/>
          </a:prstGeom>
        </p:spPr>
      </p:pic>
      <p:sp>
        <p:nvSpPr>
          <p:cNvPr id="3" name="TextBox 2"/>
          <p:cNvSpPr txBox="1"/>
          <p:nvPr/>
        </p:nvSpPr>
        <p:spPr>
          <a:xfrm>
            <a:off x="216617" y="2476429"/>
            <a:ext cx="11601450" cy="705321"/>
          </a:xfrm>
          <a:prstGeom prst="rect">
            <a:avLst/>
          </a:prstGeom>
          <a:noFill/>
        </p:spPr>
        <p:txBody>
          <a:bodyPr wrap="square" lIns="0" tIns="0" rIns="0" bIns="0" anchor="t">
            <a:spAutoFit/>
          </a:bodyPr>
          <a:lstStyle/>
          <a:p>
            <a:pPr algn="ctr">
              <a:lnSpc>
                <a:spcPts val="5520"/>
              </a:lnSpc>
            </a:pPr>
            <a:r>
              <a:rPr sz="4800" b="1" i="0" u="none" dirty="0">
                <a:solidFill>
                  <a:srgbClr val="0F172A"/>
                </a:solidFill>
                <a:latin typeface="Inter"/>
              </a:rPr>
              <a:t>SDLC</a:t>
            </a:r>
            <a:r>
              <a:rPr lang="en-IN" sz="4800" b="1" i="0" u="none" dirty="0">
                <a:solidFill>
                  <a:srgbClr val="0F172A"/>
                </a:solidFill>
                <a:latin typeface="Inter"/>
              </a:rPr>
              <a:t> </a:t>
            </a:r>
            <a:r>
              <a:rPr lang="en-IN" sz="4800" b="1" dirty="0">
                <a:solidFill>
                  <a:srgbClr val="0F172A"/>
                </a:solidFill>
                <a:latin typeface="Inter"/>
              </a:rPr>
              <a:t>U</a:t>
            </a:r>
            <a:r>
              <a:rPr sz="4800" b="1" i="0" u="none" dirty="0">
                <a:solidFill>
                  <a:srgbClr val="0F172A"/>
                </a:solidFill>
                <a:latin typeface="Inter"/>
              </a:rPr>
              <a:t>sing </a:t>
            </a:r>
            <a:r>
              <a:rPr sz="4800" b="1" i="0" u="none" dirty="0">
                <a:solidFill>
                  <a:srgbClr val="2563EB"/>
                </a:solidFill>
                <a:latin typeface="Inter"/>
              </a:rPr>
              <a:t>Agentic AI</a:t>
            </a:r>
          </a:p>
        </p:txBody>
      </p:sp>
      <p:sp>
        <p:nvSpPr>
          <p:cNvPr id="4" name="TextBox 3"/>
          <p:cNvSpPr txBox="1"/>
          <p:nvPr/>
        </p:nvSpPr>
        <p:spPr>
          <a:xfrm>
            <a:off x="571500" y="3230910"/>
            <a:ext cx="11049000" cy="396180"/>
          </a:xfrm>
          <a:prstGeom prst="rect">
            <a:avLst/>
          </a:prstGeom>
          <a:noFill/>
        </p:spPr>
        <p:txBody>
          <a:bodyPr wrap="square" lIns="0" tIns="0" rIns="0" bIns="0" anchor="t">
            <a:spAutoFit/>
          </a:bodyPr>
          <a:lstStyle/>
          <a:p>
            <a:pPr algn="ctr">
              <a:lnSpc>
                <a:spcPts val="3120"/>
              </a:lnSpc>
            </a:pPr>
            <a:r>
              <a:rPr sz="1950" b="0" i="0" u="none" dirty="0">
                <a:solidFill>
                  <a:srgbClr val="64748B"/>
                </a:solidFill>
                <a:latin typeface="Inter Medium"/>
              </a:rPr>
              <a:t>Building an Adaptive AI Software Engineering Organization</a:t>
            </a:r>
          </a:p>
        </p:txBody>
      </p:sp>
      <p:sp>
        <p:nvSpPr>
          <p:cNvPr id="6" name="TextBox 5">
            <a:extLst>
              <a:ext uri="{FF2B5EF4-FFF2-40B4-BE49-F238E27FC236}">
                <a16:creationId xmlns:a16="http://schemas.microsoft.com/office/drawing/2014/main" id="{10BC449C-DBD9-236B-C1B9-FEF4B80F7E53}"/>
              </a:ext>
            </a:extLst>
          </p:cNvPr>
          <p:cNvSpPr txBox="1"/>
          <p:nvPr/>
        </p:nvSpPr>
        <p:spPr>
          <a:xfrm>
            <a:off x="989371" y="5455177"/>
            <a:ext cx="3936590" cy="761683"/>
          </a:xfrm>
          <a:prstGeom prst="rect">
            <a:avLst/>
          </a:prstGeom>
          <a:noFill/>
        </p:spPr>
        <p:txBody>
          <a:bodyPr wrap="square" lIns="0" tIns="0" rIns="0" bIns="0" anchor="t">
            <a:spAutoFit/>
          </a:bodyPr>
          <a:lstStyle/>
          <a:p>
            <a:pPr>
              <a:lnSpc>
                <a:spcPts val="3120"/>
              </a:lnSpc>
            </a:pPr>
            <a:r>
              <a:rPr lang="en-IN" sz="1950" b="1" i="0" u="none" dirty="0">
                <a:solidFill>
                  <a:srgbClr val="64748B"/>
                </a:solidFill>
                <a:latin typeface="Inter Medium"/>
              </a:rPr>
              <a:t>Presented By:</a:t>
            </a:r>
          </a:p>
          <a:p>
            <a:pPr>
              <a:lnSpc>
                <a:spcPts val="3120"/>
              </a:lnSpc>
            </a:pPr>
            <a:r>
              <a:rPr lang="en-IN" sz="1950" dirty="0">
                <a:latin typeface="Inter Medium"/>
              </a:rPr>
              <a:t>Abhishek Raj (</a:t>
            </a:r>
            <a:r>
              <a:rPr lang="en-IN" sz="1950" dirty="0" err="1">
                <a:latin typeface="Inter Medium"/>
              </a:rPr>
              <a:t>M.Tech</a:t>
            </a:r>
            <a:r>
              <a:rPr lang="en-IN" sz="1950" dirty="0">
                <a:latin typeface="Inter Medium"/>
              </a:rPr>
              <a:t> Intern)</a:t>
            </a:r>
            <a:endParaRPr sz="1950" b="0" i="0" u="none" dirty="0">
              <a:latin typeface="Inter Medium"/>
            </a:endParaRPr>
          </a:p>
        </p:txBody>
      </p:sp>
      <p:sp>
        <p:nvSpPr>
          <p:cNvPr id="8" name="TextBox 7">
            <a:extLst>
              <a:ext uri="{FF2B5EF4-FFF2-40B4-BE49-F238E27FC236}">
                <a16:creationId xmlns:a16="http://schemas.microsoft.com/office/drawing/2014/main" id="{AC8C9C62-C2EA-FF0A-565F-413C1CE45600}"/>
              </a:ext>
            </a:extLst>
          </p:cNvPr>
          <p:cNvSpPr txBox="1"/>
          <p:nvPr/>
        </p:nvSpPr>
        <p:spPr>
          <a:xfrm>
            <a:off x="8407810" y="5455176"/>
            <a:ext cx="3936590" cy="761683"/>
          </a:xfrm>
          <a:prstGeom prst="rect">
            <a:avLst/>
          </a:prstGeom>
          <a:noFill/>
        </p:spPr>
        <p:txBody>
          <a:bodyPr wrap="square" lIns="0" tIns="0" rIns="0" bIns="0" anchor="t">
            <a:spAutoFit/>
          </a:bodyPr>
          <a:lstStyle/>
          <a:p>
            <a:pPr>
              <a:lnSpc>
                <a:spcPts val="3120"/>
              </a:lnSpc>
            </a:pPr>
            <a:r>
              <a:rPr lang="en-IN" sz="1950" b="1" dirty="0">
                <a:solidFill>
                  <a:srgbClr val="64748B"/>
                </a:solidFill>
                <a:latin typeface="Inter Medium"/>
              </a:rPr>
              <a:t>Guide</a:t>
            </a:r>
            <a:r>
              <a:rPr lang="en-IN" sz="1950" b="1" i="0" u="none" dirty="0">
                <a:solidFill>
                  <a:srgbClr val="64748B"/>
                </a:solidFill>
                <a:latin typeface="Inter Medium"/>
              </a:rPr>
              <a:t>:</a:t>
            </a:r>
          </a:p>
          <a:p>
            <a:pPr>
              <a:lnSpc>
                <a:spcPts val="3120"/>
              </a:lnSpc>
            </a:pPr>
            <a:r>
              <a:rPr lang="en-IN" sz="1950" dirty="0">
                <a:latin typeface="Inter Medium"/>
              </a:rPr>
              <a:t>M.B. Sai Charan (Scientist C)</a:t>
            </a:r>
            <a:endParaRPr sz="1950" b="0" i="0" u="none" dirty="0">
              <a:latin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image.png">
            <a:extLst>
              <a:ext uri="{FF2B5EF4-FFF2-40B4-BE49-F238E27FC236}">
                <a16:creationId xmlns:a16="http://schemas.microsoft.com/office/drawing/2014/main" id="{CCB9C80C-55A6-57DA-D61D-7FFC77EE37F9}"/>
              </a:ext>
            </a:extLst>
          </p:cNvPr>
          <p:cNvPicPr>
            <a:picLocks noChangeAspect="1"/>
          </p:cNvPicPr>
          <p:nvPr/>
        </p:nvPicPr>
        <p:blipFill>
          <a:blip r:embed="rId2"/>
          <a:stretch>
            <a:fillRect/>
          </a:stretch>
        </p:blipFill>
        <p:spPr>
          <a:xfrm>
            <a:off x="-138895" y="2"/>
            <a:ext cx="12442784" cy="6858000"/>
          </a:xfrm>
          <a:prstGeom prst="rect">
            <a:avLst/>
          </a:prstGeom>
        </p:spPr>
      </p:pic>
      <p:sp>
        <p:nvSpPr>
          <p:cNvPr id="7" name="TextBox 6"/>
          <p:cNvSpPr txBox="1"/>
          <p:nvPr/>
        </p:nvSpPr>
        <p:spPr>
          <a:xfrm>
            <a:off x="571500" y="483009"/>
            <a:ext cx="11601450" cy="484748"/>
          </a:xfrm>
          <a:prstGeom prst="rect">
            <a:avLst/>
          </a:prstGeom>
          <a:noFill/>
        </p:spPr>
        <p:txBody>
          <a:bodyPr wrap="square" lIns="0" tIns="0" rIns="0" bIns="0" anchor="t">
            <a:spAutoFit/>
          </a:bodyPr>
          <a:lstStyle/>
          <a:p>
            <a:pPr algn="l"/>
            <a:r>
              <a:rPr sz="3150" b="1" i="0" u="none" dirty="0">
                <a:solidFill>
                  <a:srgbClr val="0F172A"/>
                </a:solidFill>
                <a:latin typeface="Inter"/>
              </a:rPr>
              <a:t>What is an </a:t>
            </a:r>
            <a:r>
              <a:rPr sz="3150" b="1" i="0" u="none" dirty="0">
                <a:solidFill>
                  <a:schemeClr val="tx2"/>
                </a:solidFill>
                <a:latin typeface="Inter"/>
              </a:rPr>
              <a:t>AI Agent</a:t>
            </a:r>
            <a:r>
              <a:rPr sz="3150" b="1" i="0" u="none" dirty="0">
                <a:solidFill>
                  <a:srgbClr val="0F172A"/>
                </a:solidFill>
                <a:latin typeface="Inter"/>
              </a:rPr>
              <a:t>?</a:t>
            </a:r>
          </a:p>
        </p:txBody>
      </p:sp>
      <p:sp>
        <p:nvSpPr>
          <p:cNvPr id="8" name="Rectangle 7"/>
          <p:cNvSpPr/>
          <p:nvPr/>
        </p:nvSpPr>
        <p:spPr>
          <a:xfrm>
            <a:off x="571500" y="1111659"/>
            <a:ext cx="11049000" cy="285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1500" y="1433601"/>
            <a:ext cx="11048998" cy="692497"/>
          </a:xfrm>
          <a:prstGeom prst="rect">
            <a:avLst/>
          </a:prstGeom>
          <a:noFill/>
        </p:spPr>
        <p:txBody>
          <a:bodyPr wrap="square" lIns="0" tIns="0" rIns="0" bIns="0" anchor="t">
            <a:spAutoFit/>
          </a:bodyPr>
          <a:lstStyle/>
          <a:p>
            <a:pPr algn="just">
              <a:spcBef>
                <a:spcPts val="1200"/>
              </a:spcBef>
            </a:pPr>
            <a:r>
              <a:rPr lang="en-IN" sz="1500" dirty="0">
                <a:latin typeface="Inter"/>
              </a:rPr>
              <a:t>An AI agent is a system where an LLM operates in a loop: it receives observations from an environment (user messages, tool outputs, sensor data), reasons about what to do next, takes actions (tool calls, code execution, API requests), and iterates until a goal is achieved or it explicitly asks for human input.</a:t>
            </a:r>
          </a:p>
        </p:txBody>
      </p:sp>
      <p:pic>
        <p:nvPicPr>
          <p:cNvPr id="24" name="Picture 23">
            <a:extLst>
              <a:ext uri="{FF2B5EF4-FFF2-40B4-BE49-F238E27FC236}">
                <a16:creationId xmlns:a16="http://schemas.microsoft.com/office/drawing/2014/main" id="{5F2BCF82-A88A-4CD9-F6B6-B3742FDED85C}"/>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rcRect/>
          <a:stretch/>
        </p:blipFill>
        <p:spPr>
          <a:xfrm>
            <a:off x="5881508" y="2500488"/>
            <a:ext cx="6015699" cy="3490496"/>
          </a:xfrm>
          <a:prstGeom prst="rect">
            <a:avLst/>
          </a:prstGeom>
        </p:spPr>
      </p:pic>
      <p:sp>
        <p:nvSpPr>
          <p:cNvPr id="2" name="TextBox 1">
            <a:extLst>
              <a:ext uri="{FF2B5EF4-FFF2-40B4-BE49-F238E27FC236}">
                <a16:creationId xmlns:a16="http://schemas.microsoft.com/office/drawing/2014/main" id="{4D696E5F-9329-E44F-D5F2-CBCC3F7A1BF6}"/>
              </a:ext>
            </a:extLst>
          </p:cNvPr>
          <p:cNvSpPr txBox="1"/>
          <p:nvPr/>
        </p:nvSpPr>
        <p:spPr>
          <a:xfrm>
            <a:off x="571500" y="2268990"/>
            <a:ext cx="5088520" cy="4231928"/>
          </a:xfrm>
          <a:prstGeom prst="rect">
            <a:avLst/>
          </a:prstGeom>
          <a:noFill/>
        </p:spPr>
        <p:txBody>
          <a:bodyPr wrap="square" lIns="0" tIns="0" rIns="0" bIns="0" anchor="t">
            <a:spAutoFit/>
          </a:bodyPr>
          <a:lstStyle/>
          <a:p>
            <a:pPr algn="just">
              <a:spcBef>
                <a:spcPts val="1200"/>
              </a:spcBef>
            </a:pPr>
            <a:r>
              <a:rPr lang="en-IN" sz="1500" dirty="0">
                <a:latin typeface="Inter"/>
              </a:rPr>
              <a:t>An AI agent should have the following characteristics:</a:t>
            </a:r>
          </a:p>
          <a:p>
            <a:pPr marL="285750" lvl="0" indent="-285750" algn="just">
              <a:spcBef>
                <a:spcPts val="1200"/>
              </a:spcBef>
              <a:buFont typeface="Arial" panose="020B0604020202020204" pitchFamily="34" charset="0"/>
              <a:buChar char="•"/>
            </a:pPr>
            <a:r>
              <a:rPr lang="en-IN" sz="1500" b="1" dirty="0">
                <a:latin typeface="Inter"/>
              </a:rPr>
              <a:t>Persistence:</a:t>
            </a:r>
            <a:r>
              <a:rPr lang="en-IN" sz="1500" dirty="0">
                <a:latin typeface="Inter"/>
              </a:rPr>
              <a:t> An agent must remember what it has done, what failed, and what context was established—across turns, sessions, and even days.</a:t>
            </a:r>
          </a:p>
          <a:p>
            <a:pPr marL="285750" lvl="0" indent="-285750" algn="just">
              <a:spcBef>
                <a:spcPts val="1200"/>
              </a:spcBef>
              <a:buFont typeface="Arial" panose="020B0604020202020204" pitchFamily="34" charset="0"/>
              <a:buChar char="•"/>
            </a:pPr>
            <a:r>
              <a:rPr lang="en-IN" sz="1500" b="1" dirty="0">
                <a:latin typeface="Inter"/>
              </a:rPr>
              <a:t>Grounding:</a:t>
            </a:r>
            <a:r>
              <a:rPr lang="en-IN" sz="1500" dirty="0">
                <a:latin typeface="Inter"/>
              </a:rPr>
              <a:t> The agent must access up-to-date, domain-specific knowledge that was not present in its training data.</a:t>
            </a:r>
          </a:p>
          <a:p>
            <a:pPr marL="285750" lvl="0" indent="-285750" algn="just">
              <a:spcBef>
                <a:spcPts val="1200"/>
              </a:spcBef>
              <a:buFont typeface="Arial" panose="020B0604020202020204" pitchFamily="34" charset="0"/>
              <a:buChar char="•"/>
            </a:pPr>
            <a:r>
              <a:rPr lang="en-IN" sz="1500" b="1" dirty="0">
                <a:latin typeface="Inter"/>
              </a:rPr>
              <a:t>Action:</a:t>
            </a:r>
            <a:r>
              <a:rPr lang="en-IN" sz="1500" dirty="0">
                <a:latin typeface="Inter"/>
              </a:rPr>
              <a:t> The agent must interact with external systems—databases, APIs, file systems, browsers—through well-defined interfaces.</a:t>
            </a:r>
          </a:p>
          <a:p>
            <a:pPr marL="285750" lvl="0" indent="-285750" algn="just">
              <a:spcBef>
                <a:spcPts val="1200"/>
              </a:spcBef>
              <a:buFont typeface="Arial" panose="020B0604020202020204" pitchFamily="34" charset="0"/>
              <a:buChar char="•"/>
            </a:pPr>
            <a:r>
              <a:rPr lang="en-IN" sz="1500" b="1" dirty="0">
                <a:latin typeface="Inter"/>
              </a:rPr>
              <a:t>Coordination:</a:t>
            </a:r>
            <a:r>
              <a:rPr lang="en-IN" sz="1500" dirty="0">
                <a:latin typeface="Inter"/>
              </a:rPr>
              <a:t> Complex tasks often exceed what a single agent can handle; multiple specialized agents must collaborate, delegate, and negotiate.</a:t>
            </a:r>
          </a:p>
          <a:p>
            <a:pPr marL="285750" lvl="0" indent="-285750" algn="just">
              <a:spcBef>
                <a:spcPts val="1200"/>
              </a:spcBef>
              <a:buFont typeface="Arial" panose="020B0604020202020204" pitchFamily="34" charset="0"/>
              <a:buChar char="•"/>
            </a:pPr>
            <a:r>
              <a:rPr lang="en-IN" sz="1500" b="1" dirty="0">
                <a:latin typeface="Inter"/>
              </a:rPr>
              <a:t>Safety:</a:t>
            </a:r>
            <a:r>
              <a:rPr lang="en-IN" sz="1500" dirty="0">
                <a:latin typeface="Inter"/>
              </a:rPr>
              <a:t> Autonomous action requires guardrails, human oversight, and graceful degradation when the agent is uncertain. [6]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C8F6-C96C-06D3-5D6D-176F8FFE1096}"/>
            </a:ext>
          </a:extLst>
        </p:cNvPr>
        <p:cNvGrpSpPr/>
        <p:nvPr/>
      </p:nvGrpSpPr>
      <p:grpSpPr>
        <a:xfrm>
          <a:off x="0" y="0"/>
          <a:ext cx="0" cy="0"/>
          <a:chOff x="0" y="0"/>
          <a:chExt cx="0" cy="0"/>
        </a:xfrm>
      </p:grpSpPr>
      <p:pic>
        <p:nvPicPr>
          <p:cNvPr id="26" name="Picture 25" descr="image.png">
            <a:extLst>
              <a:ext uri="{FF2B5EF4-FFF2-40B4-BE49-F238E27FC236}">
                <a16:creationId xmlns:a16="http://schemas.microsoft.com/office/drawing/2014/main" id="{8C583FB8-1694-D9D6-05AC-BDFCE1584615}"/>
              </a:ext>
            </a:extLst>
          </p:cNvPr>
          <p:cNvPicPr>
            <a:picLocks noChangeAspect="1"/>
          </p:cNvPicPr>
          <p:nvPr/>
        </p:nvPicPr>
        <p:blipFill>
          <a:blip r:embed="rId2"/>
          <a:stretch>
            <a:fillRect/>
          </a:stretch>
        </p:blipFill>
        <p:spPr>
          <a:xfrm>
            <a:off x="-138895" y="2"/>
            <a:ext cx="12442784" cy="6858000"/>
          </a:xfrm>
          <a:prstGeom prst="rect">
            <a:avLst/>
          </a:prstGeom>
        </p:spPr>
      </p:pic>
      <p:sp>
        <p:nvSpPr>
          <p:cNvPr id="7" name="TextBox 6">
            <a:extLst>
              <a:ext uri="{FF2B5EF4-FFF2-40B4-BE49-F238E27FC236}">
                <a16:creationId xmlns:a16="http://schemas.microsoft.com/office/drawing/2014/main" id="{E463E140-7F0D-239E-5796-B0FDDBCF8D91}"/>
              </a:ext>
            </a:extLst>
          </p:cNvPr>
          <p:cNvSpPr txBox="1"/>
          <p:nvPr/>
        </p:nvSpPr>
        <p:spPr>
          <a:xfrm>
            <a:off x="571500" y="483009"/>
            <a:ext cx="11601450" cy="484748"/>
          </a:xfrm>
          <a:prstGeom prst="rect">
            <a:avLst/>
          </a:prstGeom>
          <a:noFill/>
        </p:spPr>
        <p:txBody>
          <a:bodyPr wrap="square" lIns="0" tIns="0" rIns="0" bIns="0" anchor="t">
            <a:spAutoFit/>
          </a:bodyPr>
          <a:lstStyle/>
          <a:p>
            <a:pPr algn="l"/>
            <a:r>
              <a:rPr lang="en-US" sz="3150" b="1" i="0" u="none" dirty="0">
                <a:solidFill>
                  <a:srgbClr val="0F172A"/>
                </a:solidFill>
                <a:latin typeface="Inter"/>
              </a:rPr>
              <a:t>Types of</a:t>
            </a:r>
            <a:r>
              <a:rPr sz="3150" b="1" i="0" u="none" dirty="0">
                <a:solidFill>
                  <a:srgbClr val="0F172A"/>
                </a:solidFill>
                <a:latin typeface="Inter"/>
              </a:rPr>
              <a:t> </a:t>
            </a:r>
            <a:r>
              <a:rPr sz="3150" b="1" i="0" u="none" dirty="0">
                <a:solidFill>
                  <a:schemeClr val="tx2"/>
                </a:solidFill>
                <a:latin typeface="Inter"/>
              </a:rPr>
              <a:t>AI Agent</a:t>
            </a:r>
            <a:endParaRPr sz="3150" b="1" i="0" u="none" dirty="0">
              <a:solidFill>
                <a:srgbClr val="0F172A"/>
              </a:solidFill>
              <a:latin typeface="Inter"/>
            </a:endParaRPr>
          </a:p>
        </p:txBody>
      </p:sp>
      <p:sp>
        <p:nvSpPr>
          <p:cNvPr id="8" name="Rectangle 7">
            <a:extLst>
              <a:ext uri="{FF2B5EF4-FFF2-40B4-BE49-F238E27FC236}">
                <a16:creationId xmlns:a16="http://schemas.microsoft.com/office/drawing/2014/main" id="{548A11EF-2CF1-CAD3-71E5-ED9FA5E5C054}"/>
              </a:ext>
            </a:extLst>
          </p:cNvPr>
          <p:cNvSpPr/>
          <p:nvPr/>
        </p:nvSpPr>
        <p:spPr>
          <a:xfrm>
            <a:off x="571500" y="1111659"/>
            <a:ext cx="11049000" cy="285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Rounded Corners 21">
            <a:extLst>
              <a:ext uri="{FF2B5EF4-FFF2-40B4-BE49-F238E27FC236}">
                <a16:creationId xmlns:a16="http://schemas.microsoft.com/office/drawing/2014/main" id="{05DDDF13-3E17-A990-2A1D-1476A81AF067}"/>
              </a:ext>
            </a:extLst>
          </p:cNvPr>
          <p:cNvSpPr/>
          <p:nvPr/>
        </p:nvSpPr>
        <p:spPr>
          <a:xfrm>
            <a:off x="311745" y="1314451"/>
            <a:ext cx="5751827" cy="5310341"/>
          </a:xfrm>
          <a:prstGeom prst="roundRect">
            <a:avLst>
              <a:gd name="adj" fmla="val 1484"/>
            </a:avLst>
          </a:prstGeom>
          <a:solidFill>
            <a:schemeClr val="bg1"/>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IN" dirty="0"/>
          </a:p>
        </p:txBody>
      </p:sp>
      <p:sp>
        <p:nvSpPr>
          <p:cNvPr id="11" name="TextBox 10">
            <a:extLst>
              <a:ext uri="{FF2B5EF4-FFF2-40B4-BE49-F238E27FC236}">
                <a16:creationId xmlns:a16="http://schemas.microsoft.com/office/drawing/2014/main" id="{4A10353C-9F2B-71B9-A9B0-6F3360E087B1}"/>
              </a:ext>
            </a:extLst>
          </p:cNvPr>
          <p:cNvSpPr txBox="1"/>
          <p:nvPr/>
        </p:nvSpPr>
        <p:spPr>
          <a:xfrm>
            <a:off x="708731" y="1581087"/>
            <a:ext cx="4708800" cy="369332"/>
          </a:xfrm>
          <a:prstGeom prst="rect">
            <a:avLst/>
          </a:prstGeom>
          <a:noFill/>
        </p:spPr>
        <p:txBody>
          <a:bodyPr wrap="square" lIns="0" tIns="0" rIns="0" bIns="0" anchor="t">
            <a:spAutoFit/>
          </a:bodyPr>
          <a:lstStyle/>
          <a:p>
            <a:pPr algn="l"/>
            <a:r>
              <a:rPr sz="2400" b="1" i="0" u="none" dirty="0">
                <a:solidFill>
                  <a:srgbClr val="0F172A"/>
                </a:solidFill>
                <a:latin typeface="Plus Jakarta Sans"/>
              </a:rPr>
              <a:t>1. Reactive / Single-Turn Agents</a:t>
            </a:r>
          </a:p>
        </p:txBody>
      </p:sp>
      <p:sp>
        <p:nvSpPr>
          <p:cNvPr id="13" name="TextBox 12">
            <a:extLst>
              <a:ext uri="{FF2B5EF4-FFF2-40B4-BE49-F238E27FC236}">
                <a16:creationId xmlns:a16="http://schemas.microsoft.com/office/drawing/2014/main" id="{23F97F8F-07BD-A481-420B-78FF76CA215B}"/>
              </a:ext>
            </a:extLst>
          </p:cNvPr>
          <p:cNvSpPr txBox="1"/>
          <p:nvPr/>
        </p:nvSpPr>
        <p:spPr>
          <a:xfrm>
            <a:off x="708731" y="2115560"/>
            <a:ext cx="4944818" cy="1096454"/>
          </a:xfrm>
          <a:prstGeom prst="rect">
            <a:avLst/>
          </a:prstGeom>
          <a:noFill/>
        </p:spPr>
        <p:txBody>
          <a:bodyPr wrap="square" lIns="0" tIns="0" rIns="0" bIns="0" anchor="t">
            <a:spAutoFit/>
          </a:bodyPr>
          <a:lstStyle/>
          <a:p>
            <a:pPr algn="just"/>
            <a:r>
              <a:rPr lang="en-US" sz="1400" dirty="0">
                <a:solidFill>
                  <a:srgbClr val="334155"/>
                </a:solidFill>
                <a:latin typeface="Inter"/>
              </a:rPr>
              <a:t>These ai agents r</a:t>
            </a:r>
            <a:r>
              <a:rPr sz="1400" b="0" i="0" u="none" dirty="0">
                <a:solidFill>
                  <a:srgbClr val="334155"/>
                </a:solidFill>
                <a:latin typeface="Inter"/>
              </a:rPr>
              <a:t>espond strictly to one prompt at a time without multi-step foresight. They rely on simple text parsing, direct Q&amp;A, and quick context matching. These agents do not maintain implicit state across sessions or perform long-term planning, making them highly efficient for immediate, single-step resolutions.</a:t>
            </a:r>
          </a:p>
        </p:txBody>
      </p:sp>
      <p:pic>
        <p:nvPicPr>
          <p:cNvPr id="4" name="Picture 3" descr="image.png">
            <a:extLst>
              <a:ext uri="{FF2B5EF4-FFF2-40B4-BE49-F238E27FC236}">
                <a16:creationId xmlns:a16="http://schemas.microsoft.com/office/drawing/2014/main" id="{EA512F8B-725A-EF2A-8D92-2DA88084E191}"/>
              </a:ext>
            </a:extLst>
          </p:cNvPr>
          <p:cNvPicPr>
            <a:picLocks noChangeAspect="1"/>
          </p:cNvPicPr>
          <p:nvPr/>
        </p:nvPicPr>
        <p:blipFill>
          <a:blip r:embed="rId3"/>
          <a:stretch>
            <a:fillRect/>
          </a:stretch>
        </p:blipFill>
        <p:spPr>
          <a:xfrm>
            <a:off x="574574" y="5782453"/>
            <a:ext cx="5231628" cy="612690"/>
          </a:xfrm>
          <a:prstGeom prst="rect">
            <a:avLst/>
          </a:prstGeom>
        </p:spPr>
      </p:pic>
      <p:sp>
        <p:nvSpPr>
          <p:cNvPr id="21" name="TextBox 20">
            <a:extLst>
              <a:ext uri="{FF2B5EF4-FFF2-40B4-BE49-F238E27FC236}">
                <a16:creationId xmlns:a16="http://schemas.microsoft.com/office/drawing/2014/main" id="{1913E6A9-4661-82F4-DEA8-CFD0B2E89AC2}"/>
              </a:ext>
            </a:extLst>
          </p:cNvPr>
          <p:cNvSpPr txBox="1"/>
          <p:nvPr/>
        </p:nvSpPr>
        <p:spPr>
          <a:xfrm>
            <a:off x="820993" y="5832356"/>
            <a:ext cx="4832555" cy="494559"/>
          </a:xfrm>
          <a:prstGeom prst="rect">
            <a:avLst/>
          </a:prstGeom>
          <a:noFill/>
        </p:spPr>
        <p:txBody>
          <a:bodyPr wrap="square" lIns="0" tIns="0" rIns="0" bIns="0" anchor="t">
            <a:spAutoFit/>
          </a:bodyPr>
          <a:lstStyle/>
          <a:p>
            <a:pPr algn="l">
              <a:lnSpc>
                <a:spcPts val="2025"/>
              </a:lnSpc>
            </a:pPr>
            <a:r>
              <a:rPr sz="1400" b="1" i="0" u="none" dirty="0">
                <a:solidFill>
                  <a:srgbClr val="0F172A"/>
                </a:solidFill>
                <a:latin typeface="Inter"/>
              </a:rPr>
              <a:t>Example Use Cases:</a:t>
            </a:r>
            <a:r>
              <a:rPr sz="1400" b="0" i="0" u="none" dirty="0">
                <a:solidFill>
                  <a:srgbClr val="334155"/>
                </a:solidFill>
                <a:latin typeface="Inter"/>
              </a:rPr>
              <a:t> Basic customer support chatbots,</a:t>
            </a:r>
            <a:r>
              <a:rPr lang="en-US" sz="1400" b="0" i="0" u="none" dirty="0">
                <a:solidFill>
                  <a:srgbClr val="334155"/>
                </a:solidFill>
                <a:latin typeface="Inter"/>
              </a:rPr>
              <a:t> </a:t>
            </a:r>
            <a:r>
              <a:rPr sz="1400" b="0" i="0" u="none" dirty="0">
                <a:solidFill>
                  <a:srgbClr val="334155"/>
                </a:solidFill>
                <a:latin typeface="Inter"/>
              </a:rPr>
              <a:t>simple text summarization</a:t>
            </a:r>
            <a:r>
              <a:rPr lang="en-US" sz="1400" dirty="0">
                <a:solidFill>
                  <a:srgbClr val="334155"/>
                </a:solidFill>
                <a:latin typeface="Inter"/>
              </a:rPr>
              <a:t>.</a:t>
            </a:r>
            <a:endParaRPr sz="1400" b="0" i="0" u="none" dirty="0">
              <a:solidFill>
                <a:srgbClr val="334155"/>
              </a:solidFill>
              <a:latin typeface="Inter"/>
            </a:endParaRPr>
          </a:p>
        </p:txBody>
      </p:sp>
      <p:sp>
        <p:nvSpPr>
          <p:cNvPr id="28" name="Rectangle: Rounded Corners 27">
            <a:extLst>
              <a:ext uri="{FF2B5EF4-FFF2-40B4-BE49-F238E27FC236}">
                <a16:creationId xmlns:a16="http://schemas.microsoft.com/office/drawing/2014/main" id="{1C71E8D2-ECAF-3BA2-FE8C-679C4C3F2EA6}"/>
              </a:ext>
            </a:extLst>
          </p:cNvPr>
          <p:cNvSpPr/>
          <p:nvPr/>
        </p:nvSpPr>
        <p:spPr>
          <a:xfrm>
            <a:off x="6243907" y="1314450"/>
            <a:ext cx="5751827" cy="5310341"/>
          </a:xfrm>
          <a:prstGeom prst="roundRect">
            <a:avLst>
              <a:gd name="adj" fmla="val 1484"/>
            </a:avLst>
          </a:prstGeom>
          <a:solidFill>
            <a:schemeClr val="bg1"/>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IN" dirty="0"/>
          </a:p>
        </p:txBody>
      </p:sp>
      <p:sp>
        <p:nvSpPr>
          <p:cNvPr id="30" name="TextBox 29">
            <a:extLst>
              <a:ext uri="{FF2B5EF4-FFF2-40B4-BE49-F238E27FC236}">
                <a16:creationId xmlns:a16="http://schemas.microsoft.com/office/drawing/2014/main" id="{C23EBED0-2AF0-09B7-5C8D-AA756E0929AD}"/>
              </a:ext>
            </a:extLst>
          </p:cNvPr>
          <p:cNvSpPr txBox="1"/>
          <p:nvPr/>
        </p:nvSpPr>
        <p:spPr>
          <a:xfrm>
            <a:off x="6511531" y="1586044"/>
            <a:ext cx="5368740" cy="381000"/>
          </a:xfrm>
          <a:prstGeom prst="rect">
            <a:avLst/>
          </a:prstGeom>
          <a:noFill/>
        </p:spPr>
        <p:txBody>
          <a:bodyPr wrap="square" lIns="0" tIns="0" rIns="0" bIns="0" anchor="t">
            <a:spAutoFit/>
          </a:bodyPr>
          <a:lstStyle/>
          <a:p>
            <a:pPr algn="l"/>
            <a:r>
              <a:rPr sz="2400" b="1" i="0" u="none" dirty="0">
                <a:solidFill>
                  <a:srgbClr val="0F172A"/>
                </a:solidFill>
                <a:latin typeface="Plus Jakarta Sans"/>
              </a:rPr>
              <a:t>2. Tool-</a:t>
            </a:r>
            <a:r>
              <a:rPr lang="en-US" sz="2400" b="1" i="0" u="none" dirty="0">
                <a:solidFill>
                  <a:srgbClr val="0F172A"/>
                </a:solidFill>
                <a:latin typeface="Plus Jakarta Sans"/>
              </a:rPr>
              <a:t>Calling</a:t>
            </a:r>
            <a:r>
              <a:rPr sz="2400" b="1" i="0" u="none" dirty="0">
                <a:solidFill>
                  <a:srgbClr val="0F172A"/>
                </a:solidFill>
                <a:latin typeface="Plus Jakarta Sans"/>
              </a:rPr>
              <a:t> Agents</a:t>
            </a:r>
          </a:p>
        </p:txBody>
      </p:sp>
      <p:sp>
        <p:nvSpPr>
          <p:cNvPr id="32" name="TextBox 31">
            <a:extLst>
              <a:ext uri="{FF2B5EF4-FFF2-40B4-BE49-F238E27FC236}">
                <a16:creationId xmlns:a16="http://schemas.microsoft.com/office/drawing/2014/main" id="{07852496-26C3-79F7-BBD6-8F35F7DE7345}"/>
              </a:ext>
            </a:extLst>
          </p:cNvPr>
          <p:cNvSpPr txBox="1"/>
          <p:nvPr/>
        </p:nvSpPr>
        <p:spPr>
          <a:xfrm>
            <a:off x="6511531" y="2076364"/>
            <a:ext cx="5113086" cy="877163"/>
          </a:xfrm>
          <a:prstGeom prst="rect">
            <a:avLst/>
          </a:prstGeom>
          <a:noFill/>
        </p:spPr>
        <p:txBody>
          <a:bodyPr wrap="square" lIns="0" tIns="0" rIns="0" bIns="0" anchor="t">
            <a:spAutoFit/>
          </a:bodyPr>
          <a:lstStyle/>
          <a:p>
            <a:pPr algn="just"/>
            <a:r>
              <a:rPr lang="en-US" sz="1425" b="0" i="0" u="none" dirty="0">
                <a:solidFill>
                  <a:srgbClr val="334155"/>
                </a:solidFill>
                <a:latin typeface="Inter"/>
              </a:rPr>
              <a:t>These ai agents u</a:t>
            </a:r>
            <a:r>
              <a:rPr sz="1425" b="0" i="0" u="none" dirty="0">
                <a:solidFill>
                  <a:srgbClr val="334155"/>
                </a:solidFill>
                <a:latin typeface="Inter"/>
              </a:rPr>
              <a:t>se the LLM to decide when and how to call external services</a:t>
            </a:r>
            <a:r>
              <a:rPr lang="en-US" sz="1425" dirty="0">
                <a:solidFill>
                  <a:srgbClr val="334155"/>
                </a:solidFill>
                <a:latin typeface="Inter"/>
              </a:rPr>
              <a:t>. T</a:t>
            </a:r>
            <a:r>
              <a:rPr sz="1425" b="0" i="0" u="none" dirty="0">
                <a:solidFill>
                  <a:srgbClr val="334155"/>
                </a:solidFill>
                <a:latin typeface="Inter"/>
              </a:rPr>
              <a:t>hey can call APIs (e.g., weather, stocks), query databases, or execute math. These agents bridge the gap between parametric knowledge and real-time external data execution.</a:t>
            </a:r>
          </a:p>
        </p:txBody>
      </p:sp>
      <p:pic>
        <p:nvPicPr>
          <p:cNvPr id="36" name="Picture 35" descr="image.png">
            <a:extLst>
              <a:ext uri="{FF2B5EF4-FFF2-40B4-BE49-F238E27FC236}">
                <a16:creationId xmlns:a16="http://schemas.microsoft.com/office/drawing/2014/main" id="{60B7ED55-E3CC-1166-0C89-FC9831C3E1D9}"/>
              </a:ext>
            </a:extLst>
          </p:cNvPr>
          <p:cNvPicPr>
            <a:picLocks noChangeAspect="1"/>
          </p:cNvPicPr>
          <p:nvPr/>
        </p:nvPicPr>
        <p:blipFill>
          <a:blip r:embed="rId3"/>
          <a:stretch>
            <a:fillRect/>
          </a:stretch>
        </p:blipFill>
        <p:spPr>
          <a:xfrm>
            <a:off x="6521085" y="5890232"/>
            <a:ext cx="5231628" cy="612690"/>
          </a:xfrm>
          <a:prstGeom prst="rect">
            <a:avLst/>
          </a:prstGeom>
        </p:spPr>
      </p:pic>
      <p:sp>
        <p:nvSpPr>
          <p:cNvPr id="34" name="TextBox 33">
            <a:extLst>
              <a:ext uri="{FF2B5EF4-FFF2-40B4-BE49-F238E27FC236}">
                <a16:creationId xmlns:a16="http://schemas.microsoft.com/office/drawing/2014/main" id="{F0B42846-4BFE-D518-2E9B-B9109B6838C1}"/>
              </a:ext>
            </a:extLst>
          </p:cNvPr>
          <p:cNvSpPr txBox="1"/>
          <p:nvPr/>
        </p:nvSpPr>
        <p:spPr>
          <a:xfrm>
            <a:off x="6692656" y="5990159"/>
            <a:ext cx="4854327" cy="430887"/>
          </a:xfrm>
          <a:prstGeom prst="rect">
            <a:avLst/>
          </a:prstGeom>
          <a:noFill/>
        </p:spPr>
        <p:txBody>
          <a:bodyPr wrap="square" lIns="0" tIns="0" rIns="0" bIns="0" anchor="t">
            <a:spAutoFit/>
          </a:bodyPr>
          <a:lstStyle/>
          <a:p>
            <a:r>
              <a:rPr sz="1400" b="1" i="0" u="none" dirty="0">
                <a:solidFill>
                  <a:srgbClr val="0F172A"/>
                </a:solidFill>
                <a:latin typeface="Inter"/>
              </a:rPr>
              <a:t>Example Use Cases:</a:t>
            </a:r>
            <a:r>
              <a:rPr sz="1400" b="1" i="0" u="none" dirty="0">
                <a:solidFill>
                  <a:srgbClr val="334155"/>
                </a:solidFill>
                <a:latin typeface="Inter"/>
              </a:rPr>
              <a:t> </a:t>
            </a:r>
            <a:r>
              <a:rPr sz="1400" i="0" u="none" dirty="0">
                <a:solidFill>
                  <a:srgbClr val="334155"/>
                </a:solidFill>
                <a:latin typeface="Inter"/>
              </a:rPr>
              <a:t>Real-time data retrieval assistants</a:t>
            </a:r>
            <a:r>
              <a:rPr lang="en-US" sz="1400" i="0" u="none" dirty="0">
                <a:solidFill>
                  <a:srgbClr val="334155"/>
                </a:solidFill>
                <a:latin typeface="Inter"/>
              </a:rPr>
              <a:t>, </a:t>
            </a:r>
            <a:r>
              <a:rPr lang="en-IN" sz="1400" dirty="0">
                <a:latin typeface="Inter"/>
              </a:rPr>
              <a:t>Booking &amp; Scheduling Assistants, etc</a:t>
            </a:r>
            <a:endParaRPr sz="1400" i="0" u="none" dirty="0">
              <a:solidFill>
                <a:srgbClr val="334155"/>
              </a:solidFill>
              <a:latin typeface="Inter"/>
            </a:endParaRPr>
          </a:p>
        </p:txBody>
      </p:sp>
      <p:pic>
        <p:nvPicPr>
          <p:cNvPr id="38" name="Picture 37">
            <a:extLst>
              <a:ext uri="{FF2B5EF4-FFF2-40B4-BE49-F238E27FC236}">
                <a16:creationId xmlns:a16="http://schemas.microsoft.com/office/drawing/2014/main" id="{C28173FF-AB24-D877-E89F-C4E7F562D535}"/>
              </a:ext>
            </a:extLst>
          </p:cNvPr>
          <p:cNvPicPr>
            <a:picLocks noChangeAspect="1"/>
          </p:cNvPicPr>
          <p:nvPr/>
        </p:nvPicPr>
        <p:blipFill>
          <a:blip r:embed="rId4">
            <a:duotone>
              <a:schemeClr val="accent1">
                <a:shade val="45000"/>
                <a:satMod val="135000"/>
              </a:schemeClr>
              <a:prstClr val="white"/>
            </a:duotone>
          </a:blip>
          <a:srcRect t="25353" b="20554"/>
          <a:stretch>
            <a:fillRect/>
          </a:stretch>
        </p:blipFill>
        <p:spPr>
          <a:xfrm>
            <a:off x="722980" y="3586995"/>
            <a:ext cx="4930567" cy="1566287"/>
          </a:xfrm>
          <a:prstGeom prst="rect">
            <a:avLst/>
          </a:prstGeom>
        </p:spPr>
      </p:pic>
      <p:pic>
        <p:nvPicPr>
          <p:cNvPr id="40" name="Picture 39">
            <a:extLst>
              <a:ext uri="{FF2B5EF4-FFF2-40B4-BE49-F238E27FC236}">
                <a16:creationId xmlns:a16="http://schemas.microsoft.com/office/drawing/2014/main" id="{98E61060-83FC-7121-51E0-5CC9D72F4AF5}"/>
              </a:ext>
            </a:extLst>
          </p:cNvPr>
          <p:cNvPicPr>
            <a:picLocks noChangeAspect="1"/>
          </p:cNvPicPr>
          <p:nvPr/>
        </p:nvPicPr>
        <p:blipFill>
          <a:blip r:embed="rId5">
            <a:duotone>
              <a:schemeClr val="accent1">
                <a:shade val="45000"/>
                <a:satMod val="135000"/>
              </a:schemeClr>
              <a:prstClr val="white"/>
            </a:duotone>
          </a:blip>
          <a:srcRect t="14111" b="4516"/>
          <a:stretch>
            <a:fillRect/>
          </a:stretch>
        </p:blipFill>
        <p:spPr>
          <a:xfrm>
            <a:off x="6511531" y="3065863"/>
            <a:ext cx="5214099" cy="2491678"/>
          </a:xfrm>
          <a:prstGeom prst="rect">
            <a:avLst/>
          </a:prstGeom>
        </p:spPr>
      </p:pic>
      <p:pic>
        <p:nvPicPr>
          <p:cNvPr id="42" name="Picture 41">
            <a:extLst>
              <a:ext uri="{FF2B5EF4-FFF2-40B4-BE49-F238E27FC236}">
                <a16:creationId xmlns:a16="http://schemas.microsoft.com/office/drawing/2014/main" id="{7D5B35AF-B3BD-D732-6C3A-2A4B1BC577DE}"/>
              </a:ext>
            </a:extLst>
          </p:cNvPr>
          <p:cNvPicPr>
            <a:picLocks noChangeAspect="1"/>
          </p:cNvPicPr>
          <p:nvPr/>
        </p:nvPicPr>
        <p:blipFill>
          <a:blip r:embed="rId4">
            <a:duotone>
              <a:schemeClr val="accent1">
                <a:shade val="45000"/>
                <a:satMod val="135000"/>
              </a:schemeClr>
              <a:prstClr val="white"/>
            </a:duotone>
          </a:blip>
          <a:srcRect l="39631" t="33448" r="39829" b="36733"/>
          <a:stretch>
            <a:fillRect/>
          </a:stretch>
        </p:blipFill>
        <p:spPr>
          <a:xfrm>
            <a:off x="8337754" y="3575345"/>
            <a:ext cx="1130710" cy="964002"/>
          </a:xfrm>
          <a:prstGeom prst="rect">
            <a:avLst/>
          </a:prstGeom>
        </p:spPr>
      </p:pic>
    </p:spTree>
    <p:extLst>
      <p:ext uri="{BB962C8B-B14F-4D97-AF65-F5344CB8AC3E}">
        <p14:creationId xmlns:p14="http://schemas.microsoft.com/office/powerpoint/2010/main" val="3621273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EC9F2-D6F3-29A9-3E9C-025E9F98CAEB}"/>
            </a:ext>
          </a:extLst>
        </p:cNvPr>
        <p:cNvGrpSpPr/>
        <p:nvPr/>
      </p:nvGrpSpPr>
      <p:grpSpPr>
        <a:xfrm>
          <a:off x="0" y="0"/>
          <a:ext cx="0" cy="0"/>
          <a:chOff x="0" y="0"/>
          <a:chExt cx="0" cy="0"/>
        </a:xfrm>
      </p:grpSpPr>
      <p:pic>
        <p:nvPicPr>
          <p:cNvPr id="26" name="Picture 25" descr="image.png">
            <a:extLst>
              <a:ext uri="{FF2B5EF4-FFF2-40B4-BE49-F238E27FC236}">
                <a16:creationId xmlns:a16="http://schemas.microsoft.com/office/drawing/2014/main" id="{48904FF4-39ED-08F1-E427-AD488EBF6AFF}"/>
              </a:ext>
            </a:extLst>
          </p:cNvPr>
          <p:cNvPicPr>
            <a:picLocks noChangeAspect="1"/>
          </p:cNvPicPr>
          <p:nvPr/>
        </p:nvPicPr>
        <p:blipFill>
          <a:blip r:embed="rId2"/>
          <a:stretch>
            <a:fillRect/>
          </a:stretch>
        </p:blipFill>
        <p:spPr>
          <a:xfrm>
            <a:off x="-138895" y="2"/>
            <a:ext cx="12442784" cy="6858000"/>
          </a:xfrm>
          <a:prstGeom prst="rect">
            <a:avLst/>
          </a:prstGeom>
        </p:spPr>
      </p:pic>
      <p:sp>
        <p:nvSpPr>
          <p:cNvPr id="7" name="TextBox 6">
            <a:extLst>
              <a:ext uri="{FF2B5EF4-FFF2-40B4-BE49-F238E27FC236}">
                <a16:creationId xmlns:a16="http://schemas.microsoft.com/office/drawing/2014/main" id="{44D7F284-9524-DFE2-839A-C37E18E4572D}"/>
              </a:ext>
            </a:extLst>
          </p:cNvPr>
          <p:cNvSpPr txBox="1"/>
          <p:nvPr/>
        </p:nvSpPr>
        <p:spPr>
          <a:xfrm>
            <a:off x="571500" y="483009"/>
            <a:ext cx="11601450" cy="484748"/>
          </a:xfrm>
          <a:prstGeom prst="rect">
            <a:avLst/>
          </a:prstGeom>
          <a:noFill/>
        </p:spPr>
        <p:txBody>
          <a:bodyPr wrap="square" lIns="0" tIns="0" rIns="0" bIns="0" anchor="t">
            <a:spAutoFit/>
          </a:bodyPr>
          <a:lstStyle/>
          <a:p>
            <a:pPr algn="l"/>
            <a:r>
              <a:rPr lang="en-US" sz="3150" b="1" i="0" u="none" dirty="0">
                <a:solidFill>
                  <a:srgbClr val="0F172A"/>
                </a:solidFill>
                <a:latin typeface="Inter"/>
              </a:rPr>
              <a:t>Types of</a:t>
            </a:r>
            <a:r>
              <a:rPr sz="3150" b="1" i="0" u="none" dirty="0">
                <a:solidFill>
                  <a:srgbClr val="0F172A"/>
                </a:solidFill>
                <a:latin typeface="Inter"/>
              </a:rPr>
              <a:t> </a:t>
            </a:r>
            <a:r>
              <a:rPr sz="3150" b="1" i="0" u="none" dirty="0">
                <a:solidFill>
                  <a:schemeClr val="tx2"/>
                </a:solidFill>
                <a:latin typeface="Inter"/>
              </a:rPr>
              <a:t>AI Agent</a:t>
            </a:r>
            <a:r>
              <a:rPr lang="en-US" sz="3150" b="1" dirty="0">
                <a:solidFill>
                  <a:schemeClr val="tx2"/>
                </a:solidFill>
                <a:latin typeface="Inter"/>
              </a:rPr>
              <a:t> </a:t>
            </a:r>
            <a:r>
              <a:rPr lang="en-US" sz="3150" dirty="0">
                <a:solidFill>
                  <a:schemeClr val="tx2"/>
                </a:solidFill>
                <a:latin typeface="Inter"/>
              </a:rPr>
              <a:t>(Cont.)</a:t>
            </a:r>
            <a:endParaRPr sz="3150" i="0" u="none" dirty="0">
              <a:solidFill>
                <a:srgbClr val="0F172A"/>
              </a:solidFill>
              <a:latin typeface="Inter"/>
            </a:endParaRPr>
          </a:p>
        </p:txBody>
      </p:sp>
      <p:sp>
        <p:nvSpPr>
          <p:cNvPr id="8" name="Rectangle 7">
            <a:extLst>
              <a:ext uri="{FF2B5EF4-FFF2-40B4-BE49-F238E27FC236}">
                <a16:creationId xmlns:a16="http://schemas.microsoft.com/office/drawing/2014/main" id="{3DC73409-69EC-F5FF-BB1A-42FC9EDBE49C}"/>
              </a:ext>
            </a:extLst>
          </p:cNvPr>
          <p:cNvSpPr/>
          <p:nvPr/>
        </p:nvSpPr>
        <p:spPr>
          <a:xfrm>
            <a:off x="571500" y="1111659"/>
            <a:ext cx="11049000" cy="285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Rounded Corners 21">
            <a:extLst>
              <a:ext uri="{FF2B5EF4-FFF2-40B4-BE49-F238E27FC236}">
                <a16:creationId xmlns:a16="http://schemas.microsoft.com/office/drawing/2014/main" id="{360C720C-4B17-19C2-FFF7-D8850141D87E}"/>
              </a:ext>
            </a:extLst>
          </p:cNvPr>
          <p:cNvSpPr/>
          <p:nvPr/>
        </p:nvSpPr>
        <p:spPr>
          <a:xfrm>
            <a:off x="812819" y="1284136"/>
            <a:ext cx="10489604" cy="5310341"/>
          </a:xfrm>
          <a:prstGeom prst="roundRect">
            <a:avLst>
              <a:gd name="adj" fmla="val 1484"/>
            </a:avLst>
          </a:prstGeom>
          <a:solidFill>
            <a:schemeClr val="bg1"/>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IN" dirty="0"/>
          </a:p>
        </p:txBody>
      </p:sp>
      <p:pic>
        <p:nvPicPr>
          <p:cNvPr id="4" name="Picture 3" descr="image.png">
            <a:extLst>
              <a:ext uri="{FF2B5EF4-FFF2-40B4-BE49-F238E27FC236}">
                <a16:creationId xmlns:a16="http://schemas.microsoft.com/office/drawing/2014/main" id="{EA94B0E5-A299-8D2E-9EDA-36BE6CBE528C}"/>
              </a:ext>
            </a:extLst>
          </p:cNvPr>
          <p:cNvPicPr>
            <a:picLocks noChangeAspect="1"/>
          </p:cNvPicPr>
          <p:nvPr/>
        </p:nvPicPr>
        <p:blipFill>
          <a:blip r:embed="rId3"/>
          <a:stretch>
            <a:fillRect/>
          </a:stretch>
        </p:blipFill>
        <p:spPr>
          <a:xfrm>
            <a:off x="1326786" y="5467331"/>
            <a:ext cx="5231628" cy="612690"/>
          </a:xfrm>
          <a:prstGeom prst="rect">
            <a:avLst/>
          </a:prstGeom>
        </p:spPr>
      </p:pic>
      <p:sp>
        <p:nvSpPr>
          <p:cNvPr id="3" name="TextBox 2">
            <a:extLst>
              <a:ext uri="{FF2B5EF4-FFF2-40B4-BE49-F238E27FC236}">
                <a16:creationId xmlns:a16="http://schemas.microsoft.com/office/drawing/2014/main" id="{B16A9C7E-C320-315D-642B-C9C2E3316EFB}"/>
              </a:ext>
            </a:extLst>
          </p:cNvPr>
          <p:cNvSpPr txBox="1"/>
          <p:nvPr/>
        </p:nvSpPr>
        <p:spPr>
          <a:xfrm>
            <a:off x="1185478" y="1573653"/>
            <a:ext cx="5123562" cy="381000"/>
          </a:xfrm>
          <a:prstGeom prst="rect">
            <a:avLst/>
          </a:prstGeom>
          <a:noFill/>
        </p:spPr>
        <p:txBody>
          <a:bodyPr wrap="square" lIns="0" tIns="0" rIns="0" bIns="0" anchor="t">
            <a:spAutoFit/>
          </a:bodyPr>
          <a:lstStyle/>
          <a:p>
            <a:pPr algn="l"/>
            <a:r>
              <a:rPr sz="2400" b="1" i="0" u="none" dirty="0">
                <a:solidFill>
                  <a:srgbClr val="0F172A"/>
                </a:solidFill>
                <a:latin typeface="Plus Jakarta Sans"/>
              </a:rPr>
              <a:t>3. Goal-Oriented / Autonomous Agents</a:t>
            </a:r>
          </a:p>
        </p:txBody>
      </p:sp>
      <p:sp>
        <p:nvSpPr>
          <p:cNvPr id="10" name="TextBox 9">
            <a:extLst>
              <a:ext uri="{FF2B5EF4-FFF2-40B4-BE49-F238E27FC236}">
                <a16:creationId xmlns:a16="http://schemas.microsoft.com/office/drawing/2014/main" id="{FB9DCB60-914A-9C49-ABBD-87865CEE0BB9}"/>
              </a:ext>
            </a:extLst>
          </p:cNvPr>
          <p:cNvSpPr txBox="1"/>
          <p:nvPr/>
        </p:nvSpPr>
        <p:spPr>
          <a:xfrm>
            <a:off x="1626280" y="5506732"/>
            <a:ext cx="4632640" cy="494559"/>
          </a:xfrm>
          <a:prstGeom prst="rect">
            <a:avLst/>
          </a:prstGeom>
          <a:noFill/>
        </p:spPr>
        <p:txBody>
          <a:bodyPr wrap="square" lIns="0" tIns="0" rIns="0" bIns="0" anchor="t">
            <a:spAutoFit/>
          </a:bodyPr>
          <a:lstStyle/>
          <a:p>
            <a:pPr algn="l">
              <a:lnSpc>
                <a:spcPts val="2025"/>
              </a:lnSpc>
            </a:pPr>
            <a:r>
              <a:rPr sz="1350" b="1" i="0" u="none" dirty="0">
                <a:solidFill>
                  <a:srgbClr val="0F172A"/>
                </a:solidFill>
                <a:latin typeface="Inter"/>
              </a:rPr>
              <a:t>Example Use Cases:</a:t>
            </a:r>
            <a:r>
              <a:rPr sz="1350" b="0" i="0" u="none" dirty="0">
                <a:solidFill>
                  <a:srgbClr val="334155"/>
                </a:solidFill>
                <a:latin typeface="Inter"/>
              </a:rPr>
              <a:t> Comprehensive market research, autonomous end-to-end software testing, </a:t>
            </a:r>
            <a:r>
              <a:rPr lang="en-US" sz="1350" b="0" i="0" u="none" dirty="0" err="1">
                <a:solidFill>
                  <a:srgbClr val="334155"/>
                </a:solidFill>
                <a:latin typeface="Inter"/>
              </a:rPr>
              <a:t>etc</a:t>
            </a:r>
            <a:endParaRPr sz="1350" b="0" i="0" u="none" dirty="0">
              <a:solidFill>
                <a:srgbClr val="334155"/>
              </a:solidFill>
              <a:latin typeface="Inter"/>
            </a:endParaRPr>
          </a:p>
        </p:txBody>
      </p:sp>
      <p:pic>
        <p:nvPicPr>
          <p:cNvPr id="14" name="Picture 13">
            <a:extLst>
              <a:ext uri="{FF2B5EF4-FFF2-40B4-BE49-F238E27FC236}">
                <a16:creationId xmlns:a16="http://schemas.microsoft.com/office/drawing/2014/main" id="{843F1C50-FC5A-8B34-95E0-EABC37F7DE0A}"/>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Layer>
                </a14:imgProps>
              </a:ext>
            </a:extLst>
          </a:blip>
          <a:srcRect l="32777" r="4632"/>
          <a:stretch>
            <a:fillRect/>
          </a:stretch>
        </p:blipFill>
        <p:spPr>
          <a:xfrm>
            <a:off x="7502535" y="1551114"/>
            <a:ext cx="3362679" cy="4823877"/>
          </a:xfrm>
          <a:prstGeom prst="rect">
            <a:avLst/>
          </a:prstGeom>
        </p:spPr>
      </p:pic>
      <p:sp>
        <p:nvSpPr>
          <p:cNvPr id="6" name="TextBox 5">
            <a:extLst>
              <a:ext uri="{FF2B5EF4-FFF2-40B4-BE49-F238E27FC236}">
                <a16:creationId xmlns:a16="http://schemas.microsoft.com/office/drawing/2014/main" id="{6B998A20-E0C3-A726-0FF4-372B781200C4}"/>
              </a:ext>
            </a:extLst>
          </p:cNvPr>
          <p:cNvSpPr txBox="1"/>
          <p:nvPr/>
        </p:nvSpPr>
        <p:spPr>
          <a:xfrm>
            <a:off x="1175510" y="2241712"/>
            <a:ext cx="5766064" cy="1877437"/>
          </a:xfrm>
          <a:prstGeom prst="rect">
            <a:avLst/>
          </a:prstGeom>
          <a:noFill/>
        </p:spPr>
        <p:txBody>
          <a:bodyPr wrap="square" lIns="0" tIns="0" rIns="0" bIns="0" anchor="t">
            <a:spAutoFit/>
          </a:bodyPr>
          <a:lstStyle/>
          <a:p>
            <a:pPr algn="just">
              <a:spcBef>
                <a:spcPts val="600"/>
              </a:spcBef>
            </a:pPr>
            <a:r>
              <a:rPr sz="1400" b="0" i="0" u="none" dirty="0">
                <a:solidFill>
                  <a:srgbClr val="334155"/>
                </a:solidFill>
                <a:latin typeface="Inter"/>
              </a:rPr>
              <a:t>Given a high-level goal, they independently break it down into a multi-step plan. </a:t>
            </a:r>
            <a:r>
              <a:rPr lang="en-IN" sz="1400" dirty="0">
                <a:latin typeface="Inter"/>
              </a:rPr>
              <a:t>Goal-based ai agents have an internal model of the world and also a goal or set of goals. These agents search for action sequences that reach their goal and plan these actions before acting on them.</a:t>
            </a:r>
          </a:p>
          <a:p>
            <a:pPr algn="just">
              <a:spcBef>
                <a:spcPts val="600"/>
              </a:spcBef>
            </a:pPr>
            <a:r>
              <a:rPr lang="en-IN" sz="1400" dirty="0">
                <a:latin typeface="Inter"/>
              </a:rPr>
              <a:t> This search and planning improve their effectiveness when compared to other  simple ai agents.</a:t>
            </a:r>
          </a:p>
          <a:p>
            <a:pPr algn="just">
              <a:spcBef>
                <a:spcPts val="600"/>
              </a:spcBef>
            </a:pPr>
            <a:r>
              <a:rPr sz="1400" b="0" i="0" u="none" dirty="0">
                <a:solidFill>
                  <a:srgbClr val="334155"/>
                </a:solidFill>
                <a:latin typeface="Inter"/>
              </a:rPr>
              <a:t>They maintain persistent memory and adapt their strategies based on intermediate outcomes to ensure successful goal completion.</a:t>
            </a:r>
          </a:p>
        </p:txBody>
      </p:sp>
      <p:sp>
        <p:nvSpPr>
          <p:cNvPr id="15" name="Rectangle 14">
            <a:extLst>
              <a:ext uri="{FF2B5EF4-FFF2-40B4-BE49-F238E27FC236}">
                <a16:creationId xmlns:a16="http://schemas.microsoft.com/office/drawing/2014/main" id="{231B33F8-9EC7-BD19-515E-616E61DBD6D2}"/>
              </a:ext>
            </a:extLst>
          </p:cNvPr>
          <p:cNvSpPr/>
          <p:nvPr/>
        </p:nvSpPr>
        <p:spPr>
          <a:xfrm>
            <a:off x="7295535" y="3657600"/>
            <a:ext cx="521110" cy="609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IN" dirty="0"/>
          </a:p>
        </p:txBody>
      </p:sp>
      <p:sp>
        <p:nvSpPr>
          <p:cNvPr id="16" name="Rectangle 15">
            <a:extLst>
              <a:ext uri="{FF2B5EF4-FFF2-40B4-BE49-F238E27FC236}">
                <a16:creationId xmlns:a16="http://schemas.microsoft.com/office/drawing/2014/main" id="{BEA85405-8042-751D-B63E-29FF4E42D889}"/>
              </a:ext>
            </a:extLst>
          </p:cNvPr>
          <p:cNvSpPr/>
          <p:nvPr/>
        </p:nvSpPr>
        <p:spPr>
          <a:xfrm>
            <a:off x="7379109" y="5449211"/>
            <a:ext cx="521110" cy="609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IN" dirty="0"/>
          </a:p>
        </p:txBody>
      </p:sp>
    </p:spTree>
    <p:extLst>
      <p:ext uri="{BB962C8B-B14F-4D97-AF65-F5344CB8AC3E}">
        <p14:creationId xmlns:p14="http://schemas.microsoft.com/office/powerpoint/2010/main" val="274370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5C708-D246-1A55-22B8-6471DCD0C8FC}"/>
            </a:ext>
          </a:extLst>
        </p:cNvPr>
        <p:cNvGrpSpPr/>
        <p:nvPr/>
      </p:nvGrpSpPr>
      <p:grpSpPr>
        <a:xfrm>
          <a:off x="0" y="0"/>
          <a:ext cx="0" cy="0"/>
          <a:chOff x="0" y="0"/>
          <a:chExt cx="0" cy="0"/>
        </a:xfrm>
      </p:grpSpPr>
      <p:pic>
        <p:nvPicPr>
          <p:cNvPr id="10" name="Picture 9" descr="image.png">
            <a:extLst>
              <a:ext uri="{FF2B5EF4-FFF2-40B4-BE49-F238E27FC236}">
                <a16:creationId xmlns:a16="http://schemas.microsoft.com/office/drawing/2014/main" id="{231D5387-7F6D-3F35-B6C9-037EE7C58063}"/>
              </a:ext>
            </a:extLst>
          </p:cNvPr>
          <p:cNvPicPr>
            <a:picLocks noChangeAspect="1"/>
          </p:cNvPicPr>
          <p:nvPr/>
        </p:nvPicPr>
        <p:blipFill>
          <a:blip r:embed="rId3"/>
          <a:stretch>
            <a:fillRect/>
          </a:stretch>
        </p:blipFill>
        <p:spPr>
          <a:xfrm>
            <a:off x="0" y="0"/>
            <a:ext cx="12192000" cy="6858000"/>
          </a:xfrm>
          <a:prstGeom prst="rect">
            <a:avLst/>
          </a:prstGeom>
        </p:spPr>
      </p:pic>
      <p:pic>
        <p:nvPicPr>
          <p:cNvPr id="23" name="Picture 22" descr="image.png">
            <a:extLst>
              <a:ext uri="{FF2B5EF4-FFF2-40B4-BE49-F238E27FC236}">
                <a16:creationId xmlns:a16="http://schemas.microsoft.com/office/drawing/2014/main" id="{721D4E72-7536-3439-7474-2993C54C0C2C}"/>
              </a:ext>
            </a:extLst>
          </p:cNvPr>
          <p:cNvPicPr>
            <a:picLocks noChangeAspect="1"/>
          </p:cNvPicPr>
          <p:nvPr/>
        </p:nvPicPr>
        <p:blipFill>
          <a:blip r:embed="rId4"/>
          <a:stretch>
            <a:fillRect/>
          </a:stretch>
        </p:blipFill>
        <p:spPr>
          <a:xfrm>
            <a:off x="571500" y="1896814"/>
            <a:ext cx="5381625" cy="4132027"/>
          </a:xfrm>
          <a:prstGeom prst="rect">
            <a:avLst/>
          </a:prstGeom>
        </p:spPr>
      </p:pic>
      <p:pic>
        <p:nvPicPr>
          <p:cNvPr id="38" name="Picture 37" descr="image.png">
            <a:extLst>
              <a:ext uri="{FF2B5EF4-FFF2-40B4-BE49-F238E27FC236}">
                <a16:creationId xmlns:a16="http://schemas.microsoft.com/office/drawing/2014/main" id="{0ED52A92-2C0E-F365-6B10-44F50BE7BB77}"/>
              </a:ext>
            </a:extLst>
          </p:cNvPr>
          <p:cNvPicPr>
            <a:picLocks noChangeAspect="1"/>
          </p:cNvPicPr>
          <p:nvPr/>
        </p:nvPicPr>
        <p:blipFill>
          <a:blip r:embed="rId5"/>
          <a:stretch>
            <a:fillRect/>
          </a:stretch>
        </p:blipFill>
        <p:spPr>
          <a:xfrm>
            <a:off x="6238875" y="1896814"/>
            <a:ext cx="5381625" cy="4132027"/>
          </a:xfrm>
          <a:prstGeom prst="rect">
            <a:avLst/>
          </a:prstGeom>
        </p:spPr>
      </p:pic>
      <p:sp>
        <p:nvSpPr>
          <p:cNvPr id="55" name="Rectangle 54">
            <a:extLst>
              <a:ext uri="{FF2B5EF4-FFF2-40B4-BE49-F238E27FC236}">
                <a16:creationId xmlns:a16="http://schemas.microsoft.com/office/drawing/2014/main" id="{3A4513D3-CF14-ADC6-C075-03E6DB8B11D5}"/>
              </a:ext>
            </a:extLst>
          </p:cNvPr>
          <p:cNvSpPr/>
          <p:nvPr/>
        </p:nvSpPr>
        <p:spPr>
          <a:xfrm>
            <a:off x="847725" y="4886622"/>
            <a:ext cx="4829175" cy="9483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8" name="TextBox 57">
            <a:extLst>
              <a:ext uri="{FF2B5EF4-FFF2-40B4-BE49-F238E27FC236}">
                <a16:creationId xmlns:a16="http://schemas.microsoft.com/office/drawing/2014/main" id="{FA9B1DD8-080F-5AAE-0C6D-628E031C3D1B}"/>
              </a:ext>
            </a:extLst>
          </p:cNvPr>
          <p:cNvSpPr txBox="1"/>
          <p:nvPr/>
        </p:nvSpPr>
        <p:spPr>
          <a:xfrm>
            <a:off x="1122044" y="4981872"/>
            <a:ext cx="4421506" cy="646331"/>
          </a:xfrm>
          <a:prstGeom prst="rect">
            <a:avLst/>
          </a:prstGeom>
          <a:noFill/>
        </p:spPr>
        <p:txBody>
          <a:bodyPr wrap="square" lIns="0" tIns="0" rIns="0" bIns="0" anchor="t">
            <a:spAutoFit/>
          </a:bodyPr>
          <a:lstStyle/>
          <a:p>
            <a:pPr algn="just"/>
            <a:r>
              <a:rPr sz="1400" b="1" i="0" u="none" dirty="0">
                <a:solidFill>
                  <a:srgbClr val="0F172A"/>
                </a:solidFill>
                <a:latin typeface="Inter"/>
              </a:rPr>
              <a:t>Primary Patterns:</a:t>
            </a:r>
            <a:r>
              <a:rPr sz="1400" b="0" i="0" u="none" dirty="0">
                <a:solidFill>
                  <a:srgbClr val="334155"/>
                </a:solidFill>
                <a:latin typeface="Inter"/>
              </a:rPr>
              <a:t> Prompt Chaining, Sequential Workflows, Routing, Parallelization, Orchestrator-Workers, Evaluator-Optimizer.</a:t>
            </a:r>
          </a:p>
        </p:txBody>
      </p:sp>
      <p:sp>
        <p:nvSpPr>
          <p:cNvPr id="60" name="Rectangle 59">
            <a:extLst>
              <a:ext uri="{FF2B5EF4-FFF2-40B4-BE49-F238E27FC236}">
                <a16:creationId xmlns:a16="http://schemas.microsoft.com/office/drawing/2014/main" id="{6D47A4BF-AB4E-68E3-1A1E-A22B89FB6196}"/>
              </a:ext>
            </a:extLst>
          </p:cNvPr>
          <p:cNvSpPr/>
          <p:nvPr/>
        </p:nvSpPr>
        <p:spPr>
          <a:xfrm>
            <a:off x="847725" y="4886621"/>
            <a:ext cx="45719" cy="881063"/>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2" name="Rectangle 61">
            <a:extLst>
              <a:ext uri="{FF2B5EF4-FFF2-40B4-BE49-F238E27FC236}">
                <a16:creationId xmlns:a16="http://schemas.microsoft.com/office/drawing/2014/main" id="{EC2EE370-B509-B885-DB08-8DF87F154483}"/>
              </a:ext>
            </a:extLst>
          </p:cNvPr>
          <p:cNvSpPr/>
          <p:nvPr/>
        </p:nvSpPr>
        <p:spPr>
          <a:xfrm>
            <a:off x="6515100" y="4886622"/>
            <a:ext cx="4829175" cy="8477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5" name="TextBox 64">
            <a:extLst>
              <a:ext uri="{FF2B5EF4-FFF2-40B4-BE49-F238E27FC236}">
                <a16:creationId xmlns:a16="http://schemas.microsoft.com/office/drawing/2014/main" id="{A41EC876-1A30-87CB-3DF5-0AD2B6B2EDCA}"/>
              </a:ext>
            </a:extLst>
          </p:cNvPr>
          <p:cNvSpPr txBox="1"/>
          <p:nvPr/>
        </p:nvSpPr>
        <p:spPr>
          <a:xfrm>
            <a:off x="6789419" y="5070360"/>
            <a:ext cx="4421506" cy="430887"/>
          </a:xfrm>
          <a:prstGeom prst="rect">
            <a:avLst/>
          </a:prstGeom>
          <a:noFill/>
        </p:spPr>
        <p:txBody>
          <a:bodyPr wrap="square" lIns="0" tIns="0" rIns="0" bIns="0" anchor="t">
            <a:spAutoFit/>
          </a:bodyPr>
          <a:lstStyle/>
          <a:p>
            <a:pPr algn="just"/>
            <a:r>
              <a:rPr sz="1400" b="1" i="0" u="none" dirty="0">
                <a:solidFill>
                  <a:srgbClr val="0F172A"/>
                </a:solidFill>
                <a:latin typeface="Inter"/>
              </a:rPr>
              <a:t>Primary Patterns:</a:t>
            </a:r>
            <a:r>
              <a:rPr sz="1400" b="0" i="0" u="none" dirty="0">
                <a:solidFill>
                  <a:srgbClr val="334155"/>
                </a:solidFill>
                <a:latin typeface="Inter"/>
              </a:rPr>
              <a:t> </a:t>
            </a:r>
            <a:r>
              <a:rPr sz="1400" b="0" i="0" u="none" dirty="0" err="1">
                <a:solidFill>
                  <a:srgbClr val="334155"/>
                </a:solidFill>
                <a:latin typeface="Inter"/>
              </a:rPr>
              <a:t>ReAct</a:t>
            </a:r>
            <a:r>
              <a:rPr sz="1400" b="0" i="0" u="none" dirty="0">
                <a:solidFill>
                  <a:srgbClr val="334155"/>
                </a:solidFill>
                <a:latin typeface="Inter"/>
              </a:rPr>
              <a:t> (</a:t>
            </a:r>
            <a:r>
              <a:rPr sz="1400" b="0" i="0" u="none" dirty="0" err="1">
                <a:solidFill>
                  <a:srgbClr val="334155"/>
                </a:solidFill>
                <a:latin typeface="Inter"/>
              </a:rPr>
              <a:t>Reason+Act</a:t>
            </a:r>
            <a:r>
              <a:rPr sz="1400" b="0" i="0" u="none" dirty="0">
                <a:solidFill>
                  <a:srgbClr val="334155"/>
                </a:solidFill>
                <a:latin typeface="Inter"/>
              </a:rPr>
              <a:t>), Planning Agents, Reflection / Self-Critique, Multi-Agent Collaboration.</a:t>
            </a:r>
          </a:p>
        </p:txBody>
      </p:sp>
      <p:sp>
        <p:nvSpPr>
          <p:cNvPr id="67" name="Rectangle 66">
            <a:extLst>
              <a:ext uri="{FF2B5EF4-FFF2-40B4-BE49-F238E27FC236}">
                <a16:creationId xmlns:a16="http://schemas.microsoft.com/office/drawing/2014/main" id="{DEF1FFA9-1982-AB46-8A29-EFF9985E6DBA}"/>
              </a:ext>
            </a:extLst>
          </p:cNvPr>
          <p:cNvSpPr/>
          <p:nvPr/>
        </p:nvSpPr>
        <p:spPr>
          <a:xfrm flipH="1">
            <a:off x="6469381" y="4886622"/>
            <a:ext cx="45719" cy="7835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9" name="TextBox 68">
            <a:extLst>
              <a:ext uri="{FF2B5EF4-FFF2-40B4-BE49-F238E27FC236}">
                <a16:creationId xmlns:a16="http://schemas.microsoft.com/office/drawing/2014/main" id="{531B7F07-18D6-8DA5-45C0-42C84731A1AA}"/>
              </a:ext>
            </a:extLst>
          </p:cNvPr>
          <p:cNvSpPr txBox="1"/>
          <p:nvPr/>
        </p:nvSpPr>
        <p:spPr>
          <a:xfrm>
            <a:off x="893444" y="2372023"/>
            <a:ext cx="5114925" cy="278538"/>
          </a:xfrm>
          <a:prstGeom prst="rect">
            <a:avLst/>
          </a:prstGeom>
          <a:noFill/>
        </p:spPr>
        <p:txBody>
          <a:bodyPr wrap="square" lIns="0" tIns="0" rIns="0" bIns="0" anchor="t">
            <a:spAutoFit/>
          </a:bodyPr>
          <a:lstStyle/>
          <a:p>
            <a:pPr algn="l">
              <a:lnSpc>
                <a:spcPts val="1979"/>
              </a:lnSpc>
            </a:pPr>
            <a:r>
              <a:rPr lang="en-IN" sz="2400" b="0" i="0" u="none" dirty="0">
                <a:solidFill>
                  <a:srgbClr val="1E293B"/>
                </a:solidFill>
                <a:latin typeface="Poppins SemiBold"/>
              </a:rPr>
              <a:t>Workflow Patterns</a:t>
            </a:r>
            <a:endParaRPr sz="2400" b="0" i="0" u="none" dirty="0">
              <a:solidFill>
                <a:srgbClr val="1E293B"/>
              </a:solidFill>
              <a:latin typeface="Poppins SemiBold"/>
            </a:endParaRPr>
          </a:p>
        </p:txBody>
      </p:sp>
      <p:sp>
        <p:nvSpPr>
          <p:cNvPr id="71" name="Rectangle 70">
            <a:extLst>
              <a:ext uri="{FF2B5EF4-FFF2-40B4-BE49-F238E27FC236}">
                <a16:creationId xmlns:a16="http://schemas.microsoft.com/office/drawing/2014/main" id="{FC10E5B5-3F42-B6F6-9AC5-662778E15EA0}"/>
              </a:ext>
            </a:extLst>
          </p:cNvPr>
          <p:cNvSpPr/>
          <p:nvPr/>
        </p:nvSpPr>
        <p:spPr>
          <a:xfrm>
            <a:off x="847725" y="2833985"/>
            <a:ext cx="4829175"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EAEC2E4F-1885-82B2-02A6-6F1F7EE7D834}"/>
              </a:ext>
            </a:extLst>
          </p:cNvPr>
          <p:cNvSpPr txBox="1"/>
          <p:nvPr/>
        </p:nvSpPr>
        <p:spPr>
          <a:xfrm>
            <a:off x="847725" y="2986385"/>
            <a:ext cx="4829175" cy="685800"/>
          </a:xfrm>
          <a:prstGeom prst="rect">
            <a:avLst/>
          </a:prstGeom>
          <a:noFill/>
        </p:spPr>
        <p:txBody>
          <a:bodyPr wrap="square" lIns="0" tIns="0" rIns="0" bIns="0" anchor="t">
            <a:spAutoFit/>
          </a:bodyPr>
          <a:lstStyle/>
          <a:p>
            <a:pPr algn="just">
              <a:lnSpc>
                <a:spcPts val="1800"/>
              </a:lnSpc>
            </a:pPr>
            <a:r>
              <a:rPr sz="1400" b="0" i="0" u="none" dirty="0">
                <a:solidFill>
                  <a:srgbClr val="475569"/>
                </a:solidFill>
                <a:latin typeface="Inter"/>
              </a:rPr>
              <a:t>Execution paths, step ordering, and condition gates are explicitly defined in code. LLM calls serve as reliable processing nodes within the system pipeline.</a:t>
            </a:r>
            <a:r>
              <a:rPr lang="en-IN" sz="1400" dirty="0">
                <a:solidFill>
                  <a:srgbClr val="475569"/>
                </a:solidFill>
                <a:latin typeface="Inter"/>
              </a:rPr>
              <a:t> [6]</a:t>
            </a:r>
            <a:endParaRPr sz="1400" b="0" i="0" u="none" dirty="0">
              <a:solidFill>
                <a:srgbClr val="475569"/>
              </a:solidFill>
              <a:latin typeface="Inter"/>
            </a:endParaRPr>
          </a:p>
        </p:txBody>
      </p:sp>
      <p:sp>
        <p:nvSpPr>
          <p:cNvPr id="75" name="TextBox 74">
            <a:extLst>
              <a:ext uri="{FF2B5EF4-FFF2-40B4-BE49-F238E27FC236}">
                <a16:creationId xmlns:a16="http://schemas.microsoft.com/office/drawing/2014/main" id="{3C3B8455-B146-D1D8-BE92-5F7380BA0FD9}"/>
              </a:ext>
            </a:extLst>
          </p:cNvPr>
          <p:cNvSpPr txBox="1"/>
          <p:nvPr/>
        </p:nvSpPr>
        <p:spPr>
          <a:xfrm>
            <a:off x="6515100" y="2349168"/>
            <a:ext cx="5070633" cy="278538"/>
          </a:xfrm>
          <a:prstGeom prst="rect">
            <a:avLst/>
          </a:prstGeom>
          <a:noFill/>
        </p:spPr>
        <p:txBody>
          <a:bodyPr wrap="square" lIns="0" tIns="0" rIns="0" bIns="0" anchor="t">
            <a:spAutoFit/>
          </a:bodyPr>
          <a:lstStyle/>
          <a:p>
            <a:pPr algn="l">
              <a:lnSpc>
                <a:spcPts val="1979"/>
              </a:lnSpc>
            </a:pPr>
            <a:r>
              <a:rPr lang="en-IN" sz="2400" b="0" i="0" u="none" dirty="0">
                <a:solidFill>
                  <a:srgbClr val="1E293B"/>
                </a:solidFill>
                <a:latin typeface="Poppins SemiBold"/>
              </a:rPr>
              <a:t>Autonomous Agent Pattern</a:t>
            </a:r>
            <a:endParaRPr sz="2400" b="0" i="0" u="none" dirty="0">
              <a:solidFill>
                <a:srgbClr val="1E293B"/>
              </a:solidFill>
              <a:latin typeface="Poppins SemiBold"/>
            </a:endParaRPr>
          </a:p>
        </p:txBody>
      </p:sp>
      <p:sp>
        <p:nvSpPr>
          <p:cNvPr id="77" name="Rectangle 76">
            <a:extLst>
              <a:ext uri="{FF2B5EF4-FFF2-40B4-BE49-F238E27FC236}">
                <a16:creationId xmlns:a16="http://schemas.microsoft.com/office/drawing/2014/main" id="{2C747C0E-440B-FA09-C368-AE46E9C1F931}"/>
              </a:ext>
            </a:extLst>
          </p:cNvPr>
          <p:cNvSpPr/>
          <p:nvPr/>
        </p:nvSpPr>
        <p:spPr>
          <a:xfrm>
            <a:off x="6515100" y="2833985"/>
            <a:ext cx="4829175"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14FEB93B-9EEA-CAE4-A969-3A5DA80EAF3E}"/>
              </a:ext>
            </a:extLst>
          </p:cNvPr>
          <p:cNvSpPr txBox="1"/>
          <p:nvPr/>
        </p:nvSpPr>
        <p:spPr>
          <a:xfrm>
            <a:off x="6515100" y="2986385"/>
            <a:ext cx="4829175" cy="685800"/>
          </a:xfrm>
          <a:prstGeom prst="rect">
            <a:avLst/>
          </a:prstGeom>
          <a:noFill/>
        </p:spPr>
        <p:txBody>
          <a:bodyPr wrap="square" lIns="0" tIns="0" rIns="0" bIns="0" anchor="t">
            <a:spAutoFit/>
          </a:bodyPr>
          <a:lstStyle/>
          <a:p>
            <a:pPr algn="just">
              <a:lnSpc>
                <a:spcPts val="1800"/>
              </a:lnSpc>
            </a:pPr>
            <a:r>
              <a:rPr sz="1400" b="0" i="0" u="none" dirty="0">
                <a:solidFill>
                  <a:srgbClr val="475569"/>
                </a:solidFill>
                <a:latin typeface="Inter"/>
              </a:rPr>
              <a:t>The agent autonomously determines its execution path based on environment feedback, goal planning, reflection, and tool execution.</a:t>
            </a:r>
            <a:r>
              <a:rPr lang="en-IN" sz="1400" dirty="0">
                <a:solidFill>
                  <a:srgbClr val="475569"/>
                </a:solidFill>
                <a:latin typeface="Inter"/>
              </a:rPr>
              <a:t> [6]</a:t>
            </a:r>
            <a:endParaRPr sz="1400" b="0" i="0" u="none" dirty="0">
              <a:solidFill>
                <a:srgbClr val="475569"/>
              </a:solidFill>
              <a:latin typeface="Inter"/>
            </a:endParaRPr>
          </a:p>
        </p:txBody>
      </p:sp>
      <p:pic>
        <p:nvPicPr>
          <p:cNvPr id="83" name="Picture 82" descr="image.png">
            <a:extLst>
              <a:ext uri="{FF2B5EF4-FFF2-40B4-BE49-F238E27FC236}">
                <a16:creationId xmlns:a16="http://schemas.microsoft.com/office/drawing/2014/main" id="{CC2CD42F-7E8F-E5FB-AADD-9FFDFD60B182}"/>
              </a:ext>
            </a:extLst>
          </p:cNvPr>
          <p:cNvPicPr>
            <a:picLocks noChangeAspect="1"/>
          </p:cNvPicPr>
          <p:nvPr/>
        </p:nvPicPr>
        <p:blipFill>
          <a:blip r:embed="rId6"/>
          <a:stretch>
            <a:fillRect/>
          </a:stretch>
        </p:blipFill>
        <p:spPr>
          <a:xfrm>
            <a:off x="5329237" y="2324937"/>
            <a:ext cx="214313" cy="238125"/>
          </a:xfrm>
          <a:prstGeom prst="rect">
            <a:avLst/>
          </a:prstGeom>
        </p:spPr>
      </p:pic>
      <p:sp>
        <p:nvSpPr>
          <p:cNvPr id="85" name="TextBox 84">
            <a:extLst>
              <a:ext uri="{FF2B5EF4-FFF2-40B4-BE49-F238E27FC236}">
                <a16:creationId xmlns:a16="http://schemas.microsoft.com/office/drawing/2014/main" id="{24C4D24F-DBC5-A82B-BBE1-D8D930724BF3}"/>
              </a:ext>
            </a:extLst>
          </p:cNvPr>
          <p:cNvSpPr txBox="1"/>
          <p:nvPr/>
        </p:nvSpPr>
        <p:spPr>
          <a:xfrm>
            <a:off x="1076325" y="3805535"/>
            <a:ext cx="4600575" cy="214312"/>
          </a:xfrm>
          <a:prstGeom prst="rect">
            <a:avLst/>
          </a:prstGeom>
          <a:noFill/>
        </p:spPr>
        <p:txBody>
          <a:bodyPr wrap="square" lIns="0" tIns="0" rIns="0" bIns="0" anchor="t">
            <a:spAutoFit/>
          </a:bodyPr>
          <a:lstStyle/>
          <a:p>
            <a:pPr algn="l">
              <a:lnSpc>
                <a:spcPts val="1687"/>
              </a:lnSpc>
            </a:pPr>
            <a:r>
              <a:rPr sz="1400" b="0" i="0" u="none" dirty="0">
                <a:solidFill>
                  <a:srgbClr val="334155"/>
                </a:solidFill>
                <a:latin typeface="Inter"/>
              </a:rPr>
              <a:t>Higher predictability and testability</a:t>
            </a:r>
          </a:p>
        </p:txBody>
      </p:sp>
      <p:sp>
        <p:nvSpPr>
          <p:cNvPr id="87" name="TextBox 86">
            <a:extLst>
              <a:ext uri="{FF2B5EF4-FFF2-40B4-BE49-F238E27FC236}">
                <a16:creationId xmlns:a16="http://schemas.microsoft.com/office/drawing/2014/main" id="{4B1DCA67-B544-4F89-F2C7-13E4678A85E7}"/>
              </a:ext>
            </a:extLst>
          </p:cNvPr>
          <p:cNvSpPr txBox="1"/>
          <p:nvPr/>
        </p:nvSpPr>
        <p:spPr>
          <a:xfrm>
            <a:off x="1076325" y="4134147"/>
            <a:ext cx="4600575" cy="214312"/>
          </a:xfrm>
          <a:prstGeom prst="rect">
            <a:avLst/>
          </a:prstGeom>
          <a:noFill/>
        </p:spPr>
        <p:txBody>
          <a:bodyPr wrap="square" lIns="0" tIns="0" rIns="0" bIns="0" anchor="t">
            <a:spAutoFit/>
          </a:bodyPr>
          <a:lstStyle/>
          <a:p>
            <a:pPr algn="l">
              <a:lnSpc>
                <a:spcPts val="1687"/>
              </a:lnSpc>
            </a:pPr>
            <a:r>
              <a:rPr sz="1400" b="0" i="0" u="none" dirty="0">
                <a:solidFill>
                  <a:srgbClr val="334155"/>
                </a:solidFill>
                <a:latin typeface="Inter"/>
              </a:rPr>
              <a:t>Lower latency and controlled token expenditure</a:t>
            </a:r>
          </a:p>
        </p:txBody>
      </p:sp>
      <p:sp>
        <p:nvSpPr>
          <p:cNvPr id="89" name="TextBox 88">
            <a:extLst>
              <a:ext uri="{FF2B5EF4-FFF2-40B4-BE49-F238E27FC236}">
                <a16:creationId xmlns:a16="http://schemas.microsoft.com/office/drawing/2014/main" id="{7B1F7585-1FE2-B28C-83D0-D9923B134AFC}"/>
              </a:ext>
            </a:extLst>
          </p:cNvPr>
          <p:cNvSpPr txBox="1"/>
          <p:nvPr/>
        </p:nvSpPr>
        <p:spPr>
          <a:xfrm>
            <a:off x="1076325" y="4462760"/>
            <a:ext cx="4600575" cy="214312"/>
          </a:xfrm>
          <a:prstGeom prst="rect">
            <a:avLst/>
          </a:prstGeom>
          <a:noFill/>
        </p:spPr>
        <p:txBody>
          <a:bodyPr wrap="square" lIns="0" tIns="0" rIns="0" bIns="0" anchor="t">
            <a:spAutoFit/>
          </a:bodyPr>
          <a:lstStyle/>
          <a:p>
            <a:pPr algn="l">
              <a:lnSpc>
                <a:spcPts val="1687"/>
              </a:lnSpc>
            </a:pPr>
            <a:r>
              <a:rPr sz="1400" b="0" i="0" u="none">
                <a:solidFill>
                  <a:srgbClr val="334155"/>
                </a:solidFill>
                <a:latin typeface="Inter"/>
              </a:rPr>
              <a:t>Ideal for standardized, step-by-step transformations</a:t>
            </a:r>
          </a:p>
        </p:txBody>
      </p:sp>
      <p:pic>
        <p:nvPicPr>
          <p:cNvPr id="93" name="Picture 92" descr="image.png">
            <a:extLst>
              <a:ext uri="{FF2B5EF4-FFF2-40B4-BE49-F238E27FC236}">
                <a16:creationId xmlns:a16="http://schemas.microsoft.com/office/drawing/2014/main" id="{7A0D2E31-DCA1-BCAA-586D-94718D142CC0}"/>
              </a:ext>
            </a:extLst>
          </p:cNvPr>
          <p:cNvPicPr>
            <a:picLocks noChangeAspect="1"/>
          </p:cNvPicPr>
          <p:nvPr/>
        </p:nvPicPr>
        <p:blipFill>
          <a:blip r:embed="rId7">
            <a:duotone>
              <a:prstClr val="black"/>
              <a:schemeClr val="accent1">
                <a:tint val="45000"/>
                <a:satMod val="400000"/>
              </a:schemeClr>
            </a:duotone>
          </a:blip>
          <a:stretch>
            <a:fillRect/>
          </a:stretch>
        </p:blipFill>
        <p:spPr>
          <a:xfrm>
            <a:off x="10995630" y="2337393"/>
            <a:ext cx="297983" cy="238386"/>
          </a:xfrm>
          <a:prstGeom prst="rect">
            <a:avLst/>
          </a:prstGeom>
        </p:spPr>
      </p:pic>
      <p:sp>
        <p:nvSpPr>
          <p:cNvPr id="95" name="TextBox 94">
            <a:extLst>
              <a:ext uri="{FF2B5EF4-FFF2-40B4-BE49-F238E27FC236}">
                <a16:creationId xmlns:a16="http://schemas.microsoft.com/office/drawing/2014/main" id="{A100D71F-F331-18CD-29B5-EE1A369B3561}"/>
              </a:ext>
            </a:extLst>
          </p:cNvPr>
          <p:cNvSpPr txBox="1"/>
          <p:nvPr/>
        </p:nvSpPr>
        <p:spPr>
          <a:xfrm>
            <a:off x="6743700" y="3805535"/>
            <a:ext cx="4600575" cy="214312"/>
          </a:xfrm>
          <a:prstGeom prst="rect">
            <a:avLst/>
          </a:prstGeom>
          <a:noFill/>
        </p:spPr>
        <p:txBody>
          <a:bodyPr wrap="square" lIns="0" tIns="0" rIns="0" bIns="0" anchor="t">
            <a:spAutoFit/>
          </a:bodyPr>
          <a:lstStyle/>
          <a:p>
            <a:pPr algn="l">
              <a:lnSpc>
                <a:spcPts val="1687"/>
              </a:lnSpc>
            </a:pPr>
            <a:r>
              <a:rPr sz="1400" b="0" i="0" u="none">
                <a:solidFill>
                  <a:srgbClr val="334155"/>
                </a:solidFill>
                <a:latin typeface="Inter"/>
              </a:rPr>
              <a:t>High adaptability to open-ended goals</a:t>
            </a:r>
          </a:p>
        </p:txBody>
      </p:sp>
      <p:sp>
        <p:nvSpPr>
          <p:cNvPr id="97" name="TextBox 96">
            <a:extLst>
              <a:ext uri="{FF2B5EF4-FFF2-40B4-BE49-F238E27FC236}">
                <a16:creationId xmlns:a16="http://schemas.microsoft.com/office/drawing/2014/main" id="{A9E10581-1512-0A08-C1DF-D4E7343E3CB5}"/>
              </a:ext>
            </a:extLst>
          </p:cNvPr>
          <p:cNvSpPr txBox="1"/>
          <p:nvPr/>
        </p:nvSpPr>
        <p:spPr>
          <a:xfrm>
            <a:off x="6743700" y="4134147"/>
            <a:ext cx="4600575" cy="214312"/>
          </a:xfrm>
          <a:prstGeom prst="rect">
            <a:avLst/>
          </a:prstGeom>
          <a:noFill/>
        </p:spPr>
        <p:txBody>
          <a:bodyPr wrap="square" lIns="0" tIns="0" rIns="0" bIns="0" anchor="t">
            <a:spAutoFit/>
          </a:bodyPr>
          <a:lstStyle/>
          <a:p>
            <a:pPr algn="l">
              <a:lnSpc>
                <a:spcPts val="1687"/>
              </a:lnSpc>
            </a:pPr>
            <a:r>
              <a:rPr sz="1400" b="0" i="0" u="none">
                <a:solidFill>
                  <a:srgbClr val="334155"/>
                </a:solidFill>
                <a:latin typeface="Inter"/>
              </a:rPr>
              <a:t>Dynamic tool selection and runtime recovery</a:t>
            </a:r>
          </a:p>
        </p:txBody>
      </p:sp>
      <p:sp>
        <p:nvSpPr>
          <p:cNvPr id="99" name="TextBox 98">
            <a:extLst>
              <a:ext uri="{FF2B5EF4-FFF2-40B4-BE49-F238E27FC236}">
                <a16:creationId xmlns:a16="http://schemas.microsoft.com/office/drawing/2014/main" id="{C8E86033-6E6B-8C07-2E69-D659B6F5C836}"/>
              </a:ext>
            </a:extLst>
          </p:cNvPr>
          <p:cNvSpPr txBox="1"/>
          <p:nvPr/>
        </p:nvSpPr>
        <p:spPr>
          <a:xfrm>
            <a:off x="6743700" y="4462760"/>
            <a:ext cx="4600575" cy="214312"/>
          </a:xfrm>
          <a:prstGeom prst="rect">
            <a:avLst/>
          </a:prstGeom>
          <a:noFill/>
        </p:spPr>
        <p:txBody>
          <a:bodyPr wrap="square" lIns="0" tIns="0" rIns="0" bIns="0" anchor="t">
            <a:spAutoFit/>
          </a:bodyPr>
          <a:lstStyle/>
          <a:p>
            <a:pPr algn="l">
              <a:lnSpc>
                <a:spcPts val="1687"/>
              </a:lnSpc>
            </a:pPr>
            <a:r>
              <a:rPr sz="1400" b="0" i="0" u="none">
                <a:solidFill>
                  <a:srgbClr val="334155"/>
                </a:solidFill>
                <a:latin typeface="Inter"/>
              </a:rPr>
              <a:t>Handles complex multi-step reasoning environments</a:t>
            </a:r>
          </a:p>
        </p:txBody>
      </p:sp>
      <p:sp>
        <p:nvSpPr>
          <p:cNvPr id="101" name="TextBox 100">
            <a:extLst>
              <a:ext uri="{FF2B5EF4-FFF2-40B4-BE49-F238E27FC236}">
                <a16:creationId xmlns:a16="http://schemas.microsoft.com/office/drawing/2014/main" id="{475B35D0-FAA3-DED0-394F-87D065B94343}"/>
              </a:ext>
            </a:extLst>
          </p:cNvPr>
          <p:cNvSpPr txBox="1"/>
          <p:nvPr/>
        </p:nvSpPr>
        <p:spPr>
          <a:xfrm>
            <a:off x="847725" y="3824585"/>
            <a:ext cx="57150" cy="151773"/>
          </a:xfrm>
          <a:prstGeom prst="rect">
            <a:avLst/>
          </a:prstGeom>
          <a:noFill/>
        </p:spPr>
        <p:txBody>
          <a:bodyPr wrap="square" lIns="0" tIns="0" rIns="0" bIns="0" anchor="t">
            <a:spAutoFit/>
          </a:bodyPr>
          <a:lstStyle/>
          <a:p>
            <a:pPr algn="l">
              <a:lnSpc>
                <a:spcPts val="1125"/>
              </a:lnSpc>
            </a:pPr>
            <a:r>
              <a:rPr sz="1400" b="0" i="0" u="none">
                <a:solidFill>
                  <a:srgbClr val="4F46E5"/>
                </a:solidFill>
                <a:latin typeface="Inter"/>
              </a:rPr>
              <a:t>■</a:t>
            </a:r>
          </a:p>
        </p:txBody>
      </p:sp>
      <p:sp>
        <p:nvSpPr>
          <p:cNvPr id="103" name="TextBox 102">
            <a:extLst>
              <a:ext uri="{FF2B5EF4-FFF2-40B4-BE49-F238E27FC236}">
                <a16:creationId xmlns:a16="http://schemas.microsoft.com/office/drawing/2014/main" id="{D64816DF-60DF-AE72-DB3F-321DDF66457E}"/>
              </a:ext>
            </a:extLst>
          </p:cNvPr>
          <p:cNvSpPr txBox="1"/>
          <p:nvPr/>
        </p:nvSpPr>
        <p:spPr>
          <a:xfrm>
            <a:off x="847725" y="4153197"/>
            <a:ext cx="57150" cy="151773"/>
          </a:xfrm>
          <a:prstGeom prst="rect">
            <a:avLst/>
          </a:prstGeom>
          <a:noFill/>
        </p:spPr>
        <p:txBody>
          <a:bodyPr wrap="square" lIns="0" tIns="0" rIns="0" bIns="0" anchor="t">
            <a:spAutoFit/>
          </a:bodyPr>
          <a:lstStyle/>
          <a:p>
            <a:pPr algn="l">
              <a:lnSpc>
                <a:spcPts val="1125"/>
              </a:lnSpc>
            </a:pPr>
            <a:r>
              <a:rPr sz="1400" b="0" i="0" u="none">
                <a:solidFill>
                  <a:srgbClr val="4F46E5"/>
                </a:solidFill>
                <a:latin typeface="Inter"/>
              </a:rPr>
              <a:t>■</a:t>
            </a:r>
          </a:p>
        </p:txBody>
      </p:sp>
      <p:sp>
        <p:nvSpPr>
          <p:cNvPr id="105" name="TextBox 104">
            <a:extLst>
              <a:ext uri="{FF2B5EF4-FFF2-40B4-BE49-F238E27FC236}">
                <a16:creationId xmlns:a16="http://schemas.microsoft.com/office/drawing/2014/main" id="{9DEAADE7-C040-C497-AC0D-020B3D332383}"/>
              </a:ext>
            </a:extLst>
          </p:cNvPr>
          <p:cNvSpPr txBox="1"/>
          <p:nvPr/>
        </p:nvSpPr>
        <p:spPr>
          <a:xfrm>
            <a:off x="847725" y="4481810"/>
            <a:ext cx="57150" cy="151773"/>
          </a:xfrm>
          <a:prstGeom prst="rect">
            <a:avLst/>
          </a:prstGeom>
          <a:noFill/>
        </p:spPr>
        <p:txBody>
          <a:bodyPr wrap="square" lIns="0" tIns="0" rIns="0" bIns="0" anchor="t">
            <a:spAutoFit/>
          </a:bodyPr>
          <a:lstStyle/>
          <a:p>
            <a:pPr algn="l">
              <a:lnSpc>
                <a:spcPts val="1125"/>
              </a:lnSpc>
            </a:pPr>
            <a:r>
              <a:rPr sz="1400" b="0" i="0" u="none">
                <a:solidFill>
                  <a:srgbClr val="4F46E5"/>
                </a:solidFill>
                <a:latin typeface="Inter"/>
              </a:rPr>
              <a:t>■</a:t>
            </a:r>
          </a:p>
        </p:txBody>
      </p:sp>
      <p:sp>
        <p:nvSpPr>
          <p:cNvPr id="107" name="TextBox 106">
            <a:extLst>
              <a:ext uri="{FF2B5EF4-FFF2-40B4-BE49-F238E27FC236}">
                <a16:creationId xmlns:a16="http://schemas.microsoft.com/office/drawing/2014/main" id="{B7D69916-1D77-94C8-3AA9-30429A72FCC6}"/>
              </a:ext>
            </a:extLst>
          </p:cNvPr>
          <p:cNvSpPr txBox="1"/>
          <p:nvPr/>
        </p:nvSpPr>
        <p:spPr>
          <a:xfrm>
            <a:off x="6515100" y="3824585"/>
            <a:ext cx="57150" cy="151773"/>
          </a:xfrm>
          <a:prstGeom prst="rect">
            <a:avLst/>
          </a:prstGeom>
          <a:noFill/>
        </p:spPr>
        <p:txBody>
          <a:bodyPr wrap="square" lIns="0" tIns="0" rIns="0" bIns="0" anchor="t">
            <a:spAutoFit/>
          </a:bodyPr>
          <a:lstStyle/>
          <a:p>
            <a:pPr algn="l">
              <a:lnSpc>
                <a:spcPts val="1125"/>
              </a:lnSpc>
            </a:pPr>
            <a:r>
              <a:rPr sz="1400" b="0" i="0" u="none" dirty="0">
                <a:solidFill>
                  <a:srgbClr val="4F46E5"/>
                </a:solidFill>
                <a:latin typeface="Inter"/>
              </a:rPr>
              <a:t>■</a:t>
            </a:r>
          </a:p>
        </p:txBody>
      </p:sp>
      <p:sp>
        <p:nvSpPr>
          <p:cNvPr id="109" name="TextBox 108">
            <a:extLst>
              <a:ext uri="{FF2B5EF4-FFF2-40B4-BE49-F238E27FC236}">
                <a16:creationId xmlns:a16="http://schemas.microsoft.com/office/drawing/2014/main" id="{A666694A-C4AF-EA5B-2BFA-6081D9C7729E}"/>
              </a:ext>
            </a:extLst>
          </p:cNvPr>
          <p:cNvSpPr txBox="1"/>
          <p:nvPr/>
        </p:nvSpPr>
        <p:spPr>
          <a:xfrm>
            <a:off x="6515100" y="4153197"/>
            <a:ext cx="57150" cy="151773"/>
          </a:xfrm>
          <a:prstGeom prst="rect">
            <a:avLst/>
          </a:prstGeom>
          <a:noFill/>
        </p:spPr>
        <p:txBody>
          <a:bodyPr wrap="square" lIns="0" tIns="0" rIns="0" bIns="0" anchor="t">
            <a:spAutoFit/>
          </a:bodyPr>
          <a:lstStyle/>
          <a:p>
            <a:pPr algn="l">
              <a:lnSpc>
                <a:spcPts val="1125"/>
              </a:lnSpc>
            </a:pPr>
            <a:r>
              <a:rPr sz="1400" b="0" i="0" u="none" dirty="0">
                <a:solidFill>
                  <a:srgbClr val="4F46E5"/>
                </a:solidFill>
                <a:latin typeface="Inter"/>
              </a:rPr>
              <a:t>■</a:t>
            </a:r>
          </a:p>
        </p:txBody>
      </p:sp>
      <p:sp>
        <p:nvSpPr>
          <p:cNvPr id="111" name="TextBox 110">
            <a:extLst>
              <a:ext uri="{FF2B5EF4-FFF2-40B4-BE49-F238E27FC236}">
                <a16:creationId xmlns:a16="http://schemas.microsoft.com/office/drawing/2014/main" id="{77CFDEC3-BA52-68E4-3068-7A7732B63AF4}"/>
              </a:ext>
            </a:extLst>
          </p:cNvPr>
          <p:cNvSpPr txBox="1"/>
          <p:nvPr/>
        </p:nvSpPr>
        <p:spPr>
          <a:xfrm>
            <a:off x="6515100" y="4481810"/>
            <a:ext cx="57150" cy="151773"/>
          </a:xfrm>
          <a:prstGeom prst="rect">
            <a:avLst/>
          </a:prstGeom>
          <a:noFill/>
        </p:spPr>
        <p:txBody>
          <a:bodyPr wrap="square" lIns="0" tIns="0" rIns="0" bIns="0" anchor="t">
            <a:spAutoFit/>
          </a:bodyPr>
          <a:lstStyle/>
          <a:p>
            <a:pPr algn="l">
              <a:lnSpc>
                <a:spcPts val="1125"/>
              </a:lnSpc>
            </a:pPr>
            <a:r>
              <a:rPr sz="1400" b="0" i="0" u="none">
                <a:solidFill>
                  <a:srgbClr val="4F46E5"/>
                </a:solidFill>
                <a:latin typeface="Inter"/>
              </a:rPr>
              <a:t>■</a:t>
            </a:r>
          </a:p>
        </p:txBody>
      </p:sp>
      <p:sp>
        <p:nvSpPr>
          <p:cNvPr id="113" name="TextBox 112">
            <a:extLst>
              <a:ext uri="{FF2B5EF4-FFF2-40B4-BE49-F238E27FC236}">
                <a16:creationId xmlns:a16="http://schemas.microsoft.com/office/drawing/2014/main" id="{F42E5BF5-7DBC-48C3-5780-0E5C984B6C24}"/>
              </a:ext>
            </a:extLst>
          </p:cNvPr>
          <p:cNvSpPr txBox="1"/>
          <p:nvPr/>
        </p:nvSpPr>
        <p:spPr>
          <a:xfrm>
            <a:off x="733886" y="1213022"/>
            <a:ext cx="6148695" cy="376000"/>
          </a:xfrm>
          <a:prstGeom prst="rect">
            <a:avLst/>
          </a:prstGeom>
          <a:noFill/>
        </p:spPr>
        <p:txBody>
          <a:bodyPr wrap="square" lIns="0" tIns="0" rIns="0" bIns="0" anchor="ctr">
            <a:spAutoFit/>
          </a:bodyPr>
          <a:lstStyle/>
          <a:p>
            <a:pPr algn="l">
              <a:lnSpc>
                <a:spcPts val="3240"/>
              </a:lnSpc>
            </a:pPr>
            <a:r>
              <a:rPr sz="1900" i="0" u="none" dirty="0">
                <a:solidFill>
                  <a:schemeClr val="tx1">
                    <a:lumMod val="75000"/>
                    <a:lumOff val="25000"/>
                  </a:schemeClr>
                </a:solidFill>
                <a:latin typeface="Poppins SemiBold"/>
              </a:rPr>
              <a:t>Workflow vs Autonomous</a:t>
            </a:r>
            <a:r>
              <a:rPr lang="en-IN" sz="1900" i="0" u="none" dirty="0">
                <a:solidFill>
                  <a:schemeClr val="tx1">
                    <a:lumMod val="75000"/>
                    <a:lumOff val="25000"/>
                  </a:schemeClr>
                </a:solidFill>
                <a:latin typeface="Poppins SemiBold"/>
              </a:rPr>
              <a:t> Agent Design Patterns</a:t>
            </a:r>
            <a:endParaRPr sz="1900" i="0" u="none" dirty="0">
              <a:solidFill>
                <a:schemeClr val="tx1">
                  <a:lumMod val="75000"/>
                  <a:lumOff val="25000"/>
                </a:schemeClr>
              </a:solidFill>
              <a:latin typeface="Poppins SemiBold"/>
            </a:endParaRPr>
          </a:p>
        </p:txBody>
      </p:sp>
      <p:sp>
        <p:nvSpPr>
          <p:cNvPr id="115" name="TextBox 114">
            <a:extLst>
              <a:ext uri="{FF2B5EF4-FFF2-40B4-BE49-F238E27FC236}">
                <a16:creationId xmlns:a16="http://schemas.microsoft.com/office/drawing/2014/main" id="{DA0505E4-98EA-A9A8-C34A-6172B5E481F3}"/>
              </a:ext>
            </a:extLst>
          </p:cNvPr>
          <p:cNvSpPr txBox="1"/>
          <p:nvPr/>
        </p:nvSpPr>
        <p:spPr>
          <a:xfrm>
            <a:off x="714836" y="550025"/>
            <a:ext cx="4150127" cy="677108"/>
          </a:xfrm>
          <a:prstGeom prst="rect">
            <a:avLst/>
          </a:prstGeom>
          <a:noFill/>
        </p:spPr>
        <p:txBody>
          <a:bodyPr wrap="square" lIns="0" tIns="0" rIns="0" bIns="0" anchor="t">
            <a:spAutoFit/>
          </a:bodyPr>
          <a:lstStyle/>
          <a:p>
            <a:pPr algn="l"/>
            <a:r>
              <a:rPr sz="4400" b="1" i="0" u="none" dirty="0">
                <a:solidFill>
                  <a:srgbClr val="0F172A"/>
                </a:solidFill>
                <a:latin typeface="Inter"/>
              </a:rPr>
              <a:t>Architectures</a:t>
            </a:r>
          </a:p>
        </p:txBody>
      </p:sp>
    </p:spTree>
    <p:extLst>
      <p:ext uri="{BB962C8B-B14F-4D97-AF65-F5344CB8AC3E}">
        <p14:creationId xmlns:p14="http://schemas.microsoft.com/office/powerpoint/2010/main" val="2479041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image.png">
            <a:extLst>
              <a:ext uri="{FF2B5EF4-FFF2-40B4-BE49-F238E27FC236}">
                <a16:creationId xmlns:a16="http://schemas.microsoft.com/office/drawing/2014/main" id="{74364B87-57FD-92D9-238E-F5AA79144D9E}"/>
              </a:ext>
            </a:extLst>
          </p:cNvPr>
          <p:cNvPicPr>
            <a:picLocks noChangeAspect="1"/>
          </p:cNvPicPr>
          <p:nvPr/>
        </p:nvPicPr>
        <p:blipFill>
          <a:blip r:embed="rId3"/>
          <a:stretch>
            <a:fillRect/>
          </a:stretch>
        </p:blipFill>
        <p:spPr>
          <a:xfrm>
            <a:off x="-48854" y="-615"/>
            <a:ext cx="12289708" cy="7277417"/>
          </a:xfrm>
          <a:prstGeom prst="rect">
            <a:avLst/>
          </a:prstGeom>
        </p:spPr>
      </p:pic>
      <p:pic>
        <p:nvPicPr>
          <p:cNvPr id="37" name="Picture 36" descr="image.png">
            <a:extLst>
              <a:ext uri="{FF2B5EF4-FFF2-40B4-BE49-F238E27FC236}">
                <a16:creationId xmlns:a16="http://schemas.microsoft.com/office/drawing/2014/main" id="{7E95A2BB-B24A-ED54-C124-6E4F0C398EA9}"/>
              </a:ext>
            </a:extLst>
          </p:cNvPr>
          <p:cNvPicPr>
            <a:picLocks noChangeAspect="1"/>
          </p:cNvPicPr>
          <p:nvPr/>
        </p:nvPicPr>
        <p:blipFill>
          <a:blip r:embed="rId4">
            <a:grayscl/>
          </a:blip>
          <a:stretch>
            <a:fillRect/>
          </a:stretch>
        </p:blipFill>
        <p:spPr>
          <a:xfrm>
            <a:off x="571500" y="656242"/>
            <a:ext cx="10915650" cy="3016247"/>
          </a:xfrm>
          <a:prstGeom prst="rect">
            <a:avLst/>
          </a:prstGeom>
        </p:spPr>
      </p:pic>
      <p:pic>
        <p:nvPicPr>
          <p:cNvPr id="54" name="Picture 53">
            <a:extLst>
              <a:ext uri="{FF2B5EF4-FFF2-40B4-BE49-F238E27FC236}">
                <a16:creationId xmlns:a16="http://schemas.microsoft.com/office/drawing/2014/main" id="{C9929F5E-829D-C07F-E9CD-28E7AFCFDF4F}"/>
              </a:ext>
            </a:extLst>
          </p:cNvPr>
          <p:cNvPicPr>
            <a:picLocks noChangeAspect="1"/>
          </p:cNvPicPr>
          <p:nvPr/>
        </p:nvPicPr>
        <p:blipFill>
          <a:blip r:embed="rId5">
            <a:duotone>
              <a:schemeClr val="accent1">
                <a:shade val="45000"/>
                <a:satMod val="135000"/>
              </a:schemeClr>
              <a:prstClr val="white"/>
            </a:duotone>
          </a:blip>
          <a:srcRect l="4084" r="8381"/>
          <a:stretch>
            <a:fillRect/>
          </a:stretch>
        </p:blipFill>
        <p:spPr>
          <a:xfrm>
            <a:off x="4835237" y="1819325"/>
            <a:ext cx="6353876" cy="1132003"/>
          </a:xfrm>
          <a:prstGeom prst="rect">
            <a:avLst/>
          </a:prstGeom>
        </p:spPr>
      </p:pic>
      <p:sp>
        <p:nvSpPr>
          <p:cNvPr id="59" name="Rectangle 58">
            <a:extLst>
              <a:ext uri="{FF2B5EF4-FFF2-40B4-BE49-F238E27FC236}">
                <a16:creationId xmlns:a16="http://schemas.microsoft.com/office/drawing/2014/main" id="{3A617B88-4E86-A5DA-062F-A953C0C88342}"/>
              </a:ext>
            </a:extLst>
          </p:cNvPr>
          <p:cNvSpPr/>
          <p:nvPr/>
        </p:nvSpPr>
        <p:spPr>
          <a:xfrm>
            <a:off x="867896" y="2730283"/>
            <a:ext cx="3739769" cy="642530"/>
          </a:xfrm>
          <a:prstGeom prst="rect">
            <a:avLst/>
          </a:prstGeom>
          <a:solidFill>
            <a:srgbClr val="F3F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9D17A182-D893-A12A-9463-60BDBCCD534A}"/>
              </a:ext>
            </a:extLst>
          </p:cNvPr>
          <p:cNvSpPr txBox="1"/>
          <p:nvPr/>
        </p:nvSpPr>
        <p:spPr>
          <a:xfrm>
            <a:off x="1001246" y="2825533"/>
            <a:ext cx="3358375" cy="430887"/>
          </a:xfrm>
          <a:prstGeom prst="rect">
            <a:avLst/>
          </a:prstGeom>
          <a:noFill/>
        </p:spPr>
        <p:txBody>
          <a:bodyPr wrap="square" lIns="0" tIns="0" rIns="0" bIns="0" anchor="t">
            <a:spAutoFit/>
          </a:bodyPr>
          <a:lstStyle/>
          <a:p>
            <a:pPr algn="l"/>
            <a:r>
              <a:rPr sz="1400" b="1" i="0" u="none" dirty="0">
                <a:solidFill>
                  <a:srgbClr val="0F172A"/>
                </a:solidFill>
                <a:latin typeface="Inter"/>
              </a:rPr>
              <a:t>Use Cases:</a:t>
            </a:r>
            <a:r>
              <a:rPr sz="1400" b="0" i="0" u="none" dirty="0">
                <a:solidFill>
                  <a:srgbClr val="334155"/>
                </a:solidFill>
                <a:latin typeface="Inter"/>
              </a:rPr>
              <a:t> Multi-stage reasoning, document analysis,</a:t>
            </a:r>
            <a:r>
              <a:rPr lang="en-IN" sz="1400" dirty="0">
                <a:solidFill>
                  <a:srgbClr val="334155"/>
                </a:solidFill>
                <a:latin typeface="Inter"/>
              </a:rPr>
              <a:t> </a:t>
            </a:r>
            <a:r>
              <a:rPr sz="1400" b="0" i="0" u="none" dirty="0">
                <a:solidFill>
                  <a:srgbClr val="334155"/>
                </a:solidFill>
                <a:latin typeface="Inter"/>
              </a:rPr>
              <a:t>data transformation.</a:t>
            </a:r>
          </a:p>
        </p:txBody>
      </p:sp>
      <p:sp>
        <p:nvSpPr>
          <p:cNvPr id="64" name="Rectangle 63">
            <a:extLst>
              <a:ext uri="{FF2B5EF4-FFF2-40B4-BE49-F238E27FC236}">
                <a16:creationId xmlns:a16="http://schemas.microsoft.com/office/drawing/2014/main" id="{CD70C941-7534-4906-6231-567B1A0A659F}"/>
              </a:ext>
            </a:extLst>
          </p:cNvPr>
          <p:cNvSpPr/>
          <p:nvPr/>
        </p:nvSpPr>
        <p:spPr>
          <a:xfrm flipH="1">
            <a:off x="841841" y="2730282"/>
            <a:ext cx="45719" cy="64252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a:extLst>
              <a:ext uri="{FF2B5EF4-FFF2-40B4-BE49-F238E27FC236}">
                <a16:creationId xmlns:a16="http://schemas.microsoft.com/office/drawing/2014/main" id="{C346E723-8DE0-20EA-8B4D-52747F7D63E2}"/>
              </a:ext>
            </a:extLst>
          </p:cNvPr>
          <p:cNvSpPr txBox="1"/>
          <p:nvPr/>
        </p:nvSpPr>
        <p:spPr>
          <a:xfrm>
            <a:off x="866774" y="1280288"/>
            <a:ext cx="10263341" cy="451342"/>
          </a:xfrm>
          <a:prstGeom prst="rect">
            <a:avLst/>
          </a:prstGeom>
          <a:noFill/>
        </p:spPr>
        <p:txBody>
          <a:bodyPr wrap="square" lIns="0" tIns="0" rIns="0" bIns="0" anchor="t">
            <a:spAutoFit/>
          </a:bodyPr>
          <a:lstStyle/>
          <a:p>
            <a:pPr>
              <a:lnSpc>
                <a:spcPts val="1800"/>
              </a:lnSpc>
            </a:pPr>
            <a:r>
              <a:rPr sz="1400" b="0" i="0" u="none" dirty="0">
                <a:latin typeface="Inter"/>
              </a:rPr>
              <a:t>Decomposes a task into a fixed sequence of LLM calls where the output of one step becomes the input context for the next, with validation gates</a:t>
            </a:r>
            <a:r>
              <a:rPr lang="en-IN" sz="1400" dirty="0">
                <a:latin typeface="Inter"/>
              </a:rPr>
              <a:t>, ensuring higher precision and intermediate quality control at each stage.</a:t>
            </a:r>
            <a:r>
              <a:rPr lang="en-IN" sz="1400" b="0" i="0" u="none" dirty="0">
                <a:latin typeface="Inter"/>
              </a:rPr>
              <a:t> </a:t>
            </a:r>
            <a:r>
              <a:rPr lang="en-IN" sz="1400" b="0" i="0" u="none" dirty="0">
                <a:solidFill>
                  <a:srgbClr val="475569"/>
                </a:solidFill>
                <a:latin typeface="Inter"/>
              </a:rPr>
              <a:t>[6]</a:t>
            </a:r>
            <a:endParaRPr sz="1400" b="0" i="0" u="none" dirty="0">
              <a:solidFill>
                <a:srgbClr val="475569"/>
              </a:solidFill>
              <a:latin typeface="Inter"/>
            </a:endParaRPr>
          </a:p>
        </p:txBody>
      </p:sp>
      <p:sp>
        <p:nvSpPr>
          <p:cNvPr id="82" name="TextBox 81">
            <a:extLst>
              <a:ext uri="{FF2B5EF4-FFF2-40B4-BE49-F238E27FC236}">
                <a16:creationId xmlns:a16="http://schemas.microsoft.com/office/drawing/2014/main" id="{79489C8C-F456-32F4-8F84-D82FB3CA692A}"/>
              </a:ext>
            </a:extLst>
          </p:cNvPr>
          <p:cNvSpPr txBox="1"/>
          <p:nvPr/>
        </p:nvSpPr>
        <p:spPr>
          <a:xfrm>
            <a:off x="867896" y="909135"/>
            <a:ext cx="2170271" cy="251370"/>
          </a:xfrm>
          <a:prstGeom prst="rect">
            <a:avLst/>
          </a:prstGeom>
          <a:noFill/>
        </p:spPr>
        <p:txBody>
          <a:bodyPr wrap="square" lIns="0" tIns="0" rIns="0" bIns="0" anchor="t">
            <a:spAutoFit/>
          </a:bodyPr>
          <a:lstStyle/>
          <a:p>
            <a:pPr algn="l">
              <a:lnSpc>
                <a:spcPts val="1979"/>
              </a:lnSpc>
            </a:pPr>
            <a:r>
              <a:rPr sz="1650" b="0" i="0" u="none">
                <a:solidFill>
                  <a:schemeClr val="tx2"/>
                </a:solidFill>
                <a:latin typeface="Poppins SemiBold"/>
              </a:rPr>
              <a:t>1. Prompt Chaining</a:t>
            </a:r>
          </a:p>
        </p:txBody>
      </p:sp>
      <p:sp>
        <p:nvSpPr>
          <p:cNvPr id="127" name="TextBox 126">
            <a:extLst>
              <a:ext uri="{FF2B5EF4-FFF2-40B4-BE49-F238E27FC236}">
                <a16:creationId xmlns:a16="http://schemas.microsoft.com/office/drawing/2014/main" id="{6D93F815-CE54-BE85-CFB9-CD59DB4A8D6A}"/>
              </a:ext>
            </a:extLst>
          </p:cNvPr>
          <p:cNvSpPr txBox="1"/>
          <p:nvPr/>
        </p:nvSpPr>
        <p:spPr>
          <a:xfrm>
            <a:off x="617948" y="247190"/>
            <a:ext cx="4155719" cy="369332"/>
          </a:xfrm>
          <a:prstGeom prst="rect">
            <a:avLst/>
          </a:prstGeom>
          <a:noFill/>
        </p:spPr>
        <p:txBody>
          <a:bodyPr wrap="square" lIns="0" tIns="0" rIns="0" bIns="0" anchor="t">
            <a:spAutoFit/>
          </a:bodyPr>
          <a:lstStyle/>
          <a:p>
            <a:r>
              <a:rPr lang="en-IN" sz="2400" b="1" dirty="0">
                <a:solidFill>
                  <a:srgbClr val="0F172A"/>
                </a:solidFill>
                <a:latin typeface="Poppins"/>
              </a:rPr>
              <a:t>Workflow </a:t>
            </a:r>
            <a:r>
              <a:rPr lang="en-IN" sz="2400" b="1" dirty="0">
                <a:solidFill>
                  <a:schemeClr val="tx2"/>
                </a:solidFill>
                <a:latin typeface="Poppins"/>
              </a:rPr>
              <a:t>Patterns</a:t>
            </a:r>
            <a:endParaRPr sz="2400" b="1" i="0" u="none" dirty="0">
              <a:solidFill>
                <a:schemeClr val="tx2"/>
              </a:solidFill>
              <a:latin typeface="Inter"/>
            </a:endParaRPr>
          </a:p>
        </p:txBody>
      </p:sp>
      <p:sp>
        <p:nvSpPr>
          <p:cNvPr id="4" name="TextBox 3">
            <a:extLst>
              <a:ext uri="{FF2B5EF4-FFF2-40B4-BE49-F238E27FC236}">
                <a16:creationId xmlns:a16="http://schemas.microsoft.com/office/drawing/2014/main" id="{32C7EF2B-2820-46DD-64E9-DA4C85D786DB}"/>
              </a:ext>
            </a:extLst>
          </p:cNvPr>
          <p:cNvSpPr txBox="1"/>
          <p:nvPr/>
        </p:nvSpPr>
        <p:spPr>
          <a:xfrm>
            <a:off x="4921749" y="2995723"/>
            <a:ext cx="6254309" cy="461665"/>
          </a:xfrm>
          <a:prstGeom prst="rect">
            <a:avLst/>
          </a:prstGeom>
          <a:noFill/>
        </p:spPr>
        <p:txBody>
          <a:bodyPr wrap="square">
            <a:spAutoFit/>
          </a:bodyPr>
          <a:lstStyle/>
          <a:p>
            <a:r>
              <a:rPr lang="en-IN" sz="1200" b="1" dirty="0"/>
              <a:t>Fig: </a:t>
            </a:r>
            <a:r>
              <a:rPr lang="en-IN" sz="1200" dirty="0"/>
              <a:t>Prompt chaining with quality gates. Each step is a separate LLM call. Gates can be LLM-based or programmatic.[6]</a:t>
            </a:r>
          </a:p>
        </p:txBody>
      </p:sp>
      <p:sp>
        <p:nvSpPr>
          <p:cNvPr id="5" name="TextBox 4">
            <a:extLst>
              <a:ext uri="{FF2B5EF4-FFF2-40B4-BE49-F238E27FC236}">
                <a16:creationId xmlns:a16="http://schemas.microsoft.com/office/drawing/2014/main" id="{E648B986-B1F8-0386-21CE-1F06133977BF}"/>
              </a:ext>
            </a:extLst>
          </p:cNvPr>
          <p:cNvSpPr txBox="1"/>
          <p:nvPr/>
        </p:nvSpPr>
        <p:spPr>
          <a:xfrm>
            <a:off x="867896" y="1847445"/>
            <a:ext cx="4064739" cy="682174"/>
          </a:xfrm>
          <a:prstGeom prst="rect">
            <a:avLst/>
          </a:prstGeom>
          <a:noFill/>
        </p:spPr>
        <p:txBody>
          <a:bodyPr wrap="square" lIns="0" tIns="0" rIns="0" bIns="0" anchor="t">
            <a:spAutoFit/>
          </a:bodyPr>
          <a:lstStyle/>
          <a:p>
            <a:pPr>
              <a:lnSpc>
                <a:spcPts val="1800"/>
              </a:lnSpc>
            </a:pPr>
            <a:r>
              <a:rPr lang="en-IN" sz="1400" b="1" dirty="0"/>
              <a:t>When to use: </a:t>
            </a:r>
            <a:r>
              <a:rPr lang="en-IN" sz="1400" dirty="0"/>
              <a:t>Tasks that are naturally sequential—content generation, data transformation, multi-stage analysis.</a:t>
            </a:r>
            <a:endParaRPr sz="1400" b="0" i="0" u="none" dirty="0">
              <a:solidFill>
                <a:srgbClr val="475569"/>
              </a:solidFill>
              <a:latin typeface="Inter"/>
            </a:endParaRPr>
          </a:p>
        </p:txBody>
      </p:sp>
      <p:pic>
        <p:nvPicPr>
          <p:cNvPr id="7" name="Picture 6" descr="image.png">
            <a:extLst>
              <a:ext uri="{FF2B5EF4-FFF2-40B4-BE49-F238E27FC236}">
                <a16:creationId xmlns:a16="http://schemas.microsoft.com/office/drawing/2014/main" id="{44D7F377-5E77-433D-193E-90EFB600B408}"/>
              </a:ext>
            </a:extLst>
          </p:cNvPr>
          <p:cNvPicPr>
            <a:picLocks noChangeAspect="1"/>
          </p:cNvPicPr>
          <p:nvPr/>
        </p:nvPicPr>
        <p:blipFill>
          <a:blip r:embed="rId6"/>
          <a:stretch>
            <a:fillRect/>
          </a:stretch>
        </p:blipFill>
        <p:spPr>
          <a:xfrm>
            <a:off x="578166" y="3717594"/>
            <a:ext cx="10908984" cy="3256506"/>
          </a:xfrm>
          <a:prstGeom prst="rect">
            <a:avLst/>
          </a:prstGeom>
        </p:spPr>
      </p:pic>
      <p:sp>
        <p:nvSpPr>
          <p:cNvPr id="12" name="Rectangle 11">
            <a:extLst>
              <a:ext uri="{FF2B5EF4-FFF2-40B4-BE49-F238E27FC236}">
                <a16:creationId xmlns:a16="http://schemas.microsoft.com/office/drawing/2014/main" id="{FB2FBE30-02B9-745F-EC19-DA67CF303662}"/>
              </a:ext>
            </a:extLst>
          </p:cNvPr>
          <p:cNvSpPr/>
          <p:nvPr/>
        </p:nvSpPr>
        <p:spPr>
          <a:xfrm>
            <a:off x="816290" y="6281662"/>
            <a:ext cx="4389273" cy="495300"/>
          </a:xfrm>
          <a:prstGeom prst="rect">
            <a:avLst/>
          </a:prstGeom>
          <a:solidFill>
            <a:srgbClr val="F3F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CF833EC7-DD34-DBB4-CDFB-22B685CE06A6}"/>
              </a:ext>
            </a:extLst>
          </p:cNvPr>
          <p:cNvSpPr txBox="1"/>
          <p:nvPr/>
        </p:nvSpPr>
        <p:spPr>
          <a:xfrm>
            <a:off x="988970" y="6423642"/>
            <a:ext cx="4389274" cy="215444"/>
          </a:xfrm>
          <a:prstGeom prst="rect">
            <a:avLst/>
          </a:prstGeom>
          <a:noFill/>
        </p:spPr>
        <p:txBody>
          <a:bodyPr wrap="square" lIns="0" tIns="0" rIns="0" bIns="0" anchor="t">
            <a:spAutoFit/>
          </a:bodyPr>
          <a:lstStyle/>
          <a:p>
            <a:pPr algn="l"/>
            <a:r>
              <a:rPr sz="1400" b="1" i="0" u="none" dirty="0">
                <a:solidFill>
                  <a:srgbClr val="0F172A"/>
                </a:solidFill>
                <a:latin typeface="Inter"/>
              </a:rPr>
              <a:t>Use Cases:</a:t>
            </a:r>
            <a:r>
              <a:rPr sz="1400" b="0" i="0" u="none" dirty="0">
                <a:solidFill>
                  <a:srgbClr val="334155"/>
                </a:solidFill>
                <a:latin typeface="Inter"/>
              </a:rPr>
              <a:t> Customer support triage, query classification</a:t>
            </a:r>
          </a:p>
        </p:txBody>
      </p:sp>
      <p:sp>
        <p:nvSpPr>
          <p:cNvPr id="16" name="Rectangle 15">
            <a:extLst>
              <a:ext uri="{FF2B5EF4-FFF2-40B4-BE49-F238E27FC236}">
                <a16:creationId xmlns:a16="http://schemas.microsoft.com/office/drawing/2014/main" id="{B08E47B6-A4D6-479A-6D35-CF59B18EECBB}"/>
              </a:ext>
            </a:extLst>
          </p:cNvPr>
          <p:cNvSpPr/>
          <p:nvPr/>
        </p:nvSpPr>
        <p:spPr>
          <a:xfrm>
            <a:off x="816292" y="6281662"/>
            <a:ext cx="78495" cy="4953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2"/>
              </a:solidFill>
            </a:endParaRPr>
          </a:p>
        </p:txBody>
      </p:sp>
      <p:sp>
        <p:nvSpPr>
          <p:cNvPr id="20" name="TextBox 19">
            <a:extLst>
              <a:ext uri="{FF2B5EF4-FFF2-40B4-BE49-F238E27FC236}">
                <a16:creationId xmlns:a16="http://schemas.microsoft.com/office/drawing/2014/main" id="{1D557B7B-5ADB-BDB2-150A-418EFAA18624}"/>
              </a:ext>
            </a:extLst>
          </p:cNvPr>
          <p:cNvSpPr txBox="1"/>
          <p:nvPr/>
        </p:nvSpPr>
        <p:spPr>
          <a:xfrm>
            <a:off x="854392" y="4004584"/>
            <a:ext cx="2278786" cy="251370"/>
          </a:xfrm>
          <a:prstGeom prst="rect">
            <a:avLst/>
          </a:prstGeom>
          <a:noFill/>
        </p:spPr>
        <p:txBody>
          <a:bodyPr wrap="square" lIns="0" tIns="0" rIns="0" bIns="0" anchor="t">
            <a:spAutoFit/>
          </a:bodyPr>
          <a:lstStyle/>
          <a:p>
            <a:pPr algn="l">
              <a:lnSpc>
                <a:spcPts val="1979"/>
              </a:lnSpc>
            </a:pPr>
            <a:r>
              <a:rPr lang="en-IN" sz="1650" dirty="0">
                <a:solidFill>
                  <a:schemeClr val="tx2"/>
                </a:solidFill>
                <a:latin typeface="Poppins SemiBold"/>
              </a:rPr>
              <a:t>2</a:t>
            </a:r>
            <a:r>
              <a:rPr sz="1650" b="0" i="0" u="none" dirty="0">
                <a:solidFill>
                  <a:schemeClr val="tx2"/>
                </a:solidFill>
                <a:latin typeface="Poppins SemiBold"/>
              </a:rPr>
              <a:t>. Routing</a:t>
            </a:r>
          </a:p>
        </p:txBody>
      </p:sp>
      <p:pic>
        <p:nvPicPr>
          <p:cNvPr id="22" name="Picture 21">
            <a:extLst>
              <a:ext uri="{FF2B5EF4-FFF2-40B4-BE49-F238E27FC236}">
                <a16:creationId xmlns:a16="http://schemas.microsoft.com/office/drawing/2014/main" id="{1A88C30E-C632-5E60-1BD1-50B604F69A76}"/>
              </a:ext>
            </a:extLst>
          </p:cNvPr>
          <p:cNvPicPr>
            <a:picLocks noChangeAspect="1"/>
          </p:cNvPicPr>
          <p:nvPr/>
        </p:nvPicPr>
        <p:blipFill>
          <a:blip r:embed="rId7">
            <a:duotone>
              <a:schemeClr val="accent1">
                <a:shade val="45000"/>
                <a:satMod val="135000"/>
              </a:schemeClr>
              <a:prstClr val="white"/>
            </a:duotone>
          </a:blip>
          <a:srcRect l="940" r="3982"/>
          <a:stretch>
            <a:fillRect/>
          </a:stretch>
        </p:blipFill>
        <p:spPr>
          <a:xfrm>
            <a:off x="5732206" y="4181566"/>
            <a:ext cx="5397909" cy="2103302"/>
          </a:xfrm>
          <a:prstGeom prst="rect">
            <a:avLst/>
          </a:prstGeom>
        </p:spPr>
      </p:pic>
      <p:sp>
        <p:nvSpPr>
          <p:cNvPr id="18" name="TextBox 17">
            <a:extLst>
              <a:ext uri="{FF2B5EF4-FFF2-40B4-BE49-F238E27FC236}">
                <a16:creationId xmlns:a16="http://schemas.microsoft.com/office/drawing/2014/main" id="{E6794D7C-3468-9AC1-6636-2DF873297949}"/>
              </a:ext>
            </a:extLst>
          </p:cNvPr>
          <p:cNvSpPr txBox="1"/>
          <p:nvPr/>
        </p:nvSpPr>
        <p:spPr>
          <a:xfrm>
            <a:off x="816291" y="4353091"/>
            <a:ext cx="4748767" cy="1143839"/>
          </a:xfrm>
          <a:prstGeom prst="rect">
            <a:avLst/>
          </a:prstGeom>
          <a:noFill/>
        </p:spPr>
        <p:txBody>
          <a:bodyPr wrap="square" lIns="0" tIns="0" rIns="0" bIns="0" anchor="t">
            <a:spAutoFit/>
          </a:bodyPr>
          <a:lstStyle/>
          <a:p>
            <a:pPr algn="just">
              <a:lnSpc>
                <a:spcPts val="1800"/>
              </a:lnSpc>
            </a:pPr>
            <a:r>
              <a:rPr sz="1400" b="0" i="0" u="none" dirty="0">
                <a:latin typeface="Inter"/>
              </a:rPr>
              <a:t>Uses an initial router or classifier to direct incoming requests to specialized agents or processing paths with tailored prompts and tools</a:t>
            </a:r>
            <a:r>
              <a:rPr lang="en-IN" sz="1400" dirty="0">
                <a:latin typeface="Inter"/>
              </a:rPr>
              <a:t> , optimizing latency and cost by serving simple requests quickly and reserving larger, specialized models for complex tasks. [6]</a:t>
            </a:r>
            <a:endParaRPr sz="1400" b="0" i="0" u="none" dirty="0">
              <a:latin typeface="Inter"/>
            </a:endParaRPr>
          </a:p>
        </p:txBody>
      </p:sp>
      <p:sp>
        <p:nvSpPr>
          <p:cNvPr id="23" name="TextBox 22">
            <a:extLst>
              <a:ext uri="{FF2B5EF4-FFF2-40B4-BE49-F238E27FC236}">
                <a16:creationId xmlns:a16="http://schemas.microsoft.com/office/drawing/2014/main" id="{0DB2FA14-1EFB-634D-18E4-046C6A379447}"/>
              </a:ext>
            </a:extLst>
          </p:cNvPr>
          <p:cNvSpPr txBox="1"/>
          <p:nvPr/>
        </p:nvSpPr>
        <p:spPr>
          <a:xfrm>
            <a:off x="816292" y="5511438"/>
            <a:ext cx="4748767" cy="695703"/>
          </a:xfrm>
          <a:prstGeom prst="rect">
            <a:avLst/>
          </a:prstGeom>
          <a:noFill/>
        </p:spPr>
        <p:txBody>
          <a:bodyPr wrap="square" lIns="0" tIns="0" rIns="0" bIns="0" anchor="t">
            <a:spAutoFit/>
          </a:bodyPr>
          <a:lstStyle/>
          <a:p>
            <a:pPr algn="just">
              <a:lnSpc>
                <a:spcPts val="1800"/>
              </a:lnSpc>
            </a:pPr>
            <a:r>
              <a:rPr lang="en-IN" sz="1400" b="1" dirty="0"/>
              <a:t>When to use: </a:t>
            </a:r>
            <a:r>
              <a:rPr lang="en-IN" sz="1400" dirty="0"/>
              <a:t>Distinct task types with different optimal prompts, tools, or models. Customer support triage, multi-modal input handling.</a:t>
            </a:r>
            <a:endParaRPr sz="1400" b="0" i="0" u="none" dirty="0">
              <a:latin typeface="Inter"/>
            </a:endParaRPr>
          </a:p>
        </p:txBody>
      </p:sp>
      <p:sp>
        <p:nvSpPr>
          <p:cNvPr id="25" name="TextBox 24">
            <a:extLst>
              <a:ext uri="{FF2B5EF4-FFF2-40B4-BE49-F238E27FC236}">
                <a16:creationId xmlns:a16="http://schemas.microsoft.com/office/drawing/2014/main" id="{E1EB1D51-6B99-6C5C-7225-F0C543631B30}"/>
              </a:ext>
            </a:extLst>
          </p:cNvPr>
          <p:cNvSpPr txBox="1"/>
          <p:nvPr/>
        </p:nvSpPr>
        <p:spPr>
          <a:xfrm>
            <a:off x="5928125" y="6368886"/>
            <a:ext cx="5009143" cy="276999"/>
          </a:xfrm>
          <a:prstGeom prst="rect">
            <a:avLst/>
          </a:prstGeom>
          <a:noFill/>
        </p:spPr>
        <p:txBody>
          <a:bodyPr wrap="square">
            <a:spAutoFit/>
          </a:bodyPr>
          <a:lstStyle/>
          <a:p>
            <a:r>
              <a:rPr lang="en-IN" sz="1200" b="1" dirty="0"/>
              <a:t>Fig: </a:t>
            </a:r>
            <a:r>
              <a:rPr lang="en-IN" sz="1200" dirty="0"/>
              <a:t>Routing pattern: input is classified once, then handled by a specialist.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35EEA-5425-C2AC-9608-C49D7DD66369}"/>
            </a:ext>
          </a:extLst>
        </p:cNvPr>
        <p:cNvGrpSpPr/>
        <p:nvPr/>
      </p:nvGrpSpPr>
      <p:grpSpPr>
        <a:xfrm>
          <a:off x="0" y="0"/>
          <a:ext cx="0" cy="0"/>
          <a:chOff x="0" y="0"/>
          <a:chExt cx="0" cy="0"/>
        </a:xfrm>
      </p:grpSpPr>
      <p:pic>
        <p:nvPicPr>
          <p:cNvPr id="10" name="Picture 9" descr="image.png">
            <a:extLst>
              <a:ext uri="{FF2B5EF4-FFF2-40B4-BE49-F238E27FC236}">
                <a16:creationId xmlns:a16="http://schemas.microsoft.com/office/drawing/2014/main" id="{C141EC27-4BCE-AA12-DCBF-F0BFE9A655CC}"/>
              </a:ext>
            </a:extLst>
          </p:cNvPr>
          <p:cNvPicPr>
            <a:picLocks noChangeAspect="1"/>
          </p:cNvPicPr>
          <p:nvPr/>
        </p:nvPicPr>
        <p:blipFill>
          <a:blip r:embed="rId3"/>
          <a:stretch>
            <a:fillRect/>
          </a:stretch>
        </p:blipFill>
        <p:spPr>
          <a:xfrm>
            <a:off x="19050" y="-50707"/>
            <a:ext cx="12192000" cy="6858000"/>
          </a:xfrm>
          <a:prstGeom prst="rect">
            <a:avLst/>
          </a:prstGeom>
        </p:spPr>
      </p:pic>
      <p:pic>
        <p:nvPicPr>
          <p:cNvPr id="90" name="Picture 89" descr="image.png">
            <a:extLst>
              <a:ext uri="{FF2B5EF4-FFF2-40B4-BE49-F238E27FC236}">
                <a16:creationId xmlns:a16="http://schemas.microsoft.com/office/drawing/2014/main" id="{79328161-629E-DD92-1206-748F28757CA1}"/>
              </a:ext>
            </a:extLst>
          </p:cNvPr>
          <p:cNvPicPr>
            <a:picLocks noChangeAspect="1"/>
          </p:cNvPicPr>
          <p:nvPr/>
        </p:nvPicPr>
        <p:blipFill>
          <a:blip r:embed="rId4"/>
          <a:stretch>
            <a:fillRect/>
          </a:stretch>
        </p:blipFill>
        <p:spPr>
          <a:xfrm>
            <a:off x="685800" y="1123771"/>
            <a:ext cx="10796286" cy="5439073"/>
          </a:xfrm>
          <a:prstGeom prst="rect">
            <a:avLst/>
          </a:prstGeom>
        </p:spPr>
      </p:pic>
      <p:sp>
        <p:nvSpPr>
          <p:cNvPr id="102" name="Rectangle 101">
            <a:extLst>
              <a:ext uri="{FF2B5EF4-FFF2-40B4-BE49-F238E27FC236}">
                <a16:creationId xmlns:a16="http://schemas.microsoft.com/office/drawing/2014/main" id="{78393D68-599D-5A62-D83B-C8E93A47DE7D}"/>
              </a:ext>
            </a:extLst>
          </p:cNvPr>
          <p:cNvSpPr/>
          <p:nvPr/>
        </p:nvSpPr>
        <p:spPr>
          <a:xfrm>
            <a:off x="1199811" y="5552491"/>
            <a:ext cx="5384278" cy="576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a:extLst>
              <a:ext uri="{FF2B5EF4-FFF2-40B4-BE49-F238E27FC236}">
                <a16:creationId xmlns:a16="http://schemas.microsoft.com/office/drawing/2014/main" id="{B7B44CC1-FB2C-CA81-53D5-1BFC164B1896}"/>
              </a:ext>
            </a:extLst>
          </p:cNvPr>
          <p:cNvSpPr txBox="1"/>
          <p:nvPr/>
        </p:nvSpPr>
        <p:spPr>
          <a:xfrm>
            <a:off x="1483655" y="5716488"/>
            <a:ext cx="4667250" cy="246221"/>
          </a:xfrm>
          <a:prstGeom prst="rect">
            <a:avLst/>
          </a:prstGeom>
          <a:noFill/>
        </p:spPr>
        <p:txBody>
          <a:bodyPr wrap="square" lIns="0" tIns="0" rIns="0" bIns="0" anchor="t">
            <a:spAutoFit/>
          </a:bodyPr>
          <a:lstStyle/>
          <a:p>
            <a:pPr algn="l"/>
            <a:r>
              <a:rPr sz="1600" b="1" i="0" u="none" dirty="0">
                <a:solidFill>
                  <a:srgbClr val="0F172A"/>
                </a:solidFill>
                <a:latin typeface="Inter"/>
              </a:rPr>
              <a:t>Use Cases:</a:t>
            </a:r>
            <a:r>
              <a:rPr sz="1600" b="0" i="0" u="none" dirty="0">
                <a:solidFill>
                  <a:srgbClr val="334155"/>
                </a:solidFill>
                <a:latin typeface="Inter"/>
              </a:rPr>
              <a:t> Multi-aspect code reviews, guardrail checks</a:t>
            </a:r>
            <a:r>
              <a:rPr lang="en-IN" sz="1600" b="0" i="0" u="none" dirty="0">
                <a:solidFill>
                  <a:srgbClr val="334155"/>
                </a:solidFill>
                <a:latin typeface="Inter"/>
              </a:rPr>
              <a:t>.</a:t>
            </a:r>
            <a:endParaRPr sz="1600" b="0" i="0" u="none" dirty="0">
              <a:solidFill>
                <a:srgbClr val="334155"/>
              </a:solidFill>
              <a:latin typeface="Inter"/>
            </a:endParaRPr>
          </a:p>
        </p:txBody>
      </p:sp>
      <p:sp>
        <p:nvSpPr>
          <p:cNvPr id="106" name="Rectangle 105">
            <a:extLst>
              <a:ext uri="{FF2B5EF4-FFF2-40B4-BE49-F238E27FC236}">
                <a16:creationId xmlns:a16="http://schemas.microsoft.com/office/drawing/2014/main" id="{F74852EB-638F-058B-CFD9-82D1872C7051}"/>
              </a:ext>
            </a:extLst>
          </p:cNvPr>
          <p:cNvSpPr/>
          <p:nvPr/>
        </p:nvSpPr>
        <p:spPr>
          <a:xfrm>
            <a:off x="1199811" y="5552493"/>
            <a:ext cx="45719" cy="57667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a:extLst>
              <a:ext uri="{FF2B5EF4-FFF2-40B4-BE49-F238E27FC236}">
                <a16:creationId xmlns:a16="http://schemas.microsoft.com/office/drawing/2014/main" id="{0EC64FA5-9B42-204B-3D20-7CE5C3B7B296}"/>
              </a:ext>
            </a:extLst>
          </p:cNvPr>
          <p:cNvSpPr txBox="1"/>
          <p:nvPr/>
        </p:nvSpPr>
        <p:spPr>
          <a:xfrm>
            <a:off x="1199811" y="1880772"/>
            <a:ext cx="9712831" cy="692497"/>
          </a:xfrm>
          <a:prstGeom prst="rect">
            <a:avLst/>
          </a:prstGeom>
          <a:noFill/>
        </p:spPr>
        <p:txBody>
          <a:bodyPr wrap="square" lIns="0" tIns="0" rIns="0" bIns="0" anchor="t">
            <a:spAutoFit/>
          </a:bodyPr>
          <a:lstStyle/>
          <a:p>
            <a:pPr>
              <a:lnSpc>
                <a:spcPts val="1800"/>
              </a:lnSpc>
            </a:pPr>
            <a:r>
              <a:rPr sz="1600" b="0" i="0" u="none" dirty="0">
                <a:latin typeface="Inter"/>
              </a:rPr>
              <a:t>Distributes independent subtasks across concurrent LLM calls. Executes simultaneously and aggregates outputs to reduce total system latency</a:t>
            </a:r>
            <a:r>
              <a:rPr lang="en-IN" sz="1600" dirty="0">
                <a:latin typeface="Inter"/>
              </a:rPr>
              <a:t> , making it ideal for independent evaluation tasks, majority-voting consensus mechanisms, and multi-perspective verification. [6]</a:t>
            </a:r>
            <a:endParaRPr sz="1600" b="0" i="0" u="none" dirty="0">
              <a:latin typeface="Inter"/>
            </a:endParaRPr>
          </a:p>
        </p:txBody>
      </p:sp>
      <p:sp>
        <p:nvSpPr>
          <p:cNvPr id="122" name="TextBox 121">
            <a:extLst>
              <a:ext uri="{FF2B5EF4-FFF2-40B4-BE49-F238E27FC236}">
                <a16:creationId xmlns:a16="http://schemas.microsoft.com/office/drawing/2014/main" id="{AABF357F-E3F1-EE87-C429-394314AAE22B}"/>
              </a:ext>
            </a:extLst>
          </p:cNvPr>
          <p:cNvSpPr txBox="1"/>
          <p:nvPr/>
        </p:nvSpPr>
        <p:spPr>
          <a:xfrm>
            <a:off x="1199811" y="1455662"/>
            <a:ext cx="2067166" cy="260286"/>
          </a:xfrm>
          <a:prstGeom prst="rect">
            <a:avLst/>
          </a:prstGeom>
          <a:noFill/>
        </p:spPr>
        <p:txBody>
          <a:bodyPr wrap="square" lIns="0" tIns="0" rIns="0" bIns="0" anchor="t">
            <a:spAutoFit/>
          </a:bodyPr>
          <a:lstStyle/>
          <a:p>
            <a:pPr algn="l">
              <a:lnSpc>
                <a:spcPts val="1979"/>
              </a:lnSpc>
            </a:pPr>
            <a:r>
              <a:rPr b="0" i="0" u="none" dirty="0">
                <a:solidFill>
                  <a:schemeClr val="tx2"/>
                </a:solidFill>
                <a:latin typeface="Poppins SemiBold"/>
              </a:rPr>
              <a:t>4. Parallelization</a:t>
            </a:r>
          </a:p>
        </p:txBody>
      </p:sp>
      <p:sp>
        <p:nvSpPr>
          <p:cNvPr id="3" name="TextBox 2">
            <a:extLst>
              <a:ext uri="{FF2B5EF4-FFF2-40B4-BE49-F238E27FC236}">
                <a16:creationId xmlns:a16="http://schemas.microsoft.com/office/drawing/2014/main" id="{4F7F5203-071E-B493-CA5B-8FEDD8A0B0B0}"/>
              </a:ext>
            </a:extLst>
          </p:cNvPr>
          <p:cNvSpPr txBox="1"/>
          <p:nvPr/>
        </p:nvSpPr>
        <p:spPr>
          <a:xfrm>
            <a:off x="760535" y="394236"/>
            <a:ext cx="5856699" cy="492443"/>
          </a:xfrm>
          <a:prstGeom prst="rect">
            <a:avLst/>
          </a:prstGeom>
          <a:noFill/>
        </p:spPr>
        <p:txBody>
          <a:bodyPr wrap="square" lIns="0" tIns="0" rIns="0" bIns="0" anchor="t">
            <a:spAutoFit/>
          </a:bodyPr>
          <a:lstStyle/>
          <a:p>
            <a:r>
              <a:rPr lang="en-IN" sz="3200" b="1" dirty="0">
                <a:solidFill>
                  <a:srgbClr val="0F172A"/>
                </a:solidFill>
                <a:latin typeface="Poppins"/>
              </a:rPr>
              <a:t>Workflow </a:t>
            </a:r>
            <a:r>
              <a:rPr lang="en-IN" sz="3200" b="1" dirty="0">
                <a:solidFill>
                  <a:schemeClr val="tx2"/>
                </a:solidFill>
                <a:latin typeface="Poppins"/>
              </a:rPr>
              <a:t>Patterns </a:t>
            </a:r>
            <a:r>
              <a:rPr lang="en-IN" sz="3200" dirty="0">
                <a:solidFill>
                  <a:schemeClr val="tx2"/>
                </a:solidFill>
                <a:latin typeface="Poppins"/>
              </a:rPr>
              <a:t>(Cont.)</a:t>
            </a:r>
            <a:endParaRPr sz="3200" i="0" u="none" dirty="0">
              <a:solidFill>
                <a:schemeClr val="tx2"/>
              </a:solidFill>
              <a:latin typeface="Inter"/>
            </a:endParaRPr>
          </a:p>
        </p:txBody>
      </p:sp>
      <p:sp>
        <p:nvSpPr>
          <p:cNvPr id="4" name="TextBox 3">
            <a:extLst>
              <a:ext uri="{FF2B5EF4-FFF2-40B4-BE49-F238E27FC236}">
                <a16:creationId xmlns:a16="http://schemas.microsoft.com/office/drawing/2014/main" id="{15321072-F84B-69EE-A08C-00A96B4152F7}"/>
              </a:ext>
            </a:extLst>
          </p:cNvPr>
          <p:cNvSpPr txBox="1"/>
          <p:nvPr/>
        </p:nvSpPr>
        <p:spPr>
          <a:xfrm>
            <a:off x="1199811" y="2924719"/>
            <a:ext cx="4896189" cy="2000548"/>
          </a:xfrm>
          <a:prstGeom prst="rect">
            <a:avLst/>
          </a:prstGeom>
          <a:noFill/>
        </p:spPr>
        <p:txBody>
          <a:bodyPr wrap="square" lIns="0" tIns="0" rIns="0" bIns="0" anchor="t">
            <a:spAutoFit/>
          </a:bodyPr>
          <a:lstStyle/>
          <a:p>
            <a:pPr algn="just">
              <a:lnSpc>
                <a:spcPts val="1800"/>
              </a:lnSpc>
              <a:spcBef>
                <a:spcPts val="600"/>
              </a:spcBef>
            </a:pPr>
            <a:r>
              <a:rPr lang="en-IN" sz="1600" dirty="0"/>
              <a:t>It has two sub-patterns:</a:t>
            </a:r>
          </a:p>
          <a:p>
            <a:pPr algn="just">
              <a:lnSpc>
                <a:spcPts val="1800"/>
              </a:lnSpc>
              <a:spcBef>
                <a:spcPts val="600"/>
              </a:spcBef>
            </a:pPr>
            <a:r>
              <a:rPr lang="en-IN" sz="1600" b="1" dirty="0"/>
              <a:t>Sectioning (fan-out): </a:t>
            </a:r>
            <a:r>
              <a:rPr lang="en-IN" sz="1600" dirty="0"/>
              <a:t>Partition the input into disjoint chunks and process each independently— e.g., run security, performance, and style checks on a codebase simultaneously.</a:t>
            </a:r>
          </a:p>
          <a:p>
            <a:pPr algn="just">
              <a:lnSpc>
                <a:spcPts val="1800"/>
              </a:lnSpc>
              <a:spcBef>
                <a:spcPts val="600"/>
              </a:spcBef>
            </a:pPr>
            <a:r>
              <a:rPr lang="en-IN" sz="1600" b="1" dirty="0"/>
              <a:t>Voting (redundancy): </a:t>
            </a:r>
            <a:r>
              <a:rPr lang="en-IN" sz="1600" dirty="0"/>
              <a:t>Issue the same prompt N times with different seeds or temperatures, then select the best result via </a:t>
            </a:r>
            <a:r>
              <a:rPr lang="en-IN" sz="1600"/>
              <a:t>majority vote, </a:t>
            </a:r>
            <a:r>
              <a:rPr lang="en-IN" sz="1600" dirty="0"/>
              <a:t>reward-model scoring, or LLM-as-judge.</a:t>
            </a:r>
            <a:endParaRPr sz="1600" b="0" i="0" u="none" dirty="0">
              <a:latin typeface="Inter"/>
            </a:endParaRPr>
          </a:p>
        </p:txBody>
      </p:sp>
      <p:pic>
        <p:nvPicPr>
          <p:cNvPr id="8" name="Picture 7">
            <a:extLst>
              <a:ext uri="{FF2B5EF4-FFF2-40B4-BE49-F238E27FC236}">
                <a16:creationId xmlns:a16="http://schemas.microsoft.com/office/drawing/2014/main" id="{E06370C5-B418-A907-A440-579BB1F20692}"/>
              </a:ext>
            </a:extLst>
          </p:cNvPr>
          <p:cNvPicPr>
            <a:picLocks noChangeAspect="1"/>
          </p:cNvPicPr>
          <p:nvPr/>
        </p:nvPicPr>
        <p:blipFill>
          <a:blip r:embed="rId5">
            <a:duotone>
              <a:schemeClr val="accent1">
                <a:shade val="45000"/>
                <a:satMod val="135000"/>
              </a:schemeClr>
              <a:prstClr val="white"/>
            </a:duotone>
          </a:blip>
          <a:stretch>
            <a:fillRect/>
          </a:stretch>
        </p:blipFill>
        <p:spPr>
          <a:xfrm>
            <a:off x="6762750" y="3104128"/>
            <a:ext cx="4082391" cy="2201872"/>
          </a:xfrm>
          <a:prstGeom prst="rect">
            <a:avLst/>
          </a:prstGeom>
        </p:spPr>
      </p:pic>
    </p:spTree>
    <p:extLst>
      <p:ext uri="{BB962C8B-B14F-4D97-AF65-F5344CB8AC3E}">
        <p14:creationId xmlns:p14="http://schemas.microsoft.com/office/powerpoint/2010/main" val="3534305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74988-6125-B2B8-735C-56FAC4379E76}"/>
            </a:ext>
          </a:extLst>
        </p:cNvPr>
        <p:cNvGrpSpPr/>
        <p:nvPr/>
      </p:nvGrpSpPr>
      <p:grpSpPr>
        <a:xfrm>
          <a:off x="0" y="0"/>
          <a:ext cx="0" cy="0"/>
          <a:chOff x="0" y="0"/>
          <a:chExt cx="0" cy="0"/>
        </a:xfrm>
      </p:grpSpPr>
      <p:pic>
        <p:nvPicPr>
          <p:cNvPr id="10" name="Picture 9" descr="image.png">
            <a:extLst>
              <a:ext uri="{FF2B5EF4-FFF2-40B4-BE49-F238E27FC236}">
                <a16:creationId xmlns:a16="http://schemas.microsoft.com/office/drawing/2014/main" id="{AE50AC93-064D-9A12-EC02-A3C484D81B80}"/>
              </a:ext>
            </a:extLst>
          </p:cNvPr>
          <p:cNvPicPr>
            <a:picLocks noChangeAspect="1"/>
          </p:cNvPicPr>
          <p:nvPr/>
        </p:nvPicPr>
        <p:blipFill>
          <a:blip r:embed="rId3"/>
          <a:stretch>
            <a:fillRect/>
          </a:stretch>
        </p:blipFill>
        <p:spPr>
          <a:xfrm>
            <a:off x="0" y="0"/>
            <a:ext cx="12204544" cy="6858000"/>
          </a:xfrm>
          <a:prstGeom prst="rect">
            <a:avLst/>
          </a:prstGeom>
        </p:spPr>
      </p:pic>
      <p:sp>
        <p:nvSpPr>
          <p:cNvPr id="127" name="TextBox 126">
            <a:extLst>
              <a:ext uri="{FF2B5EF4-FFF2-40B4-BE49-F238E27FC236}">
                <a16:creationId xmlns:a16="http://schemas.microsoft.com/office/drawing/2014/main" id="{96DB3ABB-B42C-552D-0972-413F4233828F}"/>
              </a:ext>
            </a:extLst>
          </p:cNvPr>
          <p:cNvSpPr txBox="1"/>
          <p:nvPr/>
        </p:nvSpPr>
        <p:spPr>
          <a:xfrm>
            <a:off x="603094" y="421249"/>
            <a:ext cx="11601450" cy="492443"/>
          </a:xfrm>
          <a:prstGeom prst="rect">
            <a:avLst/>
          </a:prstGeom>
          <a:noFill/>
        </p:spPr>
        <p:txBody>
          <a:bodyPr wrap="square" lIns="0" tIns="0" rIns="0" bIns="0" anchor="t">
            <a:spAutoFit/>
          </a:bodyPr>
          <a:lstStyle/>
          <a:p>
            <a:r>
              <a:rPr lang="en-IN" sz="3200" b="1" dirty="0">
                <a:solidFill>
                  <a:srgbClr val="0F172A"/>
                </a:solidFill>
                <a:latin typeface="Poppins"/>
              </a:rPr>
              <a:t>Workflow </a:t>
            </a:r>
            <a:r>
              <a:rPr lang="en-IN" sz="3200" b="1" dirty="0">
                <a:solidFill>
                  <a:schemeClr val="tx2"/>
                </a:solidFill>
                <a:latin typeface="Poppins"/>
              </a:rPr>
              <a:t>Patterns </a:t>
            </a:r>
            <a:r>
              <a:rPr lang="en-IN" sz="3200" dirty="0">
                <a:solidFill>
                  <a:schemeClr val="tx2"/>
                </a:solidFill>
                <a:latin typeface="Poppins"/>
              </a:rPr>
              <a:t>(Cont.)</a:t>
            </a:r>
            <a:endParaRPr sz="3200" i="0" u="none" dirty="0">
              <a:solidFill>
                <a:schemeClr val="tx2"/>
              </a:solidFill>
              <a:latin typeface="Inter"/>
            </a:endParaRPr>
          </a:p>
        </p:txBody>
      </p:sp>
      <p:pic>
        <p:nvPicPr>
          <p:cNvPr id="3" name="Picture 2" descr="image.png">
            <a:extLst>
              <a:ext uri="{FF2B5EF4-FFF2-40B4-BE49-F238E27FC236}">
                <a16:creationId xmlns:a16="http://schemas.microsoft.com/office/drawing/2014/main" id="{53623F76-1937-AF55-52B4-2E322FE1E614}"/>
              </a:ext>
            </a:extLst>
          </p:cNvPr>
          <p:cNvPicPr>
            <a:picLocks noChangeAspect="1"/>
          </p:cNvPicPr>
          <p:nvPr/>
        </p:nvPicPr>
        <p:blipFill>
          <a:blip r:embed="rId4"/>
          <a:stretch>
            <a:fillRect/>
          </a:stretch>
        </p:blipFill>
        <p:spPr>
          <a:xfrm>
            <a:off x="571500" y="1126298"/>
            <a:ext cx="5381625" cy="5522983"/>
          </a:xfrm>
          <a:prstGeom prst="rect">
            <a:avLst/>
          </a:prstGeom>
        </p:spPr>
      </p:pic>
      <p:pic>
        <p:nvPicPr>
          <p:cNvPr id="5" name="Picture 4" descr="image.png">
            <a:extLst>
              <a:ext uri="{FF2B5EF4-FFF2-40B4-BE49-F238E27FC236}">
                <a16:creationId xmlns:a16="http://schemas.microsoft.com/office/drawing/2014/main" id="{A834B13C-C477-E42F-D022-9EFD0354DA43}"/>
              </a:ext>
            </a:extLst>
          </p:cNvPr>
          <p:cNvPicPr>
            <a:picLocks noChangeAspect="1"/>
          </p:cNvPicPr>
          <p:nvPr/>
        </p:nvPicPr>
        <p:blipFill>
          <a:blip r:embed="rId5"/>
          <a:stretch>
            <a:fillRect/>
          </a:stretch>
        </p:blipFill>
        <p:spPr>
          <a:xfrm>
            <a:off x="6238875" y="1134980"/>
            <a:ext cx="5381625" cy="5080614"/>
          </a:xfrm>
          <a:prstGeom prst="rect">
            <a:avLst/>
          </a:prstGeom>
        </p:spPr>
      </p:pic>
      <p:sp>
        <p:nvSpPr>
          <p:cNvPr id="12" name="Rectangle 11">
            <a:extLst>
              <a:ext uri="{FF2B5EF4-FFF2-40B4-BE49-F238E27FC236}">
                <a16:creationId xmlns:a16="http://schemas.microsoft.com/office/drawing/2014/main" id="{5DD216FB-61B2-7AF4-5651-8D9CE26A8071}"/>
              </a:ext>
            </a:extLst>
          </p:cNvPr>
          <p:cNvSpPr/>
          <p:nvPr/>
        </p:nvSpPr>
        <p:spPr>
          <a:xfrm>
            <a:off x="888648" y="5873156"/>
            <a:ext cx="4641998" cy="554904"/>
          </a:xfrm>
          <a:prstGeom prst="rect">
            <a:avLst/>
          </a:prstGeom>
          <a:solidFill>
            <a:srgbClr val="F3F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1134ED0B-D160-9DE1-79A2-073686FBF760}"/>
              </a:ext>
            </a:extLst>
          </p:cNvPr>
          <p:cNvSpPr txBox="1"/>
          <p:nvPr/>
        </p:nvSpPr>
        <p:spPr>
          <a:xfrm>
            <a:off x="1021998" y="5968406"/>
            <a:ext cx="4355328" cy="369332"/>
          </a:xfrm>
          <a:prstGeom prst="rect">
            <a:avLst/>
          </a:prstGeom>
          <a:noFill/>
        </p:spPr>
        <p:txBody>
          <a:bodyPr wrap="square" lIns="0" tIns="0" rIns="0" bIns="0" anchor="t">
            <a:spAutoFit/>
          </a:bodyPr>
          <a:lstStyle/>
          <a:p>
            <a:pPr algn="l"/>
            <a:r>
              <a:rPr sz="1200" b="1" i="0" u="none" dirty="0">
                <a:solidFill>
                  <a:srgbClr val="0F172A"/>
                </a:solidFill>
                <a:latin typeface="Inter"/>
              </a:rPr>
              <a:t>Example Use Cases:</a:t>
            </a:r>
            <a:r>
              <a:rPr sz="1200" b="0" i="0" u="none" dirty="0">
                <a:solidFill>
                  <a:srgbClr val="334155"/>
                </a:solidFill>
                <a:latin typeface="Inter"/>
              </a:rPr>
              <a:t> Complex software development, multi-domain compliance analysis.</a:t>
            </a:r>
          </a:p>
        </p:txBody>
      </p:sp>
      <p:sp>
        <p:nvSpPr>
          <p:cNvPr id="16" name="Rectangle 15">
            <a:extLst>
              <a:ext uri="{FF2B5EF4-FFF2-40B4-BE49-F238E27FC236}">
                <a16:creationId xmlns:a16="http://schemas.microsoft.com/office/drawing/2014/main" id="{75E52725-9DE1-43F8-D00A-355033A42933}"/>
              </a:ext>
            </a:extLst>
          </p:cNvPr>
          <p:cNvSpPr/>
          <p:nvPr/>
        </p:nvSpPr>
        <p:spPr>
          <a:xfrm>
            <a:off x="888647" y="5873156"/>
            <a:ext cx="45719" cy="55490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FF4D3BF0-0AD2-86AC-11BD-AF147682E3B2}"/>
              </a:ext>
            </a:extLst>
          </p:cNvPr>
          <p:cNvSpPr/>
          <p:nvPr/>
        </p:nvSpPr>
        <p:spPr>
          <a:xfrm>
            <a:off x="6515100" y="5399926"/>
            <a:ext cx="4829175" cy="495300"/>
          </a:xfrm>
          <a:prstGeom prst="rect">
            <a:avLst/>
          </a:prstGeom>
          <a:solidFill>
            <a:srgbClr val="F3F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52A7523B-C92C-848B-5752-368F27200C18}"/>
              </a:ext>
            </a:extLst>
          </p:cNvPr>
          <p:cNvSpPr txBox="1"/>
          <p:nvPr/>
        </p:nvSpPr>
        <p:spPr>
          <a:xfrm>
            <a:off x="6648450" y="5495176"/>
            <a:ext cx="4562475" cy="369332"/>
          </a:xfrm>
          <a:prstGeom prst="rect">
            <a:avLst/>
          </a:prstGeom>
          <a:noFill/>
        </p:spPr>
        <p:txBody>
          <a:bodyPr wrap="square" lIns="0" tIns="0" rIns="0" bIns="0" anchor="t">
            <a:spAutoFit/>
          </a:bodyPr>
          <a:lstStyle/>
          <a:p>
            <a:pPr algn="l"/>
            <a:r>
              <a:rPr sz="1200" b="1" i="0" u="none" dirty="0">
                <a:solidFill>
                  <a:srgbClr val="0F172A"/>
                </a:solidFill>
                <a:latin typeface="Inter"/>
              </a:rPr>
              <a:t>Example Use Cases:</a:t>
            </a:r>
            <a:r>
              <a:rPr sz="1200" b="0" i="0" u="none" dirty="0">
                <a:solidFill>
                  <a:srgbClr val="334155"/>
                </a:solidFill>
                <a:latin typeface="Inter"/>
              </a:rPr>
              <a:t> Code generation with test pass verification, high-stakes translation, </a:t>
            </a:r>
          </a:p>
        </p:txBody>
      </p:sp>
      <p:sp>
        <p:nvSpPr>
          <p:cNvPr id="22" name="Rectangle 21">
            <a:extLst>
              <a:ext uri="{FF2B5EF4-FFF2-40B4-BE49-F238E27FC236}">
                <a16:creationId xmlns:a16="http://schemas.microsoft.com/office/drawing/2014/main" id="{D9494930-051E-9DA8-19E1-FB127AD1EEED}"/>
              </a:ext>
            </a:extLst>
          </p:cNvPr>
          <p:cNvSpPr/>
          <p:nvPr/>
        </p:nvSpPr>
        <p:spPr>
          <a:xfrm>
            <a:off x="6515100" y="5414215"/>
            <a:ext cx="28575" cy="4953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3104F974-B6C0-B378-329C-23AABD6EAF6A}"/>
              </a:ext>
            </a:extLst>
          </p:cNvPr>
          <p:cNvSpPr txBox="1"/>
          <p:nvPr/>
        </p:nvSpPr>
        <p:spPr>
          <a:xfrm>
            <a:off x="847725" y="1896100"/>
            <a:ext cx="4829175" cy="685800"/>
          </a:xfrm>
          <a:prstGeom prst="rect">
            <a:avLst/>
          </a:prstGeom>
          <a:noFill/>
        </p:spPr>
        <p:txBody>
          <a:bodyPr wrap="square" lIns="0" tIns="0" rIns="0" bIns="0" anchor="t">
            <a:spAutoFit/>
          </a:bodyPr>
          <a:lstStyle/>
          <a:p>
            <a:pPr algn="just">
              <a:lnSpc>
                <a:spcPts val="1800"/>
              </a:lnSpc>
            </a:pPr>
            <a:r>
              <a:rPr sz="1400" b="0" i="0" u="none" dirty="0">
                <a:latin typeface="Inter"/>
              </a:rPr>
              <a:t>A central LLM dynamically analyzes a task, breaks it down into subtasks, delegates to specialized worker agents, and synthesizes the collected worker outputs into a final result.</a:t>
            </a:r>
            <a:r>
              <a:rPr lang="en-IN" sz="1400" b="0" i="0" u="none" dirty="0">
                <a:latin typeface="Inter"/>
              </a:rPr>
              <a:t> [6]</a:t>
            </a:r>
            <a:endParaRPr sz="1400" b="0" i="0" u="none" dirty="0">
              <a:latin typeface="Inter"/>
            </a:endParaRPr>
          </a:p>
        </p:txBody>
      </p:sp>
      <p:sp>
        <p:nvSpPr>
          <p:cNvPr id="26" name="TextBox 25">
            <a:extLst>
              <a:ext uri="{FF2B5EF4-FFF2-40B4-BE49-F238E27FC236}">
                <a16:creationId xmlns:a16="http://schemas.microsoft.com/office/drawing/2014/main" id="{881D9922-3D66-1454-2ECD-B76E5C589A74}"/>
              </a:ext>
            </a:extLst>
          </p:cNvPr>
          <p:cNvSpPr txBox="1"/>
          <p:nvPr/>
        </p:nvSpPr>
        <p:spPr>
          <a:xfrm>
            <a:off x="6515100" y="2024526"/>
            <a:ext cx="4829175" cy="685800"/>
          </a:xfrm>
          <a:prstGeom prst="rect">
            <a:avLst/>
          </a:prstGeom>
          <a:noFill/>
        </p:spPr>
        <p:txBody>
          <a:bodyPr wrap="square" lIns="0" tIns="0" rIns="0" bIns="0" anchor="t">
            <a:spAutoFit/>
          </a:bodyPr>
          <a:lstStyle/>
          <a:p>
            <a:pPr algn="just">
              <a:lnSpc>
                <a:spcPts val="1800"/>
              </a:lnSpc>
            </a:pPr>
            <a:r>
              <a:rPr sz="1400" b="0" i="0" u="none" dirty="0">
                <a:latin typeface="Inter"/>
              </a:rPr>
              <a:t>Creates an iterative loop where a Generator LLM produces output and an Evaluator LLM assesses it against quality criteria, providing actionable feedback until thresholds are met.</a:t>
            </a:r>
            <a:r>
              <a:rPr lang="en-IN" sz="1400" b="0" i="0" u="none" dirty="0">
                <a:latin typeface="Inter"/>
              </a:rPr>
              <a:t>[6]</a:t>
            </a:r>
            <a:endParaRPr sz="1400" b="0" i="0" u="none" dirty="0">
              <a:latin typeface="Inter"/>
            </a:endParaRPr>
          </a:p>
        </p:txBody>
      </p:sp>
      <p:sp>
        <p:nvSpPr>
          <p:cNvPr id="30" name="TextBox 29">
            <a:extLst>
              <a:ext uri="{FF2B5EF4-FFF2-40B4-BE49-F238E27FC236}">
                <a16:creationId xmlns:a16="http://schemas.microsoft.com/office/drawing/2014/main" id="{0A065BE8-311C-645B-ACF1-B3CF25C417B1}"/>
              </a:ext>
            </a:extLst>
          </p:cNvPr>
          <p:cNvSpPr txBox="1"/>
          <p:nvPr/>
        </p:nvSpPr>
        <p:spPr>
          <a:xfrm>
            <a:off x="903108" y="1402524"/>
            <a:ext cx="2880360" cy="270420"/>
          </a:xfrm>
          <a:prstGeom prst="rect">
            <a:avLst/>
          </a:prstGeom>
          <a:noFill/>
        </p:spPr>
        <p:txBody>
          <a:bodyPr wrap="square" lIns="0" tIns="0" rIns="0" bIns="0" anchor="t">
            <a:spAutoFit/>
          </a:bodyPr>
          <a:lstStyle/>
          <a:p>
            <a:pPr algn="l">
              <a:lnSpc>
                <a:spcPts val="1979"/>
              </a:lnSpc>
            </a:pPr>
            <a:r>
              <a:rPr sz="1650" b="0" i="0" u="none">
                <a:solidFill>
                  <a:srgbClr val="1E293B"/>
                </a:solidFill>
                <a:latin typeface="Poppins SemiBold"/>
              </a:rPr>
              <a:t>5. Orchestrator–Workers</a:t>
            </a:r>
          </a:p>
        </p:txBody>
      </p:sp>
      <p:sp>
        <p:nvSpPr>
          <p:cNvPr id="32" name="Rectangle 31">
            <a:extLst>
              <a:ext uri="{FF2B5EF4-FFF2-40B4-BE49-F238E27FC236}">
                <a16:creationId xmlns:a16="http://schemas.microsoft.com/office/drawing/2014/main" id="{C2EAC975-A4BC-A9E2-5FDB-317807E4EA04}"/>
              </a:ext>
            </a:extLst>
          </p:cNvPr>
          <p:cNvSpPr/>
          <p:nvPr/>
        </p:nvSpPr>
        <p:spPr>
          <a:xfrm>
            <a:off x="903108" y="1749145"/>
            <a:ext cx="27432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A8152FAB-79C7-77A9-4DDF-B5EB8E16B4E7}"/>
              </a:ext>
            </a:extLst>
          </p:cNvPr>
          <p:cNvSpPr txBox="1"/>
          <p:nvPr/>
        </p:nvSpPr>
        <p:spPr>
          <a:xfrm>
            <a:off x="6541908" y="1411205"/>
            <a:ext cx="2670333" cy="270420"/>
          </a:xfrm>
          <a:prstGeom prst="rect">
            <a:avLst/>
          </a:prstGeom>
          <a:noFill/>
        </p:spPr>
        <p:txBody>
          <a:bodyPr wrap="square" lIns="0" tIns="0" rIns="0" bIns="0" anchor="t">
            <a:spAutoFit/>
          </a:bodyPr>
          <a:lstStyle/>
          <a:p>
            <a:pPr algn="l">
              <a:lnSpc>
                <a:spcPts val="1979"/>
              </a:lnSpc>
            </a:pPr>
            <a:r>
              <a:rPr sz="1650" b="0" i="0" u="none">
                <a:solidFill>
                  <a:srgbClr val="1E293B"/>
                </a:solidFill>
                <a:latin typeface="Poppins SemiBold"/>
              </a:rPr>
              <a:t>6. Evaluator–Optimizer</a:t>
            </a:r>
          </a:p>
        </p:txBody>
      </p:sp>
      <p:sp>
        <p:nvSpPr>
          <p:cNvPr id="39" name="Rectangle 38">
            <a:extLst>
              <a:ext uri="{FF2B5EF4-FFF2-40B4-BE49-F238E27FC236}">
                <a16:creationId xmlns:a16="http://schemas.microsoft.com/office/drawing/2014/main" id="{A64FAB92-E58C-FE56-606A-5CFA58CB4434}"/>
              </a:ext>
            </a:extLst>
          </p:cNvPr>
          <p:cNvSpPr/>
          <p:nvPr/>
        </p:nvSpPr>
        <p:spPr>
          <a:xfrm>
            <a:off x="6541908" y="1757826"/>
            <a:ext cx="2543175"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a:extLst>
              <a:ext uri="{FF2B5EF4-FFF2-40B4-BE49-F238E27FC236}">
                <a16:creationId xmlns:a16="http://schemas.microsoft.com/office/drawing/2014/main" id="{D62EE7A0-BE14-DA6D-14EF-6004BDB08F32}"/>
              </a:ext>
            </a:extLst>
          </p:cNvPr>
          <p:cNvPicPr>
            <a:picLocks noChangeAspect="1"/>
          </p:cNvPicPr>
          <p:nvPr/>
        </p:nvPicPr>
        <p:blipFill>
          <a:blip r:embed="rId6">
            <a:duotone>
              <a:schemeClr val="accent1">
                <a:shade val="45000"/>
                <a:satMod val="135000"/>
              </a:schemeClr>
              <a:prstClr val="white"/>
            </a:duotone>
          </a:blip>
          <a:srcRect l="10759" r="11513"/>
          <a:stretch>
            <a:fillRect/>
          </a:stretch>
        </p:blipFill>
        <p:spPr>
          <a:xfrm>
            <a:off x="1021997" y="2652659"/>
            <a:ext cx="4446764" cy="2639464"/>
          </a:xfrm>
          <a:prstGeom prst="rect">
            <a:avLst/>
          </a:prstGeom>
        </p:spPr>
      </p:pic>
      <p:pic>
        <p:nvPicPr>
          <p:cNvPr id="43" name="Picture 42">
            <a:extLst>
              <a:ext uri="{FF2B5EF4-FFF2-40B4-BE49-F238E27FC236}">
                <a16:creationId xmlns:a16="http://schemas.microsoft.com/office/drawing/2014/main" id="{171B2FB1-7C80-36DC-B8CB-D9EC3CB0C369}"/>
              </a:ext>
            </a:extLst>
          </p:cNvPr>
          <p:cNvPicPr>
            <a:picLocks noChangeAspect="1"/>
          </p:cNvPicPr>
          <p:nvPr/>
        </p:nvPicPr>
        <p:blipFill>
          <a:blip r:embed="rId7">
            <a:duotone>
              <a:schemeClr val="accent1">
                <a:shade val="45000"/>
                <a:satMod val="135000"/>
              </a:schemeClr>
              <a:prstClr val="white"/>
            </a:duotone>
          </a:blip>
          <a:stretch>
            <a:fillRect/>
          </a:stretch>
        </p:blipFill>
        <p:spPr>
          <a:xfrm>
            <a:off x="6515100" y="3673870"/>
            <a:ext cx="4800600" cy="1021404"/>
          </a:xfrm>
          <a:prstGeom prst="rect">
            <a:avLst/>
          </a:prstGeom>
        </p:spPr>
      </p:pic>
      <p:sp>
        <p:nvSpPr>
          <p:cNvPr id="4" name="TextBox 3">
            <a:extLst>
              <a:ext uri="{FF2B5EF4-FFF2-40B4-BE49-F238E27FC236}">
                <a16:creationId xmlns:a16="http://schemas.microsoft.com/office/drawing/2014/main" id="{2C512C4D-7A0E-79AC-F0C8-8BAAB446152B}"/>
              </a:ext>
            </a:extLst>
          </p:cNvPr>
          <p:cNvSpPr txBox="1"/>
          <p:nvPr/>
        </p:nvSpPr>
        <p:spPr>
          <a:xfrm>
            <a:off x="921305" y="5322943"/>
            <a:ext cx="4695826" cy="461665"/>
          </a:xfrm>
          <a:prstGeom prst="rect">
            <a:avLst/>
          </a:prstGeom>
          <a:noFill/>
        </p:spPr>
        <p:txBody>
          <a:bodyPr wrap="square">
            <a:spAutoFit/>
          </a:bodyPr>
          <a:lstStyle/>
          <a:p>
            <a:r>
              <a:rPr lang="en-IN" sz="1200" b="1" dirty="0"/>
              <a:t>Fig: </a:t>
            </a:r>
            <a:r>
              <a:rPr lang="en-IN" sz="1200" dirty="0"/>
              <a:t>Orchestrator-workers: the LLM decides how to decompose the task and synthesizes worker results. [6]</a:t>
            </a:r>
          </a:p>
        </p:txBody>
      </p:sp>
      <p:sp>
        <p:nvSpPr>
          <p:cNvPr id="7" name="TextBox 6">
            <a:extLst>
              <a:ext uri="{FF2B5EF4-FFF2-40B4-BE49-F238E27FC236}">
                <a16:creationId xmlns:a16="http://schemas.microsoft.com/office/drawing/2014/main" id="{4334B0C3-4207-566A-6D5A-CA0FECDEEDEC}"/>
              </a:ext>
            </a:extLst>
          </p:cNvPr>
          <p:cNvSpPr txBox="1"/>
          <p:nvPr/>
        </p:nvSpPr>
        <p:spPr>
          <a:xfrm>
            <a:off x="6808782" y="4783505"/>
            <a:ext cx="4361221" cy="276999"/>
          </a:xfrm>
          <a:prstGeom prst="rect">
            <a:avLst/>
          </a:prstGeom>
          <a:noFill/>
        </p:spPr>
        <p:txBody>
          <a:bodyPr wrap="square">
            <a:spAutoFit/>
          </a:bodyPr>
          <a:lstStyle/>
          <a:p>
            <a:r>
              <a:rPr lang="en-IN" sz="1200" b="1" dirty="0"/>
              <a:t>Fig: </a:t>
            </a:r>
            <a:r>
              <a:rPr lang="en-IN" sz="1200" dirty="0"/>
              <a:t>Evaluator-optimizer: iterative refinement without training.[6]</a:t>
            </a:r>
          </a:p>
        </p:txBody>
      </p:sp>
      <p:sp>
        <p:nvSpPr>
          <p:cNvPr id="8" name="TextBox 7">
            <a:extLst>
              <a:ext uri="{FF2B5EF4-FFF2-40B4-BE49-F238E27FC236}">
                <a16:creationId xmlns:a16="http://schemas.microsoft.com/office/drawing/2014/main" id="{C1E748EA-F5CC-F836-4451-9792A265204D}"/>
              </a:ext>
            </a:extLst>
          </p:cNvPr>
          <p:cNvSpPr txBox="1"/>
          <p:nvPr/>
        </p:nvSpPr>
        <p:spPr>
          <a:xfrm>
            <a:off x="6515100" y="2869606"/>
            <a:ext cx="4829175" cy="682174"/>
          </a:xfrm>
          <a:prstGeom prst="rect">
            <a:avLst/>
          </a:prstGeom>
          <a:noFill/>
        </p:spPr>
        <p:txBody>
          <a:bodyPr wrap="square" lIns="0" tIns="0" rIns="0" bIns="0" anchor="t">
            <a:spAutoFit/>
          </a:bodyPr>
          <a:lstStyle/>
          <a:p>
            <a:pPr algn="just">
              <a:lnSpc>
                <a:spcPts val="1800"/>
              </a:lnSpc>
            </a:pPr>
            <a:r>
              <a:rPr lang="en-IN" sz="1400" b="1" dirty="0"/>
              <a:t>When to use: </a:t>
            </a:r>
            <a:r>
              <a:rPr lang="en-IN" sz="1400" dirty="0"/>
              <a:t>Tasks with clear quality criteria—code that must pass tests, translations that must preserve meaning, writing that must match a style guide.</a:t>
            </a:r>
            <a:endParaRPr sz="1400" b="0" i="0" u="none" dirty="0">
              <a:latin typeface="Inter"/>
            </a:endParaRPr>
          </a:p>
        </p:txBody>
      </p:sp>
    </p:spTree>
    <p:extLst>
      <p:ext uri="{BB962C8B-B14F-4D97-AF65-F5344CB8AC3E}">
        <p14:creationId xmlns:p14="http://schemas.microsoft.com/office/powerpoint/2010/main" val="1615261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41BD8-AECD-0C8E-C761-26675C3A5FB4}"/>
            </a:ext>
          </a:extLst>
        </p:cNvPr>
        <p:cNvGrpSpPr/>
        <p:nvPr/>
      </p:nvGrpSpPr>
      <p:grpSpPr>
        <a:xfrm>
          <a:off x="0" y="0"/>
          <a:ext cx="0" cy="0"/>
          <a:chOff x="0" y="0"/>
          <a:chExt cx="0" cy="0"/>
        </a:xfrm>
      </p:grpSpPr>
      <p:pic>
        <p:nvPicPr>
          <p:cNvPr id="10" name="Picture 9" descr="image.png">
            <a:extLst>
              <a:ext uri="{FF2B5EF4-FFF2-40B4-BE49-F238E27FC236}">
                <a16:creationId xmlns:a16="http://schemas.microsoft.com/office/drawing/2014/main" id="{74598B95-F470-70D8-6190-D12BC4303D34}"/>
              </a:ext>
            </a:extLst>
          </p:cNvPr>
          <p:cNvPicPr>
            <a:picLocks noChangeAspect="1"/>
          </p:cNvPicPr>
          <p:nvPr/>
        </p:nvPicPr>
        <p:blipFill>
          <a:blip r:embed="rId3"/>
          <a:stretch>
            <a:fillRect/>
          </a:stretch>
        </p:blipFill>
        <p:spPr>
          <a:xfrm>
            <a:off x="19050" y="-50707"/>
            <a:ext cx="12192000" cy="6858000"/>
          </a:xfrm>
          <a:prstGeom prst="rect">
            <a:avLst/>
          </a:prstGeom>
        </p:spPr>
      </p:pic>
      <p:pic>
        <p:nvPicPr>
          <p:cNvPr id="2" name="Picture 1" descr="image.png">
            <a:extLst>
              <a:ext uri="{FF2B5EF4-FFF2-40B4-BE49-F238E27FC236}">
                <a16:creationId xmlns:a16="http://schemas.microsoft.com/office/drawing/2014/main" id="{99B401E6-1870-971D-83B6-1569740813EF}"/>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46200" y="1503702"/>
            <a:ext cx="5381625" cy="5142410"/>
          </a:xfrm>
          <a:prstGeom prst="rect">
            <a:avLst/>
          </a:prstGeom>
        </p:spPr>
      </p:pic>
      <p:pic>
        <p:nvPicPr>
          <p:cNvPr id="3" name="Picture 2" descr="image.png">
            <a:extLst>
              <a:ext uri="{FF2B5EF4-FFF2-40B4-BE49-F238E27FC236}">
                <a16:creationId xmlns:a16="http://schemas.microsoft.com/office/drawing/2014/main" id="{EE2A5FCA-BE5A-B19B-B165-CFD48FC37574}"/>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6238875" y="1562694"/>
            <a:ext cx="5381625" cy="5083417"/>
          </a:xfrm>
          <a:prstGeom prst="rect">
            <a:avLst/>
          </a:prstGeom>
        </p:spPr>
      </p:pic>
      <p:sp>
        <p:nvSpPr>
          <p:cNvPr id="6" name="TextBox 5">
            <a:extLst>
              <a:ext uri="{FF2B5EF4-FFF2-40B4-BE49-F238E27FC236}">
                <a16:creationId xmlns:a16="http://schemas.microsoft.com/office/drawing/2014/main" id="{CB53899A-8652-1A72-709F-9B6CFB1573E1}"/>
              </a:ext>
            </a:extLst>
          </p:cNvPr>
          <p:cNvSpPr txBox="1"/>
          <p:nvPr/>
        </p:nvSpPr>
        <p:spPr>
          <a:xfrm>
            <a:off x="570886" y="410976"/>
            <a:ext cx="11601450" cy="430887"/>
          </a:xfrm>
          <a:prstGeom prst="rect">
            <a:avLst/>
          </a:prstGeom>
          <a:noFill/>
        </p:spPr>
        <p:txBody>
          <a:bodyPr wrap="square" lIns="0" tIns="0" rIns="0" bIns="0" anchor="t">
            <a:spAutoFit/>
          </a:bodyPr>
          <a:lstStyle/>
          <a:p>
            <a:r>
              <a:rPr lang="en-IN" sz="2800" b="1" dirty="0">
                <a:solidFill>
                  <a:srgbClr val="0F172A"/>
                </a:solidFill>
                <a:latin typeface="Poppins"/>
              </a:rPr>
              <a:t>Autonomous Agent </a:t>
            </a:r>
            <a:r>
              <a:rPr lang="en-IN" sz="2800" b="1" dirty="0">
                <a:solidFill>
                  <a:schemeClr val="tx2"/>
                </a:solidFill>
                <a:latin typeface="Poppins"/>
              </a:rPr>
              <a:t>Patterns</a:t>
            </a:r>
            <a:endParaRPr sz="2800" b="1" i="0" u="none" dirty="0">
              <a:solidFill>
                <a:schemeClr val="tx2"/>
              </a:solidFill>
              <a:latin typeface="Inter"/>
            </a:endParaRPr>
          </a:p>
        </p:txBody>
      </p:sp>
      <p:sp>
        <p:nvSpPr>
          <p:cNvPr id="7" name="TextBox 6">
            <a:extLst>
              <a:ext uri="{FF2B5EF4-FFF2-40B4-BE49-F238E27FC236}">
                <a16:creationId xmlns:a16="http://schemas.microsoft.com/office/drawing/2014/main" id="{E723FC0E-8F75-1253-B0B9-4289E3B03707}"/>
              </a:ext>
            </a:extLst>
          </p:cNvPr>
          <p:cNvSpPr txBox="1"/>
          <p:nvPr/>
        </p:nvSpPr>
        <p:spPr>
          <a:xfrm>
            <a:off x="570885" y="891135"/>
            <a:ext cx="11200567" cy="492443"/>
          </a:xfrm>
          <a:prstGeom prst="rect">
            <a:avLst/>
          </a:prstGeom>
          <a:noFill/>
        </p:spPr>
        <p:txBody>
          <a:bodyPr wrap="square" lIns="0" tIns="0" rIns="0" bIns="0" anchor="t">
            <a:spAutoFit/>
          </a:bodyPr>
          <a:lstStyle/>
          <a:p>
            <a:r>
              <a:rPr lang="en-US" sz="1600" dirty="0">
                <a:solidFill>
                  <a:srgbClr val="475569"/>
                </a:solidFill>
                <a:latin typeface="Inter"/>
              </a:rPr>
              <a:t>Systems where the LLM-Based Agent independently determines execution paths, tool selection, reflection loops, and agent collaboration.</a:t>
            </a:r>
            <a:endParaRPr sz="1500" b="0" i="0" u="none" dirty="0">
              <a:solidFill>
                <a:srgbClr val="64748B"/>
              </a:solidFill>
              <a:latin typeface="Inter"/>
            </a:endParaRPr>
          </a:p>
        </p:txBody>
      </p:sp>
      <p:sp>
        <p:nvSpPr>
          <p:cNvPr id="11" name="TextBox 10">
            <a:extLst>
              <a:ext uri="{FF2B5EF4-FFF2-40B4-BE49-F238E27FC236}">
                <a16:creationId xmlns:a16="http://schemas.microsoft.com/office/drawing/2014/main" id="{92178ED1-E33D-124E-80BF-9267E88B41CB}"/>
              </a:ext>
            </a:extLst>
          </p:cNvPr>
          <p:cNvSpPr txBox="1"/>
          <p:nvPr/>
        </p:nvSpPr>
        <p:spPr>
          <a:xfrm>
            <a:off x="6534150" y="2375742"/>
            <a:ext cx="4791075" cy="906274"/>
          </a:xfrm>
          <a:prstGeom prst="rect">
            <a:avLst/>
          </a:prstGeom>
          <a:noFill/>
        </p:spPr>
        <p:txBody>
          <a:bodyPr wrap="square" lIns="0" tIns="0" rIns="0" bIns="0" anchor="t">
            <a:spAutoFit/>
          </a:bodyPr>
          <a:lstStyle/>
          <a:p>
            <a:pPr>
              <a:lnSpc>
                <a:spcPts val="1800"/>
              </a:lnSpc>
            </a:pPr>
            <a:r>
              <a:rPr lang="en-IN" sz="1200" dirty="0"/>
              <a:t>It generates an explicit plan for achieving a goal before beginning execution. The plan contains tasks and dependencies, while the agent can revise the plan when new information, failures, or unexpected results are encountered during execution.[6]</a:t>
            </a:r>
            <a:endParaRPr lang="en-US" sz="1200" dirty="0">
              <a:solidFill>
                <a:srgbClr val="475569"/>
              </a:solidFill>
              <a:latin typeface="Inter"/>
            </a:endParaRPr>
          </a:p>
        </p:txBody>
      </p:sp>
      <p:sp>
        <p:nvSpPr>
          <p:cNvPr id="13" name="TextBox 12">
            <a:extLst>
              <a:ext uri="{FF2B5EF4-FFF2-40B4-BE49-F238E27FC236}">
                <a16:creationId xmlns:a16="http://schemas.microsoft.com/office/drawing/2014/main" id="{F24A3E51-E479-7E8B-94E2-955F9888AEED}"/>
              </a:ext>
            </a:extLst>
          </p:cNvPr>
          <p:cNvSpPr txBox="1"/>
          <p:nvPr/>
        </p:nvSpPr>
        <p:spPr>
          <a:xfrm>
            <a:off x="873174" y="1804876"/>
            <a:ext cx="2910363" cy="295275"/>
          </a:xfrm>
          <a:prstGeom prst="rect">
            <a:avLst/>
          </a:prstGeom>
          <a:noFill/>
        </p:spPr>
        <p:txBody>
          <a:bodyPr wrap="square" lIns="0" tIns="0" rIns="0" bIns="0" anchor="t">
            <a:spAutoFit/>
          </a:bodyPr>
          <a:lstStyle/>
          <a:p>
            <a:pPr algn="l"/>
            <a:r>
              <a:rPr sz="1950" b="1" i="0" u="none" dirty="0">
                <a:solidFill>
                  <a:srgbClr val="1E3A8A"/>
                </a:solidFill>
                <a:latin typeface="Inter"/>
              </a:rPr>
              <a:t>1. </a:t>
            </a:r>
            <a:r>
              <a:rPr sz="1950" b="1" i="0" u="none" dirty="0" err="1">
                <a:solidFill>
                  <a:srgbClr val="1E3A8A"/>
                </a:solidFill>
                <a:latin typeface="Inter"/>
              </a:rPr>
              <a:t>ReAct</a:t>
            </a:r>
            <a:r>
              <a:rPr sz="1950" b="1" i="0" u="none" dirty="0">
                <a:solidFill>
                  <a:srgbClr val="1E3A8A"/>
                </a:solidFill>
                <a:latin typeface="Inter"/>
              </a:rPr>
              <a:t> (Reason &amp; Act)</a:t>
            </a:r>
          </a:p>
        </p:txBody>
      </p:sp>
      <p:sp>
        <p:nvSpPr>
          <p:cNvPr id="18" name="TextBox 17">
            <a:extLst>
              <a:ext uri="{FF2B5EF4-FFF2-40B4-BE49-F238E27FC236}">
                <a16:creationId xmlns:a16="http://schemas.microsoft.com/office/drawing/2014/main" id="{E3BDE99E-F7CE-6B12-745A-4BF5E7A8FFA7}"/>
              </a:ext>
            </a:extLst>
          </p:cNvPr>
          <p:cNvSpPr txBox="1"/>
          <p:nvPr/>
        </p:nvSpPr>
        <p:spPr>
          <a:xfrm>
            <a:off x="6534150" y="1893468"/>
            <a:ext cx="2930366" cy="300082"/>
          </a:xfrm>
          <a:prstGeom prst="rect">
            <a:avLst/>
          </a:prstGeom>
          <a:noFill/>
        </p:spPr>
        <p:txBody>
          <a:bodyPr wrap="square" lIns="0" tIns="0" rIns="0" bIns="0" anchor="t">
            <a:spAutoFit/>
          </a:bodyPr>
          <a:lstStyle/>
          <a:p>
            <a:pPr algn="l"/>
            <a:r>
              <a:rPr sz="1950" b="1" i="0" u="none" dirty="0">
                <a:solidFill>
                  <a:schemeClr val="tx2"/>
                </a:solidFill>
                <a:latin typeface="Inter"/>
              </a:rPr>
              <a:t>2. </a:t>
            </a:r>
            <a:r>
              <a:rPr lang="en-IN" sz="1950" b="1" i="0" u="none" dirty="0">
                <a:solidFill>
                  <a:schemeClr val="tx2"/>
                </a:solidFill>
                <a:latin typeface="Inter"/>
              </a:rPr>
              <a:t>Planning Agent</a:t>
            </a:r>
            <a:endParaRPr sz="1950" b="1" i="0" u="none" dirty="0">
              <a:solidFill>
                <a:schemeClr val="tx2"/>
              </a:solidFill>
              <a:latin typeface="Inter"/>
            </a:endParaRPr>
          </a:p>
        </p:txBody>
      </p:sp>
      <p:sp>
        <p:nvSpPr>
          <p:cNvPr id="39" name="TextBox 38">
            <a:extLst>
              <a:ext uri="{FF2B5EF4-FFF2-40B4-BE49-F238E27FC236}">
                <a16:creationId xmlns:a16="http://schemas.microsoft.com/office/drawing/2014/main" id="{E9CB6A8A-548F-457F-E685-2A377FFD3CD7}"/>
              </a:ext>
            </a:extLst>
          </p:cNvPr>
          <p:cNvSpPr txBox="1"/>
          <p:nvPr/>
        </p:nvSpPr>
        <p:spPr>
          <a:xfrm>
            <a:off x="6612655" y="6201783"/>
            <a:ext cx="2415301" cy="173124"/>
          </a:xfrm>
          <a:prstGeom prst="rect">
            <a:avLst/>
          </a:prstGeom>
          <a:noFill/>
        </p:spPr>
        <p:txBody>
          <a:bodyPr wrap="square" lIns="0" tIns="0" rIns="0" bIns="0" anchor="t">
            <a:spAutoFit/>
          </a:bodyPr>
          <a:lstStyle/>
          <a:p>
            <a:pPr algn="l"/>
            <a:r>
              <a:rPr sz="1125" b="0" i="0" u="none" dirty="0">
                <a:solidFill>
                  <a:schemeClr val="tx2"/>
                </a:solidFill>
                <a:latin typeface="Inter SemiBold"/>
              </a:rPr>
              <a:t>Example Use Cases</a:t>
            </a:r>
            <a:r>
              <a:rPr lang="en-IN" sz="1125" b="0" i="0" u="none" dirty="0">
                <a:solidFill>
                  <a:schemeClr val="tx2"/>
                </a:solidFill>
                <a:latin typeface="Inter SemiBold"/>
              </a:rPr>
              <a:t>:</a:t>
            </a:r>
            <a:endParaRPr sz="1125" b="0" i="0" u="none" dirty="0">
              <a:solidFill>
                <a:schemeClr val="tx2"/>
              </a:solidFill>
              <a:latin typeface="Inter SemiBold"/>
            </a:endParaRPr>
          </a:p>
        </p:txBody>
      </p:sp>
      <p:sp>
        <p:nvSpPr>
          <p:cNvPr id="63" name="TextBox 62">
            <a:extLst>
              <a:ext uri="{FF2B5EF4-FFF2-40B4-BE49-F238E27FC236}">
                <a16:creationId xmlns:a16="http://schemas.microsoft.com/office/drawing/2014/main" id="{62980336-EAAF-1095-0712-376007CB4CEE}"/>
              </a:ext>
            </a:extLst>
          </p:cNvPr>
          <p:cNvSpPr txBox="1"/>
          <p:nvPr/>
        </p:nvSpPr>
        <p:spPr>
          <a:xfrm>
            <a:off x="7881614" y="6183627"/>
            <a:ext cx="3431109" cy="179793"/>
          </a:xfrm>
          <a:prstGeom prst="rect">
            <a:avLst/>
          </a:prstGeom>
          <a:noFill/>
        </p:spPr>
        <p:txBody>
          <a:bodyPr wrap="square" lIns="0" tIns="0" rIns="0" bIns="0" anchor="t">
            <a:spAutoFit/>
          </a:bodyPr>
          <a:lstStyle/>
          <a:p>
            <a:pPr>
              <a:lnSpc>
                <a:spcPts val="1470"/>
              </a:lnSpc>
            </a:pPr>
            <a:r>
              <a:rPr lang="en-IN" sz="1050" dirty="0"/>
              <a:t>Content generation, document analysis, data transformation</a:t>
            </a:r>
            <a:endParaRPr sz="1050" b="0" i="0" u="none" dirty="0">
              <a:solidFill>
                <a:srgbClr val="334155"/>
              </a:solidFill>
              <a:latin typeface="Inter"/>
            </a:endParaRPr>
          </a:p>
        </p:txBody>
      </p:sp>
      <p:pic>
        <p:nvPicPr>
          <p:cNvPr id="12" name="Picture 11">
            <a:extLst>
              <a:ext uri="{FF2B5EF4-FFF2-40B4-BE49-F238E27FC236}">
                <a16:creationId xmlns:a16="http://schemas.microsoft.com/office/drawing/2014/main" id="{95614676-54CB-0531-1AB6-20C629E0044E}"/>
              </a:ext>
            </a:extLst>
          </p:cNvPr>
          <p:cNvPicPr>
            <a:picLocks noChangeAspect="1"/>
          </p:cNvPicPr>
          <p:nvPr/>
        </p:nvPicPr>
        <p:blipFill>
          <a:blip r:embed="rId8">
            <a:duotone>
              <a:schemeClr val="accent1">
                <a:shade val="45000"/>
                <a:satMod val="135000"/>
              </a:schemeClr>
              <a:prstClr val="white"/>
            </a:duotone>
          </a:blip>
          <a:stretch>
            <a:fillRect/>
          </a:stretch>
        </p:blipFill>
        <p:spPr>
          <a:xfrm>
            <a:off x="867088" y="3621424"/>
            <a:ext cx="4650776" cy="2650638"/>
          </a:xfrm>
          <a:prstGeom prst="rect">
            <a:avLst/>
          </a:prstGeom>
        </p:spPr>
      </p:pic>
      <p:sp>
        <p:nvSpPr>
          <p:cNvPr id="9" name="TextBox 8">
            <a:extLst>
              <a:ext uri="{FF2B5EF4-FFF2-40B4-BE49-F238E27FC236}">
                <a16:creationId xmlns:a16="http://schemas.microsoft.com/office/drawing/2014/main" id="{871A7746-53F7-1C6E-09A7-4542093209B8}"/>
              </a:ext>
            </a:extLst>
          </p:cNvPr>
          <p:cNvSpPr txBox="1"/>
          <p:nvPr/>
        </p:nvSpPr>
        <p:spPr>
          <a:xfrm>
            <a:off x="866476" y="2237074"/>
            <a:ext cx="4791075" cy="1367939"/>
          </a:xfrm>
          <a:prstGeom prst="rect">
            <a:avLst/>
          </a:prstGeom>
          <a:noFill/>
        </p:spPr>
        <p:txBody>
          <a:bodyPr wrap="square" lIns="0" tIns="0" rIns="0" bIns="0" anchor="t">
            <a:spAutoFit/>
          </a:bodyPr>
          <a:lstStyle/>
          <a:p>
            <a:pPr algn="just">
              <a:lnSpc>
                <a:spcPts val="1800"/>
              </a:lnSpc>
            </a:pPr>
            <a:r>
              <a:rPr lang="en-IN" sz="1200" dirty="0"/>
              <a:t>It combines reasoning and action in a dynamic, iterative loop where a single agent observes the environment, formulates a plan, executes an action using available tools or APIs, and evaluates the resulting feedback to decide the next step. By constantly re-evaluating its context, the model can course-correct on the fly, retry failed tool calls, or adjust its strategy based on intermediate outputs. </a:t>
            </a:r>
            <a:r>
              <a:rPr lang="en-IN" sz="1200" b="0" i="0" u="none" dirty="0">
                <a:solidFill>
                  <a:srgbClr val="475569"/>
                </a:solidFill>
                <a:latin typeface="Inter"/>
              </a:rPr>
              <a:t>[6]</a:t>
            </a:r>
            <a:endParaRPr sz="1200" b="0" i="0" u="none" dirty="0">
              <a:solidFill>
                <a:srgbClr val="475569"/>
              </a:solidFill>
              <a:latin typeface="Inter"/>
            </a:endParaRPr>
          </a:p>
        </p:txBody>
      </p:sp>
      <p:sp>
        <p:nvSpPr>
          <p:cNvPr id="24" name="TextBox 23">
            <a:extLst>
              <a:ext uri="{FF2B5EF4-FFF2-40B4-BE49-F238E27FC236}">
                <a16:creationId xmlns:a16="http://schemas.microsoft.com/office/drawing/2014/main" id="{86D2DF3B-C66F-58A3-DFA5-FD27991F36FC}"/>
              </a:ext>
            </a:extLst>
          </p:cNvPr>
          <p:cNvSpPr txBox="1"/>
          <p:nvPr/>
        </p:nvSpPr>
        <p:spPr>
          <a:xfrm>
            <a:off x="1584151" y="6304330"/>
            <a:ext cx="2415301" cy="173124"/>
          </a:xfrm>
          <a:prstGeom prst="rect">
            <a:avLst/>
          </a:prstGeom>
          <a:noFill/>
        </p:spPr>
        <p:txBody>
          <a:bodyPr wrap="square" lIns="0" tIns="0" rIns="0" bIns="0" anchor="t">
            <a:spAutoFit/>
          </a:bodyPr>
          <a:lstStyle/>
          <a:p>
            <a:pPr algn="l"/>
            <a:r>
              <a:rPr sz="1125" b="0" i="0" u="none" dirty="0">
                <a:solidFill>
                  <a:schemeClr val="tx2"/>
                </a:solidFill>
                <a:latin typeface="Inter SemiBold"/>
              </a:rPr>
              <a:t>Example Use Cases</a:t>
            </a:r>
            <a:r>
              <a:rPr lang="en-IN" sz="1125" b="0" i="0" u="none" dirty="0">
                <a:solidFill>
                  <a:schemeClr val="tx2"/>
                </a:solidFill>
                <a:latin typeface="Inter SemiBold"/>
              </a:rPr>
              <a:t>:</a:t>
            </a:r>
            <a:endParaRPr sz="1125" b="0" i="0" u="none" dirty="0">
              <a:solidFill>
                <a:schemeClr val="tx2"/>
              </a:solidFill>
              <a:latin typeface="Inter SemiBold"/>
            </a:endParaRPr>
          </a:p>
        </p:txBody>
      </p:sp>
      <p:sp>
        <p:nvSpPr>
          <p:cNvPr id="56" name="TextBox 55">
            <a:extLst>
              <a:ext uri="{FF2B5EF4-FFF2-40B4-BE49-F238E27FC236}">
                <a16:creationId xmlns:a16="http://schemas.microsoft.com/office/drawing/2014/main" id="{D1376D81-BA37-1BFD-BF40-79EA228C290D}"/>
              </a:ext>
            </a:extLst>
          </p:cNvPr>
          <p:cNvSpPr txBox="1"/>
          <p:nvPr/>
        </p:nvSpPr>
        <p:spPr>
          <a:xfrm>
            <a:off x="2985070" y="6293359"/>
            <a:ext cx="2090737" cy="179793"/>
          </a:xfrm>
          <a:prstGeom prst="rect">
            <a:avLst/>
          </a:prstGeom>
          <a:noFill/>
        </p:spPr>
        <p:txBody>
          <a:bodyPr wrap="square" lIns="0" tIns="0" rIns="0" bIns="0" anchor="t">
            <a:spAutoFit/>
          </a:bodyPr>
          <a:lstStyle/>
          <a:p>
            <a:pPr>
              <a:lnSpc>
                <a:spcPts val="1470"/>
              </a:lnSpc>
            </a:pPr>
            <a:r>
              <a:rPr sz="1050" b="0" i="0" u="none" dirty="0">
                <a:solidFill>
                  <a:srgbClr val="334155"/>
                </a:solidFill>
                <a:latin typeface="Inter"/>
              </a:rPr>
              <a:t>Q&amp;A</a:t>
            </a:r>
            <a:r>
              <a:rPr lang="en-IN" sz="1050" dirty="0">
                <a:solidFill>
                  <a:srgbClr val="334155"/>
                </a:solidFill>
                <a:latin typeface="Inter"/>
              </a:rPr>
              <a:t>, Code generation &amp; debugging</a:t>
            </a:r>
          </a:p>
        </p:txBody>
      </p:sp>
      <p:pic>
        <p:nvPicPr>
          <p:cNvPr id="17" name="Picture 16">
            <a:extLst>
              <a:ext uri="{FF2B5EF4-FFF2-40B4-BE49-F238E27FC236}">
                <a16:creationId xmlns:a16="http://schemas.microsoft.com/office/drawing/2014/main" id="{38A8A7AD-DC67-34EE-F11B-AA4844FC9C56}"/>
              </a:ext>
            </a:extLst>
          </p:cNvPr>
          <p:cNvPicPr>
            <a:picLocks noChangeAspect="1"/>
          </p:cNvPicPr>
          <p:nvPr/>
        </p:nvPicPr>
        <p:blipFill>
          <a:blip r:embed="rId9">
            <a:duotone>
              <a:schemeClr val="accent1">
                <a:shade val="45000"/>
                <a:satMod val="135000"/>
              </a:schemeClr>
              <a:prstClr val="white"/>
            </a:duotone>
          </a:blip>
          <a:srcRect/>
          <a:stretch/>
        </p:blipFill>
        <p:spPr>
          <a:xfrm>
            <a:off x="7052812" y="3440027"/>
            <a:ext cx="3950288" cy="2561176"/>
          </a:xfrm>
          <a:prstGeom prst="rect">
            <a:avLst/>
          </a:prstGeom>
        </p:spPr>
      </p:pic>
    </p:spTree>
    <p:extLst>
      <p:ext uri="{BB962C8B-B14F-4D97-AF65-F5344CB8AC3E}">
        <p14:creationId xmlns:p14="http://schemas.microsoft.com/office/powerpoint/2010/main" val="869355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9138DB2E-103A-B6F8-7A56-44914CD16862}"/>
              </a:ext>
            </a:extLst>
          </p:cNvPr>
          <p:cNvPicPr>
            <a:picLocks noChangeAspect="1"/>
          </p:cNvPicPr>
          <p:nvPr/>
        </p:nvPicPr>
        <p:blipFill>
          <a:blip r:embed="rId2"/>
          <a:stretch>
            <a:fillRect/>
          </a:stretch>
        </p:blipFill>
        <p:spPr>
          <a:xfrm>
            <a:off x="0" y="0"/>
            <a:ext cx="12192000" cy="6858000"/>
          </a:xfrm>
          <a:prstGeom prst="rect">
            <a:avLst/>
          </a:prstGeom>
        </p:spPr>
      </p:pic>
      <p:pic>
        <p:nvPicPr>
          <p:cNvPr id="2" name="Picture 1" descr="image.png"/>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590550" y="1984352"/>
            <a:ext cx="5381625" cy="4416449"/>
          </a:xfrm>
          <a:prstGeom prst="rect">
            <a:avLst/>
          </a:prstGeom>
        </p:spPr>
      </p:pic>
      <p:sp>
        <p:nvSpPr>
          <p:cNvPr id="10" name="TextBox 9"/>
          <p:cNvSpPr txBox="1"/>
          <p:nvPr/>
        </p:nvSpPr>
        <p:spPr>
          <a:xfrm>
            <a:off x="885825" y="2602065"/>
            <a:ext cx="4791075" cy="906274"/>
          </a:xfrm>
          <a:prstGeom prst="rect">
            <a:avLst/>
          </a:prstGeom>
          <a:noFill/>
        </p:spPr>
        <p:txBody>
          <a:bodyPr wrap="square" lIns="0" tIns="0" rIns="0" bIns="0" anchor="t">
            <a:spAutoFit/>
          </a:bodyPr>
          <a:lstStyle/>
          <a:p>
            <a:pPr algn="just">
              <a:lnSpc>
                <a:spcPts val="1800"/>
              </a:lnSpc>
            </a:pPr>
            <a:r>
              <a:rPr lang="en-IN" sz="1200" dirty="0"/>
              <a:t>It introduces a self-evaluation stage where the agent examines its previous actions or output, identifies errors or inefficiencies, and modifies its strategy. The reflection can also be stored as memory and reused during subsequent attempts [6]</a:t>
            </a:r>
            <a:endParaRPr sz="1200" b="0" i="0" u="none" dirty="0">
              <a:solidFill>
                <a:srgbClr val="475569"/>
              </a:solidFill>
              <a:latin typeface="Inter"/>
            </a:endParaRPr>
          </a:p>
        </p:txBody>
      </p:sp>
      <p:sp>
        <p:nvSpPr>
          <p:cNvPr id="14" name="TextBox 13"/>
          <p:cNvSpPr txBox="1"/>
          <p:nvPr/>
        </p:nvSpPr>
        <p:spPr>
          <a:xfrm>
            <a:off x="895603" y="2264057"/>
            <a:ext cx="2920365" cy="300082"/>
          </a:xfrm>
          <a:prstGeom prst="rect">
            <a:avLst/>
          </a:prstGeom>
          <a:noFill/>
        </p:spPr>
        <p:txBody>
          <a:bodyPr wrap="square" lIns="0" tIns="0" rIns="0" bIns="0" anchor="t">
            <a:spAutoFit/>
          </a:bodyPr>
          <a:lstStyle/>
          <a:p>
            <a:r>
              <a:rPr sz="1950" b="1" i="0" u="none" dirty="0">
                <a:solidFill>
                  <a:schemeClr val="tx2"/>
                </a:solidFill>
                <a:latin typeface="Inter"/>
              </a:rPr>
              <a:t>3. </a:t>
            </a:r>
            <a:r>
              <a:rPr lang="en-IN" sz="1950" b="1" dirty="0">
                <a:solidFill>
                  <a:schemeClr val="tx2"/>
                </a:solidFill>
                <a:latin typeface="Inter"/>
              </a:rPr>
              <a:t>Reflection &amp; Self-Critique</a:t>
            </a:r>
            <a:endParaRPr sz="1950" b="1" i="0" u="none" dirty="0">
              <a:solidFill>
                <a:schemeClr val="tx2"/>
              </a:solidFill>
              <a:latin typeface="Inter"/>
            </a:endParaRPr>
          </a:p>
        </p:txBody>
      </p:sp>
      <p:sp>
        <p:nvSpPr>
          <p:cNvPr id="25" name="TextBox 24"/>
          <p:cNvSpPr txBox="1"/>
          <p:nvPr/>
        </p:nvSpPr>
        <p:spPr>
          <a:xfrm>
            <a:off x="1783259" y="6072135"/>
            <a:ext cx="2415301" cy="173124"/>
          </a:xfrm>
          <a:prstGeom prst="rect">
            <a:avLst/>
          </a:prstGeom>
          <a:noFill/>
        </p:spPr>
        <p:txBody>
          <a:bodyPr wrap="square" lIns="0" tIns="0" rIns="0" bIns="0" anchor="t">
            <a:spAutoFit/>
          </a:bodyPr>
          <a:lstStyle/>
          <a:p>
            <a:pPr algn="l"/>
            <a:r>
              <a:rPr sz="1125" b="0" i="0" u="none" dirty="0">
                <a:solidFill>
                  <a:schemeClr val="tx2"/>
                </a:solidFill>
                <a:latin typeface="Inter SemiBold"/>
              </a:rPr>
              <a:t>Example Use Cases</a:t>
            </a:r>
            <a:r>
              <a:rPr lang="en-IN" sz="1125" b="0" i="0" u="none" dirty="0">
                <a:solidFill>
                  <a:schemeClr val="tx2"/>
                </a:solidFill>
                <a:latin typeface="Inter SemiBold"/>
              </a:rPr>
              <a:t>:</a:t>
            </a:r>
            <a:endParaRPr sz="1125" b="0" i="0" u="none" dirty="0">
              <a:solidFill>
                <a:schemeClr val="tx2"/>
              </a:solidFill>
              <a:latin typeface="Inter SemiBold"/>
            </a:endParaRPr>
          </a:p>
        </p:txBody>
      </p:sp>
      <p:sp>
        <p:nvSpPr>
          <p:cNvPr id="55" name="TextBox 54"/>
          <p:cNvSpPr txBox="1"/>
          <p:nvPr/>
        </p:nvSpPr>
        <p:spPr>
          <a:xfrm>
            <a:off x="3038177" y="6058629"/>
            <a:ext cx="2090737" cy="186630"/>
          </a:xfrm>
          <a:prstGeom prst="rect">
            <a:avLst/>
          </a:prstGeom>
          <a:noFill/>
        </p:spPr>
        <p:txBody>
          <a:bodyPr wrap="square" lIns="0" tIns="0" rIns="0" bIns="0" anchor="t">
            <a:spAutoFit/>
          </a:bodyPr>
          <a:lstStyle/>
          <a:p>
            <a:pPr algn="l">
              <a:lnSpc>
                <a:spcPts val="1470"/>
              </a:lnSpc>
            </a:pPr>
            <a:r>
              <a:rPr sz="1050" b="0" i="0" u="none" dirty="0">
                <a:solidFill>
                  <a:srgbClr val="334155"/>
                </a:solidFill>
                <a:latin typeface="Inter"/>
              </a:rPr>
              <a:t>Customer support automation</a:t>
            </a:r>
          </a:p>
        </p:txBody>
      </p:sp>
      <p:pic>
        <p:nvPicPr>
          <p:cNvPr id="13" name="Picture 12" descr="image.png">
            <a:extLst>
              <a:ext uri="{FF2B5EF4-FFF2-40B4-BE49-F238E27FC236}">
                <a16:creationId xmlns:a16="http://schemas.microsoft.com/office/drawing/2014/main" id="{B4BE80CF-3A06-85FA-87EC-9764A7953106}"/>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6257925" y="1984352"/>
            <a:ext cx="5381625" cy="4416449"/>
          </a:xfrm>
          <a:prstGeom prst="rect">
            <a:avLst/>
          </a:prstGeom>
        </p:spPr>
      </p:pic>
      <p:sp>
        <p:nvSpPr>
          <p:cNvPr id="51" name="TextBox 50">
            <a:extLst>
              <a:ext uri="{FF2B5EF4-FFF2-40B4-BE49-F238E27FC236}">
                <a16:creationId xmlns:a16="http://schemas.microsoft.com/office/drawing/2014/main" id="{8544CA0E-7368-D4A3-061A-EA166DA91A7F}"/>
              </a:ext>
            </a:extLst>
          </p:cNvPr>
          <p:cNvSpPr txBox="1"/>
          <p:nvPr/>
        </p:nvSpPr>
        <p:spPr>
          <a:xfrm>
            <a:off x="6553200" y="2578143"/>
            <a:ext cx="4791075" cy="1367939"/>
          </a:xfrm>
          <a:prstGeom prst="rect">
            <a:avLst/>
          </a:prstGeom>
          <a:noFill/>
        </p:spPr>
        <p:txBody>
          <a:bodyPr wrap="square" lIns="0" tIns="0" rIns="0" bIns="0" anchor="t">
            <a:spAutoFit/>
          </a:bodyPr>
          <a:lstStyle/>
          <a:p>
            <a:pPr algn="just">
              <a:lnSpc>
                <a:spcPts val="1800"/>
              </a:lnSpc>
            </a:pPr>
            <a:r>
              <a:rPr lang="en-IN" sz="1200" dirty="0"/>
              <a:t>A </a:t>
            </a:r>
            <a:r>
              <a:rPr lang="en-IN" sz="1200" b="1" dirty="0"/>
              <a:t>Multi-Agent Swarm</a:t>
            </a:r>
            <a:r>
              <a:rPr lang="en-IN" sz="1200" dirty="0"/>
              <a:t> relies on a manager agent to orchestrate a ecosystem of domain-expert sub-agents working together toward a high-level goal. The manager breaks down complex user objectives into specific tasks and assigns them to specialized roles—such as a Coder for implementation, a Researcher for context gathering, and a Reviewer for quality assurance—who can debate, review each other's work, and iteratively refine deliverables. [6]</a:t>
            </a:r>
            <a:endParaRPr sz="1200" b="0" i="0" u="none" dirty="0">
              <a:solidFill>
                <a:srgbClr val="475569"/>
              </a:solidFill>
              <a:latin typeface="Inter"/>
            </a:endParaRPr>
          </a:p>
        </p:txBody>
      </p:sp>
      <p:sp>
        <p:nvSpPr>
          <p:cNvPr id="53" name="TextBox 52">
            <a:extLst>
              <a:ext uri="{FF2B5EF4-FFF2-40B4-BE49-F238E27FC236}">
                <a16:creationId xmlns:a16="http://schemas.microsoft.com/office/drawing/2014/main" id="{CE64DB09-8A39-42D4-A33F-2F57CB263045}"/>
              </a:ext>
            </a:extLst>
          </p:cNvPr>
          <p:cNvSpPr txBox="1"/>
          <p:nvPr/>
        </p:nvSpPr>
        <p:spPr>
          <a:xfrm>
            <a:off x="6524729" y="2219779"/>
            <a:ext cx="2760345" cy="300082"/>
          </a:xfrm>
          <a:prstGeom prst="rect">
            <a:avLst/>
          </a:prstGeom>
          <a:noFill/>
        </p:spPr>
        <p:txBody>
          <a:bodyPr wrap="square" lIns="0" tIns="0" rIns="0" bIns="0" anchor="t">
            <a:spAutoFit/>
          </a:bodyPr>
          <a:lstStyle/>
          <a:p>
            <a:pPr algn="l"/>
            <a:r>
              <a:rPr sz="1950" b="1" i="0" u="none" dirty="0">
                <a:solidFill>
                  <a:schemeClr val="tx2"/>
                </a:solidFill>
                <a:latin typeface="Inter"/>
              </a:rPr>
              <a:t>4. Multi-Agent Swarm</a:t>
            </a:r>
          </a:p>
        </p:txBody>
      </p:sp>
      <p:sp>
        <p:nvSpPr>
          <p:cNvPr id="62" name="TextBox 61">
            <a:extLst>
              <a:ext uri="{FF2B5EF4-FFF2-40B4-BE49-F238E27FC236}">
                <a16:creationId xmlns:a16="http://schemas.microsoft.com/office/drawing/2014/main" id="{76B0C129-94E6-193D-87AD-9141A4A19220}"/>
              </a:ext>
            </a:extLst>
          </p:cNvPr>
          <p:cNvSpPr txBox="1"/>
          <p:nvPr/>
        </p:nvSpPr>
        <p:spPr>
          <a:xfrm>
            <a:off x="6905505" y="6081894"/>
            <a:ext cx="2415301" cy="173124"/>
          </a:xfrm>
          <a:prstGeom prst="rect">
            <a:avLst/>
          </a:prstGeom>
          <a:noFill/>
        </p:spPr>
        <p:txBody>
          <a:bodyPr wrap="square" lIns="0" tIns="0" rIns="0" bIns="0" anchor="t">
            <a:spAutoFit/>
          </a:bodyPr>
          <a:lstStyle/>
          <a:p>
            <a:pPr algn="l"/>
            <a:r>
              <a:rPr sz="1125" b="0" i="0" u="none" dirty="0">
                <a:solidFill>
                  <a:schemeClr val="tx2"/>
                </a:solidFill>
                <a:latin typeface="Inter SemiBold"/>
              </a:rPr>
              <a:t>Example Use Cases</a:t>
            </a:r>
            <a:r>
              <a:rPr lang="en-IN" sz="1125" b="0" i="0" u="none" dirty="0">
                <a:solidFill>
                  <a:schemeClr val="tx2"/>
                </a:solidFill>
                <a:latin typeface="Inter SemiBold"/>
              </a:rPr>
              <a:t>:</a:t>
            </a:r>
            <a:endParaRPr sz="1125" b="0" i="0" u="none" dirty="0">
              <a:solidFill>
                <a:schemeClr val="tx2"/>
              </a:solidFill>
              <a:latin typeface="Inter SemiBold"/>
            </a:endParaRPr>
          </a:p>
        </p:txBody>
      </p:sp>
      <p:sp>
        <p:nvSpPr>
          <p:cNvPr id="89" name="TextBox 88">
            <a:extLst>
              <a:ext uri="{FF2B5EF4-FFF2-40B4-BE49-F238E27FC236}">
                <a16:creationId xmlns:a16="http://schemas.microsoft.com/office/drawing/2014/main" id="{5FC655BB-53B2-DCE8-E9FE-8382355DDA7E}"/>
              </a:ext>
            </a:extLst>
          </p:cNvPr>
          <p:cNvSpPr txBox="1"/>
          <p:nvPr/>
        </p:nvSpPr>
        <p:spPr>
          <a:xfrm>
            <a:off x="8159299" y="6067607"/>
            <a:ext cx="3184976" cy="372153"/>
          </a:xfrm>
          <a:prstGeom prst="rect">
            <a:avLst/>
          </a:prstGeom>
          <a:noFill/>
        </p:spPr>
        <p:txBody>
          <a:bodyPr wrap="square" lIns="0" tIns="0" rIns="0" bIns="0" anchor="t">
            <a:spAutoFit/>
          </a:bodyPr>
          <a:lstStyle/>
          <a:p>
            <a:pPr>
              <a:lnSpc>
                <a:spcPts val="1470"/>
              </a:lnSpc>
            </a:pPr>
            <a:r>
              <a:rPr sz="1050" b="0" i="0" u="none" dirty="0">
                <a:solidFill>
                  <a:srgbClr val="334155"/>
                </a:solidFill>
                <a:latin typeface="Inter"/>
              </a:rPr>
              <a:t>Software development teams</a:t>
            </a:r>
            <a:r>
              <a:rPr lang="en-IN" sz="1050" dirty="0">
                <a:solidFill>
                  <a:srgbClr val="334155"/>
                </a:solidFill>
                <a:latin typeface="Inter"/>
              </a:rPr>
              <a:t>, Threat analysis &amp; support</a:t>
            </a:r>
          </a:p>
          <a:p>
            <a:pPr algn="l">
              <a:lnSpc>
                <a:spcPts val="1470"/>
              </a:lnSpc>
            </a:pPr>
            <a:endParaRPr sz="1050" b="0" i="0" u="none" dirty="0">
              <a:solidFill>
                <a:srgbClr val="334155"/>
              </a:solidFill>
              <a:latin typeface="Inter"/>
            </a:endParaRPr>
          </a:p>
        </p:txBody>
      </p:sp>
      <p:sp>
        <p:nvSpPr>
          <p:cNvPr id="114" name="TextBox 113">
            <a:extLst>
              <a:ext uri="{FF2B5EF4-FFF2-40B4-BE49-F238E27FC236}">
                <a16:creationId xmlns:a16="http://schemas.microsoft.com/office/drawing/2014/main" id="{FC82C60A-CB44-AD73-5FDA-EFE04AB263E5}"/>
              </a:ext>
            </a:extLst>
          </p:cNvPr>
          <p:cNvSpPr txBox="1"/>
          <p:nvPr/>
        </p:nvSpPr>
        <p:spPr>
          <a:xfrm>
            <a:off x="590549" y="580861"/>
            <a:ext cx="7359551" cy="430887"/>
          </a:xfrm>
          <a:prstGeom prst="rect">
            <a:avLst/>
          </a:prstGeom>
          <a:noFill/>
        </p:spPr>
        <p:txBody>
          <a:bodyPr wrap="square" lIns="0" tIns="0" rIns="0" bIns="0" anchor="t">
            <a:spAutoFit/>
          </a:bodyPr>
          <a:lstStyle/>
          <a:p>
            <a:r>
              <a:rPr lang="en-IN" sz="2800" b="1" dirty="0">
                <a:solidFill>
                  <a:srgbClr val="0F172A"/>
                </a:solidFill>
                <a:latin typeface="Poppins"/>
              </a:rPr>
              <a:t>Autonomous Agent </a:t>
            </a:r>
            <a:r>
              <a:rPr lang="en-IN" sz="2800" b="1" dirty="0">
                <a:solidFill>
                  <a:schemeClr val="tx2"/>
                </a:solidFill>
                <a:latin typeface="Poppins"/>
              </a:rPr>
              <a:t>Patterns</a:t>
            </a:r>
            <a:r>
              <a:rPr lang="en-IN" sz="2800" b="1" dirty="0">
                <a:solidFill>
                  <a:schemeClr val="tx2"/>
                </a:solidFill>
                <a:latin typeface="Inter"/>
              </a:rPr>
              <a:t> </a:t>
            </a:r>
            <a:r>
              <a:rPr lang="en-IN" sz="2800" dirty="0">
                <a:solidFill>
                  <a:schemeClr val="tx2"/>
                </a:solidFill>
                <a:latin typeface="Poppins"/>
              </a:rPr>
              <a:t>(Cont.)</a:t>
            </a:r>
            <a:endParaRPr sz="2800" i="0" u="none" dirty="0">
              <a:solidFill>
                <a:schemeClr val="tx2"/>
              </a:solidFill>
              <a:latin typeface="Inter"/>
            </a:endParaRPr>
          </a:p>
        </p:txBody>
      </p:sp>
      <p:sp>
        <p:nvSpPr>
          <p:cNvPr id="116" name="TextBox 115">
            <a:extLst>
              <a:ext uri="{FF2B5EF4-FFF2-40B4-BE49-F238E27FC236}">
                <a16:creationId xmlns:a16="http://schemas.microsoft.com/office/drawing/2014/main" id="{F5A58B47-F158-0049-95CC-7967351CF516}"/>
              </a:ext>
            </a:extLst>
          </p:cNvPr>
          <p:cNvSpPr txBox="1"/>
          <p:nvPr/>
        </p:nvSpPr>
        <p:spPr>
          <a:xfrm>
            <a:off x="590550" y="1130469"/>
            <a:ext cx="11049000" cy="492443"/>
          </a:xfrm>
          <a:prstGeom prst="rect">
            <a:avLst/>
          </a:prstGeom>
          <a:noFill/>
        </p:spPr>
        <p:txBody>
          <a:bodyPr wrap="square" lIns="0" tIns="0" rIns="0" bIns="0" anchor="t">
            <a:spAutoFit/>
          </a:bodyPr>
          <a:lstStyle/>
          <a:p>
            <a:r>
              <a:rPr lang="en-US" sz="1600" dirty="0">
                <a:solidFill>
                  <a:srgbClr val="475569"/>
                </a:solidFill>
                <a:latin typeface="Inter"/>
              </a:rPr>
              <a:t>Systems where the LLM-Based Agent independently determines execution paths, tool selection, reflection loops, and agent collaboration.</a:t>
            </a:r>
            <a:endParaRPr lang="en-US" sz="1500" dirty="0">
              <a:solidFill>
                <a:srgbClr val="64748B"/>
              </a:solidFill>
              <a:latin typeface="Inter"/>
            </a:endParaRPr>
          </a:p>
        </p:txBody>
      </p:sp>
      <p:pic>
        <p:nvPicPr>
          <p:cNvPr id="5" name="Picture 4">
            <a:extLst>
              <a:ext uri="{FF2B5EF4-FFF2-40B4-BE49-F238E27FC236}">
                <a16:creationId xmlns:a16="http://schemas.microsoft.com/office/drawing/2014/main" id="{F671505B-FBC8-FA84-2609-C420278447D3}"/>
              </a:ext>
            </a:extLst>
          </p:cNvPr>
          <p:cNvPicPr>
            <a:picLocks noChangeAspect="1"/>
          </p:cNvPicPr>
          <p:nvPr/>
        </p:nvPicPr>
        <p:blipFill>
          <a:blip r:embed="rId7">
            <a:duotone>
              <a:schemeClr val="accent1">
                <a:shade val="45000"/>
                <a:satMod val="135000"/>
              </a:schemeClr>
              <a:prstClr val="white"/>
            </a:duotone>
          </a:blip>
          <a:stretch>
            <a:fillRect/>
          </a:stretch>
        </p:blipFill>
        <p:spPr>
          <a:xfrm>
            <a:off x="1438001" y="3558204"/>
            <a:ext cx="3382273" cy="2422878"/>
          </a:xfrm>
          <a:prstGeom prst="rect">
            <a:avLst/>
          </a:prstGeom>
        </p:spPr>
      </p:pic>
      <p:pic>
        <p:nvPicPr>
          <p:cNvPr id="7" name="Picture 6">
            <a:extLst>
              <a:ext uri="{FF2B5EF4-FFF2-40B4-BE49-F238E27FC236}">
                <a16:creationId xmlns:a16="http://schemas.microsoft.com/office/drawing/2014/main" id="{237172DD-F6AB-CDDB-9271-2A78C147C623}"/>
              </a:ext>
            </a:extLst>
          </p:cNvPr>
          <p:cNvPicPr>
            <a:picLocks noChangeAspect="1"/>
          </p:cNvPicPr>
          <p:nvPr/>
        </p:nvPicPr>
        <p:blipFill>
          <a:blip r:embed="rId8">
            <a:duotone>
              <a:schemeClr val="accent1">
                <a:shade val="45000"/>
                <a:satMod val="135000"/>
              </a:schemeClr>
              <a:prstClr val="white"/>
            </a:duotone>
          </a:blip>
          <a:stretch>
            <a:fillRect/>
          </a:stretch>
        </p:blipFill>
        <p:spPr>
          <a:xfrm>
            <a:off x="6967304" y="4032740"/>
            <a:ext cx="3962866" cy="19033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38CB1-F2DC-C3FF-8546-5F2D0ABDBC9B}"/>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AF866FC8-C03B-B0C0-8C69-333EE42E6659}"/>
              </a:ext>
            </a:extLst>
          </p:cNvPr>
          <p:cNvPicPr>
            <a:picLocks noChangeAspect="1"/>
          </p:cNvPicPr>
          <p:nvPr/>
        </p:nvPicPr>
        <p:blipFill>
          <a:blip r:embed="rId2"/>
          <a:stretch>
            <a:fillRect/>
          </a:stretch>
        </p:blipFill>
        <p:spPr>
          <a:xfrm>
            <a:off x="-147484" y="0"/>
            <a:ext cx="12506632" cy="6858000"/>
          </a:xfrm>
          <a:prstGeom prst="rect">
            <a:avLst/>
          </a:prstGeom>
        </p:spPr>
      </p:pic>
      <p:sp>
        <p:nvSpPr>
          <p:cNvPr id="91" name="TextBox 90">
            <a:extLst>
              <a:ext uri="{FF2B5EF4-FFF2-40B4-BE49-F238E27FC236}">
                <a16:creationId xmlns:a16="http://schemas.microsoft.com/office/drawing/2014/main" id="{2DCE5F83-2CB1-45A5-111E-D0EAC2575EC7}"/>
              </a:ext>
            </a:extLst>
          </p:cNvPr>
          <p:cNvSpPr txBox="1"/>
          <p:nvPr/>
        </p:nvSpPr>
        <p:spPr>
          <a:xfrm>
            <a:off x="579664" y="345375"/>
            <a:ext cx="6409715" cy="615553"/>
          </a:xfrm>
          <a:prstGeom prst="rect">
            <a:avLst/>
          </a:prstGeom>
          <a:noFill/>
        </p:spPr>
        <p:txBody>
          <a:bodyPr wrap="square" lIns="0" tIns="0" rIns="0" bIns="0" anchor="t">
            <a:spAutoFit/>
          </a:bodyPr>
          <a:lstStyle/>
          <a:p>
            <a:r>
              <a:rPr lang="en-IN" sz="4000" b="1" dirty="0">
                <a:latin typeface="Inter"/>
              </a:rPr>
              <a:t>Harness </a:t>
            </a:r>
            <a:r>
              <a:rPr lang="en-IN" sz="4000" b="1" dirty="0">
                <a:solidFill>
                  <a:schemeClr val="tx2"/>
                </a:solidFill>
                <a:latin typeface="Inter"/>
              </a:rPr>
              <a:t>Engineering</a:t>
            </a:r>
            <a:endParaRPr sz="4000" b="1" i="0" u="none" dirty="0">
              <a:solidFill>
                <a:schemeClr val="tx2"/>
              </a:solidFill>
              <a:latin typeface="Inter"/>
            </a:endParaRPr>
          </a:p>
        </p:txBody>
      </p:sp>
      <p:pic>
        <p:nvPicPr>
          <p:cNvPr id="13" name="Picture 12">
            <a:extLst>
              <a:ext uri="{FF2B5EF4-FFF2-40B4-BE49-F238E27FC236}">
                <a16:creationId xmlns:a16="http://schemas.microsoft.com/office/drawing/2014/main" id="{999419FE-6B10-AC78-0010-489451A79B74}"/>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harpenSoften amount="50000"/>
                    </a14:imgEffect>
                    <a14:imgEffect>
                      <a14:saturation sat="400000"/>
                    </a14:imgEffect>
                  </a14:imgLayer>
                </a14:imgProps>
              </a:ext>
            </a:extLst>
          </a:blip>
          <a:srcRect l="773" r="773"/>
          <a:stretch/>
        </p:blipFill>
        <p:spPr>
          <a:xfrm>
            <a:off x="5175809" y="2807504"/>
            <a:ext cx="6809933" cy="3493794"/>
          </a:xfrm>
          <a:prstGeom prst="rect">
            <a:avLst/>
          </a:prstGeom>
        </p:spPr>
      </p:pic>
      <p:sp>
        <p:nvSpPr>
          <p:cNvPr id="8" name="TextBox 7">
            <a:extLst>
              <a:ext uri="{FF2B5EF4-FFF2-40B4-BE49-F238E27FC236}">
                <a16:creationId xmlns:a16="http://schemas.microsoft.com/office/drawing/2014/main" id="{EDAC0DA3-50AF-3BEA-5875-3D8006D98DAD}"/>
              </a:ext>
            </a:extLst>
          </p:cNvPr>
          <p:cNvSpPr txBox="1"/>
          <p:nvPr/>
        </p:nvSpPr>
        <p:spPr>
          <a:xfrm>
            <a:off x="440152" y="1098255"/>
            <a:ext cx="11172184" cy="1846659"/>
          </a:xfrm>
          <a:prstGeom prst="rect">
            <a:avLst/>
          </a:prstGeom>
          <a:noFill/>
        </p:spPr>
        <p:txBody>
          <a:bodyPr wrap="square">
            <a:spAutoFit/>
          </a:bodyPr>
          <a:lstStyle/>
          <a:p>
            <a:pPr lvl="0" algn="just"/>
            <a:r>
              <a:rPr lang="en-IN" sz="1600" dirty="0">
                <a:latin typeface="Inter"/>
              </a:rPr>
              <a:t>An LLM alone is not sufficient for reliable long-running software development. </a:t>
            </a:r>
            <a:r>
              <a:rPr lang="en-IN" sz="1600" b="1" dirty="0">
                <a:latin typeface="Inter"/>
              </a:rPr>
              <a:t>Harness Engineering</a:t>
            </a:r>
            <a:r>
              <a:rPr lang="en-IN" sz="1600" dirty="0">
                <a:latin typeface="Inter"/>
              </a:rPr>
              <a:t> focuses on designing the surrounding environment—context, tools, memory, state, constraints, verification, and feedback loops—so agents can effectively execute complex tasks.[14]</a:t>
            </a:r>
            <a:endParaRPr lang="en-IN" sz="1600" b="1" dirty="0">
              <a:latin typeface="Inter"/>
            </a:endParaRPr>
          </a:p>
          <a:p>
            <a:pPr lvl="0" algn="just"/>
            <a:endParaRPr lang="en-IN" sz="1600" dirty="0">
              <a:latin typeface="Inter"/>
            </a:endParaRPr>
          </a:p>
          <a:p>
            <a:pPr algn="just"/>
            <a:r>
              <a:rPr lang="en-IN" sz="1600" dirty="0">
                <a:latin typeface="Inter"/>
              </a:rPr>
              <a:t>There are things we want an agent to do that a model cannot do out of the box. This is where a harness comes in. A </a:t>
            </a:r>
            <a:r>
              <a:rPr lang="en-IN" sz="1600" b="1" dirty="0">
                <a:latin typeface="Inter"/>
              </a:rPr>
              <a:t>harness</a:t>
            </a:r>
            <a:r>
              <a:rPr lang="en-IN" sz="1600" dirty="0">
                <a:latin typeface="Inter"/>
              </a:rPr>
              <a:t> is every piece of </a:t>
            </a:r>
            <a:r>
              <a:rPr lang="en-IN" sz="1600" b="1" dirty="0">
                <a:latin typeface="Inter"/>
              </a:rPr>
              <a:t>code, configuration, and execution logic </a:t>
            </a:r>
            <a:r>
              <a:rPr lang="en-IN" sz="1600" dirty="0">
                <a:latin typeface="Inter"/>
              </a:rPr>
              <a:t>that isn't the model itself.  A raw LLM model is not an agent. But it becomes one when a harness gives it things like state, tool execution, feedback loops, and enforceable constraints. [19]</a:t>
            </a:r>
          </a:p>
        </p:txBody>
      </p:sp>
      <p:sp>
        <p:nvSpPr>
          <p:cNvPr id="23" name="TextBox 22">
            <a:extLst>
              <a:ext uri="{FF2B5EF4-FFF2-40B4-BE49-F238E27FC236}">
                <a16:creationId xmlns:a16="http://schemas.microsoft.com/office/drawing/2014/main" id="{0BC9DE60-7B50-BC23-D50B-C51A44B7737A}"/>
              </a:ext>
            </a:extLst>
          </p:cNvPr>
          <p:cNvSpPr txBox="1"/>
          <p:nvPr/>
        </p:nvSpPr>
        <p:spPr>
          <a:xfrm>
            <a:off x="440151" y="3007201"/>
            <a:ext cx="5424621" cy="2062103"/>
          </a:xfrm>
          <a:prstGeom prst="rect">
            <a:avLst/>
          </a:prstGeom>
          <a:noFill/>
        </p:spPr>
        <p:txBody>
          <a:bodyPr wrap="square">
            <a:spAutoFit/>
          </a:bodyPr>
          <a:lstStyle/>
          <a:p>
            <a:r>
              <a:rPr lang="en-IN" sz="1600" dirty="0">
                <a:latin typeface="Inter"/>
              </a:rPr>
              <a:t>Concretely, a harness includes things like:</a:t>
            </a:r>
          </a:p>
          <a:p>
            <a:pPr marL="285750" lvl="0" indent="-285750">
              <a:buFont typeface="Arial" panose="020B0604020202020204" pitchFamily="34" charset="0"/>
              <a:buChar char="•"/>
            </a:pPr>
            <a:r>
              <a:rPr lang="en-IN" sz="1600" dirty="0">
                <a:latin typeface="Inter"/>
              </a:rPr>
              <a:t>System Prompts</a:t>
            </a:r>
          </a:p>
          <a:p>
            <a:pPr marL="285750" lvl="0" indent="-285750">
              <a:buFont typeface="Arial" panose="020B0604020202020204" pitchFamily="34" charset="0"/>
              <a:buChar char="•"/>
            </a:pPr>
            <a:r>
              <a:rPr lang="en-IN" sz="1600" dirty="0">
                <a:latin typeface="Inter"/>
              </a:rPr>
              <a:t>Tools, Skills, MCPs + and their descriptions</a:t>
            </a:r>
          </a:p>
          <a:p>
            <a:pPr marL="285750" lvl="0" indent="-285750">
              <a:buFont typeface="Arial" panose="020B0604020202020204" pitchFamily="34" charset="0"/>
              <a:buChar char="•"/>
            </a:pPr>
            <a:r>
              <a:rPr lang="en-IN" sz="1600" dirty="0">
                <a:latin typeface="Inter"/>
              </a:rPr>
              <a:t>Bundled Infrastructure (filesystem, sandbox, browser)</a:t>
            </a:r>
          </a:p>
          <a:p>
            <a:pPr marL="285750" lvl="0" indent="-285750">
              <a:buFont typeface="Arial" panose="020B0604020202020204" pitchFamily="34" charset="0"/>
              <a:buChar char="•"/>
            </a:pPr>
            <a:r>
              <a:rPr lang="en-IN" sz="1600" dirty="0">
                <a:latin typeface="Inter"/>
              </a:rPr>
              <a:t>Orchestration Logic (subagent spawning, handoffs, model routing)</a:t>
            </a:r>
          </a:p>
          <a:p>
            <a:pPr marL="285750" lvl="0" indent="-285750">
              <a:buFont typeface="Arial" panose="020B0604020202020204" pitchFamily="34" charset="0"/>
              <a:buChar char="•"/>
            </a:pPr>
            <a:r>
              <a:rPr lang="en-IN" sz="1600" dirty="0">
                <a:latin typeface="Inter"/>
              </a:rPr>
              <a:t>Hooks/Middleware for deterministic execution (compaction, continuation, lint checks)</a:t>
            </a:r>
          </a:p>
        </p:txBody>
      </p:sp>
      <p:sp>
        <p:nvSpPr>
          <p:cNvPr id="5" name="Rectangle: Rounded Corners 4">
            <a:extLst>
              <a:ext uri="{FF2B5EF4-FFF2-40B4-BE49-F238E27FC236}">
                <a16:creationId xmlns:a16="http://schemas.microsoft.com/office/drawing/2014/main" id="{5661AC2A-9460-42B6-0F9C-8DEFB0C87DF7}"/>
              </a:ext>
            </a:extLst>
          </p:cNvPr>
          <p:cNvSpPr/>
          <p:nvPr/>
        </p:nvSpPr>
        <p:spPr>
          <a:xfrm>
            <a:off x="1547254" y="5590285"/>
            <a:ext cx="2483846" cy="472993"/>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73D4A8B-0AC4-2696-4A66-0D9C0CCB3165}"/>
              </a:ext>
            </a:extLst>
          </p:cNvPr>
          <p:cNvSpPr txBox="1"/>
          <p:nvPr/>
        </p:nvSpPr>
        <p:spPr>
          <a:xfrm>
            <a:off x="1655941" y="5650036"/>
            <a:ext cx="2901785" cy="338554"/>
          </a:xfrm>
          <a:prstGeom prst="rect">
            <a:avLst/>
          </a:prstGeom>
          <a:noFill/>
        </p:spPr>
        <p:txBody>
          <a:bodyPr wrap="square">
            <a:spAutoFit/>
          </a:bodyPr>
          <a:lstStyle/>
          <a:p>
            <a:r>
              <a:rPr lang="en-IN" sz="1600" b="1" i="0" dirty="0">
                <a:effectLst/>
                <a:latin typeface="Twklausanne"/>
              </a:rPr>
              <a:t>Agent = Model + Harness</a:t>
            </a:r>
            <a:endParaRPr lang="en-IN" sz="1600" b="1" dirty="0"/>
          </a:p>
        </p:txBody>
      </p:sp>
    </p:spTree>
    <p:extLst>
      <p:ext uri="{BB962C8B-B14F-4D97-AF65-F5344CB8AC3E}">
        <p14:creationId xmlns:p14="http://schemas.microsoft.com/office/powerpoint/2010/main" val="2607785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EB72A-821C-8E65-AEC1-B7C962934568}"/>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11C3D4F6-26DB-1F9C-4FE8-00CC65269027}"/>
              </a:ext>
            </a:extLst>
          </p:cNvPr>
          <p:cNvPicPr>
            <a:picLocks noChangeAspect="1"/>
          </p:cNvPicPr>
          <p:nvPr/>
        </p:nvPicPr>
        <p:blipFill>
          <a:blip r:embed="rId2"/>
          <a:stretch>
            <a:fillRect/>
          </a:stretch>
        </p:blipFill>
        <p:spPr>
          <a:xfrm>
            <a:off x="-147484" y="0"/>
            <a:ext cx="12506632" cy="6858000"/>
          </a:xfrm>
          <a:prstGeom prst="rect">
            <a:avLst/>
          </a:prstGeom>
        </p:spPr>
      </p:pic>
      <p:sp>
        <p:nvSpPr>
          <p:cNvPr id="91" name="TextBox 90">
            <a:extLst>
              <a:ext uri="{FF2B5EF4-FFF2-40B4-BE49-F238E27FC236}">
                <a16:creationId xmlns:a16="http://schemas.microsoft.com/office/drawing/2014/main" id="{A7976C4C-6236-74D5-F9C9-547092366B18}"/>
              </a:ext>
            </a:extLst>
          </p:cNvPr>
          <p:cNvSpPr txBox="1"/>
          <p:nvPr/>
        </p:nvSpPr>
        <p:spPr>
          <a:xfrm>
            <a:off x="579664" y="639950"/>
            <a:ext cx="6409715" cy="615553"/>
          </a:xfrm>
          <a:prstGeom prst="rect">
            <a:avLst/>
          </a:prstGeom>
          <a:noFill/>
        </p:spPr>
        <p:txBody>
          <a:bodyPr wrap="square" lIns="0" tIns="0" rIns="0" bIns="0" anchor="t">
            <a:spAutoFit/>
          </a:bodyPr>
          <a:lstStyle/>
          <a:p>
            <a:r>
              <a:rPr lang="en-IN" sz="4000" b="1" dirty="0">
                <a:latin typeface="Inter"/>
              </a:rPr>
              <a:t>Harness </a:t>
            </a:r>
            <a:r>
              <a:rPr lang="en-IN" sz="4000" b="1" dirty="0">
                <a:solidFill>
                  <a:schemeClr val="tx2"/>
                </a:solidFill>
                <a:latin typeface="Inter"/>
              </a:rPr>
              <a:t>Engineering</a:t>
            </a:r>
            <a:endParaRPr sz="4000" b="1" i="0" u="none" dirty="0">
              <a:solidFill>
                <a:schemeClr val="tx2"/>
              </a:solidFill>
              <a:latin typeface="Inter"/>
            </a:endParaRPr>
          </a:p>
        </p:txBody>
      </p:sp>
      <p:sp>
        <p:nvSpPr>
          <p:cNvPr id="23" name="TextBox 22">
            <a:extLst>
              <a:ext uri="{FF2B5EF4-FFF2-40B4-BE49-F238E27FC236}">
                <a16:creationId xmlns:a16="http://schemas.microsoft.com/office/drawing/2014/main" id="{43FCDFBF-E29D-DB5B-8807-0F39E1012CA8}"/>
              </a:ext>
            </a:extLst>
          </p:cNvPr>
          <p:cNvSpPr txBox="1"/>
          <p:nvPr/>
        </p:nvSpPr>
        <p:spPr>
          <a:xfrm>
            <a:off x="579094" y="2484104"/>
            <a:ext cx="5085735" cy="3431709"/>
          </a:xfrm>
          <a:prstGeom prst="rect">
            <a:avLst/>
          </a:prstGeom>
          <a:noFill/>
        </p:spPr>
        <p:txBody>
          <a:bodyPr wrap="square">
            <a:spAutoFit/>
          </a:bodyPr>
          <a:lstStyle/>
          <a:p>
            <a:pPr lvl="0" algn="just">
              <a:spcAft>
                <a:spcPts val="600"/>
              </a:spcAft>
            </a:pPr>
            <a:r>
              <a:rPr lang="en-IN" sz="1600" dirty="0"/>
              <a:t>The harness enforces a clean separation of concerns:</a:t>
            </a:r>
          </a:p>
          <a:p>
            <a:pPr marL="285750" lvl="0" indent="-285750" algn="just">
              <a:spcAft>
                <a:spcPts val="600"/>
              </a:spcAft>
              <a:buFont typeface="Arial" panose="020B0604020202020204" pitchFamily="34" charset="0"/>
              <a:buChar char="•"/>
            </a:pPr>
            <a:r>
              <a:rPr lang="en-IN" sz="1600" b="1" dirty="0"/>
              <a:t>Reasoning: </a:t>
            </a:r>
            <a:r>
              <a:rPr lang="en-IN" sz="1600" dirty="0"/>
              <a:t>Delegated entirely to the LLM; the harness does not second-guess model outputs.</a:t>
            </a:r>
          </a:p>
          <a:p>
            <a:pPr marL="285750" lvl="0" indent="-285750" algn="just">
              <a:spcAft>
                <a:spcPts val="600"/>
              </a:spcAft>
              <a:buFont typeface="Arial" panose="020B0604020202020204" pitchFamily="34" charset="0"/>
              <a:buChar char="•"/>
            </a:pPr>
            <a:r>
              <a:rPr lang="en-IN" sz="1600" b="1" dirty="0"/>
              <a:t>Execution: </a:t>
            </a:r>
            <a:r>
              <a:rPr lang="en-IN" sz="1600" dirty="0"/>
              <a:t>The harness dispatches tool calls, manages I/O, and enforces sandboxing.</a:t>
            </a:r>
          </a:p>
          <a:p>
            <a:pPr marL="285750" lvl="0" indent="-285750" algn="just">
              <a:spcAft>
                <a:spcPts val="600"/>
              </a:spcAft>
              <a:buFont typeface="Arial" panose="020B0604020202020204" pitchFamily="34" charset="0"/>
              <a:buChar char="•"/>
            </a:pPr>
            <a:r>
              <a:rPr lang="en-IN" sz="1600" b="1" dirty="0"/>
              <a:t>Memory: </a:t>
            </a:r>
            <a:r>
              <a:rPr lang="en-IN" sz="1600" dirty="0"/>
              <a:t>The harness maintains short-term (context window), working (scratchpad), and long-term (vector store / database) memory.</a:t>
            </a:r>
          </a:p>
          <a:p>
            <a:pPr marL="285750" lvl="0" indent="-285750" algn="just">
              <a:spcAft>
                <a:spcPts val="600"/>
              </a:spcAft>
              <a:buFont typeface="Arial" panose="020B0604020202020204" pitchFamily="34" charset="0"/>
              <a:buChar char="•"/>
            </a:pPr>
            <a:r>
              <a:rPr lang="en-IN" sz="1600" b="1" dirty="0"/>
              <a:t>Communication: </a:t>
            </a:r>
            <a:r>
              <a:rPr lang="en-IN" sz="1600" dirty="0"/>
              <a:t>The harness handles message routing between agents, users, and external services.</a:t>
            </a:r>
          </a:p>
          <a:p>
            <a:pPr marL="285750" lvl="0" indent="-285750" algn="just">
              <a:spcAft>
                <a:spcPts val="600"/>
              </a:spcAft>
              <a:buFont typeface="Arial" panose="020B0604020202020204" pitchFamily="34" charset="0"/>
              <a:buChar char="•"/>
            </a:pPr>
            <a:r>
              <a:rPr lang="en-IN" sz="1600" b="1" dirty="0"/>
              <a:t>Observability: </a:t>
            </a:r>
            <a:r>
              <a:rPr lang="en-IN" sz="1600" dirty="0"/>
              <a:t>The harness instruments every step for logging, tracing, and debugging [6]</a:t>
            </a:r>
          </a:p>
        </p:txBody>
      </p:sp>
      <p:sp>
        <p:nvSpPr>
          <p:cNvPr id="6" name="TextBox 5">
            <a:extLst>
              <a:ext uri="{FF2B5EF4-FFF2-40B4-BE49-F238E27FC236}">
                <a16:creationId xmlns:a16="http://schemas.microsoft.com/office/drawing/2014/main" id="{8CB9718F-72C9-38E1-D387-4104BE42869C}"/>
              </a:ext>
            </a:extLst>
          </p:cNvPr>
          <p:cNvSpPr txBox="1"/>
          <p:nvPr/>
        </p:nvSpPr>
        <p:spPr>
          <a:xfrm>
            <a:off x="525058" y="1564231"/>
            <a:ext cx="10920708" cy="584775"/>
          </a:xfrm>
          <a:prstGeom prst="rect">
            <a:avLst/>
          </a:prstGeom>
          <a:noFill/>
        </p:spPr>
        <p:txBody>
          <a:bodyPr wrap="square">
            <a:spAutoFit/>
          </a:bodyPr>
          <a:lstStyle/>
          <a:p>
            <a:r>
              <a:rPr lang="en-IN" sz="1600" b="0" i="0" dirty="0">
                <a:effectLst/>
                <a:latin typeface="Inter"/>
              </a:rPr>
              <a:t>In simple terms, harness engineering is the practice of designing the full environment that an AI agent operates within: the rules it follows, the checks it must pass, and the feedback loops that prevent the same mistake from recurring.</a:t>
            </a:r>
            <a:endParaRPr lang="en-IN" sz="1600" dirty="0">
              <a:latin typeface="Inter"/>
            </a:endParaRPr>
          </a:p>
        </p:txBody>
      </p:sp>
      <p:sp>
        <p:nvSpPr>
          <p:cNvPr id="11" name="Rectangle 10">
            <a:extLst>
              <a:ext uri="{FF2B5EF4-FFF2-40B4-BE49-F238E27FC236}">
                <a16:creationId xmlns:a16="http://schemas.microsoft.com/office/drawing/2014/main" id="{F01C18A3-C8DE-5787-A630-DCCB19D957A2}"/>
              </a:ext>
            </a:extLst>
          </p:cNvPr>
          <p:cNvSpPr/>
          <p:nvPr/>
        </p:nvSpPr>
        <p:spPr>
          <a:xfrm>
            <a:off x="6391406" y="2806837"/>
            <a:ext cx="5221499" cy="2942322"/>
          </a:xfrm>
          <a:prstGeom prst="rect">
            <a:avLst/>
          </a:prstGeom>
          <a:solidFill>
            <a:srgbClr val="F3F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4D90E273-DCC2-2331-22F5-746F44026EEE}"/>
              </a:ext>
            </a:extLst>
          </p:cNvPr>
          <p:cNvSpPr txBox="1"/>
          <p:nvPr/>
        </p:nvSpPr>
        <p:spPr>
          <a:xfrm>
            <a:off x="6720771" y="3045796"/>
            <a:ext cx="4582434" cy="2462213"/>
          </a:xfrm>
          <a:prstGeom prst="rect">
            <a:avLst/>
          </a:prstGeom>
          <a:noFill/>
        </p:spPr>
        <p:txBody>
          <a:bodyPr wrap="square">
            <a:spAutoFit/>
          </a:bodyPr>
          <a:lstStyle/>
          <a:p>
            <a:pPr algn="just">
              <a:spcBef>
                <a:spcPts val="1200"/>
              </a:spcBef>
            </a:pPr>
            <a:r>
              <a:rPr lang="en-IN" sz="1600" b="1" dirty="0">
                <a:latin typeface="Inter"/>
              </a:rPr>
              <a:t>Why Separate Concerns?</a:t>
            </a:r>
          </a:p>
          <a:p>
            <a:pPr algn="just">
              <a:spcBef>
                <a:spcPts val="1200"/>
              </a:spcBef>
            </a:pPr>
            <a:r>
              <a:rPr lang="en-IN" sz="1600" dirty="0">
                <a:latin typeface="Inter"/>
              </a:rPr>
              <a:t>A language model is a function </a:t>
            </a:r>
            <a:r>
              <a:rPr lang="en-IN" sz="1600" dirty="0" err="1">
                <a:latin typeface="Inter"/>
              </a:rPr>
              <a:t>f</a:t>
            </a:r>
            <a:r>
              <a:rPr lang="en-IN" sz="1600" baseline="-25000" dirty="0" err="1">
                <a:latin typeface="Inter"/>
              </a:rPr>
              <a:t>θ</a:t>
            </a:r>
            <a:r>
              <a:rPr lang="en-IN" sz="1600" dirty="0">
                <a:latin typeface="Inter"/>
              </a:rPr>
              <a:t> : tokens → tokens. It has no persistent state, no ability to call APIs, and no awareness of time. The harness is the “operating system” that gives the model a body—persistent memory, actuators (tools), and a scheduler (orchestrator). Just as an OS abstracts hardware from applications, the harness abstracts infrastructure from the model [6]</a:t>
            </a:r>
          </a:p>
        </p:txBody>
      </p:sp>
    </p:spTree>
    <p:extLst>
      <p:ext uri="{BB962C8B-B14F-4D97-AF65-F5344CB8AC3E}">
        <p14:creationId xmlns:p14="http://schemas.microsoft.com/office/powerpoint/2010/main" val="2528012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A51FB-63AE-1EE8-0E81-AC7ABEF8B646}"/>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7A743B80-572A-38F0-091A-258F7831DA79}"/>
              </a:ext>
            </a:extLst>
          </p:cNvPr>
          <p:cNvPicPr>
            <a:picLocks noChangeAspect="1"/>
          </p:cNvPicPr>
          <p:nvPr/>
        </p:nvPicPr>
        <p:blipFill>
          <a:blip r:embed="rId2"/>
          <a:stretch>
            <a:fillRect/>
          </a:stretch>
        </p:blipFill>
        <p:spPr>
          <a:xfrm>
            <a:off x="-147484" y="0"/>
            <a:ext cx="12506632" cy="6858000"/>
          </a:xfrm>
          <a:prstGeom prst="rect">
            <a:avLst/>
          </a:prstGeom>
        </p:spPr>
      </p:pic>
      <p:sp>
        <p:nvSpPr>
          <p:cNvPr id="91" name="TextBox 90">
            <a:extLst>
              <a:ext uri="{FF2B5EF4-FFF2-40B4-BE49-F238E27FC236}">
                <a16:creationId xmlns:a16="http://schemas.microsoft.com/office/drawing/2014/main" id="{BCF07708-4244-F145-DC9A-0F56C3203C80}"/>
              </a:ext>
            </a:extLst>
          </p:cNvPr>
          <p:cNvSpPr txBox="1"/>
          <p:nvPr/>
        </p:nvSpPr>
        <p:spPr>
          <a:xfrm>
            <a:off x="579664" y="345375"/>
            <a:ext cx="4014107" cy="615553"/>
          </a:xfrm>
          <a:prstGeom prst="rect">
            <a:avLst/>
          </a:prstGeom>
          <a:noFill/>
        </p:spPr>
        <p:txBody>
          <a:bodyPr wrap="square" lIns="0" tIns="0" rIns="0" bIns="0" anchor="t">
            <a:spAutoFit/>
          </a:bodyPr>
          <a:lstStyle/>
          <a:p>
            <a:r>
              <a:rPr lang="en-IN" sz="4000" b="1" dirty="0">
                <a:latin typeface="Inter"/>
              </a:rPr>
              <a:t>Loop </a:t>
            </a:r>
            <a:r>
              <a:rPr lang="en-IN" sz="4000" b="1" dirty="0">
                <a:solidFill>
                  <a:schemeClr val="tx2"/>
                </a:solidFill>
                <a:latin typeface="Inter"/>
              </a:rPr>
              <a:t>Engineering</a:t>
            </a:r>
            <a:endParaRPr sz="4000" b="1" i="0" u="none" dirty="0">
              <a:solidFill>
                <a:schemeClr val="tx2"/>
              </a:solidFill>
              <a:latin typeface="Inter"/>
            </a:endParaRPr>
          </a:p>
        </p:txBody>
      </p:sp>
      <p:sp>
        <p:nvSpPr>
          <p:cNvPr id="8" name="TextBox 7">
            <a:extLst>
              <a:ext uri="{FF2B5EF4-FFF2-40B4-BE49-F238E27FC236}">
                <a16:creationId xmlns:a16="http://schemas.microsoft.com/office/drawing/2014/main" id="{86728791-A7EE-C9E5-B5D3-0A6458BA64B3}"/>
              </a:ext>
            </a:extLst>
          </p:cNvPr>
          <p:cNvSpPr txBox="1"/>
          <p:nvPr/>
        </p:nvSpPr>
        <p:spPr>
          <a:xfrm>
            <a:off x="501007" y="1268014"/>
            <a:ext cx="10883695" cy="830997"/>
          </a:xfrm>
          <a:prstGeom prst="rect">
            <a:avLst/>
          </a:prstGeom>
          <a:noFill/>
        </p:spPr>
        <p:txBody>
          <a:bodyPr wrap="square">
            <a:spAutoFit/>
          </a:bodyPr>
          <a:lstStyle/>
          <a:p>
            <a:pPr lvl="0" algn="just"/>
            <a:r>
              <a:rPr lang="en-IN" sz="1600" dirty="0">
                <a:latin typeface="Inter"/>
              </a:rPr>
              <a:t>The </a:t>
            </a:r>
            <a:r>
              <a:rPr lang="en-IN" sz="1600" b="1" dirty="0">
                <a:latin typeface="Inter"/>
              </a:rPr>
              <a:t>Orchestration Harness </a:t>
            </a:r>
            <a:r>
              <a:rPr lang="en-IN" sz="1600" dirty="0">
                <a:latin typeface="Inter"/>
              </a:rPr>
              <a:t>coordinates everything: it decides when to retrieve, when to call tools, when to delegate to sub-agents, and when to ask the human for guidance, whereas </a:t>
            </a:r>
            <a:r>
              <a:rPr lang="en-IN" sz="1600" b="1" dirty="0">
                <a:latin typeface="Inter"/>
              </a:rPr>
              <a:t>Loop Engineering </a:t>
            </a:r>
            <a:r>
              <a:rPr lang="en-IN" sz="1600" dirty="0">
                <a:latin typeface="Inter"/>
              </a:rPr>
              <a:t>formalizes the harness’s retry-and-verify cycles as inference-time optimization, ensuring convergence and cost control.</a:t>
            </a:r>
          </a:p>
        </p:txBody>
      </p:sp>
      <p:pic>
        <p:nvPicPr>
          <p:cNvPr id="3" name="Picture 2">
            <a:extLst>
              <a:ext uri="{FF2B5EF4-FFF2-40B4-BE49-F238E27FC236}">
                <a16:creationId xmlns:a16="http://schemas.microsoft.com/office/drawing/2014/main" id="{88E8EDAC-6A52-B3F6-DA3B-A3BD253E07C6}"/>
              </a:ext>
            </a:extLst>
          </p:cNvPr>
          <p:cNvPicPr>
            <a:picLocks noChangeAspect="1"/>
          </p:cNvPicPr>
          <p:nvPr/>
        </p:nvPicPr>
        <p:blipFill>
          <a:blip r:embed="rId3">
            <a:duotone>
              <a:schemeClr val="accent1">
                <a:shade val="45000"/>
                <a:satMod val="135000"/>
              </a:schemeClr>
              <a:prstClr val="white"/>
            </a:duotone>
          </a:blip>
          <a:srcRect l="6623" t="12769" r="9521" b="2820"/>
          <a:stretch>
            <a:fillRect/>
          </a:stretch>
        </p:blipFill>
        <p:spPr>
          <a:xfrm>
            <a:off x="309033" y="2945530"/>
            <a:ext cx="6733794" cy="3626919"/>
          </a:xfrm>
          <a:prstGeom prst="rect">
            <a:avLst/>
          </a:prstGeom>
        </p:spPr>
      </p:pic>
      <p:sp>
        <p:nvSpPr>
          <p:cNvPr id="9" name="TextBox 8">
            <a:extLst>
              <a:ext uri="{FF2B5EF4-FFF2-40B4-BE49-F238E27FC236}">
                <a16:creationId xmlns:a16="http://schemas.microsoft.com/office/drawing/2014/main" id="{9446992B-14E4-8C4A-8F7A-60204BA7289B}"/>
              </a:ext>
            </a:extLst>
          </p:cNvPr>
          <p:cNvSpPr txBox="1"/>
          <p:nvPr/>
        </p:nvSpPr>
        <p:spPr>
          <a:xfrm>
            <a:off x="501007" y="2296833"/>
            <a:ext cx="10883695" cy="584775"/>
          </a:xfrm>
          <a:prstGeom prst="rect">
            <a:avLst/>
          </a:prstGeom>
          <a:noFill/>
        </p:spPr>
        <p:txBody>
          <a:bodyPr wrap="square">
            <a:spAutoFit/>
          </a:bodyPr>
          <a:lstStyle/>
          <a:p>
            <a:pPr algn="just"/>
            <a:r>
              <a:rPr lang="en-IN" sz="1600" dirty="0"/>
              <a:t>It reflects a structural reality: </a:t>
            </a:r>
            <a:r>
              <a:rPr lang="en-IN" sz="1600" dirty="0">
                <a:latin typeface="Inter"/>
              </a:rPr>
              <a:t>When a single agent run may last an hour and modify dozens of files, the highest-leverage engineering is no longer in the prompt—it is the </a:t>
            </a:r>
            <a:r>
              <a:rPr lang="en-IN" sz="1600" b="1" dirty="0">
                <a:latin typeface="Inter"/>
              </a:rPr>
              <a:t>Loop</a:t>
            </a:r>
            <a:r>
              <a:rPr lang="en-IN" sz="1600" dirty="0">
                <a:latin typeface="Inter"/>
              </a:rPr>
              <a:t> that keeps the agent productive, verified, and on-goal throughout.</a:t>
            </a:r>
            <a:r>
              <a:rPr lang="en-IN" sz="1600" dirty="0"/>
              <a:t> [6]</a:t>
            </a:r>
            <a:endParaRPr lang="en-IN" sz="1600" dirty="0">
              <a:latin typeface="Inter"/>
            </a:endParaRPr>
          </a:p>
        </p:txBody>
      </p:sp>
      <p:sp>
        <p:nvSpPr>
          <p:cNvPr id="6" name="Rectangle 5">
            <a:extLst>
              <a:ext uri="{FF2B5EF4-FFF2-40B4-BE49-F238E27FC236}">
                <a16:creationId xmlns:a16="http://schemas.microsoft.com/office/drawing/2014/main" id="{2ADD8EE1-A408-6811-05A7-DFACBA6A5FD5}"/>
              </a:ext>
            </a:extLst>
          </p:cNvPr>
          <p:cNvSpPr/>
          <p:nvPr/>
        </p:nvSpPr>
        <p:spPr>
          <a:xfrm>
            <a:off x="7133566" y="3260674"/>
            <a:ext cx="4526666" cy="2786242"/>
          </a:xfrm>
          <a:prstGeom prst="rect">
            <a:avLst/>
          </a:prstGeom>
          <a:solidFill>
            <a:srgbClr val="F3F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graphicFrame>
        <p:nvGraphicFramePr>
          <p:cNvPr id="5" name="Table 4">
            <a:extLst>
              <a:ext uri="{FF2B5EF4-FFF2-40B4-BE49-F238E27FC236}">
                <a16:creationId xmlns:a16="http://schemas.microsoft.com/office/drawing/2014/main" id="{828419A6-6507-4488-5C14-2690817D5E88}"/>
              </a:ext>
            </a:extLst>
          </p:cNvPr>
          <p:cNvGraphicFramePr>
            <a:graphicFrameLocks noGrp="1"/>
          </p:cNvGraphicFramePr>
          <p:nvPr>
            <p:extLst>
              <p:ext uri="{D42A27DB-BD31-4B8C-83A1-F6EECF244321}">
                <p14:modId xmlns:p14="http://schemas.microsoft.com/office/powerpoint/2010/main" val="1507910584"/>
              </p:ext>
            </p:extLst>
          </p:nvPr>
        </p:nvGraphicFramePr>
        <p:xfrm>
          <a:off x="7329157" y="3429000"/>
          <a:ext cx="4229565" cy="2443480"/>
        </p:xfrm>
        <a:graphic>
          <a:graphicData uri="http://schemas.openxmlformats.org/drawingml/2006/table">
            <a:tbl>
              <a:tblPr firstRow="1" bandRow="1">
                <a:tableStyleId>{2D5ABB26-0587-4C30-8999-92F81FD0307C}</a:tableStyleId>
              </a:tblPr>
              <a:tblGrid>
                <a:gridCol w="4229565">
                  <a:extLst>
                    <a:ext uri="{9D8B030D-6E8A-4147-A177-3AD203B41FA5}">
                      <a16:colId xmlns:a16="http://schemas.microsoft.com/office/drawing/2014/main" val="2198027073"/>
                    </a:ext>
                  </a:extLst>
                </a:gridCol>
              </a:tblGrid>
              <a:tr h="370840">
                <a:tc>
                  <a:txBody>
                    <a:bodyPr/>
                    <a:lstStyle/>
                    <a:p>
                      <a:r>
                        <a:rPr lang="en-IN" sz="1400" b="1" dirty="0">
                          <a:latin typeface="Inter"/>
                        </a:rPr>
                        <a:t>From Prompt to Loop: </a:t>
                      </a:r>
                      <a:r>
                        <a:rPr lang="en-IN" sz="1400" dirty="0">
                          <a:latin typeface="Inter"/>
                        </a:rPr>
                        <a:t>The Engineering Progression</a:t>
                      </a:r>
                      <a:r>
                        <a:rPr lang="en-IN" sz="1400" dirty="0"/>
                        <a:t>[6]</a:t>
                      </a:r>
                      <a:endParaRPr lang="en-IN" sz="1400" dirty="0">
                        <a:latin typeface="Inter"/>
                      </a:endParaRPr>
                    </a:p>
                  </a:txBody>
                  <a:tcPr/>
                </a:tc>
                <a:extLst>
                  <a:ext uri="{0D108BD9-81ED-4DB2-BD59-A6C34878D82A}">
                    <a16:rowId xmlns:a16="http://schemas.microsoft.com/office/drawing/2014/main" val="1136259710"/>
                  </a:ext>
                </a:extLst>
              </a:tr>
              <a:tr h="370840">
                <a:tc>
                  <a:txBody>
                    <a:bodyPr/>
                    <a:lstStyle/>
                    <a:p>
                      <a:r>
                        <a:rPr lang="en-IN" sz="1400" b="1" dirty="0">
                          <a:latin typeface="Inter"/>
                        </a:rPr>
                        <a:t>1. Prompt engineering: </a:t>
                      </a:r>
                      <a:r>
                        <a:rPr lang="en-IN" sz="1400" dirty="0">
                          <a:latin typeface="Inter"/>
                        </a:rPr>
                        <a:t>Optimize what you say to the model (2022–24)</a:t>
                      </a:r>
                    </a:p>
                  </a:txBody>
                  <a:tcPr/>
                </a:tc>
                <a:extLst>
                  <a:ext uri="{0D108BD9-81ED-4DB2-BD59-A6C34878D82A}">
                    <a16:rowId xmlns:a16="http://schemas.microsoft.com/office/drawing/2014/main" val="1361730842"/>
                  </a:ext>
                </a:extLst>
              </a:tr>
              <a:tr h="370840">
                <a:tc>
                  <a:txBody>
                    <a:bodyPr/>
                    <a:lstStyle/>
                    <a:p>
                      <a:r>
                        <a:rPr lang="en-IN" sz="1400" b="1" dirty="0">
                          <a:latin typeface="Inter"/>
                        </a:rPr>
                        <a:t>2. Context engineering: </a:t>
                      </a:r>
                      <a:r>
                        <a:rPr lang="en-IN" sz="1400" dirty="0">
                          <a:latin typeface="Inter"/>
                        </a:rPr>
                        <a:t>Optimize everything the model sees (2025)</a:t>
                      </a:r>
                    </a:p>
                  </a:txBody>
                  <a:tcPr/>
                </a:tc>
                <a:extLst>
                  <a:ext uri="{0D108BD9-81ED-4DB2-BD59-A6C34878D82A}">
                    <a16:rowId xmlns:a16="http://schemas.microsoft.com/office/drawing/2014/main" val="1248886952"/>
                  </a:ext>
                </a:extLst>
              </a:tr>
              <a:tr h="370840">
                <a:tc>
                  <a:txBody>
                    <a:bodyPr/>
                    <a:lstStyle/>
                    <a:p>
                      <a:r>
                        <a:rPr lang="en-IN" sz="1400" b="1" dirty="0">
                          <a:latin typeface="Inter"/>
                        </a:rPr>
                        <a:t>3. Harness engineering: </a:t>
                      </a:r>
                      <a:r>
                        <a:rPr lang="en-IN" sz="1400" dirty="0">
                          <a:latin typeface="Inter"/>
                        </a:rPr>
                        <a:t>Optimize the environment the agent runs in (2025–26)</a:t>
                      </a:r>
                    </a:p>
                  </a:txBody>
                  <a:tcPr/>
                </a:tc>
                <a:extLst>
                  <a:ext uri="{0D108BD9-81ED-4DB2-BD59-A6C34878D82A}">
                    <a16:rowId xmlns:a16="http://schemas.microsoft.com/office/drawing/2014/main" val="1454841582"/>
                  </a:ext>
                </a:extLst>
              </a:tr>
              <a:tr h="370840">
                <a:tc>
                  <a:txBody>
                    <a:bodyPr/>
                    <a:lstStyle/>
                    <a:p>
                      <a:r>
                        <a:rPr lang="en-IN" sz="1400" b="1" dirty="0">
                          <a:latin typeface="Inter"/>
                        </a:rPr>
                        <a:t>4. Loop engineering: </a:t>
                      </a:r>
                      <a:r>
                        <a:rPr lang="en-IN" sz="1400" dirty="0">
                          <a:latin typeface="Inter"/>
                        </a:rPr>
                        <a:t>Optimize the cycle that keeps the agent working toward a goal (2026)</a:t>
                      </a:r>
                    </a:p>
                  </a:txBody>
                  <a:tcPr/>
                </a:tc>
                <a:extLst>
                  <a:ext uri="{0D108BD9-81ED-4DB2-BD59-A6C34878D82A}">
                    <a16:rowId xmlns:a16="http://schemas.microsoft.com/office/drawing/2014/main" val="2480078822"/>
                  </a:ext>
                </a:extLst>
              </a:tr>
            </a:tbl>
          </a:graphicData>
        </a:graphic>
      </p:graphicFrame>
    </p:spTree>
    <p:extLst>
      <p:ext uri="{BB962C8B-B14F-4D97-AF65-F5344CB8AC3E}">
        <p14:creationId xmlns:p14="http://schemas.microsoft.com/office/powerpoint/2010/main" val="3722326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6A343-3618-EF1E-F859-893351AEAE8F}"/>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233EAD52-4789-C1CA-A6CE-356379EB711E}"/>
              </a:ext>
            </a:extLst>
          </p:cNvPr>
          <p:cNvPicPr>
            <a:picLocks noChangeAspect="1"/>
          </p:cNvPicPr>
          <p:nvPr/>
        </p:nvPicPr>
        <p:blipFill>
          <a:blip r:embed="rId2"/>
          <a:stretch>
            <a:fillRect/>
          </a:stretch>
        </p:blipFill>
        <p:spPr>
          <a:xfrm>
            <a:off x="-147484" y="0"/>
            <a:ext cx="12506632" cy="6858000"/>
          </a:xfrm>
          <a:prstGeom prst="rect">
            <a:avLst/>
          </a:prstGeom>
        </p:spPr>
      </p:pic>
      <p:sp>
        <p:nvSpPr>
          <p:cNvPr id="91" name="TextBox 90">
            <a:extLst>
              <a:ext uri="{FF2B5EF4-FFF2-40B4-BE49-F238E27FC236}">
                <a16:creationId xmlns:a16="http://schemas.microsoft.com/office/drawing/2014/main" id="{F91AB7D6-C623-B9DA-14ED-C902F3A264C5}"/>
              </a:ext>
            </a:extLst>
          </p:cNvPr>
          <p:cNvSpPr txBox="1"/>
          <p:nvPr/>
        </p:nvSpPr>
        <p:spPr>
          <a:xfrm>
            <a:off x="568317" y="557358"/>
            <a:ext cx="4014107" cy="615553"/>
          </a:xfrm>
          <a:prstGeom prst="rect">
            <a:avLst/>
          </a:prstGeom>
          <a:noFill/>
        </p:spPr>
        <p:txBody>
          <a:bodyPr wrap="square" lIns="0" tIns="0" rIns="0" bIns="0" anchor="t">
            <a:spAutoFit/>
          </a:bodyPr>
          <a:lstStyle/>
          <a:p>
            <a:r>
              <a:rPr lang="en-IN" sz="4000" b="1" dirty="0">
                <a:latin typeface="Inter"/>
              </a:rPr>
              <a:t>Loop </a:t>
            </a:r>
            <a:r>
              <a:rPr lang="en-IN" sz="4000" b="1" dirty="0">
                <a:solidFill>
                  <a:schemeClr val="tx2"/>
                </a:solidFill>
                <a:latin typeface="Inter"/>
              </a:rPr>
              <a:t>Engineering</a:t>
            </a:r>
            <a:endParaRPr sz="4000" b="1" i="0" u="none" dirty="0">
              <a:solidFill>
                <a:schemeClr val="tx2"/>
              </a:solidFill>
              <a:latin typeface="Inter"/>
            </a:endParaRPr>
          </a:p>
        </p:txBody>
      </p:sp>
      <p:pic>
        <p:nvPicPr>
          <p:cNvPr id="12" name="Picture 11">
            <a:extLst>
              <a:ext uri="{FF2B5EF4-FFF2-40B4-BE49-F238E27FC236}">
                <a16:creationId xmlns:a16="http://schemas.microsoft.com/office/drawing/2014/main" id="{9EFD6ED6-F017-FA56-C36B-36EF94D40112}"/>
              </a:ext>
            </a:extLst>
          </p:cNvPr>
          <p:cNvPicPr>
            <a:picLocks noChangeAspect="1"/>
          </p:cNvPicPr>
          <p:nvPr/>
        </p:nvPicPr>
        <p:blipFill>
          <a:blip r:embed="rId3"/>
          <a:stretch>
            <a:fillRect/>
          </a:stretch>
        </p:blipFill>
        <p:spPr>
          <a:xfrm>
            <a:off x="568317" y="2785506"/>
            <a:ext cx="6765813" cy="1101835"/>
          </a:xfrm>
          <a:prstGeom prst="rect">
            <a:avLst/>
          </a:prstGeom>
        </p:spPr>
      </p:pic>
      <p:sp>
        <p:nvSpPr>
          <p:cNvPr id="6" name="Rectangle 5">
            <a:extLst>
              <a:ext uri="{FF2B5EF4-FFF2-40B4-BE49-F238E27FC236}">
                <a16:creationId xmlns:a16="http://schemas.microsoft.com/office/drawing/2014/main" id="{EBCC2312-245F-2C21-F56B-1C4CF91EB7CD}"/>
              </a:ext>
            </a:extLst>
          </p:cNvPr>
          <p:cNvSpPr/>
          <p:nvPr/>
        </p:nvSpPr>
        <p:spPr>
          <a:xfrm>
            <a:off x="7334130" y="585835"/>
            <a:ext cx="4522839" cy="3513829"/>
          </a:xfrm>
          <a:prstGeom prst="rect">
            <a:avLst/>
          </a:prstGeom>
          <a:solidFill>
            <a:srgbClr val="F3F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F97CC6EC-94B8-48F8-0A1D-B737839F963A}"/>
              </a:ext>
            </a:extLst>
          </p:cNvPr>
          <p:cNvSpPr txBox="1"/>
          <p:nvPr/>
        </p:nvSpPr>
        <p:spPr>
          <a:xfrm>
            <a:off x="546763" y="1511753"/>
            <a:ext cx="6460234" cy="830997"/>
          </a:xfrm>
          <a:prstGeom prst="rect">
            <a:avLst/>
          </a:prstGeom>
          <a:noFill/>
        </p:spPr>
        <p:txBody>
          <a:bodyPr wrap="square">
            <a:spAutoFit/>
          </a:bodyPr>
          <a:lstStyle/>
          <a:p>
            <a:pPr algn="just"/>
            <a:r>
              <a:rPr lang="en-IN" sz="1600" dirty="0"/>
              <a:t>A well-engineered agent loop is structurally identical to an RL optimization process operating at inference time—without gradient updates to the model weights:</a:t>
            </a:r>
            <a:endParaRPr lang="en-IN" sz="1600" dirty="0">
              <a:latin typeface="Inter"/>
            </a:endParaRPr>
          </a:p>
        </p:txBody>
      </p:sp>
      <p:sp>
        <p:nvSpPr>
          <p:cNvPr id="15" name="TextBox 14">
            <a:extLst>
              <a:ext uri="{FF2B5EF4-FFF2-40B4-BE49-F238E27FC236}">
                <a16:creationId xmlns:a16="http://schemas.microsoft.com/office/drawing/2014/main" id="{D239941A-8B0F-7AEF-9019-9E00DF3C177D}"/>
              </a:ext>
            </a:extLst>
          </p:cNvPr>
          <p:cNvSpPr txBox="1"/>
          <p:nvPr/>
        </p:nvSpPr>
        <p:spPr>
          <a:xfrm>
            <a:off x="481717" y="4303598"/>
            <a:ext cx="6640681" cy="1815882"/>
          </a:xfrm>
          <a:prstGeom prst="rect">
            <a:avLst/>
          </a:prstGeom>
          <a:noFill/>
        </p:spPr>
        <p:txBody>
          <a:bodyPr wrap="square">
            <a:spAutoFit/>
          </a:bodyPr>
          <a:lstStyle/>
          <a:p>
            <a:pPr algn="just"/>
            <a:r>
              <a:rPr lang="en-IN" sz="1600" dirty="0">
                <a:latin typeface="Inter"/>
              </a:rPr>
              <a:t>The </a:t>
            </a:r>
            <a:r>
              <a:rPr lang="en-IN" sz="1600" b="1" dirty="0">
                <a:latin typeface="Inter"/>
              </a:rPr>
              <a:t>loop</a:t>
            </a:r>
            <a:r>
              <a:rPr lang="en-IN" sz="1600" dirty="0">
                <a:latin typeface="Inter"/>
              </a:rPr>
              <a:t> continues until </a:t>
            </a:r>
            <a:r>
              <a:rPr lang="en-IN" sz="1600" b="1" dirty="0">
                <a:latin typeface="Inter"/>
              </a:rPr>
              <a:t>r</a:t>
            </a:r>
            <a:r>
              <a:rPr lang="en-IN" sz="1600" b="1" baseline="-25000" dirty="0">
                <a:latin typeface="Inter"/>
              </a:rPr>
              <a:t>t</a:t>
            </a:r>
            <a:r>
              <a:rPr lang="en-IN" sz="1600" dirty="0">
                <a:latin typeface="Inter"/>
              </a:rPr>
              <a:t> exceeds a success threshold or a termination condition triggers. The “policy” </a:t>
            </a:r>
            <a:r>
              <a:rPr lang="en-IN" sz="1600" b="1" dirty="0">
                <a:latin typeface="Inter"/>
              </a:rPr>
              <a:t>π</a:t>
            </a:r>
            <a:r>
              <a:rPr lang="en-IN" sz="1600" b="1" baseline="-25000" dirty="0">
                <a:latin typeface="Inter"/>
              </a:rPr>
              <a:t>θ</a:t>
            </a:r>
            <a:r>
              <a:rPr lang="en-IN" sz="1600" dirty="0">
                <a:latin typeface="Inter"/>
              </a:rPr>
              <a:t> is not updated via gradients; instead, the </a:t>
            </a:r>
            <a:r>
              <a:rPr lang="en-IN" sz="1600" b="1" i="1" dirty="0">
                <a:latin typeface="Inter"/>
              </a:rPr>
              <a:t>state</a:t>
            </a:r>
            <a:r>
              <a:rPr lang="en-IN" sz="1600" dirty="0">
                <a:latin typeface="Inter"/>
              </a:rPr>
              <a:t> is updated—observations, error messages, and reflections are appended to the context, conditioning the same frozen model to produce better actions on subsequent iterations. This is precisely the mechanism behind </a:t>
            </a:r>
            <a:r>
              <a:rPr lang="en-IN" sz="1600" b="1" dirty="0">
                <a:latin typeface="Inter"/>
              </a:rPr>
              <a:t>Reflexion</a:t>
            </a:r>
            <a:r>
              <a:rPr lang="en-IN" sz="1600" dirty="0">
                <a:latin typeface="Inter"/>
              </a:rPr>
              <a:t>, the model improves across iterations not by learning new weights but by reading its own failure history.</a:t>
            </a:r>
            <a:r>
              <a:rPr lang="en-IN" sz="1600" dirty="0"/>
              <a:t> [6]</a:t>
            </a:r>
            <a:endParaRPr lang="en-IN" sz="1600" dirty="0">
              <a:latin typeface="Inter"/>
            </a:endParaRPr>
          </a:p>
        </p:txBody>
      </p:sp>
      <p:sp>
        <p:nvSpPr>
          <p:cNvPr id="17" name="TextBox 16">
            <a:extLst>
              <a:ext uri="{FF2B5EF4-FFF2-40B4-BE49-F238E27FC236}">
                <a16:creationId xmlns:a16="http://schemas.microsoft.com/office/drawing/2014/main" id="{F96F1D3E-A68C-15ED-968F-637729290D75}"/>
              </a:ext>
            </a:extLst>
          </p:cNvPr>
          <p:cNvSpPr txBox="1"/>
          <p:nvPr/>
        </p:nvSpPr>
        <p:spPr>
          <a:xfrm>
            <a:off x="7489980" y="779646"/>
            <a:ext cx="4233182" cy="3170099"/>
          </a:xfrm>
          <a:prstGeom prst="rect">
            <a:avLst/>
          </a:prstGeom>
          <a:noFill/>
        </p:spPr>
        <p:txBody>
          <a:bodyPr wrap="square">
            <a:spAutoFit/>
          </a:bodyPr>
          <a:lstStyle/>
          <a:p>
            <a:pPr>
              <a:spcBef>
                <a:spcPts val="600"/>
              </a:spcBef>
            </a:pPr>
            <a:r>
              <a:rPr lang="en-IN" sz="1400" b="1" dirty="0">
                <a:latin typeface="Inter"/>
              </a:rPr>
              <a:t>Reflection in Practice (Reflexion) </a:t>
            </a:r>
          </a:p>
          <a:p>
            <a:pPr>
              <a:spcBef>
                <a:spcPts val="600"/>
              </a:spcBef>
            </a:pPr>
            <a:r>
              <a:rPr lang="en-IN" sz="1400" dirty="0">
                <a:latin typeface="Inter"/>
              </a:rPr>
              <a:t>Example: After three failed attempts to solve a coding problem, the agent reflects:</a:t>
            </a:r>
          </a:p>
          <a:p>
            <a:pPr marL="342900" indent="-342900">
              <a:spcBef>
                <a:spcPts val="600"/>
              </a:spcBef>
              <a:buAutoNum type="arabicPeriod"/>
            </a:pPr>
            <a:r>
              <a:rPr lang="en-IN" sz="1400" dirty="0">
                <a:latin typeface="Inter"/>
              </a:rPr>
              <a:t>Retrieves the three failure episodes from episodic memory.</a:t>
            </a:r>
          </a:p>
          <a:p>
            <a:pPr marL="342900" indent="-342900">
              <a:spcBef>
                <a:spcPts val="600"/>
              </a:spcBef>
              <a:buAutoNum type="arabicPeriod"/>
            </a:pPr>
            <a:r>
              <a:rPr lang="en-IN" sz="1400" dirty="0">
                <a:latin typeface="Inter"/>
              </a:rPr>
              <a:t>Generates an insight: “I keep forgetting to handle the edge case where the input list is empty.”</a:t>
            </a:r>
          </a:p>
          <a:p>
            <a:pPr marL="342900" indent="-342900">
              <a:spcBef>
                <a:spcPts val="600"/>
              </a:spcBef>
              <a:buAutoNum type="arabicPeriod"/>
            </a:pPr>
            <a:r>
              <a:rPr lang="en-IN" sz="1400" dirty="0">
                <a:latin typeface="Inter"/>
              </a:rPr>
              <a:t>Stores this insight in semantic memory.</a:t>
            </a:r>
          </a:p>
          <a:p>
            <a:pPr marL="342900" indent="-342900">
              <a:spcBef>
                <a:spcPts val="600"/>
              </a:spcBef>
              <a:buAutoNum type="arabicPeriod"/>
            </a:pPr>
            <a:r>
              <a:rPr lang="en-IN" sz="1400" dirty="0">
                <a:latin typeface="Inter"/>
              </a:rPr>
              <a:t>On the next attempt, retrieves the insight and explicitly checks for empty inputs.</a:t>
            </a:r>
          </a:p>
          <a:p>
            <a:pPr>
              <a:spcBef>
                <a:spcPts val="600"/>
              </a:spcBef>
            </a:pPr>
            <a:r>
              <a:rPr lang="en-IN" sz="1400" dirty="0">
                <a:latin typeface="Inter"/>
              </a:rPr>
              <a:t>This is the core mechanism of </a:t>
            </a:r>
            <a:r>
              <a:rPr lang="en-IN" sz="1400" b="1" dirty="0">
                <a:latin typeface="Inter"/>
              </a:rPr>
              <a:t>Reflexion</a:t>
            </a:r>
            <a:r>
              <a:rPr lang="en-IN" sz="1400" dirty="0">
                <a:latin typeface="Inter"/>
              </a:rPr>
              <a:t>; learning via self-reflection.</a:t>
            </a:r>
            <a:r>
              <a:rPr lang="en-IN" sz="1400" dirty="0"/>
              <a:t> [6]</a:t>
            </a:r>
            <a:endParaRPr lang="en-IN" sz="1400" dirty="0">
              <a:latin typeface="Inter"/>
            </a:endParaRPr>
          </a:p>
        </p:txBody>
      </p:sp>
      <p:sp>
        <p:nvSpPr>
          <p:cNvPr id="4" name="Rectangle 3">
            <a:extLst>
              <a:ext uri="{FF2B5EF4-FFF2-40B4-BE49-F238E27FC236}">
                <a16:creationId xmlns:a16="http://schemas.microsoft.com/office/drawing/2014/main" id="{463F7D9E-D662-59E8-BFD2-BBADBF1A6EC9}"/>
              </a:ext>
            </a:extLst>
          </p:cNvPr>
          <p:cNvSpPr/>
          <p:nvPr/>
        </p:nvSpPr>
        <p:spPr>
          <a:xfrm>
            <a:off x="7345151" y="4218038"/>
            <a:ext cx="4522839" cy="2261419"/>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30E907F3-0D86-55D5-8B3E-EAD2AB23F10F}"/>
              </a:ext>
            </a:extLst>
          </p:cNvPr>
          <p:cNvSpPr txBox="1"/>
          <p:nvPr/>
        </p:nvSpPr>
        <p:spPr>
          <a:xfrm>
            <a:off x="7525491" y="4342926"/>
            <a:ext cx="4140115" cy="2031325"/>
          </a:xfrm>
          <a:prstGeom prst="rect">
            <a:avLst/>
          </a:prstGeom>
          <a:noFill/>
        </p:spPr>
        <p:txBody>
          <a:bodyPr wrap="square">
            <a:spAutoFit/>
          </a:bodyPr>
          <a:lstStyle/>
          <a:p>
            <a:pPr algn="just"/>
            <a:r>
              <a:rPr lang="en-IN" sz="1400" b="1" dirty="0"/>
              <a:t>Harness Engineering</a:t>
            </a:r>
            <a:r>
              <a:rPr lang="en-IN" sz="1400" dirty="0"/>
              <a:t> provides the controlled environment around agents—giving them the right context, tools, permissions, testing, guardrails, and observability for reliable execution. </a:t>
            </a:r>
            <a:r>
              <a:rPr lang="en-IN" sz="1400" b="1" dirty="0"/>
              <a:t>Loop Engineering</a:t>
            </a:r>
            <a:r>
              <a:rPr lang="en-IN" sz="1400" dirty="0"/>
              <a:t> enables continuous autonomous operation by repeatedly discovering tasks, executing them, verifying results, learning from feedback, and re-planning when needed. Together, they can make our Autonomous SDLC more </a:t>
            </a:r>
            <a:r>
              <a:rPr lang="en-IN" sz="1400" b="1" dirty="0"/>
              <a:t>reliable, adaptive, and self-correcting</a:t>
            </a:r>
            <a:r>
              <a:rPr lang="en-IN" sz="1400" dirty="0"/>
              <a:t>.</a:t>
            </a:r>
          </a:p>
        </p:txBody>
      </p:sp>
    </p:spTree>
    <p:extLst>
      <p:ext uri="{BB962C8B-B14F-4D97-AF65-F5344CB8AC3E}">
        <p14:creationId xmlns:p14="http://schemas.microsoft.com/office/powerpoint/2010/main" val="3319489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B2A10-83F7-4C61-F86C-5227FAA7E0C3}"/>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DF615219-2271-79D8-CAE0-6F2D261ECF38}"/>
              </a:ext>
            </a:extLst>
          </p:cNvPr>
          <p:cNvPicPr>
            <a:picLocks noChangeAspect="1"/>
          </p:cNvPicPr>
          <p:nvPr/>
        </p:nvPicPr>
        <p:blipFill>
          <a:blip r:embed="rId2"/>
          <a:stretch>
            <a:fillRect/>
          </a:stretch>
        </p:blipFill>
        <p:spPr>
          <a:xfrm>
            <a:off x="0" y="0"/>
            <a:ext cx="12192000" cy="6858000"/>
          </a:xfrm>
          <a:prstGeom prst="rect">
            <a:avLst/>
          </a:prstGeom>
        </p:spPr>
      </p:pic>
      <p:sp>
        <p:nvSpPr>
          <p:cNvPr id="91" name="TextBox 90">
            <a:extLst>
              <a:ext uri="{FF2B5EF4-FFF2-40B4-BE49-F238E27FC236}">
                <a16:creationId xmlns:a16="http://schemas.microsoft.com/office/drawing/2014/main" id="{B719C41D-7560-1C53-685D-566FDDC7EFA1}"/>
              </a:ext>
            </a:extLst>
          </p:cNvPr>
          <p:cNvSpPr txBox="1"/>
          <p:nvPr/>
        </p:nvSpPr>
        <p:spPr>
          <a:xfrm>
            <a:off x="602125" y="465115"/>
            <a:ext cx="11601450" cy="492443"/>
          </a:xfrm>
          <a:prstGeom prst="rect">
            <a:avLst/>
          </a:prstGeom>
          <a:noFill/>
        </p:spPr>
        <p:txBody>
          <a:bodyPr wrap="square" lIns="0" tIns="0" rIns="0" bIns="0" anchor="t">
            <a:spAutoFit/>
          </a:bodyPr>
          <a:lstStyle/>
          <a:p>
            <a:r>
              <a:rPr lang="en-IN" sz="3200" b="1" dirty="0">
                <a:solidFill>
                  <a:schemeClr val="tx2"/>
                </a:solidFill>
                <a:latin typeface="Inter"/>
              </a:rPr>
              <a:t>MCP</a:t>
            </a:r>
            <a:r>
              <a:rPr lang="en-IN" sz="3200" b="1" dirty="0">
                <a:latin typeface="Inter"/>
              </a:rPr>
              <a:t> &amp; Why Do We Need It?</a:t>
            </a:r>
            <a:endParaRPr sz="3200" b="1" i="0" u="none" dirty="0">
              <a:solidFill>
                <a:srgbClr val="0F172A"/>
              </a:solidFill>
              <a:latin typeface="Inter"/>
            </a:endParaRPr>
          </a:p>
        </p:txBody>
      </p:sp>
      <p:pic>
        <p:nvPicPr>
          <p:cNvPr id="13" name="Picture 12">
            <a:extLst>
              <a:ext uri="{FF2B5EF4-FFF2-40B4-BE49-F238E27FC236}">
                <a16:creationId xmlns:a16="http://schemas.microsoft.com/office/drawing/2014/main" id="{65562AC2-E163-4739-F1B0-140696516A3A}"/>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harpenSoften amount="50000"/>
                    </a14:imgEffect>
                    <a14:imgEffect>
                      <a14:saturation sat="0"/>
                    </a14:imgEffect>
                  </a14:imgLayer>
                </a14:imgProps>
              </a:ext>
            </a:extLst>
          </a:blip>
          <a:srcRect t="378" b="378"/>
          <a:stretch/>
        </p:blipFill>
        <p:spPr>
          <a:xfrm>
            <a:off x="5820696" y="3294061"/>
            <a:ext cx="5653548" cy="2900517"/>
          </a:xfrm>
          <a:prstGeom prst="rect">
            <a:avLst/>
          </a:prstGeom>
        </p:spPr>
      </p:pic>
      <p:sp>
        <p:nvSpPr>
          <p:cNvPr id="23" name="TextBox 22">
            <a:extLst>
              <a:ext uri="{FF2B5EF4-FFF2-40B4-BE49-F238E27FC236}">
                <a16:creationId xmlns:a16="http://schemas.microsoft.com/office/drawing/2014/main" id="{E0A7518F-0865-38EA-0F51-A054D18CA863}"/>
              </a:ext>
            </a:extLst>
          </p:cNvPr>
          <p:cNvSpPr txBox="1"/>
          <p:nvPr/>
        </p:nvSpPr>
        <p:spPr>
          <a:xfrm>
            <a:off x="602124" y="3765541"/>
            <a:ext cx="5393561" cy="2369880"/>
          </a:xfrm>
          <a:prstGeom prst="rect">
            <a:avLst/>
          </a:prstGeom>
          <a:noFill/>
        </p:spPr>
        <p:txBody>
          <a:bodyPr wrap="square">
            <a:spAutoFit/>
          </a:bodyPr>
          <a:lstStyle/>
          <a:p>
            <a:pPr lvl="0" algn="just">
              <a:spcAft>
                <a:spcPts val="600"/>
              </a:spcAft>
            </a:pPr>
            <a:r>
              <a:rPr lang="en-IN" sz="1600" dirty="0">
                <a:latin typeface="Inter"/>
              </a:rPr>
              <a:t>Here is a simplified look at how MCP would handle this:</a:t>
            </a:r>
          </a:p>
          <a:p>
            <a:pPr lvl="0" algn="just">
              <a:spcAft>
                <a:spcPts val="600"/>
              </a:spcAft>
            </a:pPr>
            <a:r>
              <a:rPr lang="en-IN" sz="1600" b="1" dirty="0"/>
              <a:t>1. Discover Tools:</a:t>
            </a:r>
            <a:r>
              <a:rPr lang="en-IN" sz="1600" dirty="0"/>
              <a:t> AI realizes it needs external help and finds the database and email tools registered on MCP.</a:t>
            </a:r>
          </a:p>
          <a:p>
            <a:pPr lvl="0" algn="just">
              <a:spcAft>
                <a:spcPts val="600"/>
              </a:spcAft>
            </a:pPr>
            <a:r>
              <a:rPr lang="en-IN" sz="1600" b="1" dirty="0"/>
              <a:t>2. Fetch Data:</a:t>
            </a:r>
            <a:r>
              <a:rPr lang="en-IN" sz="1600" dirty="0"/>
              <a:t> AI requests the sales report via MCP; the database server fetches and returns the report.</a:t>
            </a:r>
          </a:p>
          <a:p>
            <a:pPr lvl="0" algn="just">
              <a:spcAft>
                <a:spcPts val="600"/>
              </a:spcAft>
            </a:pPr>
            <a:r>
              <a:rPr lang="en-IN" sz="1600" b="1" dirty="0"/>
              <a:t>3. Send Email:</a:t>
            </a:r>
            <a:r>
              <a:rPr lang="en-IN" sz="1600" dirty="0"/>
              <a:t> AI hands the report to the email tool, which sends it to the manager.</a:t>
            </a:r>
          </a:p>
          <a:p>
            <a:pPr lvl="0" algn="just">
              <a:spcAft>
                <a:spcPts val="600"/>
              </a:spcAft>
            </a:pPr>
            <a:r>
              <a:rPr lang="en-IN" sz="1600" b="1" dirty="0"/>
              <a:t>4. Confirm:</a:t>
            </a:r>
            <a:r>
              <a:rPr lang="en-IN" sz="1600" dirty="0"/>
              <a:t> AI tells you the task is finished. [18][6]</a:t>
            </a:r>
          </a:p>
        </p:txBody>
      </p:sp>
      <p:sp>
        <p:nvSpPr>
          <p:cNvPr id="3" name="TextBox 2">
            <a:extLst>
              <a:ext uri="{FF2B5EF4-FFF2-40B4-BE49-F238E27FC236}">
                <a16:creationId xmlns:a16="http://schemas.microsoft.com/office/drawing/2014/main" id="{2422BFC7-92B9-7F43-DA6F-4B0927067CE0}"/>
              </a:ext>
            </a:extLst>
          </p:cNvPr>
          <p:cNvSpPr txBox="1"/>
          <p:nvPr/>
        </p:nvSpPr>
        <p:spPr>
          <a:xfrm>
            <a:off x="5820696" y="6168796"/>
            <a:ext cx="5653548" cy="461665"/>
          </a:xfrm>
          <a:prstGeom prst="rect">
            <a:avLst/>
          </a:prstGeom>
          <a:noFill/>
        </p:spPr>
        <p:txBody>
          <a:bodyPr wrap="square">
            <a:spAutoFit/>
          </a:bodyPr>
          <a:lstStyle/>
          <a:p>
            <a:r>
              <a:rPr lang="en-IN" sz="1200" b="1" dirty="0"/>
              <a:t>Fig: </a:t>
            </a:r>
            <a:r>
              <a:rPr lang="en-IN" sz="1200" dirty="0"/>
              <a:t>MCP architecture. The harness acts as an MCP client, routing tool calls to specialized MCP servers over standardized transports.[6]</a:t>
            </a:r>
          </a:p>
        </p:txBody>
      </p:sp>
      <p:sp>
        <p:nvSpPr>
          <p:cNvPr id="8" name="TextBox 7">
            <a:extLst>
              <a:ext uri="{FF2B5EF4-FFF2-40B4-BE49-F238E27FC236}">
                <a16:creationId xmlns:a16="http://schemas.microsoft.com/office/drawing/2014/main" id="{5904C286-E601-85E1-F7F3-563EE4CF777A}"/>
              </a:ext>
            </a:extLst>
          </p:cNvPr>
          <p:cNvSpPr txBox="1"/>
          <p:nvPr/>
        </p:nvSpPr>
        <p:spPr>
          <a:xfrm>
            <a:off x="521099" y="1157646"/>
            <a:ext cx="10883695" cy="2215991"/>
          </a:xfrm>
          <a:prstGeom prst="rect">
            <a:avLst/>
          </a:prstGeom>
          <a:noFill/>
        </p:spPr>
        <p:txBody>
          <a:bodyPr wrap="square">
            <a:spAutoFit/>
          </a:bodyPr>
          <a:lstStyle/>
          <a:p>
            <a:pPr marL="342900" lvl="0" indent="-342900" algn="just">
              <a:spcBef>
                <a:spcPts val="600"/>
              </a:spcBef>
              <a:buFont typeface="Arial" panose="020B0604020202020204" pitchFamily="34" charset="0"/>
              <a:buChar char="•"/>
            </a:pPr>
            <a:r>
              <a:rPr lang="en-IN" sz="1600" b="1" dirty="0">
                <a:latin typeface="Inter"/>
              </a:rPr>
              <a:t>The Core Problem: </a:t>
            </a:r>
            <a:r>
              <a:rPr lang="en-IN" sz="1600" dirty="0"/>
              <a:t>Every time a new LLM agent framework appears, developers must re-implement connectors to the same 	tools: file systems, databases, web search, code execution, calendar APIs. This is wasteful, error-prone, and creates a 	maintenance burden that scales quadratically with the number of agents and tools.</a:t>
            </a:r>
            <a:endParaRPr lang="en-IN" sz="1600" dirty="0">
              <a:latin typeface="Inter"/>
            </a:endParaRPr>
          </a:p>
          <a:p>
            <a:pPr lvl="0" algn="just">
              <a:spcBef>
                <a:spcPts val="600"/>
              </a:spcBef>
            </a:pPr>
            <a:r>
              <a:rPr lang="en-IN" sz="1600" dirty="0">
                <a:latin typeface="Inter"/>
              </a:rPr>
              <a:t>        	Also LLM knowledge is frozen at training time &amp; LLMs Agents cannot inherently interact with the outside world (real-time            	data, business systems, APIs).</a:t>
            </a:r>
          </a:p>
          <a:p>
            <a:pPr marL="342900" lvl="0" indent="-342900" algn="just">
              <a:spcBef>
                <a:spcPts val="600"/>
              </a:spcBef>
              <a:buFont typeface="Arial" panose="020B0604020202020204" pitchFamily="34" charset="0"/>
              <a:buChar char="•"/>
            </a:pPr>
            <a:r>
              <a:rPr lang="en-IN" sz="1600" b="1" dirty="0">
                <a:latin typeface="Inter"/>
              </a:rPr>
              <a:t>The Solution (MCP): </a:t>
            </a:r>
            <a:r>
              <a:rPr lang="en-IN" sz="1600" b="0" i="0" dirty="0">
                <a:solidFill>
                  <a:srgbClr val="141413"/>
                </a:solidFill>
                <a:effectLst/>
                <a:latin typeface="anthropicSerif"/>
              </a:rPr>
              <a:t>The Model Context Protocol is an open standard that enables developers to build secure, two-way connections between their data sources and AI-powered tools. The architecture is straightforward: developers can either expose their data through MCP servers or build AI applications (MCP clients) that connect to these servers [18]</a:t>
            </a:r>
            <a:endParaRPr lang="en-IN" sz="1600" dirty="0">
              <a:latin typeface="Inter"/>
            </a:endParaRPr>
          </a:p>
        </p:txBody>
      </p:sp>
    </p:spTree>
    <p:extLst>
      <p:ext uri="{BB962C8B-B14F-4D97-AF65-F5344CB8AC3E}">
        <p14:creationId xmlns:p14="http://schemas.microsoft.com/office/powerpoint/2010/main" val="1462643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9DBE2-59BA-400F-3581-4793DD936696}"/>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13762014-A34F-37B5-54BC-987A27FB7924}"/>
              </a:ext>
            </a:extLst>
          </p:cNvPr>
          <p:cNvPicPr>
            <a:picLocks noChangeAspect="1"/>
          </p:cNvPicPr>
          <p:nvPr/>
        </p:nvPicPr>
        <p:blipFill>
          <a:blip r:embed="rId2"/>
          <a:stretch>
            <a:fillRect/>
          </a:stretch>
        </p:blipFill>
        <p:spPr>
          <a:xfrm>
            <a:off x="0" y="0"/>
            <a:ext cx="12192000" cy="6858000"/>
          </a:xfrm>
          <a:prstGeom prst="rect">
            <a:avLst/>
          </a:prstGeom>
        </p:spPr>
      </p:pic>
      <p:sp>
        <p:nvSpPr>
          <p:cNvPr id="91" name="TextBox 90">
            <a:extLst>
              <a:ext uri="{FF2B5EF4-FFF2-40B4-BE49-F238E27FC236}">
                <a16:creationId xmlns:a16="http://schemas.microsoft.com/office/drawing/2014/main" id="{57379917-9682-FC1E-2F35-0F8D56CF3693}"/>
              </a:ext>
            </a:extLst>
          </p:cNvPr>
          <p:cNvSpPr txBox="1"/>
          <p:nvPr/>
        </p:nvSpPr>
        <p:spPr>
          <a:xfrm>
            <a:off x="529694" y="1209032"/>
            <a:ext cx="3032326" cy="492443"/>
          </a:xfrm>
          <a:prstGeom prst="rect">
            <a:avLst/>
          </a:prstGeom>
          <a:noFill/>
        </p:spPr>
        <p:txBody>
          <a:bodyPr wrap="square" lIns="0" tIns="0" rIns="0" bIns="0" anchor="t">
            <a:spAutoFit/>
          </a:bodyPr>
          <a:lstStyle/>
          <a:p>
            <a:r>
              <a:rPr lang="en-IN" sz="3200" b="1" dirty="0">
                <a:latin typeface="Inter"/>
              </a:rPr>
              <a:t>How </a:t>
            </a:r>
            <a:r>
              <a:rPr lang="en-IN" sz="3200" b="1" dirty="0">
                <a:solidFill>
                  <a:schemeClr val="tx2"/>
                </a:solidFill>
                <a:latin typeface="Inter"/>
              </a:rPr>
              <a:t>MCP</a:t>
            </a:r>
            <a:r>
              <a:rPr lang="en-IN" sz="3200" b="1" dirty="0">
                <a:latin typeface="Inter"/>
              </a:rPr>
              <a:t> works:</a:t>
            </a:r>
            <a:endParaRPr sz="3200" b="1" i="0" u="none" dirty="0">
              <a:solidFill>
                <a:srgbClr val="0F172A"/>
              </a:solidFill>
              <a:latin typeface="Inter"/>
            </a:endParaRPr>
          </a:p>
        </p:txBody>
      </p:sp>
      <p:pic>
        <p:nvPicPr>
          <p:cNvPr id="13" name="Picture 12">
            <a:extLst>
              <a:ext uri="{FF2B5EF4-FFF2-40B4-BE49-F238E27FC236}">
                <a16:creationId xmlns:a16="http://schemas.microsoft.com/office/drawing/2014/main" id="{6824F07C-0F44-F403-332D-21A3B08E4E2D}"/>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harpenSoften amount="50000"/>
                    </a14:imgEffect>
                    <a14:imgEffect>
                      <a14:saturation sat="0"/>
                    </a14:imgEffect>
                  </a14:imgLayer>
                </a14:imgProps>
              </a:ext>
            </a:extLst>
          </a:blip>
          <a:srcRect t="1350" b="196"/>
          <a:stretch>
            <a:fillRect/>
          </a:stretch>
        </p:blipFill>
        <p:spPr>
          <a:xfrm>
            <a:off x="3727046" y="830494"/>
            <a:ext cx="8027855" cy="5562391"/>
          </a:xfrm>
          <a:prstGeom prst="rect">
            <a:avLst/>
          </a:prstGeom>
        </p:spPr>
      </p:pic>
      <p:sp>
        <p:nvSpPr>
          <p:cNvPr id="3" name="TextBox 2">
            <a:extLst>
              <a:ext uri="{FF2B5EF4-FFF2-40B4-BE49-F238E27FC236}">
                <a16:creationId xmlns:a16="http://schemas.microsoft.com/office/drawing/2014/main" id="{7079EAC2-AC13-436B-F5AA-B9CE99649096}"/>
              </a:ext>
            </a:extLst>
          </p:cNvPr>
          <p:cNvSpPr txBox="1"/>
          <p:nvPr/>
        </p:nvSpPr>
        <p:spPr>
          <a:xfrm>
            <a:off x="529694" y="2088156"/>
            <a:ext cx="3533020" cy="3354765"/>
          </a:xfrm>
          <a:prstGeom prst="rect">
            <a:avLst/>
          </a:prstGeom>
          <a:noFill/>
        </p:spPr>
        <p:txBody>
          <a:bodyPr wrap="square">
            <a:spAutoFit/>
          </a:bodyPr>
          <a:lstStyle/>
          <a:p>
            <a:pPr algn="just">
              <a:spcBef>
                <a:spcPts val="600"/>
              </a:spcBef>
            </a:pPr>
            <a:r>
              <a:rPr lang="en-IN" sz="1600" b="1" dirty="0">
                <a:latin typeface="Inter"/>
              </a:rPr>
              <a:t>Fig: </a:t>
            </a:r>
            <a:r>
              <a:rPr lang="en-IN" sz="1600" dirty="0">
                <a:latin typeface="Inter"/>
              </a:rPr>
              <a:t>A single user request flows through the </a:t>
            </a:r>
            <a:r>
              <a:rPr lang="en-IN" sz="1600" b="1" dirty="0">
                <a:latin typeface="Inter"/>
              </a:rPr>
              <a:t>Host</a:t>
            </a:r>
            <a:r>
              <a:rPr lang="en-IN" sz="1600" dirty="0">
                <a:latin typeface="Inter"/>
              </a:rPr>
              <a:t>, </a:t>
            </a:r>
            <a:r>
              <a:rPr lang="en-IN" sz="1600" b="1" dirty="0">
                <a:latin typeface="Inter"/>
              </a:rPr>
              <a:t>LLM</a:t>
            </a:r>
            <a:r>
              <a:rPr lang="en-IN" sz="1600" dirty="0">
                <a:latin typeface="Inter"/>
              </a:rPr>
              <a:t>, and </a:t>
            </a:r>
            <a:r>
              <a:rPr lang="en-IN" sz="1600" b="1" dirty="0">
                <a:latin typeface="Inter"/>
              </a:rPr>
              <a:t>MCP Server</a:t>
            </a:r>
            <a:r>
              <a:rPr lang="en-IN" sz="1600" dirty="0">
                <a:latin typeface="Inter"/>
              </a:rPr>
              <a:t>.</a:t>
            </a:r>
          </a:p>
          <a:p>
            <a:pPr marL="285750" indent="-285750" algn="just">
              <a:spcBef>
                <a:spcPts val="600"/>
              </a:spcBef>
              <a:buFont typeface="Arial" panose="020B0604020202020204" pitchFamily="34" charset="0"/>
              <a:buChar char="•"/>
            </a:pPr>
            <a:r>
              <a:rPr lang="en-IN" sz="1600" dirty="0">
                <a:latin typeface="Inter"/>
              </a:rPr>
              <a:t>The LLM decides which tool to call (step 3);</a:t>
            </a:r>
          </a:p>
          <a:p>
            <a:pPr marL="285750" indent="-285750" algn="just">
              <a:spcBef>
                <a:spcPts val="600"/>
              </a:spcBef>
              <a:buFont typeface="Arial" panose="020B0604020202020204" pitchFamily="34" charset="0"/>
              <a:buChar char="•"/>
            </a:pPr>
            <a:r>
              <a:rPr lang="en-IN" sz="1600" dirty="0">
                <a:latin typeface="Inter"/>
              </a:rPr>
              <a:t>the Host routes the call to the appropriate server via JSON-RPC (step 4);</a:t>
            </a:r>
          </a:p>
          <a:p>
            <a:pPr marL="285750" indent="-285750" algn="just">
              <a:spcBef>
                <a:spcPts val="600"/>
              </a:spcBef>
              <a:buFont typeface="Arial" panose="020B0604020202020204" pitchFamily="34" charset="0"/>
              <a:buChar char="•"/>
            </a:pPr>
            <a:r>
              <a:rPr lang="en-IN" sz="1600" dirty="0">
                <a:latin typeface="Inter"/>
              </a:rPr>
              <a:t>the result flows back through the LLM for natural-language formatting (steps 5–7).</a:t>
            </a:r>
          </a:p>
          <a:p>
            <a:pPr marL="285750" indent="-285750" algn="just">
              <a:spcBef>
                <a:spcPts val="600"/>
              </a:spcBef>
              <a:buFont typeface="Arial" panose="020B0604020202020204" pitchFamily="34" charset="0"/>
              <a:buChar char="•"/>
            </a:pPr>
            <a:r>
              <a:rPr lang="en-IN" sz="1600" dirty="0">
                <a:latin typeface="Inter"/>
              </a:rPr>
              <a:t>The user never sees the protocol machinery. [6]</a:t>
            </a:r>
          </a:p>
        </p:txBody>
      </p:sp>
    </p:spTree>
    <p:extLst>
      <p:ext uri="{BB962C8B-B14F-4D97-AF65-F5344CB8AC3E}">
        <p14:creationId xmlns:p14="http://schemas.microsoft.com/office/powerpoint/2010/main" val="1208333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E52C3-9048-4BD5-4638-6468B9A2EC3F}"/>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BBCD847A-724D-B60A-4276-BBC258EF846F}"/>
              </a:ext>
            </a:extLst>
          </p:cNvPr>
          <p:cNvPicPr>
            <a:picLocks noChangeAspect="1"/>
          </p:cNvPicPr>
          <p:nvPr/>
        </p:nvPicPr>
        <p:blipFill>
          <a:blip r:embed="rId2"/>
          <a:stretch>
            <a:fillRect/>
          </a:stretch>
        </p:blipFill>
        <p:spPr>
          <a:xfrm>
            <a:off x="0" y="0"/>
            <a:ext cx="12192000" cy="6858000"/>
          </a:xfrm>
          <a:prstGeom prst="rect">
            <a:avLst/>
          </a:prstGeom>
        </p:spPr>
      </p:pic>
      <p:sp>
        <p:nvSpPr>
          <p:cNvPr id="91" name="TextBox 90">
            <a:extLst>
              <a:ext uri="{FF2B5EF4-FFF2-40B4-BE49-F238E27FC236}">
                <a16:creationId xmlns:a16="http://schemas.microsoft.com/office/drawing/2014/main" id="{205FBEAE-5B84-9D32-8879-29BABAC2B8E2}"/>
              </a:ext>
            </a:extLst>
          </p:cNvPr>
          <p:cNvSpPr txBox="1"/>
          <p:nvPr/>
        </p:nvSpPr>
        <p:spPr>
          <a:xfrm>
            <a:off x="602126" y="488970"/>
            <a:ext cx="11601450" cy="492443"/>
          </a:xfrm>
          <a:prstGeom prst="rect">
            <a:avLst/>
          </a:prstGeom>
          <a:noFill/>
        </p:spPr>
        <p:txBody>
          <a:bodyPr wrap="square" lIns="0" tIns="0" rIns="0" bIns="0" anchor="t">
            <a:spAutoFit/>
          </a:bodyPr>
          <a:lstStyle/>
          <a:p>
            <a:r>
              <a:rPr lang="en-IN" sz="3200" b="1" dirty="0">
                <a:latin typeface="Inter"/>
              </a:rPr>
              <a:t>Agent-to-Agent </a:t>
            </a:r>
            <a:r>
              <a:rPr lang="en-IN" sz="3200" b="1" dirty="0">
                <a:solidFill>
                  <a:schemeClr val="tx2"/>
                </a:solidFill>
                <a:latin typeface="Inter"/>
              </a:rPr>
              <a:t>Communication</a:t>
            </a:r>
            <a:r>
              <a:rPr lang="en-IN" sz="3200" b="1" dirty="0">
                <a:latin typeface="Inter"/>
              </a:rPr>
              <a:t> (A2A)</a:t>
            </a:r>
            <a:endParaRPr sz="3200" b="1" i="0" u="none" dirty="0">
              <a:solidFill>
                <a:srgbClr val="0F172A"/>
              </a:solidFill>
              <a:latin typeface="Inter"/>
            </a:endParaRPr>
          </a:p>
        </p:txBody>
      </p:sp>
      <p:sp>
        <p:nvSpPr>
          <p:cNvPr id="23" name="TextBox 22">
            <a:extLst>
              <a:ext uri="{FF2B5EF4-FFF2-40B4-BE49-F238E27FC236}">
                <a16:creationId xmlns:a16="http://schemas.microsoft.com/office/drawing/2014/main" id="{CD798501-4FDE-063D-E951-9E621FF69380}"/>
              </a:ext>
            </a:extLst>
          </p:cNvPr>
          <p:cNvSpPr txBox="1"/>
          <p:nvPr/>
        </p:nvSpPr>
        <p:spPr>
          <a:xfrm>
            <a:off x="602126" y="2724183"/>
            <a:ext cx="6260790" cy="3323987"/>
          </a:xfrm>
          <a:prstGeom prst="rect">
            <a:avLst/>
          </a:prstGeom>
          <a:noFill/>
        </p:spPr>
        <p:txBody>
          <a:bodyPr wrap="square">
            <a:spAutoFit/>
          </a:bodyPr>
          <a:lstStyle/>
          <a:p>
            <a:pPr>
              <a:spcBef>
                <a:spcPts val="600"/>
              </a:spcBef>
            </a:pPr>
            <a:r>
              <a:rPr lang="en-IN" sz="1600" dirty="0"/>
              <a:t>A2A is built on five core principles:</a:t>
            </a:r>
          </a:p>
          <a:p>
            <a:pPr marL="285750" lvl="0" indent="-285750">
              <a:spcBef>
                <a:spcPts val="1200"/>
              </a:spcBef>
              <a:buFont typeface="Arial" panose="020B0604020202020204" pitchFamily="34" charset="0"/>
              <a:buChar char="•"/>
            </a:pPr>
            <a:r>
              <a:rPr lang="en-IN" sz="1600" b="1" dirty="0"/>
              <a:t>Opaque Execution:</a:t>
            </a:r>
            <a:r>
              <a:rPr lang="en-IN" sz="1600" dirty="0"/>
              <a:t> Agents interact through defined interfaces without needing to know how another agent works internally.</a:t>
            </a:r>
          </a:p>
          <a:p>
            <a:pPr marL="285750" lvl="0" indent="-285750">
              <a:spcBef>
                <a:spcPts val="1200"/>
              </a:spcBef>
              <a:buFont typeface="Arial" panose="020B0604020202020204" pitchFamily="34" charset="0"/>
              <a:buChar char="•"/>
            </a:pPr>
            <a:r>
              <a:rPr lang="en-IN" sz="1600" b="1" dirty="0"/>
              <a:t>Enterprise Ready:</a:t>
            </a:r>
            <a:r>
              <a:rPr lang="en-IN" sz="1600" dirty="0"/>
              <a:t> Supports authentication, security, auditing, and compliance.</a:t>
            </a:r>
          </a:p>
          <a:p>
            <a:pPr marL="285750" lvl="0" indent="-285750">
              <a:spcBef>
                <a:spcPts val="1200"/>
              </a:spcBef>
              <a:buFont typeface="Arial" panose="020B0604020202020204" pitchFamily="34" charset="0"/>
              <a:buChar char="•"/>
            </a:pPr>
            <a:r>
              <a:rPr lang="en-IN" sz="1600" b="1" dirty="0"/>
              <a:t>Modality Agnostic:</a:t>
            </a:r>
            <a:r>
              <a:rPr lang="en-IN" sz="1600" dirty="0"/>
              <a:t> Supports text, files, and structured data.</a:t>
            </a:r>
          </a:p>
          <a:p>
            <a:pPr marL="285750" lvl="0" indent="-285750">
              <a:spcBef>
                <a:spcPts val="1200"/>
              </a:spcBef>
              <a:buFont typeface="Arial" panose="020B0604020202020204" pitchFamily="34" charset="0"/>
              <a:buChar char="•"/>
            </a:pPr>
            <a:r>
              <a:rPr lang="en-IN" sz="1600" b="1" dirty="0"/>
              <a:t>Built on Standards:</a:t>
            </a:r>
            <a:r>
              <a:rPr lang="en-IN" sz="1600" dirty="0"/>
              <a:t> Uses common protocols such as HTTP, JSON-RPC, SSE, and </a:t>
            </a:r>
            <a:r>
              <a:rPr lang="en-IN" sz="1600" dirty="0" err="1"/>
              <a:t>gRPC</a:t>
            </a:r>
            <a:r>
              <a:rPr lang="en-IN" sz="1600" dirty="0"/>
              <a:t>.</a:t>
            </a:r>
          </a:p>
          <a:p>
            <a:pPr marL="285750" lvl="0" indent="-285750">
              <a:spcBef>
                <a:spcPts val="1200"/>
              </a:spcBef>
              <a:buFont typeface="Arial" panose="020B0604020202020204" pitchFamily="34" charset="0"/>
              <a:buChar char="•"/>
            </a:pPr>
            <a:r>
              <a:rPr lang="en-IN" sz="1600" b="1" dirty="0"/>
              <a:t>Async-First:</a:t>
            </a:r>
            <a:r>
              <a:rPr lang="en-IN" sz="1600" dirty="0"/>
              <a:t> Supports long-running tasks through polling and notifications without keeping connections open. [6]</a:t>
            </a:r>
          </a:p>
        </p:txBody>
      </p:sp>
      <p:sp>
        <p:nvSpPr>
          <p:cNvPr id="8" name="TextBox 7">
            <a:extLst>
              <a:ext uri="{FF2B5EF4-FFF2-40B4-BE49-F238E27FC236}">
                <a16:creationId xmlns:a16="http://schemas.microsoft.com/office/drawing/2014/main" id="{43739E46-6231-E3A2-2B1A-D90E29ED3067}"/>
              </a:ext>
            </a:extLst>
          </p:cNvPr>
          <p:cNvSpPr txBox="1"/>
          <p:nvPr/>
        </p:nvSpPr>
        <p:spPr>
          <a:xfrm>
            <a:off x="521099" y="1298800"/>
            <a:ext cx="10883695" cy="1231106"/>
          </a:xfrm>
          <a:prstGeom prst="rect">
            <a:avLst/>
          </a:prstGeom>
          <a:noFill/>
        </p:spPr>
        <p:txBody>
          <a:bodyPr wrap="square">
            <a:spAutoFit/>
          </a:bodyPr>
          <a:lstStyle/>
          <a:p>
            <a:pPr marL="342900" lvl="0" indent="-342900" algn="just">
              <a:spcBef>
                <a:spcPts val="1200"/>
              </a:spcBef>
              <a:buFont typeface="Wingdings" panose="05000000000000000000" pitchFamily="2" charset="2"/>
              <a:buChar char="v"/>
            </a:pPr>
            <a:r>
              <a:rPr lang="en-IN" sz="1600" b="1" dirty="0">
                <a:latin typeface="Inter"/>
              </a:rPr>
              <a:t>The Core Problem: </a:t>
            </a:r>
            <a:r>
              <a:rPr lang="en-IN" sz="1600" dirty="0"/>
              <a:t>As large language models evolve from isolated assistants into collaborative networks of specialized agents, the question of how agents talk to each other becomes as important as how they reason internally.</a:t>
            </a:r>
          </a:p>
          <a:p>
            <a:pPr marL="342900" lvl="0" indent="-342900" algn="just">
              <a:spcBef>
                <a:spcPts val="1200"/>
              </a:spcBef>
              <a:buFont typeface="Wingdings" panose="05000000000000000000" pitchFamily="2" charset="2"/>
              <a:buChar char="v"/>
            </a:pPr>
            <a:r>
              <a:rPr lang="en-IN" sz="1600" b="1" dirty="0">
                <a:latin typeface="Inter"/>
              </a:rPr>
              <a:t>The Solution (A2A): </a:t>
            </a:r>
            <a:r>
              <a:rPr lang="en-IN" sz="1600" dirty="0"/>
              <a:t>In April 2025, Google (with contributions from over 50 technology partners) released the Agent to-Agent (A2A) Protocol [113], an open specification for interoperable communication between AI agents. [6]</a:t>
            </a:r>
            <a:endParaRPr lang="en-IN" sz="1600" dirty="0">
              <a:latin typeface="Inter"/>
            </a:endParaRPr>
          </a:p>
        </p:txBody>
      </p:sp>
      <p:pic>
        <p:nvPicPr>
          <p:cNvPr id="5" name="Picture 4">
            <a:extLst>
              <a:ext uri="{FF2B5EF4-FFF2-40B4-BE49-F238E27FC236}">
                <a16:creationId xmlns:a16="http://schemas.microsoft.com/office/drawing/2014/main" id="{A93B0C70-9BD9-D866-C18B-473342E324B3}"/>
              </a:ext>
            </a:extLst>
          </p:cNvPr>
          <p:cNvPicPr>
            <a:picLocks noChangeAspect="1"/>
          </p:cNvPicPr>
          <p:nvPr/>
        </p:nvPicPr>
        <p:blipFill>
          <a:blip r:embed="rId3">
            <a:duotone>
              <a:schemeClr val="accent1">
                <a:shade val="45000"/>
                <a:satMod val="135000"/>
              </a:schemeClr>
              <a:prstClr val="white"/>
            </a:duotone>
          </a:blip>
          <a:srcRect l="7417" r="7091"/>
          <a:stretch>
            <a:fillRect/>
          </a:stretch>
        </p:blipFill>
        <p:spPr>
          <a:xfrm>
            <a:off x="7122750" y="2982507"/>
            <a:ext cx="4400258" cy="3288807"/>
          </a:xfrm>
          <a:prstGeom prst="rect">
            <a:avLst/>
          </a:prstGeom>
        </p:spPr>
      </p:pic>
    </p:spTree>
    <p:extLst>
      <p:ext uri="{BB962C8B-B14F-4D97-AF65-F5344CB8AC3E}">
        <p14:creationId xmlns:p14="http://schemas.microsoft.com/office/powerpoint/2010/main" val="1645058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BC87D-DAC6-5317-A8EF-2B9CCB20840A}"/>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B7F70B3E-78E9-CE67-C741-22DDA531907F}"/>
              </a:ext>
            </a:extLst>
          </p:cNvPr>
          <p:cNvPicPr>
            <a:picLocks noChangeAspect="1"/>
          </p:cNvPicPr>
          <p:nvPr/>
        </p:nvPicPr>
        <p:blipFill>
          <a:blip r:embed="rId2"/>
          <a:stretch>
            <a:fillRect/>
          </a:stretch>
        </p:blipFill>
        <p:spPr>
          <a:xfrm>
            <a:off x="0" y="0"/>
            <a:ext cx="12192000" cy="6858000"/>
          </a:xfrm>
          <a:prstGeom prst="rect">
            <a:avLst/>
          </a:prstGeom>
        </p:spPr>
      </p:pic>
      <p:sp>
        <p:nvSpPr>
          <p:cNvPr id="91" name="TextBox 90">
            <a:extLst>
              <a:ext uri="{FF2B5EF4-FFF2-40B4-BE49-F238E27FC236}">
                <a16:creationId xmlns:a16="http://schemas.microsoft.com/office/drawing/2014/main" id="{42294017-7A83-A88F-3E8D-36A4A64096B9}"/>
              </a:ext>
            </a:extLst>
          </p:cNvPr>
          <p:cNvSpPr txBox="1"/>
          <p:nvPr/>
        </p:nvSpPr>
        <p:spPr>
          <a:xfrm>
            <a:off x="602126" y="488970"/>
            <a:ext cx="11601450" cy="492443"/>
          </a:xfrm>
          <a:prstGeom prst="rect">
            <a:avLst/>
          </a:prstGeom>
          <a:noFill/>
        </p:spPr>
        <p:txBody>
          <a:bodyPr wrap="square" lIns="0" tIns="0" rIns="0" bIns="0" anchor="t">
            <a:spAutoFit/>
          </a:bodyPr>
          <a:lstStyle/>
          <a:p>
            <a:r>
              <a:rPr lang="en-IN" sz="3200" b="1" dirty="0">
                <a:latin typeface="Inter"/>
              </a:rPr>
              <a:t>Agent-to-Agent </a:t>
            </a:r>
            <a:r>
              <a:rPr lang="en-IN" sz="3200" b="1" dirty="0">
                <a:solidFill>
                  <a:schemeClr val="tx2"/>
                </a:solidFill>
                <a:latin typeface="Inter"/>
              </a:rPr>
              <a:t>Communication</a:t>
            </a:r>
            <a:r>
              <a:rPr lang="en-IN" sz="3200" b="1" dirty="0">
                <a:latin typeface="Inter"/>
              </a:rPr>
              <a:t> (A2A)</a:t>
            </a:r>
            <a:endParaRPr sz="3200" b="1" i="0" u="none" dirty="0">
              <a:solidFill>
                <a:srgbClr val="0F172A"/>
              </a:solidFill>
              <a:latin typeface="Inter"/>
            </a:endParaRPr>
          </a:p>
        </p:txBody>
      </p:sp>
      <p:pic>
        <p:nvPicPr>
          <p:cNvPr id="3" name="Picture 2">
            <a:extLst>
              <a:ext uri="{FF2B5EF4-FFF2-40B4-BE49-F238E27FC236}">
                <a16:creationId xmlns:a16="http://schemas.microsoft.com/office/drawing/2014/main" id="{562F1DA9-DF99-52E6-EBB8-2DBB0C717E32}"/>
              </a:ext>
            </a:extLst>
          </p:cNvPr>
          <p:cNvPicPr>
            <a:picLocks noChangeAspect="1"/>
          </p:cNvPicPr>
          <p:nvPr/>
        </p:nvPicPr>
        <p:blipFill>
          <a:blip r:embed="rId3"/>
          <a:srcRect l="13584" t="20615" r="14475" b="18951"/>
          <a:stretch>
            <a:fillRect/>
          </a:stretch>
        </p:blipFill>
        <p:spPr>
          <a:xfrm>
            <a:off x="7340699" y="4551732"/>
            <a:ext cx="4316340" cy="2039588"/>
          </a:xfrm>
          <a:prstGeom prst="rect">
            <a:avLst/>
          </a:prstGeom>
        </p:spPr>
      </p:pic>
      <p:pic>
        <p:nvPicPr>
          <p:cNvPr id="9" name="Picture 8">
            <a:extLst>
              <a:ext uri="{FF2B5EF4-FFF2-40B4-BE49-F238E27FC236}">
                <a16:creationId xmlns:a16="http://schemas.microsoft.com/office/drawing/2014/main" id="{1E73D2B9-FC8E-1F37-FC85-0DE912A6AA34}"/>
              </a:ext>
            </a:extLst>
          </p:cNvPr>
          <p:cNvPicPr>
            <a:picLocks noChangeAspect="1"/>
          </p:cNvPicPr>
          <p:nvPr/>
        </p:nvPicPr>
        <p:blipFill>
          <a:blip r:embed="rId4"/>
          <a:srcRect l="13640" t="16408" r="13336" b="16823"/>
          <a:stretch>
            <a:fillRect/>
          </a:stretch>
        </p:blipFill>
        <p:spPr>
          <a:xfrm>
            <a:off x="521099" y="2972486"/>
            <a:ext cx="4169571" cy="2144487"/>
          </a:xfrm>
          <a:prstGeom prst="rect">
            <a:avLst/>
          </a:prstGeom>
        </p:spPr>
      </p:pic>
      <p:pic>
        <p:nvPicPr>
          <p:cNvPr id="6" name="Picture 5">
            <a:extLst>
              <a:ext uri="{FF2B5EF4-FFF2-40B4-BE49-F238E27FC236}">
                <a16:creationId xmlns:a16="http://schemas.microsoft.com/office/drawing/2014/main" id="{67BD3FF6-3E6D-DB11-9482-A05C0D50D923}"/>
              </a:ext>
            </a:extLst>
          </p:cNvPr>
          <p:cNvPicPr>
            <a:picLocks noChangeAspect="1"/>
          </p:cNvPicPr>
          <p:nvPr/>
        </p:nvPicPr>
        <p:blipFill>
          <a:blip r:embed="rId5"/>
          <a:srcRect l="14029" t="18153" r="13465" b="17610"/>
          <a:stretch>
            <a:fillRect/>
          </a:stretch>
        </p:blipFill>
        <p:spPr>
          <a:xfrm>
            <a:off x="6559423" y="981413"/>
            <a:ext cx="4729921" cy="2357155"/>
          </a:xfrm>
          <a:prstGeom prst="rect">
            <a:avLst/>
          </a:prstGeom>
        </p:spPr>
      </p:pic>
      <p:sp>
        <p:nvSpPr>
          <p:cNvPr id="8" name="TextBox 7">
            <a:extLst>
              <a:ext uri="{FF2B5EF4-FFF2-40B4-BE49-F238E27FC236}">
                <a16:creationId xmlns:a16="http://schemas.microsoft.com/office/drawing/2014/main" id="{EAC6DE26-F108-7F77-D034-50012EB67C4F}"/>
              </a:ext>
            </a:extLst>
          </p:cNvPr>
          <p:cNvSpPr txBox="1"/>
          <p:nvPr/>
        </p:nvSpPr>
        <p:spPr>
          <a:xfrm>
            <a:off x="521099" y="1288686"/>
            <a:ext cx="10883695" cy="1077218"/>
          </a:xfrm>
          <a:prstGeom prst="rect">
            <a:avLst/>
          </a:prstGeom>
          <a:noFill/>
        </p:spPr>
        <p:txBody>
          <a:bodyPr wrap="square">
            <a:spAutoFit/>
          </a:bodyPr>
          <a:lstStyle/>
          <a:p>
            <a:pPr fontAlgn="base"/>
            <a:r>
              <a:rPr lang="en-IN" sz="1600" dirty="0">
                <a:latin typeface="Inter"/>
              </a:rPr>
              <a:t>The A2A protocol follows a client-server model setup with a three-step workflow [12]:</a:t>
            </a:r>
          </a:p>
          <a:p>
            <a:pPr marL="285750" lvl="0" indent="-285750" fontAlgn="base">
              <a:buFont typeface="Arial" panose="020B0604020202020204" pitchFamily="34" charset="0"/>
              <a:buChar char="•"/>
            </a:pPr>
            <a:r>
              <a:rPr lang="en-IN" sz="1600" dirty="0">
                <a:latin typeface="Inter"/>
              </a:rPr>
              <a:t>Discovery</a:t>
            </a:r>
          </a:p>
          <a:p>
            <a:pPr marL="285750" lvl="0" indent="-285750" fontAlgn="base">
              <a:buFont typeface="Arial" panose="020B0604020202020204" pitchFamily="34" charset="0"/>
              <a:buChar char="•"/>
            </a:pPr>
            <a:r>
              <a:rPr lang="en-IN" sz="1600" dirty="0">
                <a:latin typeface="Inter"/>
              </a:rPr>
              <a:t>Authentication</a:t>
            </a:r>
          </a:p>
          <a:p>
            <a:pPr marL="285750" lvl="0" indent="-285750" fontAlgn="base">
              <a:buFont typeface="Arial" panose="020B0604020202020204" pitchFamily="34" charset="0"/>
              <a:buChar char="•"/>
            </a:pPr>
            <a:r>
              <a:rPr lang="en-IN" sz="1600" dirty="0">
                <a:latin typeface="Inter"/>
              </a:rPr>
              <a:t>Communication</a:t>
            </a:r>
          </a:p>
        </p:txBody>
      </p:sp>
      <p:sp>
        <p:nvSpPr>
          <p:cNvPr id="11" name="TextBox 10">
            <a:extLst>
              <a:ext uri="{FF2B5EF4-FFF2-40B4-BE49-F238E27FC236}">
                <a16:creationId xmlns:a16="http://schemas.microsoft.com/office/drawing/2014/main" id="{74B3075B-18E5-4879-DF87-0DC34D01F4D3}"/>
              </a:ext>
            </a:extLst>
          </p:cNvPr>
          <p:cNvSpPr txBox="1"/>
          <p:nvPr/>
        </p:nvSpPr>
        <p:spPr>
          <a:xfrm>
            <a:off x="3259175" y="1744649"/>
            <a:ext cx="3300248" cy="1227837"/>
          </a:xfrm>
          <a:prstGeom prst="rect">
            <a:avLst/>
          </a:prstGeom>
          <a:noFill/>
        </p:spPr>
        <p:txBody>
          <a:bodyPr wrap="square">
            <a:spAutoFit/>
          </a:bodyPr>
          <a:lstStyle/>
          <a:p>
            <a:pPr indent="0" algn="just" fontAlgn="base">
              <a:lnSpc>
                <a:spcPts val="1800"/>
              </a:lnSpc>
              <a:buNone/>
            </a:pPr>
            <a:r>
              <a:rPr lang="en-IN" sz="1200" b="1" i="0" dirty="0">
                <a:solidFill>
                  <a:srgbClr val="161616"/>
                </a:solidFill>
                <a:effectLst/>
                <a:latin typeface="IBM Plex Sans" panose="020B0503050203000203" pitchFamily="34" charset="0"/>
              </a:rPr>
              <a:t>1. </a:t>
            </a:r>
            <a:r>
              <a:rPr lang="en-IN" sz="1200" b="0" i="0" dirty="0">
                <a:solidFill>
                  <a:srgbClr val="161616"/>
                </a:solidFill>
                <a:effectLst/>
                <a:latin typeface="IBM Plex Sans" panose="020B0503050203000203" pitchFamily="34" charset="0"/>
              </a:rPr>
              <a:t>The A2A workflow begins when an entity initiates a request to the client agent. A client agent then discovers</a:t>
            </a:r>
            <a:r>
              <a:rPr lang="en-IN" sz="1200" dirty="0">
                <a:solidFill>
                  <a:srgbClr val="161616"/>
                </a:solidFill>
                <a:latin typeface="IBM Plex Sans" panose="020B0503050203000203" pitchFamily="34" charset="0"/>
              </a:rPr>
              <a:t>/</a:t>
            </a:r>
            <a:r>
              <a:rPr lang="en-IN" sz="1200" b="0" i="0" dirty="0">
                <a:solidFill>
                  <a:srgbClr val="161616"/>
                </a:solidFill>
                <a:effectLst/>
                <a:latin typeface="IBM Plex Sans" panose="020B0503050203000203" pitchFamily="34" charset="0"/>
              </a:rPr>
              <a:t>looks for remote agents and fetching their agent cards to determine the best fit for the task. [12]</a:t>
            </a:r>
          </a:p>
        </p:txBody>
      </p:sp>
      <p:sp>
        <p:nvSpPr>
          <p:cNvPr id="13" name="TextBox 12">
            <a:extLst>
              <a:ext uri="{FF2B5EF4-FFF2-40B4-BE49-F238E27FC236}">
                <a16:creationId xmlns:a16="http://schemas.microsoft.com/office/drawing/2014/main" id="{5E0BB032-D3DF-C7DB-829B-B899A37CBAD4}"/>
              </a:ext>
            </a:extLst>
          </p:cNvPr>
          <p:cNvSpPr txBox="1"/>
          <p:nvPr/>
        </p:nvSpPr>
        <p:spPr>
          <a:xfrm>
            <a:off x="4788039" y="3721564"/>
            <a:ext cx="6101254" cy="646331"/>
          </a:xfrm>
          <a:prstGeom prst="rect">
            <a:avLst/>
          </a:prstGeom>
          <a:noFill/>
        </p:spPr>
        <p:txBody>
          <a:bodyPr wrap="square">
            <a:spAutoFit/>
          </a:bodyPr>
          <a:lstStyle/>
          <a:p>
            <a:r>
              <a:rPr lang="en-IN" sz="1200" b="1" i="0" dirty="0">
                <a:solidFill>
                  <a:srgbClr val="161616"/>
                </a:solidFill>
                <a:effectLst/>
                <a:latin typeface="Inter"/>
              </a:rPr>
              <a:t>2. </a:t>
            </a:r>
            <a:r>
              <a:rPr lang="en-IN" sz="1200" b="0" i="0" dirty="0">
                <a:solidFill>
                  <a:srgbClr val="161616"/>
                </a:solidFill>
                <a:effectLst/>
                <a:latin typeface="Inter"/>
              </a:rPr>
              <a:t>Once the client agent identifies a remote agent capable of fulfilling the designated task, it then goes through authentication according to the security scheme</a:t>
            </a:r>
            <a:r>
              <a:rPr lang="en-IN" sz="1200" dirty="0">
                <a:solidFill>
                  <a:srgbClr val="161616"/>
                </a:solidFill>
                <a:latin typeface="Inter"/>
              </a:rPr>
              <a:t> (such as API keys, OAuth 2.0) </a:t>
            </a:r>
            <a:r>
              <a:rPr lang="en-IN" sz="1200" b="0" i="0" dirty="0">
                <a:solidFill>
                  <a:srgbClr val="161616"/>
                </a:solidFill>
                <a:effectLst/>
                <a:latin typeface="Inter"/>
              </a:rPr>
              <a:t>indicated in the agent card.[12]</a:t>
            </a:r>
            <a:endParaRPr lang="en-IN" dirty="0">
              <a:latin typeface="Inter"/>
            </a:endParaRPr>
          </a:p>
        </p:txBody>
      </p:sp>
      <p:sp>
        <p:nvSpPr>
          <p:cNvPr id="15" name="TextBox 14">
            <a:extLst>
              <a:ext uri="{FF2B5EF4-FFF2-40B4-BE49-F238E27FC236}">
                <a16:creationId xmlns:a16="http://schemas.microsoft.com/office/drawing/2014/main" id="{BD37A13B-5870-FE76-9AE5-AEAEB8794BA6}"/>
              </a:ext>
            </a:extLst>
          </p:cNvPr>
          <p:cNvSpPr txBox="1"/>
          <p:nvPr/>
        </p:nvSpPr>
        <p:spPr>
          <a:xfrm>
            <a:off x="832945" y="5499969"/>
            <a:ext cx="6101254" cy="646331"/>
          </a:xfrm>
          <a:prstGeom prst="rect">
            <a:avLst/>
          </a:prstGeom>
          <a:noFill/>
        </p:spPr>
        <p:txBody>
          <a:bodyPr wrap="square">
            <a:spAutoFit/>
          </a:bodyPr>
          <a:lstStyle/>
          <a:p>
            <a:r>
              <a:rPr lang="en-IN" sz="1200" b="1" i="0" dirty="0">
                <a:solidFill>
                  <a:srgbClr val="161616"/>
                </a:solidFill>
                <a:effectLst/>
                <a:latin typeface="IBM Plex Sans" panose="020B0503050203000203" pitchFamily="34" charset="0"/>
              </a:rPr>
              <a:t>3. </a:t>
            </a:r>
            <a:r>
              <a:rPr lang="en-IN" sz="1200" b="0" i="0" dirty="0">
                <a:solidFill>
                  <a:srgbClr val="161616"/>
                </a:solidFill>
                <a:effectLst/>
                <a:latin typeface="IBM Plex Sans" panose="020B0503050203000203" pitchFamily="34" charset="0"/>
              </a:rPr>
              <a:t>Communication starts with a client agent sending a task to the chosen remote agent. Agent-to-agent communication occurs over HTTPS for secure transport, with JSON-RPC (Remote Procedure Call) 2.0 as the format for data exchange. [12]</a:t>
            </a:r>
            <a:endParaRPr lang="en-IN" dirty="0"/>
          </a:p>
        </p:txBody>
      </p:sp>
    </p:spTree>
    <p:extLst>
      <p:ext uri="{BB962C8B-B14F-4D97-AF65-F5344CB8AC3E}">
        <p14:creationId xmlns:p14="http://schemas.microsoft.com/office/powerpoint/2010/main" val="2869976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B4DC5-DB62-54E5-9AE7-32BC23050323}"/>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EF4E189A-26A8-93AF-424A-5AFD1D7DF8FB}"/>
              </a:ext>
            </a:extLst>
          </p:cNvPr>
          <p:cNvPicPr>
            <a:picLocks noChangeAspect="1"/>
          </p:cNvPicPr>
          <p:nvPr/>
        </p:nvPicPr>
        <p:blipFill>
          <a:blip r:embed="rId2"/>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1162022C-5766-11A3-E6EB-7037624406DF}"/>
              </a:ext>
            </a:extLst>
          </p:cNvPr>
          <p:cNvSpPr txBox="1"/>
          <p:nvPr/>
        </p:nvSpPr>
        <p:spPr>
          <a:xfrm>
            <a:off x="581024" y="1945361"/>
            <a:ext cx="10588546" cy="577081"/>
          </a:xfrm>
          <a:prstGeom prst="rect">
            <a:avLst/>
          </a:prstGeom>
          <a:noFill/>
        </p:spPr>
        <p:txBody>
          <a:bodyPr wrap="square" lIns="0" tIns="0" rIns="0" bIns="0" anchor="t">
            <a:spAutoFit/>
          </a:bodyPr>
          <a:lstStyle/>
          <a:p>
            <a:pPr algn="just">
              <a:lnSpc>
                <a:spcPts val="2250"/>
              </a:lnSpc>
              <a:spcBef>
                <a:spcPts val="600"/>
              </a:spcBef>
            </a:pPr>
            <a:r>
              <a:rPr lang="en-IN" dirty="0"/>
              <a:t>A skill is a self-contained capability module that gives an agent expertise in a specific domain or task. Unlike a raw tool (which exposes a single function), a skill encompasses:</a:t>
            </a:r>
          </a:p>
        </p:txBody>
      </p:sp>
      <p:sp>
        <p:nvSpPr>
          <p:cNvPr id="26" name="TextBox 25">
            <a:extLst>
              <a:ext uri="{FF2B5EF4-FFF2-40B4-BE49-F238E27FC236}">
                <a16:creationId xmlns:a16="http://schemas.microsoft.com/office/drawing/2014/main" id="{9BDCFD32-F124-9509-4C80-B9B4101305B2}"/>
              </a:ext>
            </a:extLst>
          </p:cNvPr>
          <p:cNvSpPr txBox="1"/>
          <p:nvPr/>
        </p:nvSpPr>
        <p:spPr>
          <a:xfrm>
            <a:off x="569449" y="1382655"/>
            <a:ext cx="3040380" cy="361950"/>
          </a:xfrm>
          <a:prstGeom prst="rect">
            <a:avLst/>
          </a:prstGeom>
          <a:noFill/>
        </p:spPr>
        <p:txBody>
          <a:bodyPr wrap="square" lIns="0" tIns="0" rIns="0" bIns="0" anchor="t">
            <a:spAutoFit/>
          </a:bodyPr>
          <a:lstStyle/>
          <a:p>
            <a:pPr algn="l"/>
            <a:r>
              <a:rPr sz="2400" b="1" i="0" u="none" dirty="0">
                <a:solidFill>
                  <a:srgbClr val="0F172A"/>
                </a:solidFill>
                <a:latin typeface="Urbanist"/>
              </a:rPr>
              <a:t>What Is a Skill?</a:t>
            </a:r>
          </a:p>
        </p:txBody>
      </p:sp>
      <p:sp>
        <p:nvSpPr>
          <p:cNvPr id="38" name="TextBox 37">
            <a:extLst>
              <a:ext uri="{FF2B5EF4-FFF2-40B4-BE49-F238E27FC236}">
                <a16:creationId xmlns:a16="http://schemas.microsoft.com/office/drawing/2014/main" id="{BD50D0D5-CAEE-5F8E-246B-D846137E41AB}"/>
              </a:ext>
            </a:extLst>
          </p:cNvPr>
          <p:cNvSpPr txBox="1"/>
          <p:nvPr/>
        </p:nvSpPr>
        <p:spPr>
          <a:xfrm>
            <a:off x="546302" y="538230"/>
            <a:ext cx="11581447" cy="577081"/>
          </a:xfrm>
          <a:prstGeom prst="rect">
            <a:avLst/>
          </a:prstGeom>
          <a:noFill/>
        </p:spPr>
        <p:txBody>
          <a:bodyPr wrap="square" lIns="0" tIns="0" rIns="0" bIns="0" anchor="t">
            <a:spAutoFit/>
          </a:bodyPr>
          <a:lstStyle/>
          <a:p>
            <a:pPr algn="l">
              <a:lnSpc>
                <a:spcPts val="4455"/>
              </a:lnSpc>
            </a:pPr>
            <a:r>
              <a:rPr sz="4050" b="1" i="0" u="none" dirty="0">
                <a:solidFill>
                  <a:srgbClr val="0F172A"/>
                </a:solidFill>
                <a:latin typeface="Urbanist"/>
              </a:rPr>
              <a:t>Agent </a:t>
            </a:r>
            <a:r>
              <a:rPr sz="4050" b="1" i="0" u="none" dirty="0">
                <a:solidFill>
                  <a:schemeClr val="tx2"/>
                </a:solidFill>
                <a:latin typeface="Urbanist"/>
              </a:rPr>
              <a:t>Skills</a:t>
            </a:r>
            <a:r>
              <a:rPr sz="4050" b="1" i="0" u="none" dirty="0">
                <a:solidFill>
                  <a:srgbClr val="0F172A"/>
                </a:solidFill>
                <a:latin typeface="Urbanist"/>
              </a:rPr>
              <a:t>: Composable Capabilities</a:t>
            </a:r>
          </a:p>
        </p:txBody>
      </p:sp>
      <p:pic>
        <p:nvPicPr>
          <p:cNvPr id="46" name="Picture 45">
            <a:extLst>
              <a:ext uri="{FF2B5EF4-FFF2-40B4-BE49-F238E27FC236}">
                <a16:creationId xmlns:a16="http://schemas.microsoft.com/office/drawing/2014/main" id="{D40F67E2-04F3-B393-F44F-E9940E31FD13}"/>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6883772" y="2723198"/>
            <a:ext cx="4925499" cy="3183554"/>
          </a:xfrm>
          <a:prstGeom prst="rect">
            <a:avLst/>
          </a:prstGeom>
        </p:spPr>
      </p:pic>
      <p:sp>
        <p:nvSpPr>
          <p:cNvPr id="48" name="TextBox 47">
            <a:extLst>
              <a:ext uri="{FF2B5EF4-FFF2-40B4-BE49-F238E27FC236}">
                <a16:creationId xmlns:a16="http://schemas.microsoft.com/office/drawing/2014/main" id="{89A7768D-7039-E98B-2936-68A2D0F229C7}"/>
              </a:ext>
            </a:extLst>
          </p:cNvPr>
          <p:cNvSpPr txBox="1"/>
          <p:nvPr/>
        </p:nvSpPr>
        <p:spPr>
          <a:xfrm>
            <a:off x="465276" y="2667255"/>
            <a:ext cx="6236465" cy="3631763"/>
          </a:xfrm>
          <a:prstGeom prst="rect">
            <a:avLst/>
          </a:prstGeom>
          <a:noFill/>
        </p:spPr>
        <p:txBody>
          <a:bodyPr wrap="square">
            <a:spAutoFit/>
          </a:bodyPr>
          <a:lstStyle/>
          <a:p>
            <a:pPr marL="285750" indent="-285750" algn="just">
              <a:lnSpc>
                <a:spcPts val="2250"/>
              </a:lnSpc>
              <a:spcBef>
                <a:spcPts val="600"/>
              </a:spcBef>
              <a:buFont typeface="Arial" panose="020B0604020202020204" pitchFamily="34" charset="0"/>
              <a:buChar char="•"/>
            </a:pPr>
            <a:r>
              <a:rPr lang="en-US" sz="1800" b="1" dirty="0"/>
              <a:t>System prompt augmentation: </a:t>
            </a:r>
            <a:r>
              <a:rPr lang="en-US" sz="1800" dirty="0"/>
              <a:t>Domain-specific instructions, constraints, and persona elements injected into the agent’s context.</a:t>
            </a:r>
          </a:p>
          <a:p>
            <a:pPr marL="285750" indent="-285750" algn="just">
              <a:lnSpc>
                <a:spcPts val="2250"/>
              </a:lnSpc>
              <a:spcBef>
                <a:spcPts val="600"/>
              </a:spcBef>
              <a:buFont typeface="Arial" panose="020B0604020202020204" pitchFamily="34" charset="0"/>
              <a:buChar char="•"/>
            </a:pPr>
            <a:r>
              <a:rPr lang="en-US" sz="1800" b="1" dirty="0"/>
              <a:t>Tool bindings: </a:t>
            </a:r>
            <a:r>
              <a:rPr lang="en-US" sz="1800" dirty="0"/>
              <a:t>One or more tools the skill requires (APIs, MCP servers, local commands).</a:t>
            </a:r>
          </a:p>
          <a:p>
            <a:pPr marL="285750" indent="-285750" algn="just">
              <a:lnSpc>
                <a:spcPts val="2250"/>
              </a:lnSpc>
              <a:spcBef>
                <a:spcPts val="600"/>
              </a:spcBef>
              <a:buFont typeface="Arial" panose="020B0604020202020204" pitchFamily="34" charset="0"/>
              <a:buChar char="•"/>
            </a:pPr>
            <a:r>
              <a:rPr lang="en-US" sz="1800" b="1" dirty="0"/>
              <a:t>Knowledge: </a:t>
            </a:r>
            <a:r>
              <a:rPr lang="en-US" sz="1800" dirty="0"/>
              <a:t>Reference material, examples, or few-shot demonstrations the agent needs to execute the skill correctly.</a:t>
            </a:r>
          </a:p>
          <a:p>
            <a:pPr marL="285750" indent="-285750" algn="just">
              <a:lnSpc>
                <a:spcPts val="2250"/>
              </a:lnSpc>
              <a:spcBef>
                <a:spcPts val="600"/>
              </a:spcBef>
              <a:buFont typeface="Arial" panose="020B0604020202020204" pitchFamily="34" charset="0"/>
              <a:buChar char="•"/>
            </a:pPr>
            <a:r>
              <a:rPr lang="en-US" sz="1800" b="1" dirty="0"/>
              <a:t>Workflow logic: </a:t>
            </a:r>
            <a:r>
              <a:rPr lang="en-US" sz="1800" dirty="0"/>
              <a:t>Multi-step procedures, decision trees, or conditional flows that guide the agent through complex tasks.</a:t>
            </a:r>
          </a:p>
          <a:p>
            <a:pPr marL="285750" indent="-285750" algn="just">
              <a:lnSpc>
                <a:spcPts val="2250"/>
              </a:lnSpc>
              <a:spcBef>
                <a:spcPts val="600"/>
              </a:spcBef>
              <a:buFont typeface="Arial" panose="020B0604020202020204" pitchFamily="34" charset="0"/>
              <a:buChar char="•"/>
            </a:pPr>
            <a:r>
              <a:rPr lang="en-US" sz="1800" b="1" dirty="0"/>
              <a:t>Guardrails: </a:t>
            </a:r>
            <a:r>
              <a:rPr lang="en-US" sz="1800" dirty="0"/>
              <a:t>Skill-specific safety constraints, output format requirements, and validation rules. [6]</a:t>
            </a:r>
            <a:endParaRPr lang="en-US" sz="1800" b="0" i="0" u="none" dirty="0">
              <a:solidFill>
                <a:srgbClr val="334155"/>
              </a:solidFill>
              <a:latin typeface="Urbanist"/>
            </a:endParaRPr>
          </a:p>
        </p:txBody>
      </p:sp>
    </p:spTree>
    <p:extLst>
      <p:ext uri="{BB962C8B-B14F-4D97-AF65-F5344CB8AC3E}">
        <p14:creationId xmlns:p14="http://schemas.microsoft.com/office/powerpoint/2010/main" val="2266103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4ACD2-B575-8C1E-B4CA-F3BE7B730209}"/>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A6499AFF-8E75-26AF-5B1F-E92D13493F4F}"/>
              </a:ext>
            </a:extLst>
          </p:cNvPr>
          <p:cNvPicPr>
            <a:picLocks noChangeAspect="1"/>
          </p:cNvPicPr>
          <p:nvPr/>
        </p:nvPicPr>
        <p:blipFill>
          <a:blip r:embed="rId2"/>
          <a:stretch>
            <a:fillRect/>
          </a:stretch>
        </p:blipFill>
        <p:spPr>
          <a:xfrm>
            <a:off x="0" y="0"/>
            <a:ext cx="12192000" cy="6858000"/>
          </a:xfrm>
          <a:prstGeom prst="rect">
            <a:avLst/>
          </a:prstGeom>
        </p:spPr>
      </p:pic>
      <p:sp>
        <p:nvSpPr>
          <p:cNvPr id="38" name="TextBox 37">
            <a:extLst>
              <a:ext uri="{FF2B5EF4-FFF2-40B4-BE49-F238E27FC236}">
                <a16:creationId xmlns:a16="http://schemas.microsoft.com/office/drawing/2014/main" id="{28B96B9F-62C4-6091-63DA-9C4A4F8A10F7}"/>
              </a:ext>
            </a:extLst>
          </p:cNvPr>
          <p:cNvSpPr txBox="1"/>
          <p:nvPr/>
        </p:nvSpPr>
        <p:spPr>
          <a:xfrm>
            <a:off x="580108" y="639739"/>
            <a:ext cx="4634386" cy="554704"/>
          </a:xfrm>
          <a:prstGeom prst="rect">
            <a:avLst/>
          </a:prstGeom>
          <a:noFill/>
        </p:spPr>
        <p:txBody>
          <a:bodyPr wrap="square" lIns="0" tIns="0" rIns="0" bIns="0" anchor="t">
            <a:spAutoFit/>
          </a:bodyPr>
          <a:lstStyle/>
          <a:p>
            <a:pPr algn="l">
              <a:lnSpc>
                <a:spcPts val="4455"/>
              </a:lnSpc>
            </a:pPr>
            <a:r>
              <a:rPr sz="3600" b="1" i="0" u="none" dirty="0">
                <a:solidFill>
                  <a:srgbClr val="0F172A"/>
                </a:solidFill>
                <a:latin typeface="Inter"/>
              </a:rPr>
              <a:t>Agent </a:t>
            </a:r>
            <a:r>
              <a:rPr sz="3600" b="1" i="0" u="none" dirty="0">
                <a:solidFill>
                  <a:schemeClr val="tx2"/>
                </a:solidFill>
                <a:latin typeface="Inter"/>
              </a:rPr>
              <a:t>Skills</a:t>
            </a:r>
            <a:r>
              <a:rPr lang="en-US" sz="3600" b="1" dirty="0">
                <a:solidFill>
                  <a:srgbClr val="0F172A"/>
                </a:solidFill>
                <a:latin typeface="Inter"/>
              </a:rPr>
              <a:t> </a:t>
            </a:r>
            <a:r>
              <a:rPr lang="en-US" sz="3600" dirty="0">
                <a:solidFill>
                  <a:srgbClr val="0F172A"/>
                </a:solidFill>
                <a:latin typeface="Inter"/>
              </a:rPr>
              <a:t>(Cont.)</a:t>
            </a:r>
            <a:endParaRPr sz="3600" i="0" u="none" dirty="0">
              <a:solidFill>
                <a:srgbClr val="0F172A"/>
              </a:solidFill>
              <a:latin typeface="Inter"/>
            </a:endParaRPr>
          </a:p>
        </p:txBody>
      </p:sp>
      <p:sp>
        <p:nvSpPr>
          <p:cNvPr id="2" name="Rectangle 1">
            <a:extLst>
              <a:ext uri="{FF2B5EF4-FFF2-40B4-BE49-F238E27FC236}">
                <a16:creationId xmlns:a16="http://schemas.microsoft.com/office/drawing/2014/main" id="{FC64380C-359D-426B-B88F-C3BDA691523B}"/>
              </a:ext>
            </a:extLst>
          </p:cNvPr>
          <p:cNvSpPr/>
          <p:nvPr/>
        </p:nvSpPr>
        <p:spPr>
          <a:xfrm>
            <a:off x="5933747" y="239306"/>
            <a:ext cx="6002614" cy="6379388"/>
          </a:xfrm>
          <a:prstGeom prst="rect">
            <a:avLst/>
          </a:prstGeom>
          <a:solidFill>
            <a:schemeClr val="bg1">
              <a:lumMod val="95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B5E764CE-9615-833C-9564-1E918B6C6E3E}"/>
              </a:ext>
            </a:extLst>
          </p:cNvPr>
          <p:cNvSpPr txBox="1"/>
          <p:nvPr/>
        </p:nvSpPr>
        <p:spPr>
          <a:xfrm>
            <a:off x="6428357" y="516658"/>
            <a:ext cx="7444957" cy="5940088"/>
          </a:xfrm>
          <a:prstGeom prst="rect">
            <a:avLst/>
          </a:prstGeom>
          <a:noFill/>
        </p:spPr>
        <p:txBody>
          <a:bodyPr wrap="square" lIns="0" tIns="0" rIns="0" bIns="0" anchor="t">
            <a:spAutoFit/>
          </a:bodyPr>
          <a:lstStyle/>
          <a:p>
            <a:pPr algn="just">
              <a:spcBef>
                <a:spcPts val="600"/>
              </a:spcBef>
            </a:pPr>
            <a:r>
              <a:rPr lang="en-US" sz="1200" b="1" dirty="0">
                <a:latin typeface="Poppins" panose="00000500000000000000" pitchFamily="2" charset="0"/>
                <a:cs typeface="Poppins" panose="00000500000000000000" pitchFamily="2" charset="0"/>
              </a:rPr>
              <a:t># Pre-defined skill</a:t>
            </a:r>
          </a:p>
          <a:p>
            <a:pPr algn="just">
              <a:spcBef>
                <a:spcPts val="600"/>
              </a:spcBef>
            </a:pPr>
            <a:r>
              <a:rPr lang="en-US" sz="1200" b="1" dirty="0">
                <a:latin typeface="Poppins" panose="00000500000000000000" pitchFamily="2" charset="0"/>
                <a:cs typeface="Poppins" panose="00000500000000000000" pitchFamily="2" charset="0"/>
              </a:rPr>
              <a:t>code_review </a:t>
            </a:r>
            <a:r>
              <a:rPr lang="en-US" sz="1200" dirty="0">
                <a:latin typeface="Poppins" panose="00000500000000000000" pitchFamily="2" charset="0"/>
                <a:cs typeface="Poppins" panose="00000500000000000000" pitchFamily="2" charset="0"/>
              </a:rPr>
              <a:t>= </a:t>
            </a:r>
            <a:r>
              <a:rPr lang="en-US" sz="1200" b="1" dirty="0">
                <a:latin typeface="Poppins" panose="00000500000000000000" pitchFamily="2" charset="0"/>
                <a:cs typeface="Poppins" panose="00000500000000000000" pitchFamily="2" charset="0"/>
              </a:rPr>
              <a:t>Skill(</a:t>
            </a:r>
          </a:p>
          <a:p>
            <a:pPr algn="just">
              <a:spcBef>
                <a:spcPts val="600"/>
              </a:spcBef>
            </a:pPr>
            <a:r>
              <a:rPr lang="en-US" sz="1200" dirty="0">
                <a:latin typeface="Poppins" panose="00000500000000000000" pitchFamily="2" charset="0"/>
                <a:cs typeface="Poppins" panose="00000500000000000000" pitchFamily="2" charset="0"/>
              </a:rPr>
              <a:t>    name="</a:t>
            </a:r>
            <a:r>
              <a:rPr lang="en-US" sz="1200" dirty="0" err="1">
                <a:latin typeface="Poppins" panose="00000500000000000000" pitchFamily="2" charset="0"/>
                <a:cs typeface="Poppins" panose="00000500000000000000" pitchFamily="2" charset="0"/>
              </a:rPr>
              <a:t>CodeReview</a:t>
            </a:r>
            <a:r>
              <a:rPr lang="en-US" sz="1200" dirty="0">
                <a:latin typeface="Poppins" panose="00000500000000000000" pitchFamily="2" charset="0"/>
                <a:cs typeface="Poppins" panose="00000500000000000000" pitchFamily="2" charset="0"/>
              </a:rPr>
              <a:t>",</a:t>
            </a:r>
          </a:p>
          <a:p>
            <a:pPr algn="just">
              <a:spcBef>
                <a:spcPts val="600"/>
              </a:spcBef>
            </a:pPr>
            <a:r>
              <a:rPr lang="en-US" sz="1200" dirty="0">
                <a:latin typeface="Poppins" panose="00000500000000000000" pitchFamily="2" charset="0"/>
                <a:cs typeface="Poppins" panose="00000500000000000000" pitchFamily="2" charset="0"/>
              </a:rPr>
              <a:t>    instructions="Review code for correctness, security and quality.",</a:t>
            </a:r>
          </a:p>
          <a:p>
            <a:pPr algn="just">
              <a:spcBef>
                <a:spcPts val="600"/>
              </a:spcBef>
            </a:pPr>
            <a:r>
              <a:rPr lang="en-US" sz="1200" dirty="0">
                <a:latin typeface="Poppins" panose="00000500000000000000" pitchFamily="2" charset="0"/>
                <a:cs typeface="Poppins" panose="00000500000000000000" pitchFamily="2" charset="0"/>
              </a:rPr>
              <a:t>    knowledge=["</a:t>
            </a:r>
            <a:r>
              <a:rPr lang="en-US" sz="1200" dirty="0" err="1">
                <a:latin typeface="Poppins" panose="00000500000000000000" pitchFamily="2" charset="0"/>
                <a:cs typeface="Poppins" panose="00000500000000000000" pitchFamily="2" charset="0"/>
              </a:rPr>
              <a:t>coding_standards</a:t>
            </a:r>
            <a:r>
              <a:rPr lang="en-US" sz="1200" dirty="0">
                <a:latin typeface="Poppins" panose="00000500000000000000" pitchFamily="2" charset="0"/>
                <a:cs typeface="Poppins" panose="00000500000000000000" pitchFamily="2" charset="0"/>
              </a:rPr>
              <a:t>", "</a:t>
            </a:r>
            <a:r>
              <a:rPr lang="en-US" sz="1200" dirty="0" err="1">
                <a:latin typeface="Poppins" panose="00000500000000000000" pitchFamily="2" charset="0"/>
                <a:cs typeface="Poppins" panose="00000500000000000000" pitchFamily="2" charset="0"/>
              </a:rPr>
              <a:t>security_guidelines</a:t>
            </a:r>
            <a:r>
              <a:rPr lang="en-US" sz="1200" dirty="0">
                <a:latin typeface="Poppins" panose="00000500000000000000" pitchFamily="2" charset="0"/>
                <a:cs typeface="Poppins" panose="00000500000000000000" pitchFamily="2" charset="0"/>
              </a:rPr>
              <a:t>"],</a:t>
            </a:r>
          </a:p>
          <a:p>
            <a:pPr algn="just">
              <a:spcBef>
                <a:spcPts val="600"/>
              </a:spcBef>
            </a:pPr>
            <a:r>
              <a:rPr lang="en-US" sz="1200" dirty="0">
                <a:latin typeface="Poppins" panose="00000500000000000000" pitchFamily="2" charset="0"/>
                <a:cs typeface="Poppins" panose="00000500000000000000" pitchFamily="2" charset="0"/>
              </a:rPr>
              <a:t>    tools=["static_analyzer", "</a:t>
            </a:r>
            <a:r>
              <a:rPr lang="en-US" sz="1200" dirty="0" err="1">
                <a:latin typeface="Poppins" panose="00000500000000000000" pitchFamily="2" charset="0"/>
                <a:cs typeface="Poppins" panose="00000500000000000000" pitchFamily="2" charset="0"/>
              </a:rPr>
              <a:t>test_runner</a:t>
            </a:r>
            <a:r>
              <a:rPr lang="en-US" sz="1200" dirty="0">
                <a:latin typeface="Poppins" panose="00000500000000000000" pitchFamily="2" charset="0"/>
                <a:cs typeface="Poppins" panose="00000500000000000000" pitchFamily="2" charset="0"/>
              </a:rPr>
              <a:t>"],</a:t>
            </a:r>
          </a:p>
          <a:p>
            <a:pPr algn="just">
              <a:spcBef>
                <a:spcPts val="600"/>
              </a:spcBef>
            </a:pPr>
            <a:r>
              <a:rPr lang="en-US" sz="1200" dirty="0">
                <a:latin typeface="Poppins" panose="00000500000000000000" pitchFamily="2" charset="0"/>
                <a:cs typeface="Poppins" panose="00000500000000000000" pitchFamily="2" charset="0"/>
              </a:rPr>
              <a:t>    workflow=["analyze", "test", "report"],</a:t>
            </a:r>
          </a:p>
          <a:p>
            <a:pPr algn="just">
              <a:spcBef>
                <a:spcPts val="600"/>
              </a:spcBef>
            </a:pPr>
            <a:r>
              <a:rPr lang="en-US" sz="1200" dirty="0">
                <a:latin typeface="Poppins" panose="00000500000000000000" pitchFamily="2" charset="0"/>
                <a:cs typeface="Poppins" panose="00000500000000000000" pitchFamily="2" charset="0"/>
              </a:rPr>
              <a:t>    guardrails=["verified_findings", "</a:t>
            </a:r>
            <a:r>
              <a:rPr lang="en-US" sz="1200" dirty="0" err="1">
                <a:latin typeface="Poppins" panose="00000500000000000000" pitchFamily="2" charset="0"/>
                <a:cs typeface="Poppins" panose="00000500000000000000" pitchFamily="2" charset="0"/>
              </a:rPr>
              <a:t>structured_output</a:t>
            </a:r>
            <a:r>
              <a:rPr lang="en-US" sz="1200" dirty="0">
                <a:latin typeface="Poppins" panose="00000500000000000000" pitchFamily="2" charset="0"/>
                <a:cs typeface="Poppins" panose="00000500000000000000" pitchFamily="2" charset="0"/>
              </a:rPr>
              <a:t>"]</a:t>
            </a:r>
          </a:p>
          <a:p>
            <a:pPr algn="just">
              <a:spcBef>
                <a:spcPts val="600"/>
              </a:spcBef>
            </a:pPr>
            <a:r>
              <a:rPr lang="en-US" sz="1200" b="1" dirty="0">
                <a:latin typeface="Poppins" panose="00000500000000000000" pitchFamily="2" charset="0"/>
                <a:cs typeface="Poppins" panose="00000500000000000000" pitchFamily="2" charset="0"/>
              </a:rPr>
              <a:t>)</a:t>
            </a:r>
          </a:p>
          <a:p>
            <a:pPr algn="just">
              <a:spcBef>
                <a:spcPts val="600"/>
              </a:spcBef>
            </a:pPr>
            <a:endParaRPr lang="en-US" sz="1200" dirty="0">
              <a:latin typeface="Poppins" panose="00000500000000000000" pitchFamily="2" charset="0"/>
              <a:cs typeface="Poppins" panose="00000500000000000000" pitchFamily="2" charset="0"/>
            </a:endParaRPr>
          </a:p>
          <a:p>
            <a:pPr algn="just">
              <a:spcBef>
                <a:spcPts val="600"/>
              </a:spcBef>
            </a:pPr>
            <a:r>
              <a:rPr lang="en-US" sz="1200" b="1" dirty="0">
                <a:latin typeface="Poppins" panose="00000500000000000000" pitchFamily="2" charset="0"/>
                <a:cs typeface="Poppins" panose="00000500000000000000" pitchFamily="2" charset="0"/>
              </a:rPr>
              <a:t># Agent</a:t>
            </a:r>
          </a:p>
          <a:p>
            <a:pPr algn="just">
              <a:spcBef>
                <a:spcPts val="600"/>
              </a:spcBef>
            </a:pPr>
            <a:r>
              <a:rPr lang="en-US" sz="1200" b="1" dirty="0" err="1">
                <a:latin typeface="Poppins" panose="00000500000000000000" pitchFamily="2" charset="0"/>
                <a:cs typeface="Poppins" panose="00000500000000000000" pitchFamily="2" charset="0"/>
              </a:rPr>
              <a:t>developer_agent</a:t>
            </a:r>
            <a:r>
              <a:rPr lang="en-US" sz="1200" b="1" dirty="0">
                <a:latin typeface="Poppins" panose="00000500000000000000" pitchFamily="2" charset="0"/>
                <a:cs typeface="Poppins" panose="00000500000000000000" pitchFamily="2" charset="0"/>
              </a:rPr>
              <a:t> = Agent(</a:t>
            </a:r>
          </a:p>
          <a:p>
            <a:pPr algn="just">
              <a:spcBef>
                <a:spcPts val="600"/>
              </a:spcBef>
            </a:pPr>
            <a:r>
              <a:rPr lang="en-US" sz="1200" dirty="0">
                <a:latin typeface="Poppins" panose="00000500000000000000" pitchFamily="2" charset="0"/>
                <a:cs typeface="Poppins" panose="00000500000000000000" pitchFamily="2" charset="0"/>
              </a:rPr>
              <a:t>    name="Developer",</a:t>
            </a:r>
          </a:p>
          <a:p>
            <a:pPr algn="just">
              <a:spcBef>
                <a:spcPts val="600"/>
              </a:spcBef>
            </a:pPr>
            <a:r>
              <a:rPr lang="en-US" sz="1200" dirty="0">
                <a:latin typeface="Poppins" panose="00000500000000000000" pitchFamily="2" charset="0"/>
                <a:cs typeface="Poppins" panose="00000500000000000000" pitchFamily="2" charset="0"/>
              </a:rPr>
              <a:t>    model="LLM",</a:t>
            </a:r>
          </a:p>
          <a:p>
            <a:pPr algn="just">
              <a:spcBef>
                <a:spcPts val="600"/>
              </a:spcBef>
            </a:pPr>
            <a:r>
              <a:rPr lang="en-US" sz="1200" dirty="0">
                <a:latin typeface="Poppins" panose="00000500000000000000" pitchFamily="2" charset="0"/>
                <a:cs typeface="Poppins" panose="00000500000000000000" pitchFamily="2" charset="0"/>
              </a:rPr>
              <a:t>    skills=[</a:t>
            </a:r>
            <a:r>
              <a:rPr lang="en-US" sz="1200" dirty="0" err="1">
                <a:latin typeface="Poppins" panose="00000500000000000000" pitchFamily="2" charset="0"/>
                <a:cs typeface="Poppins" panose="00000500000000000000" pitchFamily="2" charset="0"/>
              </a:rPr>
              <a:t>code_review</a:t>
            </a:r>
            <a:r>
              <a:rPr lang="en-US" sz="1200" dirty="0">
                <a:latin typeface="Poppins" panose="00000500000000000000" pitchFamily="2" charset="0"/>
                <a:cs typeface="Poppins" panose="00000500000000000000" pitchFamily="2" charset="0"/>
              </a:rPr>
              <a:t>],</a:t>
            </a:r>
          </a:p>
          <a:p>
            <a:pPr algn="just">
              <a:spcBef>
                <a:spcPts val="600"/>
              </a:spcBef>
            </a:pPr>
            <a:r>
              <a:rPr lang="en-US" sz="1200" dirty="0">
                <a:latin typeface="Poppins" panose="00000500000000000000" pitchFamily="2" charset="0"/>
                <a:cs typeface="Poppins" panose="00000500000000000000" pitchFamily="2" charset="0"/>
              </a:rPr>
              <a:t>    memory="</a:t>
            </a:r>
            <a:r>
              <a:rPr lang="en-US" sz="1200" dirty="0" err="1">
                <a:latin typeface="Poppins" panose="00000500000000000000" pitchFamily="2" charset="0"/>
                <a:cs typeface="Poppins" panose="00000500000000000000" pitchFamily="2" charset="0"/>
              </a:rPr>
              <a:t>project_memory</a:t>
            </a:r>
            <a:r>
              <a:rPr lang="en-US" sz="1200" dirty="0">
                <a:latin typeface="Poppins" panose="00000500000000000000" pitchFamily="2" charset="0"/>
                <a:cs typeface="Poppins" panose="00000500000000000000" pitchFamily="2" charset="0"/>
              </a:rPr>
              <a:t>"</a:t>
            </a:r>
          </a:p>
          <a:p>
            <a:pPr algn="just">
              <a:spcBef>
                <a:spcPts val="600"/>
              </a:spcBef>
            </a:pPr>
            <a:r>
              <a:rPr lang="en-US" sz="1200" b="1" dirty="0">
                <a:latin typeface="Poppins" panose="00000500000000000000" pitchFamily="2" charset="0"/>
                <a:cs typeface="Poppins" panose="00000500000000000000" pitchFamily="2" charset="0"/>
              </a:rPr>
              <a:t>)</a:t>
            </a:r>
          </a:p>
          <a:p>
            <a:pPr algn="just">
              <a:spcBef>
                <a:spcPts val="600"/>
              </a:spcBef>
            </a:pPr>
            <a:endParaRPr lang="en-US" sz="1200" b="1" dirty="0">
              <a:latin typeface="Poppins" panose="00000500000000000000" pitchFamily="2" charset="0"/>
              <a:cs typeface="Poppins" panose="00000500000000000000" pitchFamily="2" charset="0"/>
            </a:endParaRPr>
          </a:p>
          <a:p>
            <a:pPr algn="just">
              <a:spcBef>
                <a:spcPts val="600"/>
              </a:spcBef>
            </a:pPr>
            <a:r>
              <a:rPr lang="en-US" sz="1200" b="1" dirty="0">
                <a:latin typeface="Poppins" panose="00000500000000000000" pitchFamily="2" charset="0"/>
                <a:cs typeface="Poppins" panose="00000500000000000000" pitchFamily="2" charset="0"/>
              </a:rPr>
              <a:t># Agent uses the skill</a:t>
            </a:r>
          </a:p>
          <a:p>
            <a:pPr algn="just">
              <a:spcBef>
                <a:spcPts val="600"/>
              </a:spcBef>
            </a:pPr>
            <a:r>
              <a:rPr lang="en-US" sz="1200" dirty="0">
                <a:latin typeface="Poppins" panose="00000500000000000000" pitchFamily="2" charset="0"/>
                <a:cs typeface="Poppins" panose="00000500000000000000" pitchFamily="2" charset="0"/>
              </a:rPr>
              <a:t>result = </a:t>
            </a:r>
            <a:r>
              <a:rPr lang="en-US" sz="1200" dirty="0" err="1">
                <a:latin typeface="Poppins" panose="00000500000000000000" pitchFamily="2" charset="0"/>
                <a:cs typeface="Poppins" panose="00000500000000000000" pitchFamily="2" charset="0"/>
              </a:rPr>
              <a:t>developer_agent.run</a:t>
            </a:r>
            <a:r>
              <a:rPr lang="en-US" sz="1200" dirty="0">
                <a:latin typeface="Poppins" panose="00000500000000000000" pitchFamily="2" charset="0"/>
                <a:cs typeface="Poppins" panose="00000500000000000000" pitchFamily="2" charset="0"/>
              </a:rPr>
              <a:t>(</a:t>
            </a:r>
          </a:p>
          <a:p>
            <a:pPr algn="just">
              <a:spcBef>
                <a:spcPts val="600"/>
              </a:spcBef>
            </a:pPr>
            <a:r>
              <a:rPr lang="en-US" sz="1200" dirty="0">
                <a:latin typeface="Poppins" panose="00000500000000000000" pitchFamily="2" charset="0"/>
                <a:cs typeface="Poppins" panose="00000500000000000000" pitchFamily="2" charset="0"/>
              </a:rPr>
              <a:t>    skill="</a:t>
            </a:r>
            <a:r>
              <a:rPr lang="en-US" sz="1200" dirty="0" err="1">
                <a:latin typeface="Poppins" panose="00000500000000000000" pitchFamily="2" charset="0"/>
                <a:cs typeface="Poppins" panose="00000500000000000000" pitchFamily="2" charset="0"/>
              </a:rPr>
              <a:t>CodeReview</a:t>
            </a:r>
            <a:r>
              <a:rPr lang="en-US" sz="1200" dirty="0">
                <a:latin typeface="Poppins" panose="00000500000000000000" pitchFamily="2" charset="0"/>
                <a:cs typeface="Poppins" panose="00000500000000000000" pitchFamily="2" charset="0"/>
              </a:rPr>
              <a:t>",</a:t>
            </a:r>
          </a:p>
          <a:p>
            <a:pPr algn="just">
              <a:spcBef>
                <a:spcPts val="600"/>
              </a:spcBef>
            </a:pPr>
            <a:r>
              <a:rPr lang="en-US" sz="1200" dirty="0">
                <a:latin typeface="Poppins" panose="00000500000000000000" pitchFamily="2" charset="0"/>
                <a:cs typeface="Poppins" panose="00000500000000000000" pitchFamily="2" charset="0"/>
              </a:rPr>
              <a:t>    input=repository</a:t>
            </a:r>
          </a:p>
          <a:p>
            <a:pPr algn="just">
              <a:spcBef>
                <a:spcPts val="600"/>
              </a:spcBef>
            </a:pPr>
            <a:r>
              <a:rPr lang="en-US" sz="1200" dirty="0">
                <a:latin typeface="Poppins" panose="00000500000000000000" pitchFamily="2" charset="0"/>
                <a:cs typeface="Poppins" panose="00000500000000000000" pitchFamily="2" charset="0"/>
              </a:rPr>
              <a:t>)</a:t>
            </a:r>
            <a:endParaRPr lang="en-IN" sz="1200" dirty="0">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1CD6B7D8-047E-4B53-8DDC-EA25D1B03047}"/>
              </a:ext>
            </a:extLst>
          </p:cNvPr>
          <p:cNvSpPr txBox="1"/>
          <p:nvPr/>
        </p:nvSpPr>
        <p:spPr>
          <a:xfrm>
            <a:off x="452559" y="1525303"/>
            <a:ext cx="5225549" cy="1908215"/>
          </a:xfrm>
          <a:prstGeom prst="rect">
            <a:avLst/>
          </a:prstGeom>
          <a:noFill/>
        </p:spPr>
        <p:txBody>
          <a:bodyPr wrap="square">
            <a:spAutoFit/>
          </a:bodyPr>
          <a:lstStyle/>
          <a:p>
            <a:pPr algn="just">
              <a:spcBef>
                <a:spcPts val="1200"/>
              </a:spcBef>
            </a:pPr>
            <a:r>
              <a:rPr lang="en-IN" dirty="0">
                <a:latin typeface="Inter"/>
              </a:rPr>
              <a:t>Here is a </a:t>
            </a:r>
            <a:r>
              <a:rPr lang="en-IN" b="1" dirty="0">
                <a:latin typeface="Inter"/>
              </a:rPr>
              <a:t>pseudo-representation</a:t>
            </a:r>
            <a:r>
              <a:rPr lang="en-IN" dirty="0">
                <a:latin typeface="Inter"/>
              </a:rPr>
              <a:t> of </a:t>
            </a:r>
            <a:r>
              <a:rPr lang="en-IN" b="1" dirty="0">
                <a:latin typeface="Inter"/>
              </a:rPr>
              <a:t>a pre-defined AI Skill </a:t>
            </a:r>
            <a:r>
              <a:rPr lang="en-IN" dirty="0">
                <a:latin typeface="Inter"/>
              </a:rPr>
              <a:t>declaration and its invocation by an Agent.</a:t>
            </a:r>
          </a:p>
          <a:p>
            <a:pPr algn="just">
              <a:spcBef>
                <a:spcPts val="1200"/>
              </a:spcBef>
            </a:pPr>
            <a:r>
              <a:rPr lang="en-IN" dirty="0">
                <a:latin typeface="Inter"/>
              </a:rPr>
              <a:t>The Skill encapsulates domain-specific instructions, knowledge, tools, workflow logic, and guardrails into a reusable capability. The Agent can select and invoke the Skill when the corresponding task is required.</a:t>
            </a:r>
          </a:p>
        </p:txBody>
      </p:sp>
      <p:pic>
        <p:nvPicPr>
          <p:cNvPr id="5" name="Picture 4">
            <a:extLst>
              <a:ext uri="{FF2B5EF4-FFF2-40B4-BE49-F238E27FC236}">
                <a16:creationId xmlns:a16="http://schemas.microsoft.com/office/drawing/2014/main" id="{C86B5B3D-931A-831A-886A-04E9FEF6596B}"/>
              </a:ext>
            </a:extLst>
          </p:cNvPr>
          <p:cNvPicPr>
            <a:picLocks noChangeAspect="1"/>
          </p:cNvPicPr>
          <p:nvPr/>
        </p:nvPicPr>
        <p:blipFill>
          <a:blip r:embed="rId3">
            <a:duotone>
              <a:schemeClr val="accent1">
                <a:shade val="45000"/>
                <a:satMod val="135000"/>
              </a:schemeClr>
              <a:prstClr val="white"/>
            </a:duotone>
          </a:blip>
          <a:stretch>
            <a:fillRect/>
          </a:stretch>
        </p:blipFill>
        <p:spPr>
          <a:xfrm>
            <a:off x="74587" y="3764378"/>
            <a:ext cx="5784574" cy="2600418"/>
          </a:xfrm>
          <a:prstGeom prst="rect">
            <a:avLst/>
          </a:prstGeom>
        </p:spPr>
      </p:pic>
    </p:spTree>
    <p:extLst>
      <p:ext uri="{BB962C8B-B14F-4D97-AF65-F5344CB8AC3E}">
        <p14:creationId xmlns:p14="http://schemas.microsoft.com/office/powerpoint/2010/main" val="3093204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2DC54-B9E0-B314-CD71-B04BDC9749EF}"/>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76867297-DF69-716A-B468-FF4A643E9E31}"/>
              </a:ext>
            </a:extLst>
          </p:cNvPr>
          <p:cNvPicPr>
            <a:picLocks noChangeAspect="1"/>
          </p:cNvPicPr>
          <p:nvPr/>
        </p:nvPicPr>
        <p:blipFill>
          <a:blip r:embed="rId2"/>
          <a:stretch>
            <a:fillRect/>
          </a:stretch>
        </p:blipFill>
        <p:spPr>
          <a:xfrm>
            <a:off x="0" y="0"/>
            <a:ext cx="12192000" cy="6858000"/>
          </a:xfrm>
          <a:prstGeom prst="rect">
            <a:avLst/>
          </a:prstGeom>
        </p:spPr>
      </p:pic>
      <p:sp>
        <p:nvSpPr>
          <p:cNvPr id="38" name="TextBox 37">
            <a:extLst>
              <a:ext uri="{FF2B5EF4-FFF2-40B4-BE49-F238E27FC236}">
                <a16:creationId xmlns:a16="http://schemas.microsoft.com/office/drawing/2014/main" id="{575B2C94-7F0F-46D5-7378-A44AC9329E04}"/>
              </a:ext>
            </a:extLst>
          </p:cNvPr>
          <p:cNvSpPr txBox="1"/>
          <p:nvPr/>
        </p:nvSpPr>
        <p:spPr>
          <a:xfrm>
            <a:off x="472636" y="401199"/>
            <a:ext cx="10042963" cy="554704"/>
          </a:xfrm>
          <a:prstGeom prst="rect">
            <a:avLst/>
          </a:prstGeom>
          <a:noFill/>
        </p:spPr>
        <p:txBody>
          <a:bodyPr wrap="square" lIns="0" tIns="0" rIns="0" bIns="0" anchor="t">
            <a:spAutoFit/>
          </a:bodyPr>
          <a:lstStyle/>
          <a:p>
            <a:pPr>
              <a:lnSpc>
                <a:spcPts val="4455"/>
              </a:lnSpc>
            </a:pPr>
            <a:r>
              <a:rPr lang="en-IN" sz="3600" b="1" dirty="0">
                <a:latin typeface="Inter"/>
              </a:rPr>
              <a:t>Evaluating the </a:t>
            </a:r>
            <a:r>
              <a:rPr lang="en-IN" sz="3600" b="1" dirty="0">
                <a:solidFill>
                  <a:schemeClr val="tx2"/>
                </a:solidFill>
                <a:latin typeface="Inter"/>
              </a:rPr>
              <a:t>Ai Agents</a:t>
            </a:r>
            <a:endParaRPr sz="3600" i="0" u="none" dirty="0">
              <a:solidFill>
                <a:schemeClr val="tx2"/>
              </a:solidFill>
              <a:latin typeface="Inter"/>
            </a:endParaRPr>
          </a:p>
        </p:txBody>
      </p:sp>
      <p:sp>
        <p:nvSpPr>
          <p:cNvPr id="4" name="TextBox 3">
            <a:extLst>
              <a:ext uri="{FF2B5EF4-FFF2-40B4-BE49-F238E27FC236}">
                <a16:creationId xmlns:a16="http://schemas.microsoft.com/office/drawing/2014/main" id="{7D045879-1C70-7E35-1F6D-2D696799FFCA}"/>
              </a:ext>
            </a:extLst>
          </p:cNvPr>
          <p:cNvSpPr txBox="1"/>
          <p:nvPr/>
        </p:nvSpPr>
        <p:spPr>
          <a:xfrm>
            <a:off x="359173" y="968613"/>
            <a:ext cx="11587662" cy="2215991"/>
          </a:xfrm>
          <a:prstGeom prst="rect">
            <a:avLst/>
          </a:prstGeom>
          <a:noFill/>
        </p:spPr>
        <p:txBody>
          <a:bodyPr wrap="square">
            <a:spAutoFit/>
          </a:bodyPr>
          <a:lstStyle/>
          <a:p>
            <a:pPr algn="just">
              <a:spcBef>
                <a:spcPts val="1200"/>
              </a:spcBef>
            </a:pPr>
            <a:r>
              <a:rPr lang="en-IN" sz="1600" dirty="0">
                <a:latin typeface="Inter"/>
              </a:rPr>
              <a:t>The important finding from current agent-evaluation literature is that </a:t>
            </a:r>
            <a:r>
              <a:rPr lang="en-IN" sz="1600" b="1" dirty="0">
                <a:latin typeface="Inter"/>
              </a:rPr>
              <a:t>agent evaluation must assess more than the final answer</a:t>
            </a:r>
            <a:r>
              <a:rPr lang="en-IN" sz="1600" dirty="0">
                <a:latin typeface="Inter"/>
              </a:rPr>
              <a:t>. Agents act over multiple steps, use tools, modify state, and can fail in different places. Anthropic explicitly recommends evaluating the </a:t>
            </a:r>
            <a:r>
              <a:rPr lang="en-IN" sz="1600" b="1" dirty="0">
                <a:latin typeface="Inter"/>
              </a:rPr>
              <a:t>task, trajectory/transcript, and final environment outcome</a:t>
            </a:r>
            <a:r>
              <a:rPr lang="en-IN" sz="1600" dirty="0">
                <a:latin typeface="Inter"/>
              </a:rPr>
              <a:t>, with multiple trials because agent </a:t>
            </a:r>
            <a:r>
              <a:rPr lang="en-IN" sz="1600" dirty="0" err="1">
                <a:latin typeface="Inter"/>
              </a:rPr>
              <a:t>behavior</a:t>
            </a:r>
            <a:r>
              <a:rPr lang="en-IN" sz="1600" dirty="0">
                <a:latin typeface="Inter"/>
              </a:rPr>
              <a:t> is variable.</a:t>
            </a:r>
          </a:p>
          <a:p>
            <a:pPr algn="just">
              <a:spcBef>
                <a:spcPts val="600"/>
              </a:spcBef>
            </a:pPr>
            <a:r>
              <a:rPr lang="en-IN" sz="1600" dirty="0"/>
              <a:t>For agents, the evaluation should examine:</a:t>
            </a:r>
            <a:endParaRPr lang="en-IN" sz="1600" b="1" dirty="0"/>
          </a:p>
          <a:p>
            <a:pPr marL="285750" indent="-285750" algn="just">
              <a:spcBef>
                <a:spcPts val="600"/>
              </a:spcBef>
              <a:buFont typeface="Arial" panose="020B0604020202020204" pitchFamily="34" charset="0"/>
              <a:buChar char="•"/>
            </a:pPr>
            <a:r>
              <a:rPr lang="en-IN" sz="1600" b="1" dirty="0"/>
              <a:t>What the agent produced</a:t>
            </a:r>
          </a:p>
          <a:p>
            <a:pPr marL="285750" indent="-285750" algn="just">
              <a:buFont typeface="Arial" panose="020B0604020202020204" pitchFamily="34" charset="0"/>
              <a:buChar char="•"/>
            </a:pPr>
            <a:r>
              <a:rPr lang="en-IN" sz="1600" b="1" dirty="0"/>
              <a:t>How it acted</a:t>
            </a:r>
          </a:p>
          <a:p>
            <a:pPr marL="285750" indent="-285750" algn="just">
              <a:buFont typeface="Arial" panose="020B0604020202020204" pitchFamily="34" charset="0"/>
              <a:buChar char="•"/>
            </a:pPr>
            <a:r>
              <a:rPr lang="en-IN" sz="1600" b="1" dirty="0"/>
              <a:t>Whether the task actually succeeded</a:t>
            </a:r>
          </a:p>
          <a:p>
            <a:pPr marL="285750" indent="-285750" algn="just">
              <a:buFont typeface="Arial" panose="020B0604020202020204" pitchFamily="34" charset="0"/>
              <a:buChar char="•"/>
            </a:pPr>
            <a:r>
              <a:rPr lang="en-IN" sz="1600" b="1" dirty="0"/>
              <a:t>How efficiently and safely it behaved.  </a:t>
            </a:r>
            <a:r>
              <a:rPr lang="en-IN" sz="1600" dirty="0"/>
              <a:t>[20]</a:t>
            </a:r>
            <a:endParaRPr lang="en-IN" sz="1600" dirty="0">
              <a:latin typeface="Inter"/>
            </a:endParaRPr>
          </a:p>
        </p:txBody>
      </p:sp>
      <p:sp>
        <p:nvSpPr>
          <p:cNvPr id="5" name="TextBox 4">
            <a:extLst>
              <a:ext uri="{FF2B5EF4-FFF2-40B4-BE49-F238E27FC236}">
                <a16:creationId xmlns:a16="http://schemas.microsoft.com/office/drawing/2014/main" id="{6D32098A-6589-1DA6-B67F-3FFD6A57DD30}"/>
              </a:ext>
            </a:extLst>
          </p:cNvPr>
          <p:cNvSpPr txBox="1"/>
          <p:nvPr/>
        </p:nvSpPr>
        <p:spPr>
          <a:xfrm>
            <a:off x="359173" y="3395680"/>
            <a:ext cx="4799236" cy="3277820"/>
          </a:xfrm>
          <a:prstGeom prst="rect">
            <a:avLst/>
          </a:prstGeom>
          <a:noFill/>
        </p:spPr>
        <p:txBody>
          <a:bodyPr wrap="square">
            <a:spAutoFit/>
          </a:bodyPr>
          <a:lstStyle/>
          <a:p>
            <a:pPr algn="just">
              <a:spcBef>
                <a:spcPts val="1200"/>
              </a:spcBef>
            </a:pPr>
            <a:r>
              <a:rPr lang="en-IN" sz="1600" dirty="0" err="1">
                <a:latin typeface="Inter"/>
              </a:rPr>
              <a:t>DeepEval</a:t>
            </a:r>
            <a:r>
              <a:rPr lang="en-IN" sz="1600" dirty="0">
                <a:latin typeface="Inter"/>
              </a:rPr>
              <a:t> is an open-source evaluation framework used by developers to unit-test, trace, and score Large Language Model (LLM) applications and AI agents. For AI agents, it goes beyond simple input-output checks to evaluate complex multi-step reasoning, tool selection, and overall task execution trajectories [21]</a:t>
            </a:r>
          </a:p>
          <a:p>
            <a:pPr algn="just">
              <a:spcBef>
                <a:spcPts val="1200"/>
              </a:spcBef>
            </a:pPr>
            <a:r>
              <a:rPr lang="en-IN" sz="1600" dirty="0" err="1">
                <a:latin typeface="Inter"/>
              </a:rPr>
              <a:t>DeepEval</a:t>
            </a:r>
            <a:r>
              <a:rPr lang="en-IN" sz="1600" dirty="0">
                <a:latin typeface="Inter"/>
              </a:rPr>
              <a:t> simplifies building an Evaluation Harness, an</a:t>
            </a:r>
            <a:r>
              <a:rPr lang="en-IN" sz="1600" b="1" dirty="0">
                <a:latin typeface="Inter"/>
              </a:rPr>
              <a:t> evaluation harness</a:t>
            </a:r>
            <a:r>
              <a:rPr lang="en-IN" sz="1600" dirty="0">
                <a:latin typeface="Inter"/>
              </a:rPr>
              <a:t> is the infrastructure that runs evals end-to-end. It provides instructions and tools, runs tasks concurrently, records all the steps, grades outputs, and aggregates results.</a:t>
            </a:r>
          </a:p>
          <a:p>
            <a:pPr indent="0" algn="just">
              <a:lnSpc>
                <a:spcPct val="100000"/>
              </a:lnSpc>
              <a:spcBef>
                <a:spcPts val="600"/>
              </a:spcBef>
              <a:buNone/>
            </a:pPr>
            <a:endParaRPr lang="en-IN" sz="1600" b="0" i="0" spc="0" dirty="0">
              <a:solidFill>
                <a:schemeClr val="tx1"/>
              </a:solidFill>
              <a:effectLst/>
              <a:latin typeface="Inter"/>
            </a:endParaRPr>
          </a:p>
        </p:txBody>
      </p:sp>
      <p:pic>
        <p:nvPicPr>
          <p:cNvPr id="7" name="Picture 6">
            <a:extLst>
              <a:ext uri="{FF2B5EF4-FFF2-40B4-BE49-F238E27FC236}">
                <a16:creationId xmlns:a16="http://schemas.microsoft.com/office/drawing/2014/main" id="{9A5E521A-C750-F9C8-DCCE-E90E6258A216}"/>
              </a:ext>
            </a:extLst>
          </p:cNvPr>
          <p:cNvPicPr>
            <a:picLocks noChangeAspect="1"/>
          </p:cNvPicPr>
          <p:nvPr/>
        </p:nvPicPr>
        <p:blipFill>
          <a:blip r:embed="rId3"/>
          <a:stretch>
            <a:fillRect/>
          </a:stretch>
        </p:blipFill>
        <p:spPr>
          <a:xfrm>
            <a:off x="5494117" y="2727248"/>
            <a:ext cx="6171708" cy="3539823"/>
          </a:xfrm>
          <a:prstGeom prst="rect">
            <a:avLst/>
          </a:prstGeom>
        </p:spPr>
      </p:pic>
    </p:spTree>
    <p:extLst>
      <p:ext uri="{BB962C8B-B14F-4D97-AF65-F5344CB8AC3E}">
        <p14:creationId xmlns:p14="http://schemas.microsoft.com/office/powerpoint/2010/main" val="974634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CEA1F-ED37-D2BE-2393-DCDE80618322}"/>
            </a:ext>
          </a:extLst>
        </p:cNvPr>
        <p:cNvGrpSpPr/>
        <p:nvPr/>
      </p:nvGrpSpPr>
      <p:grpSpPr>
        <a:xfrm>
          <a:off x="0" y="0"/>
          <a:ext cx="0" cy="0"/>
          <a:chOff x="0" y="0"/>
          <a:chExt cx="0" cy="0"/>
        </a:xfrm>
      </p:grpSpPr>
      <p:pic>
        <p:nvPicPr>
          <p:cNvPr id="95" name="Picture 94" descr="image.png">
            <a:extLst>
              <a:ext uri="{FF2B5EF4-FFF2-40B4-BE49-F238E27FC236}">
                <a16:creationId xmlns:a16="http://schemas.microsoft.com/office/drawing/2014/main" id="{A41B8E64-9719-9AEB-C719-5823932940D5}"/>
              </a:ext>
            </a:extLst>
          </p:cNvPr>
          <p:cNvPicPr>
            <a:picLocks noChangeAspect="1"/>
          </p:cNvPicPr>
          <p:nvPr/>
        </p:nvPicPr>
        <p:blipFill>
          <a:blip r:embed="rId2"/>
          <a:stretch>
            <a:fillRect/>
          </a:stretch>
        </p:blipFill>
        <p:spPr>
          <a:xfrm>
            <a:off x="-238539" y="0"/>
            <a:ext cx="12602817" cy="6858000"/>
          </a:xfrm>
          <a:prstGeom prst="rect">
            <a:avLst/>
          </a:prstGeom>
        </p:spPr>
      </p:pic>
      <p:sp>
        <p:nvSpPr>
          <p:cNvPr id="38" name="TextBox 37">
            <a:extLst>
              <a:ext uri="{FF2B5EF4-FFF2-40B4-BE49-F238E27FC236}">
                <a16:creationId xmlns:a16="http://schemas.microsoft.com/office/drawing/2014/main" id="{5BDBB008-D2FD-C904-0654-13591E26F522}"/>
              </a:ext>
            </a:extLst>
          </p:cNvPr>
          <p:cNvSpPr txBox="1"/>
          <p:nvPr/>
        </p:nvSpPr>
        <p:spPr>
          <a:xfrm>
            <a:off x="552149" y="318041"/>
            <a:ext cx="10042963" cy="554704"/>
          </a:xfrm>
          <a:prstGeom prst="rect">
            <a:avLst/>
          </a:prstGeom>
          <a:noFill/>
        </p:spPr>
        <p:txBody>
          <a:bodyPr wrap="square" lIns="0" tIns="0" rIns="0" bIns="0" anchor="t">
            <a:spAutoFit/>
          </a:bodyPr>
          <a:lstStyle/>
          <a:p>
            <a:pPr>
              <a:lnSpc>
                <a:spcPts val="4455"/>
              </a:lnSpc>
            </a:pPr>
            <a:r>
              <a:rPr lang="en-IN" sz="3600" b="1" dirty="0">
                <a:latin typeface="Inter"/>
              </a:rPr>
              <a:t>Evaluating the </a:t>
            </a:r>
            <a:r>
              <a:rPr lang="en-IN" sz="3600" b="1" dirty="0">
                <a:solidFill>
                  <a:schemeClr val="tx2"/>
                </a:solidFill>
                <a:latin typeface="Inter"/>
              </a:rPr>
              <a:t>Ai Agents </a:t>
            </a:r>
            <a:r>
              <a:rPr lang="en-IN" sz="3600" dirty="0">
                <a:solidFill>
                  <a:schemeClr val="tx2"/>
                </a:solidFill>
                <a:latin typeface="Inter"/>
              </a:rPr>
              <a:t>(Cont.)</a:t>
            </a:r>
            <a:endParaRPr sz="3600" i="0" u="none" dirty="0">
              <a:solidFill>
                <a:schemeClr val="tx2"/>
              </a:solidFill>
              <a:latin typeface="Inter"/>
            </a:endParaRPr>
          </a:p>
        </p:txBody>
      </p:sp>
      <p:sp>
        <p:nvSpPr>
          <p:cNvPr id="4" name="TextBox 3">
            <a:extLst>
              <a:ext uri="{FF2B5EF4-FFF2-40B4-BE49-F238E27FC236}">
                <a16:creationId xmlns:a16="http://schemas.microsoft.com/office/drawing/2014/main" id="{BAB0159B-10C8-9029-86D4-EA4FF68D5E5B}"/>
              </a:ext>
            </a:extLst>
          </p:cNvPr>
          <p:cNvSpPr txBox="1"/>
          <p:nvPr/>
        </p:nvSpPr>
        <p:spPr>
          <a:xfrm>
            <a:off x="428746" y="4505456"/>
            <a:ext cx="8267992" cy="338554"/>
          </a:xfrm>
          <a:prstGeom prst="rect">
            <a:avLst/>
          </a:prstGeom>
          <a:noFill/>
        </p:spPr>
        <p:txBody>
          <a:bodyPr wrap="square">
            <a:spAutoFit/>
          </a:bodyPr>
          <a:lstStyle/>
          <a:p>
            <a:pPr algn="just">
              <a:spcBef>
                <a:spcPts val="1200"/>
              </a:spcBef>
            </a:pPr>
            <a:r>
              <a:rPr lang="en-IN" sz="1600" b="1" dirty="0">
                <a:latin typeface="Inter"/>
              </a:rPr>
              <a:t>AI agents consist of interconnected layers that each require distinct evaluation approaches: </a:t>
            </a:r>
            <a:r>
              <a:rPr lang="en-IN" sz="1600" dirty="0">
                <a:latin typeface="Inter"/>
              </a:rPr>
              <a:t>[21]</a:t>
            </a:r>
          </a:p>
        </p:txBody>
      </p:sp>
      <p:graphicFrame>
        <p:nvGraphicFramePr>
          <p:cNvPr id="2" name="Table 1">
            <a:extLst>
              <a:ext uri="{FF2B5EF4-FFF2-40B4-BE49-F238E27FC236}">
                <a16:creationId xmlns:a16="http://schemas.microsoft.com/office/drawing/2014/main" id="{83C69696-BD50-60CE-8567-C6894D6703C4}"/>
              </a:ext>
            </a:extLst>
          </p:cNvPr>
          <p:cNvGraphicFramePr>
            <a:graphicFrameLocks noGrp="1"/>
          </p:cNvGraphicFramePr>
          <p:nvPr>
            <p:extLst>
              <p:ext uri="{D42A27DB-BD31-4B8C-83A1-F6EECF244321}">
                <p14:modId xmlns:p14="http://schemas.microsoft.com/office/powerpoint/2010/main" val="3320552952"/>
              </p:ext>
            </p:extLst>
          </p:nvPr>
        </p:nvGraphicFramePr>
        <p:xfrm>
          <a:off x="472635" y="4924981"/>
          <a:ext cx="11146207" cy="1579579"/>
        </p:xfrm>
        <a:graphic>
          <a:graphicData uri="http://schemas.openxmlformats.org/drawingml/2006/table">
            <a:tbl>
              <a:tblPr>
                <a:tableStyleId>{5C22544A-7EE6-4342-B048-85BDC9FD1C3A}</a:tableStyleId>
              </a:tblPr>
              <a:tblGrid>
                <a:gridCol w="1450310">
                  <a:extLst>
                    <a:ext uri="{9D8B030D-6E8A-4147-A177-3AD203B41FA5}">
                      <a16:colId xmlns:a16="http://schemas.microsoft.com/office/drawing/2014/main" val="2295870553"/>
                    </a:ext>
                  </a:extLst>
                </a:gridCol>
                <a:gridCol w="4034059">
                  <a:extLst>
                    <a:ext uri="{9D8B030D-6E8A-4147-A177-3AD203B41FA5}">
                      <a16:colId xmlns:a16="http://schemas.microsoft.com/office/drawing/2014/main" val="625264080"/>
                    </a:ext>
                  </a:extLst>
                </a:gridCol>
                <a:gridCol w="1631108">
                  <a:extLst>
                    <a:ext uri="{9D8B030D-6E8A-4147-A177-3AD203B41FA5}">
                      <a16:colId xmlns:a16="http://schemas.microsoft.com/office/drawing/2014/main" val="854535037"/>
                    </a:ext>
                  </a:extLst>
                </a:gridCol>
                <a:gridCol w="4030730">
                  <a:extLst>
                    <a:ext uri="{9D8B030D-6E8A-4147-A177-3AD203B41FA5}">
                      <a16:colId xmlns:a16="http://schemas.microsoft.com/office/drawing/2014/main" val="214128159"/>
                    </a:ext>
                  </a:extLst>
                </a:gridCol>
              </a:tblGrid>
              <a:tr h="282148">
                <a:tc>
                  <a:txBody>
                    <a:bodyPr/>
                    <a:lstStyle/>
                    <a:p>
                      <a:pPr marL="0" marR="0" indent="0" algn="l">
                        <a:buNone/>
                      </a:pPr>
                      <a:r>
                        <a:rPr lang="en-IN" sz="1400" b="1">
                          <a:effectLst/>
                          <a:latin typeface="Inter"/>
                        </a:rPr>
                        <a:t>Layer</a:t>
                      </a:r>
                      <a:endParaRPr lang="en-IN" sz="1400" b="1" i="0">
                        <a:solidFill>
                          <a:srgbClr val="EBEBEB"/>
                        </a:solidFill>
                        <a:effectLst/>
                        <a:latin typeface="Inter"/>
                      </a:endParaRPr>
                    </a:p>
                  </a:txBody>
                  <a:tcPr marL="62170" marR="62170" marT="62170" marB="62170" anchor="ctr"/>
                </a:tc>
                <a:tc>
                  <a:txBody>
                    <a:bodyPr/>
                    <a:lstStyle/>
                    <a:p>
                      <a:pPr marL="0" marR="0" indent="0" algn="l">
                        <a:buNone/>
                      </a:pPr>
                      <a:r>
                        <a:rPr lang="en-IN" sz="1400" b="1">
                          <a:effectLst/>
                          <a:latin typeface="Inter"/>
                        </a:rPr>
                        <a:t>What It Does</a:t>
                      </a:r>
                      <a:endParaRPr lang="en-IN" sz="1400" b="1" i="0">
                        <a:solidFill>
                          <a:srgbClr val="EBEBEB"/>
                        </a:solidFill>
                        <a:effectLst/>
                        <a:latin typeface="Inter"/>
                      </a:endParaRPr>
                    </a:p>
                  </a:txBody>
                  <a:tcPr marL="62170" marR="62170" marT="62170" marB="62170" anchor="ctr"/>
                </a:tc>
                <a:tc>
                  <a:txBody>
                    <a:bodyPr/>
                    <a:lstStyle/>
                    <a:p>
                      <a:pPr marL="0" marR="0" indent="0" algn="l">
                        <a:buNone/>
                      </a:pPr>
                      <a:r>
                        <a:rPr lang="en-IN" sz="1400" b="1">
                          <a:effectLst/>
                          <a:latin typeface="Inter"/>
                        </a:rPr>
                        <a:t>Evaluation Scope</a:t>
                      </a:r>
                      <a:endParaRPr lang="en-IN" sz="1400" b="1" i="0">
                        <a:solidFill>
                          <a:srgbClr val="EBEBEB"/>
                        </a:solidFill>
                        <a:effectLst/>
                        <a:latin typeface="Inter"/>
                      </a:endParaRPr>
                    </a:p>
                  </a:txBody>
                  <a:tcPr marL="62170" marR="62170" marT="62170" marB="62170" anchor="ctr"/>
                </a:tc>
                <a:tc>
                  <a:txBody>
                    <a:bodyPr/>
                    <a:lstStyle/>
                    <a:p>
                      <a:pPr marL="0" marR="0" indent="0" algn="l">
                        <a:buNone/>
                      </a:pPr>
                      <a:r>
                        <a:rPr lang="en-IN" sz="1400" b="1" dirty="0">
                          <a:effectLst/>
                          <a:latin typeface="Inter"/>
                        </a:rPr>
                        <a:t>Key Metrics</a:t>
                      </a:r>
                      <a:endParaRPr lang="en-IN" sz="1400" b="1" i="0" dirty="0">
                        <a:solidFill>
                          <a:srgbClr val="EBEBEB"/>
                        </a:solidFill>
                        <a:effectLst/>
                        <a:latin typeface="Inter"/>
                      </a:endParaRPr>
                    </a:p>
                  </a:txBody>
                  <a:tcPr marL="62170" marR="62170" marT="62170" marB="62170" anchor="ctr"/>
                </a:tc>
                <a:extLst>
                  <a:ext uri="{0D108BD9-81ED-4DB2-BD59-A6C34878D82A}">
                    <a16:rowId xmlns:a16="http://schemas.microsoft.com/office/drawing/2014/main" val="2629193953"/>
                  </a:ext>
                </a:extLst>
              </a:tr>
              <a:tr h="390528">
                <a:tc>
                  <a:txBody>
                    <a:bodyPr/>
                    <a:lstStyle/>
                    <a:p>
                      <a:pPr marL="0" marR="0" indent="0" algn="l">
                        <a:buNone/>
                      </a:pPr>
                      <a:r>
                        <a:rPr lang="en-IN" sz="1400" b="1">
                          <a:effectLst/>
                          <a:latin typeface="Inter"/>
                        </a:rPr>
                        <a:t>Reasoning Layer</a:t>
                      </a:r>
                      <a:endParaRPr lang="en-IN" sz="1400" b="1" i="0">
                        <a:solidFill>
                          <a:srgbClr val="D6D6D6"/>
                        </a:solidFill>
                        <a:effectLst/>
                        <a:latin typeface="Inter"/>
                      </a:endParaRPr>
                    </a:p>
                  </a:txBody>
                  <a:tcPr marL="62170" marR="62170" marT="62170" marB="62170" anchor="ctr"/>
                </a:tc>
                <a:tc>
                  <a:txBody>
                    <a:bodyPr/>
                    <a:lstStyle/>
                    <a:p>
                      <a:pPr marL="0" marR="0" indent="0" algn="l">
                        <a:buNone/>
                      </a:pPr>
                      <a:r>
                        <a:rPr lang="en-IN" sz="1400" b="0" dirty="0">
                          <a:effectLst/>
                          <a:latin typeface="Inter"/>
                        </a:rPr>
                        <a:t>Plans tasks, creates strategies, decides what to do</a:t>
                      </a:r>
                      <a:endParaRPr lang="en-IN" sz="1400" b="0" i="0" dirty="0">
                        <a:solidFill>
                          <a:srgbClr val="D6D6D6"/>
                        </a:solidFill>
                        <a:effectLst/>
                        <a:latin typeface="Inter"/>
                      </a:endParaRPr>
                    </a:p>
                  </a:txBody>
                  <a:tcPr marL="62170" marR="62170" marT="62170" marB="62170" anchor="ctr">
                    <a:solidFill>
                      <a:schemeClr val="bg1"/>
                    </a:solidFill>
                  </a:tcPr>
                </a:tc>
                <a:tc>
                  <a:txBody>
                    <a:bodyPr/>
                    <a:lstStyle/>
                    <a:p>
                      <a:pPr marL="0" marR="0" indent="0" algn="l">
                        <a:buNone/>
                      </a:pPr>
                      <a:r>
                        <a:rPr lang="en-IN" sz="1400" b="0" dirty="0">
                          <a:effectLst/>
                          <a:latin typeface="Inter"/>
                        </a:rPr>
                        <a:t>Trajectory</a:t>
                      </a:r>
                      <a:endParaRPr lang="en-IN" sz="1400" b="0" i="0" dirty="0">
                        <a:solidFill>
                          <a:srgbClr val="D6D6D6"/>
                        </a:solidFill>
                        <a:effectLst/>
                        <a:latin typeface="Inter"/>
                      </a:endParaRPr>
                    </a:p>
                  </a:txBody>
                  <a:tcPr marL="62170" marR="62170" marT="62170" marB="62170" anchor="ctr">
                    <a:solidFill>
                      <a:schemeClr val="bg1"/>
                    </a:solidFill>
                  </a:tcPr>
                </a:tc>
                <a:tc>
                  <a:txBody>
                    <a:bodyPr/>
                    <a:lstStyle/>
                    <a:p>
                      <a:pPr marL="0" marR="0" indent="0" algn="l">
                        <a:buNone/>
                      </a:pPr>
                      <a:r>
                        <a:rPr lang="en-IN" sz="1400" b="0" dirty="0" err="1">
                          <a:effectLst/>
                          <a:latin typeface="Inter"/>
                        </a:rPr>
                        <a:t>PlanQualityMetric</a:t>
                      </a:r>
                      <a:r>
                        <a:rPr lang="en-IN" sz="1400" b="0" dirty="0">
                          <a:effectLst/>
                          <a:latin typeface="Inter"/>
                        </a:rPr>
                        <a:t>, </a:t>
                      </a:r>
                      <a:r>
                        <a:rPr lang="en-IN" sz="1400" b="0" dirty="0" err="1">
                          <a:effectLst/>
                          <a:latin typeface="Inter"/>
                        </a:rPr>
                        <a:t>PlanAdherenceMetric</a:t>
                      </a:r>
                      <a:endParaRPr lang="en-IN" sz="1400" b="0" i="0" dirty="0">
                        <a:solidFill>
                          <a:srgbClr val="D6D6D6"/>
                        </a:solidFill>
                        <a:effectLst/>
                        <a:latin typeface="Inter"/>
                      </a:endParaRPr>
                    </a:p>
                  </a:txBody>
                  <a:tcPr marL="62170" marR="62170" marT="62170" marB="62170" anchor="ctr">
                    <a:solidFill>
                      <a:schemeClr val="bg1"/>
                    </a:solidFill>
                  </a:tcPr>
                </a:tc>
                <a:extLst>
                  <a:ext uri="{0D108BD9-81ED-4DB2-BD59-A6C34878D82A}">
                    <a16:rowId xmlns:a16="http://schemas.microsoft.com/office/drawing/2014/main" val="3043909520"/>
                  </a:ext>
                </a:extLst>
              </a:tr>
              <a:tr h="460823">
                <a:tc>
                  <a:txBody>
                    <a:bodyPr/>
                    <a:lstStyle/>
                    <a:p>
                      <a:pPr marL="0" marR="0" indent="0" algn="l">
                        <a:buNone/>
                      </a:pPr>
                      <a:r>
                        <a:rPr lang="en-IN" sz="1400" b="1">
                          <a:effectLst/>
                          <a:latin typeface="Inter"/>
                        </a:rPr>
                        <a:t>Action Layer</a:t>
                      </a:r>
                      <a:endParaRPr lang="en-IN" sz="1400" b="1" i="0">
                        <a:solidFill>
                          <a:srgbClr val="D6D6D6"/>
                        </a:solidFill>
                        <a:effectLst/>
                        <a:latin typeface="Inter"/>
                      </a:endParaRPr>
                    </a:p>
                  </a:txBody>
                  <a:tcPr marL="62170" marR="62170" marT="62170" marB="62170" anchor="ctr"/>
                </a:tc>
                <a:tc>
                  <a:txBody>
                    <a:bodyPr/>
                    <a:lstStyle/>
                    <a:p>
                      <a:pPr marL="0" marR="0" indent="0" algn="l">
                        <a:buNone/>
                      </a:pPr>
                      <a:r>
                        <a:rPr lang="en-IN" sz="1400" b="0" dirty="0">
                          <a:effectLst/>
                          <a:latin typeface="Inter"/>
                        </a:rPr>
                        <a:t>Selects tools, generates arguments, executes calls</a:t>
                      </a:r>
                      <a:endParaRPr lang="en-IN" sz="1400" b="0" i="0" dirty="0">
                        <a:solidFill>
                          <a:srgbClr val="D6D6D6"/>
                        </a:solidFill>
                        <a:effectLst/>
                        <a:latin typeface="Inter"/>
                      </a:endParaRPr>
                    </a:p>
                  </a:txBody>
                  <a:tcPr marL="62170" marR="62170" marT="62170" marB="62170" anchor="ctr">
                    <a:solidFill>
                      <a:schemeClr val="bg1"/>
                    </a:solidFill>
                  </a:tcPr>
                </a:tc>
                <a:tc>
                  <a:txBody>
                    <a:bodyPr/>
                    <a:lstStyle/>
                    <a:p>
                      <a:pPr marL="0" marR="0" indent="0" algn="l">
                        <a:buNone/>
                      </a:pPr>
                      <a:r>
                        <a:rPr lang="en-IN" sz="1400" b="0" dirty="0">
                          <a:effectLst/>
                          <a:latin typeface="Inter"/>
                        </a:rPr>
                        <a:t>Component-level</a:t>
                      </a:r>
                      <a:endParaRPr lang="en-IN" sz="1400" b="0" i="0" dirty="0">
                        <a:solidFill>
                          <a:srgbClr val="D6D6D6"/>
                        </a:solidFill>
                        <a:effectLst/>
                        <a:latin typeface="Inter"/>
                      </a:endParaRPr>
                    </a:p>
                  </a:txBody>
                  <a:tcPr marL="62170" marR="62170" marT="62170" marB="62170" anchor="ctr">
                    <a:solidFill>
                      <a:schemeClr val="bg1"/>
                    </a:solidFill>
                  </a:tcPr>
                </a:tc>
                <a:tc>
                  <a:txBody>
                    <a:bodyPr/>
                    <a:lstStyle/>
                    <a:p>
                      <a:pPr marL="0" marR="0" indent="0" algn="l">
                        <a:buNone/>
                      </a:pPr>
                      <a:r>
                        <a:rPr lang="en-IN" sz="1400" b="0">
                          <a:effectLst/>
                          <a:latin typeface="Inter"/>
                        </a:rPr>
                        <a:t>ToolCorrectnessMetric, ArgumentCorrectnessMetric</a:t>
                      </a:r>
                      <a:endParaRPr lang="en-IN" sz="1400" b="0" i="0">
                        <a:solidFill>
                          <a:srgbClr val="D6D6D6"/>
                        </a:solidFill>
                        <a:effectLst/>
                        <a:latin typeface="Inter"/>
                      </a:endParaRPr>
                    </a:p>
                  </a:txBody>
                  <a:tcPr marL="62170" marR="62170" marT="62170" marB="62170" anchor="ctr">
                    <a:solidFill>
                      <a:schemeClr val="bg1"/>
                    </a:solidFill>
                  </a:tcPr>
                </a:tc>
                <a:extLst>
                  <a:ext uri="{0D108BD9-81ED-4DB2-BD59-A6C34878D82A}">
                    <a16:rowId xmlns:a16="http://schemas.microsoft.com/office/drawing/2014/main" val="3999155811"/>
                  </a:ext>
                </a:extLst>
              </a:tr>
              <a:tr h="390528">
                <a:tc>
                  <a:txBody>
                    <a:bodyPr/>
                    <a:lstStyle/>
                    <a:p>
                      <a:pPr marL="0" marR="0" indent="0" algn="l">
                        <a:buNone/>
                      </a:pPr>
                      <a:r>
                        <a:rPr lang="en-IN" sz="1400" b="1">
                          <a:effectLst/>
                          <a:latin typeface="Inter"/>
                        </a:rPr>
                        <a:t>Execution Layer</a:t>
                      </a:r>
                      <a:endParaRPr lang="en-IN" sz="1400" b="1" i="0">
                        <a:solidFill>
                          <a:srgbClr val="D6D6D6"/>
                        </a:solidFill>
                        <a:effectLst/>
                        <a:latin typeface="Inter"/>
                      </a:endParaRPr>
                    </a:p>
                  </a:txBody>
                  <a:tcPr marL="62170" marR="62170" marT="62170" marB="62170" anchor="ctr"/>
                </a:tc>
                <a:tc>
                  <a:txBody>
                    <a:bodyPr/>
                    <a:lstStyle/>
                    <a:p>
                      <a:pPr marL="0" marR="0" indent="0" algn="l">
                        <a:buNone/>
                      </a:pPr>
                      <a:r>
                        <a:rPr lang="en-IN" sz="1400" b="0" dirty="0">
                          <a:effectLst/>
                          <a:latin typeface="Inter"/>
                        </a:rPr>
                        <a:t>Orchestrates the full loop, completes objectives</a:t>
                      </a:r>
                      <a:endParaRPr lang="en-IN" sz="1400" b="0" i="0" dirty="0">
                        <a:solidFill>
                          <a:srgbClr val="D6D6D6"/>
                        </a:solidFill>
                        <a:effectLst/>
                        <a:latin typeface="Inter"/>
                      </a:endParaRPr>
                    </a:p>
                  </a:txBody>
                  <a:tcPr marL="62170" marR="62170" marT="62170" marB="62170" anchor="ctr">
                    <a:solidFill>
                      <a:schemeClr val="bg1"/>
                    </a:solidFill>
                  </a:tcPr>
                </a:tc>
                <a:tc>
                  <a:txBody>
                    <a:bodyPr/>
                    <a:lstStyle/>
                    <a:p>
                      <a:pPr marL="0" marR="0" indent="0" algn="l">
                        <a:buNone/>
                      </a:pPr>
                      <a:r>
                        <a:rPr lang="en-IN" sz="1400" b="0" dirty="0">
                          <a:effectLst/>
                          <a:latin typeface="Inter"/>
                        </a:rPr>
                        <a:t>Trajectory</a:t>
                      </a:r>
                      <a:endParaRPr lang="en-IN" sz="1400" b="0" i="0" dirty="0">
                        <a:solidFill>
                          <a:srgbClr val="D6D6D6"/>
                        </a:solidFill>
                        <a:effectLst/>
                        <a:latin typeface="Inter"/>
                      </a:endParaRPr>
                    </a:p>
                  </a:txBody>
                  <a:tcPr marL="62170" marR="62170" marT="62170" marB="62170" anchor="ctr">
                    <a:solidFill>
                      <a:schemeClr val="bg1"/>
                    </a:solidFill>
                  </a:tcPr>
                </a:tc>
                <a:tc>
                  <a:txBody>
                    <a:bodyPr/>
                    <a:lstStyle/>
                    <a:p>
                      <a:pPr marL="0" marR="0" indent="0" algn="l">
                        <a:buNone/>
                      </a:pPr>
                      <a:r>
                        <a:rPr lang="en-IN" sz="1400" b="0" dirty="0" err="1">
                          <a:effectLst/>
                          <a:latin typeface="Inter"/>
                        </a:rPr>
                        <a:t>TaskCompletionMetric</a:t>
                      </a:r>
                      <a:r>
                        <a:rPr lang="en-IN" sz="1400" b="0" dirty="0">
                          <a:effectLst/>
                          <a:latin typeface="Inter"/>
                        </a:rPr>
                        <a:t>, </a:t>
                      </a:r>
                      <a:r>
                        <a:rPr lang="en-IN" sz="1400" b="0" dirty="0" err="1">
                          <a:effectLst/>
                          <a:latin typeface="Inter"/>
                        </a:rPr>
                        <a:t>StepEfficiencyMetric</a:t>
                      </a:r>
                      <a:endParaRPr lang="en-IN" sz="1400" b="0" i="0" dirty="0">
                        <a:solidFill>
                          <a:srgbClr val="D6D6D6"/>
                        </a:solidFill>
                        <a:effectLst/>
                        <a:latin typeface="Inter"/>
                      </a:endParaRPr>
                    </a:p>
                  </a:txBody>
                  <a:tcPr marL="62170" marR="62170" marT="62170" marB="62170" anchor="ctr">
                    <a:solidFill>
                      <a:schemeClr val="bg1"/>
                    </a:solidFill>
                  </a:tcPr>
                </a:tc>
                <a:extLst>
                  <a:ext uri="{0D108BD9-81ED-4DB2-BD59-A6C34878D82A}">
                    <a16:rowId xmlns:a16="http://schemas.microsoft.com/office/drawing/2014/main" val="3940526513"/>
                  </a:ext>
                </a:extLst>
              </a:tr>
            </a:tbl>
          </a:graphicData>
        </a:graphic>
      </p:graphicFrame>
      <p:sp>
        <p:nvSpPr>
          <p:cNvPr id="8" name="TextBox 7">
            <a:extLst>
              <a:ext uri="{FF2B5EF4-FFF2-40B4-BE49-F238E27FC236}">
                <a16:creationId xmlns:a16="http://schemas.microsoft.com/office/drawing/2014/main" id="{63E77D4A-E227-AC0F-E9DA-CB3A6E806FCF}"/>
              </a:ext>
            </a:extLst>
          </p:cNvPr>
          <p:cNvSpPr txBox="1"/>
          <p:nvPr/>
        </p:nvSpPr>
        <p:spPr>
          <a:xfrm>
            <a:off x="472635" y="1017988"/>
            <a:ext cx="11146206" cy="4154984"/>
          </a:xfrm>
          <a:prstGeom prst="rect">
            <a:avLst/>
          </a:prstGeom>
          <a:noFill/>
        </p:spPr>
        <p:txBody>
          <a:bodyPr wrap="square">
            <a:spAutoFit/>
          </a:bodyPr>
          <a:lstStyle/>
          <a:p>
            <a:pPr algn="just">
              <a:spcBef>
                <a:spcPts val="1200"/>
              </a:spcBef>
            </a:pPr>
            <a:r>
              <a:rPr lang="en-IN" sz="1600" dirty="0">
                <a:latin typeface="Inter"/>
              </a:rPr>
              <a:t>An </a:t>
            </a:r>
            <a:r>
              <a:rPr lang="en-IN" sz="1600" b="1" dirty="0">
                <a:latin typeface="Inter"/>
              </a:rPr>
              <a:t>evaluation suite</a:t>
            </a:r>
            <a:r>
              <a:rPr lang="en-IN" sz="1600" dirty="0">
                <a:latin typeface="Inter"/>
              </a:rPr>
              <a:t> is a collection of tasks designed to measure specific capabilities or </a:t>
            </a:r>
            <a:r>
              <a:rPr lang="en-IN" sz="1600" dirty="0" err="1">
                <a:latin typeface="Inter"/>
              </a:rPr>
              <a:t>behaviors</a:t>
            </a:r>
            <a:r>
              <a:rPr lang="en-IN" sz="1600" dirty="0">
                <a:latin typeface="Inter"/>
              </a:rPr>
              <a:t>. Tasks in a suite typically share a broad goal. For instance, a customer support eval suite might test refunds, cancellations, and escalations.[20]</a:t>
            </a:r>
          </a:p>
          <a:p>
            <a:pPr>
              <a:spcBef>
                <a:spcPts val="1200"/>
              </a:spcBef>
            </a:pPr>
            <a:r>
              <a:rPr lang="en-IN" sz="1600" dirty="0">
                <a:latin typeface="Inter"/>
              </a:rPr>
              <a:t>It supports 10+ popular agent frameworks : </a:t>
            </a:r>
            <a:r>
              <a:rPr lang="en-IN" sz="1600" dirty="0" err="1">
                <a:latin typeface="Inter"/>
              </a:rPr>
              <a:t>LangChain</a:t>
            </a:r>
            <a:r>
              <a:rPr lang="en-IN" sz="1600" dirty="0">
                <a:latin typeface="Inter"/>
              </a:rPr>
              <a:t>, </a:t>
            </a:r>
            <a:r>
              <a:rPr lang="en-IN" sz="1600" dirty="0" err="1">
                <a:latin typeface="Inter"/>
              </a:rPr>
              <a:t>LangGraph</a:t>
            </a:r>
            <a:r>
              <a:rPr lang="en-IN" sz="1600" dirty="0">
                <a:latin typeface="Inter"/>
              </a:rPr>
              <a:t>, OpenAI Agents, </a:t>
            </a:r>
            <a:r>
              <a:rPr lang="en-IN" sz="1600" dirty="0" err="1">
                <a:latin typeface="Inter"/>
              </a:rPr>
              <a:t>Pydantic</a:t>
            </a:r>
            <a:r>
              <a:rPr lang="en-IN" sz="1600" dirty="0">
                <a:latin typeface="Inter"/>
              </a:rPr>
              <a:t> AI, </a:t>
            </a:r>
            <a:r>
              <a:rPr lang="en-IN" sz="1600" dirty="0" err="1">
                <a:latin typeface="Inter"/>
              </a:rPr>
              <a:t>CrewAI</a:t>
            </a:r>
            <a:r>
              <a:rPr lang="en-IN" sz="1600" dirty="0">
                <a:latin typeface="Inter"/>
              </a:rPr>
              <a:t>, Google ADK, and more.[21]</a:t>
            </a:r>
          </a:p>
          <a:p>
            <a:pPr indent="0" algn="just">
              <a:lnSpc>
                <a:spcPct val="100000"/>
              </a:lnSpc>
              <a:spcBef>
                <a:spcPts val="600"/>
              </a:spcBef>
              <a:buNone/>
            </a:pPr>
            <a:r>
              <a:rPr lang="en-IN" sz="1600" dirty="0">
                <a:latin typeface="Inter"/>
              </a:rPr>
              <a:t>When building agent evaluations, we use the following definitions:</a:t>
            </a:r>
          </a:p>
          <a:p>
            <a:pPr marL="342900" lvl="0" indent="-342900" algn="just">
              <a:lnSpc>
                <a:spcPct val="100000"/>
              </a:lnSpc>
              <a:spcBef>
                <a:spcPts val="600"/>
              </a:spcBef>
              <a:buFont typeface="Arial" panose="020B0604020202020204" pitchFamily="34" charset="0"/>
              <a:buChar char="•"/>
            </a:pPr>
            <a:r>
              <a:rPr lang="en-IN" sz="1600" dirty="0">
                <a:latin typeface="Inter"/>
              </a:rPr>
              <a:t>A</a:t>
            </a:r>
            <a:r>
              <a:rPr lang="en-IN" sz="1600" b="1" dirty="0">
                <a:latin typeface="Inter"/>
              </a:rPr>
              <a:t> task </a:t>
            </a:r>
            <a:r>
              <a:rPr lang="en-IN" sz="1600" dirty="0">
                <a:latin typeface="Inter"/>
              </a:rPr>
              <a:t>(</a:t>
            </a:r>
            <a:r>
              <a:rPr lang="en-IN" sz="1600" dirty="0" err="1">
                <a:latin typeface="Inter"/>
              </a:rPr>
              <a:t>a.k.a</a:t>
            </a:r>
            <a:r>
              <a:rPr lang="en-IN" sz="1600" dirty="0">
                <a:latin typeface="Inter"/>
              </a:rPr>
              <a:t> </a:t>
            </a:r>
            <a:r>
              <a:rPr lang="en-IN" sz="1600" b="1" dirty="0">
                <a:latin typeface="Inter"/>
              </a:rPr>
              <a:t>problem</a:t>
            </a:r>
            <a:r>
              <a:rPr lang="en-IN" sz="1600" dirty="0">
                <a:latin typeface="Inter"/>
              </a:rPr>
              <a:t> or </a:t>
            </a:r>
            <a:r>
              <a:rPr lang="en-IN" sz="1600" b="1" dirty="0">
                <a:latin typeface="Inter"/>
              </a:rPr>
              <a:t>test case</a:t>
            </a:r>
            <a:r>
              <a:rPr lang="en-IN" sz="1600" dirty="0">
                <a:latin typeface="Inter"/>
              </a:rPr>
              <a:t>) is a single test with defined inputs and success criteria.</a:t>
            </a:r>
          </a:p>
          <a:p>
            <a:pPr marL="342900" lvl="0" indent="-342900" algn="just">
              <a:lnSpc>
                <a:spcPct val="100000"/>
              </a:lnSpc>
              <a:spcBef>
                <a:spcPts val="600"/>
              </a:spcBef>
              <a:buFont typeface="Arial" panose="020B0604020202020204" pitchFamily="34" charset="0"/>
              <a:buChar char="•"/>
            </a:pPr>
            <a:r>
              <a:rPr lang="en-IN" sz="1600" dirty="0">
                <a:latin typeface="Inter"/>
              </a:rPr>
              <a:t>Each attempt at a task is a </a:t>
            </a:r>
            <a:r>
              <a:rPr lang="en-IN" sz="1600" b="1" dirty="0">
                <a:latin typeface="Inter"/>
              </a:rPr>
              <a:t>trial</a:t>
            </a:r>
            <a:r>
              <a:rPr lang="en-IN" sz="1600" dirty="0">
                <a:latin typeface="Inter"/>
              </a:rPr>
              <a:t>. Because model outputs vary between runs, we run multiple trials to produce more consistent results.</a:t>
            </a:r>
          </a:p>
          <a:p>
            <a:pPr marL="342900" lvl="0" indent="-342900" algn="just">
              <a:lnSpc>
                <a:spcPct val="100000"/>
              </a:lnSpc>
              <a:buFont typeface="Arial" panose="020B0604020202020204" pitchFamily="34" charset="0"/>
              <a:buChar char="•"/>
            </a:pPr>
            <a:r>
              <a:rPr lang="en-IN" sz="1600" dirty="0">
                <a:latin typeface="Inter"/>
              </a:rPr>
              <a:t>A </a:t>
            </a:r>
            <a:r>
              <a:rPr lang="en-IN" sz="1600" b="1" dirty="0">
                <a:latin typeface="Inter"/>
              </a:rPr>
              <a:t>grader </a:t>
            </a:r>
            <a:r>
              <a:rPr lang="en-IN" sz="1600" dirty="0">
                <a:latin typeface="Inter"/>
              </a:rPr>
              <a:t>is logic that scores some aspect of the agent’s performance. A task can have multiple graders, each containing multiple assertions (sometimes called </a:t>
            </a:r>
            <a:r>
              <a:rPr lang="en-IN" sz="1600" b="1" dirty="0">
                <a:latin typeface="Inter"/>
              </a:rPr>
              <a:t>checks</a:t>
            </a:r>
            <a:r>
              <a:rPr lang="en-IN" sz="1600" dirty="0">
                <a:latin typeface="Inter"/>
              </a:rPr>
              <a:t>)</a:t>
            </a:r>
            <a:r>
              <a:rPr lang="en-IN" sz="1600" b="1" dirty="0">
                <a:latin typeface="Inter"/>
              </a:rPr>
              <a:t>.</a:t>
            </a:r>
            <a:endParaRPr lang="en-IN" sz="1600" dirty="0">
              <a:latin typeface="Inter"/>
            </a:endParaRPr>
          </a:p>
          <a:p>
            <a:pPr marL="342900" lvl="0" indent="-342900" algn="just">
              <a:lnSpc>
                <a:spcPct val="100000"/>
              </a:lnSpc>
              <a:buFont typeface="Arial" panose="020B0604020202020204" pitchFamily="34" charset="0"/>
              <a:buChar char="•"/>
            </a:pPr>
            <a:r>
              <a:rPr lang="en-IN" sz="1600" dirty="0">
                <a:latin typeface="Inter"/>
              </a:rPr>
              <a:t>A </a:t>
            </a:r>
            <a:r>
              <a:rPr lang="en-IN" sz="1600" b="1" dirty="0">
                <a:latin typeface="Inter"/>
              </a:rPr>
              <a:t>transcript </a:t>
            </a:r>
            <a:r>
              <a:rPr lang="en-IN" sz="1600" dirty="0">
                <a:latin typeface="Inter"/>
              </a:rPr>
              <a:t>(also called a </a:t>
            </a:r>
            <a:r>
              <a:rPr lang="en-IN" sz="1600" b="1" dirty="0">
                <a:latin typeface="Inter"/>
              </a:rPr>
              <a:t>trace </a:t>
            </a:r>
            <a:r>
              <a:rPr lang="en-IN" sz="1600" dirty="0">
                <a:latin typeface="Inter"/>
              </a:rPr>
              <a:t>or</a:t>
            </a:r>
            <a:r>
              <a:rPr lang="en-IN" sz="1600" b="1" dirty="0">
                <a:latin typeface="Inter"/>
              </a:rPr>
              <a:t> trajectory</a:t>
            </a:r>
            <a:r>
              <a:rPr lang="en-IN" sz="1600" dirty="0">
                <a:latin typeface="Inter"/>
              </a:rPr>
              <a:t>) is the complete record of a trial, including outputs, tool calls, reasoning, intermediate results, and any other interactions.</a:t>
            </a:r>
          </a:p>
          <a:p>
            <a:pPr marL="342900" lvl="0" indent="-342900" algn="just">
              <a:lnSpc>
                <a:spcPct val="100000"/>
              </a:lnSpc>
              <a:buFont typeface="Arial" panose="020B0604020202020204" pitchFamily="34" charset="0"/>
              <a:buChar char="•"/>
            </a:pPr>
            <a:r>
              <a:rPr lang="en-IN" sz="1600" dirty="0">
                <a:latin typeface="Inter"/>
              </a:rPr>
              <a:t>The </a:t>
            </a:r>
            <a:r>
              <a:rPr lang="en-IN" sz="1600" b="1" dirty="0">
                <a:latin typeface="Inter"/>
              </a:rPr>
              <a:t>outcome</a:t>
            </a:r>
            <a:r>
              <a:rPr lang="en-IN" sz="1600" dirty="0">
                <a:latin typeface="Inter"/>
              </a:rPr>
              <a:t> is the final state in the environment at the end of the trial. [20]</a:t>
            </a:r>
          </a:p>
          <a:p>
            <a:pPr marL="342900" lvl="0" indent="-342900" algn="just">
              <a:lnSpc>
                <a:spcPct val="100000"/>
              </a:lnSpc>
              <a:spcBef>
                <a:spcPts val="600"/>
              </a:spcBef>
              <a:buFont typeface="Arial" panose="020B0604020202020204" pitchFamily="34" charset="0"/>
              <a:buChar char="•"/>
            </a:pPr>
            <a:endParaRPr lang="en-IN" sz="1600" dirty="0">
              <a:latin typeface="Inter"/>
            </a:endParaRPr>
          </a:p>
          <a:p>
            <a:pPr>
              <a:spcBef>
                <a:spcPts val="1200"/>
              </a:spcBef>
            </a:pPr>
            <a:endParaRPr lang="en-IN" sz="1600" dirty="0">
              <a:latin typeface="Inter"/>
            </a:endParaRPr>
          </a:p>
        </p:txBody>
      </p:sp>
    </p:spTree>
    <p:extLst>
      <p:ext uri="{BB962C8B-B14F-4D97-AF65-F5344CB8AC3E}">
        <p14:creationId xmlns:p14="http://schemas.microsoft.com/office/powerpoint/2010/main" val="2935450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5" name="Picture 4"/>
          <p:cNvPicPr>
            <a:picLocks noChangeAspect="1"/>
          </p:cNvPicPr>
          <p:nvPr/>
        </p:nvPicPr>
        <p:blipFill>
          <a:blip r:embed="rId3">
            <a:duotone>
              <a:schemeClr val="accent1">
                <a:shade val="45000"/>
                <a:satMod val="135000"/>
              </a:schemeClr>
              <a:prstClr val="white"/>
            </a:duotone>
          </a:blip>
          <a:srcRect/>
          <a:stretch/>
        </p:blipFill>
        <p:spPr>
          <a:xfrm>
            <a:off x="571500" y="1698666"/>
            <a:ext cx="10229783" cy="2705372"/>
          </a:xfrm>
          <a:prstGeom prst="rect">
            <a:avLst/>
          </a:prstGeom>
        </p:spPr>
      </p:pic>
      <p:sp>
        <p:nvSpPr>
          <p:cNvPr id="3" name="TextBox 2"/>
          <p:cNvSpPr txBox="1"/>
          <p:nvPr/>
        </p:nvSpPr>
        <p:spPr>
          <a:xfrm>
            <a:off x="571500" y="1452445"/>
            <a:ext cx="10848822" cy="492443"/>
          </a:xfrm>
          <a:prstGeom prst="rect">
            <a:avLst/>
          </a:prstGeom>
          <a:noFill/>
        </p:spPr>
        <p:txBody>
          <a:bodyPr wrap="square" lIns="0" tIns="0" rIns="0" bIns="0" anchor="t">
            <a:spAutoFit/>
          </a:bodyPr>
          <a:lstStyle/>
          <a:p>
            <a:pPr algn="just">
              <a:defRPr sz="2000"/>
            </a:pPr>
            <a:r>
              <a:rPr lang="en-US" sz="1600" dirty="0">
                <a:latin typeface="Inter"/>
              </a:rPr>
              <a:t>The Traditional Software Development Life Cycle (SDLC) is the structured framework that engineering teams follow to plan, design, build, test, and deploy software applications from initial concept. </a:t>
            </a:r>
          </a:p>
        </p:txBody>
      </p:sp>
      <p:sp>
        <p:nvSpPr>
          <p:cNvPr id="14" name="TextBox 13"/>
          <p:cNvSpPr txBox="1"/>
          <p:nvPr/>
        </p:nvSpPr>
        <p:spPr>
          <a:xfrm>
            <a:off x="571500" y="620688"/>
            <a:ext cx="11601450" cy="514350"/>
          </a:xfrm>
          <a:prstGeom prst="rect">
            <a:avLst/>
          </a:prstGeom>
          <a:noFill/>
        </p:spPr>
        <p:txBody>
          <a:bodyPr wrap="square" lIns="0" tIns="0" rIns="0" bIns="0" anchor="t">
            <a:spAutoFit/>
          </a:bodyPr>
          <a:lstStyle/>
          <a:p>
            <a:pPr algn="l"/>
            <a:r>
              <a:rPr sz="3300" b="1" i="0" u="none" dirty="0">
                <a:solidFill>
                  <a:srgbClr val="0F172A"/>
                </a:solidFill>
                <a:latin typeface="Inter"/>
              </a:rPr>
              <a:t>The </a:t>
            </a:r>
            <a:r>
              <a:rPr sz="3300" b="1" i="0" u="none" dirty="0">
                <a:solidFill>
                  <a:srgbClr val="2563EB"/>
                </a:solidFill>
                <a:latin typeface="Inter"/>
              </a:rPr>
              <a:t>Traditional SDLC</a:t>
            </a:r>
          </a:p>
        </p:txBody>
      </p:sp>
      <p:sp>
        <p:nvSpPr>
          <p:cNvPr id="16" name="TextBox 15">
            <a:extLst>
              <a:ext uri="{FF2B5EF4-FFF2-40B4-BE49-F238E27FC236}">
                <a16:creationId xmlns:a16="http://schemas.microsoft.com/office/drawing/2014/main" id="{0F3CF981-F4E7-6250-EC53-D95CA12BD3A0}"/>
              </a:ext>
            </a:extLst>
          </p:cNvPr>
          <p:cNvSpPr txBox="1"/>
          <p:nvPr/>
        </p:nvSpPr>
        <p:spPr>
          <a:xfrm>
            <a:off x="671589" y="4230990"/>
            <a:ext cx="10848822" cy="1723549"/>
          </a:xfrm>
          <a:prstGeom prst="rect">
            <a:avLst/>
          </a:prstGeom>
          <a:noFill/>
        </p:spPr>
        <p:txBody>
          <a:bodyPr wrap="square" lIns="0" tIns="0" rIns="0" bIns="0" anchor="t">
            <a:spAutoFit/>
          </a:bodyPr>
          <a:lstStyle/>
          <a:p>
            <a:pPr algn="just">
              <a:defRPr sz="2000"/>
            </a:pPr>
            <a:r>
              <a:rPr lang="en-IN" sz="1600" dirty="0">
                <a:latin typeface="Inter"/>
              </a:rPr>
              <a:t>This Manual SDLC execution creates severe friction—engineers waste most of their time on administrative handoffs, environment setups, regression testing, and ticketing overhead instead of writing core logic.[5]</a:t>
            </a:r>
          </a:p>
          <a:p>
            <a:pPr algn="just">
              <a:defRPr sz="2000"/>
            </a:pPr>
            <a:endParaRPr lang="en-IN" sz="1600" b="1" dirty="0">
              <a:latin typeface="Inter"/>
            </a:endParaRPr>
          </a:p>
          <a:p>
            <a:pPr algn="just">
              <a:defRPr sz="2000"/>
            </a:pPr>
            <a:r>
              <a:rPr lang="en-US" sz="1600" b="1" dirty="0">
                <a:solidFill>
                  <a:schemeClr val="accent1">
                    <a:lumMod val="50000"/>
                  </a:schemeClr>
                </a:solidFill>
                <a:latin typeface="Inter"/>
              </a:rPr>
              <a:t>So, Our Aim is to automate the Traditional SDLC </a:t>
            </a:r>
            <a:r>
              <a:rPr lang="en-IN" sz="1600" b="1" dirty="0">
                <a:solidFill>
                  <a:schemeClr val="accent1">
                    <a:lumMod val="50000"/>
                  </a:schemeClr>
                </a:solidFill>
                <a:latin typeface="Inter"/>
              </a:rPr>
              <a:t>with Agentic AI, </a:t>
            </a:r>
            <a:r>
              <a:rPr lang="en-IN" sz="1600" dirty="0">
                <a:latin typeface="Inter"/>
              </a:rPr>
              <a:t>which will replaces these static bottlenecks with continuous, self-healing pipelines that autonomously execute tests, patch build failures, flag vulnerabilities, and manage releases. This </a:t>
            </a:r>
            <a:r>
              <a:rPr lang="en-IN" sz="1600" b="1" dirty="0">
                <a:latin typeface="Inter"/>
              </a:rPr>
              <a:t>eliminates human error, compresses cycle times from months to hours, and frees development teams to focus on high-value architecture and innovation.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1120" y="-12025"/>
            <a:ext cx="12301220" cy="6858000"/>
          </a:xfrm>
          <a:prstGeom prst="rect">
            <a:avLst/>
          </a:prstGeom>
        </p:spPr>
      </p:pic>
      <p:sp>
        <p:nvSpPr>
          <p:cNvPr id="37" name="Rectangle: Rounded Corners 36">
            <a:extLst>
              <a:ext uri="{FF2B5EF4-FFF2-40B4-BE49-F238E27FC236}">
                <a16:creationId xmlns:a16="http://schemas.microsoft.com/office/drawing/2014/main" id="{3140C37B-D52A-8E41-CE37-9FB27AC870E6}"/>
              </a:ext>
            </a:extLst>
          </p:cNvPr>
          <p:cNvSpPr/>
          <p:nvPr/>
        </p:nvSpPr>
        <p:spPr>
          <a:xfrm>
            <a:off x="762000" y="5419562"/>
            <a:ext cx="4502150" cy="595623"/>
          </a:xfrm>
          <a:prstGeom prst="round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IN" dirty="0"/>
          </a:p>
        </p:txBody>
      </p:sp>
      <p:sp>
        <p:nvSpPr>
          <p:cNvPr id="35" name="Rectangle: Rounded Corners 34">
            <a:extLst>
              <a:ext uri="{FF2B5EF4-FFF2-40B4-BE49-F238E27FC236}">
                <a16:creationId xmlns:a16="http://schemas.microsoft.com/office/drawing/2014/main" id="{8EADB9D7-CABA-C15E-65E0-02CBC0788E5D}"/>
              </a:ext>
            </a:extLst>
          </p:cNvPr>
          <p:cNvSpPr/>
          <p:nvPr/>
        </p:nvSpPr>
        <p:spPr>
          <a:xfrm>
            <a:off x="762000" y="4000743"/>
            <a:ext cx="4502150" cy="1233999"/>
          </a:xfrm>
          <a:prstGeom prst="round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IN" dirty="0"/>
          </a:p>
        </p:txBody>
      </p:sp>
      <p:sp>
        <p:nvSpPr>
          <p:cNvPr id="33" name="Rectangle: Rounded Corners 32">
            <a:extLst>
              <a:ext uri="{FF2B5EF4-FFF2-40B4-BE49-F238E27FC236}">
                <a16:creationId xmlns:a16="http://schemas.microsoft.com/office/drawing/2014/main" id="{CE2CCB64-612D-62FF-FD45-08A7D393C5E6}"/>
              </a:ext>
            </a:extLst>
          </p:cNvPr>
          <p:cNvSpPr/>
          <p:nvPr/>
        </p:nvSpPr>
        <p:spPr>
          <a:xfrm>
            <a:off x="762000" y="3263846"/>
            <a:ext cx="4502150" cy="568436"/>
          </a:xfrm>
          <a:prstGeom prst="round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IN" dirty="0"/>
          </a:p>
        </p:txBody>
      </p:sp>
      <p:sp>
        <p:nvSpPr>
          <p:cNvPr id="31" name="Rectangle: Rounded Corners 30">
            <a:extLst>
              <a:ext uri="{FF2B5EF4-FFF2-40B4-BE49-F238E27FC236}">
                <a16:creationId xmlns:a16="http://schemas.microsoft.com/office/drawing/2014/main" id="{A36B0AC3-D7D0-B89C-6F21-AAB4BB83F14C}"/>
              </a:ext>
            </a:extLst>
          </p:cNvPr>
          <p:cNvSpPr/>
          <p:nvPr/>
        </p:nvSpPr>
        <p:spPr>
          <a:xfrm>
            <a:off x="762000" y="1890340"/>
            <a:ext cx="4502150" cy="1219272"/>
          </a:xfrm>
          <a:prstGeom prst="round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IN" dirty="0"/>
          </a:p>
        </p:txBody>
      </p:sp>
      <p:pic>
        <p:nvPicPr>
          <p:cNvPr id="3" name="Picture 2" descr="image.png"/>
          <p:cNvPicPr>
            <a:picLocks noChangeAspect="1"/>
          </p:cNvPicPr>
          <p:nvPr/>
        </p:nvPicPr>
        <p:blipFill>
          <a:blip r:embed="rId3"/>
          <a:stretch>
            <a:fillRect/>
          </a:stretch>
        </p:blipFill>
        <p:spPr>
          <a:xfrm>
            <a:off x="6334125" y="1890340"/>
            <a:ext cx="5286375" cy="4124845"/>
          </a:xfrm>
          <a:prstGeom prst="rect">
            <a:avLst/>
          </a:prstGeom>
        </p:spPr>
      </p:pic>
      <p:pic>
        <p:nvPicPr>
          <p:cNvPr id="4" name="Picture 3" descr="image.png"/>
          <p:cNvPicPr>
            <a:picLocks noChangeAspect="1"/>
          </p:cNvPicPr>
          <p:nvPr/>
        </p:nvPicPr>
        <p:blipFill>
          <a:blip r:embed="rId4"/>
          <a:stretch>
            <a:fillRect/>
          </a:stretch>
        </p:blipFill>
        <p:spPr>
          <a:xfrm>
            <a:off x="1089095" y="2060080"/>
            <a:ext cx="304800" cy="304800"/>
          </a:xfrm>
          <a:prstGeom prst="rect">
            <a:avLst/>
          </a:prstGeom>
        </p:spPr>
      </p:pic>
      <p:pic>
        <p:nvPicPr>
          <p:cNvPr id="5" name="Picture 4" descr="image.png"/>
          <p:cNvPicPr>
            <a:picLocks noChangeAspect="1"/>
          </p:cNvPicPr>
          <p:nvPr/>
        </p:nvPicPr>
        <p:blipFill>
          <a:blip r:embed="rId5"/>
          <a:stretch>
            <a:fillRect/>
          </a:stretch>
        </p:blipFill>
        <p:spPr>
          <a:xfrm>
            <a:off x="1108145" y="2615059"/>
            <a:ext cx="304800" cy="304800"/>
          </a:xfrm>
          <a:prstGeom prst="rect">
            <a:avLst/>
          </a:prstGeom>
        </p:spPr>
      </p:pic>
      <p:pic>
        <p:nvPicPr>
          <p:cNvPr id="6" name="Picture 5" descr="image.png"/>
          <p:cNvPicPr>
            <a:picLocks noChangeAspect="1"/>
          </p:cNvPicPr>
          <p:nvPr/>
        </p:nvPicPr>
        <p:blipFill>
          <a:blip r:embed="rId6"/>
          <a:stretch>
            <a:fillRect/>
          </a:stretch>
        </p:blipFill>
        <p:spPr>
          <a:xfrm>
            <a:off x="1089095" y="3385000"/>
            <a:ext cx="304800" cy="304800"/>
          </a:xfrm>
          <a:prstGeom prst="rect">
            <a:avLst/>
          </a:prstGeom>
        </p:spPr>
      </p:pic>
      <p:pic>
        <p:nvPicPr>
          <p:cNvPr id="7" name="Picture 6" descr="image.png"/>
          <p:cNvPicPr>
            <a:picLocks noChangeAspect="1"/>
          </p:cNvPicPr>
          <p:nvPr/>
        </p:nvPicPr>
        <p:blipFill>
          <a:blip r:embed="rId7"/>
          <a:stretch>
            <a:fillRect/>
          </a:stretch>
        </p:blipFill>
        <p:spPr>
          <a:xfrm>
            <a:off x="1089095" y="4162780"/>
            <a:ext cx="304800" cy="304800"/>
          </a:xfrm>
          <a:prstGeom prst="rect">
            <a:avLst/>
          </a:prstGeom>
        </p:spPr>
      </p:pic>
      <p:pic>
        <p:nvPicPr>
          <p:cNvPr id="8" name="Picture 7" descr="image.png"/>
          <p:cNvPicPr>
            <a:picLocks noChangeAspect="1"/>
          </p:cNvPicPr>
          <p:nvPr/>
        </p:nvPicPr>
        <p:blipFill>
          <a:blip r:embed="rId8"/>
          <a:stretch>
            <a:fillRect/>
          </a:stretch>
        </p:blipFill>
        <p:spPr>
          <a:xfrm>
            <a:off x="1089095" y="4651456"/>
            <a:ext cx="304800" cy="304800"/>
          </a:xfrm>
          <a:prstGeom prst="rect">
            <a:avLst/>
          </a:prstGeom>
        </p:spPr>
      </p:pic>
      <p:pic>
        <p:nvPicPr>
          <p:cNvPr id="9" name="Picture 8" descr="image.png"/>
          <p:cNvPicPr>
            <a:picLocks noChangeAspect="1"/>
          </p:cNvPicPr>
          <p:nvPr/>
        </p:nvPicPr>
        <p:blipFill>
          <a:blip r:embed="rId9"/>
          <a:stretch>
            <a:fillRect/>
          </a:stretch>
        </p:blipFill>
        <p:spPr>
          <a:xfrm>
            <a:off x="1089095" y="5543427"/>
            <a:ext cx="304800" cy="304800"/>
          </a:xfrm>
          <a:prstGeom prst="rect">
            <a:avLst/>
          </a:prstGeom>
        </p:spPr>
      </p:pic>
      <p:sp>
        <p:nvSpPr>
          <p:cNvPr id="10" name="TextBox 9"/>
          <p:cNvSpPr txBox="1"/>
          <p:nvPr/>
        </p:nvSpPr>
        <p:spPr>
          <a:xfrm>
            <a:off x="573037" y="1028700"/>
            <a:ext cx="5286375" cy="609600"/>
          </a:xfrm>
          <a:prstGeom prst="rect">
            <a:avLst/>
          </a:prstGeom>
          <a:noFill/>
        </p:spPr>
        <p:txBody>
          <a:bodyPr wrap="square" lIns="0" tIns="0" rIns="0" bIns="0" anchor="t">
            <a:spAutoFit/>
          </a:bodyPr>
          <a:lstStyle/>
          <a:p>
            <a:pPr algn="l">
              <a:lnSpc>
                <a:spcPts val="2400"/>
              </a:lnSpc>
            </a:pPr>
            <a:r>
              <a:rPr sz="1500" b="0" i="0" u="none" dirty="0">
                <a:solidFill>
                  <a:srgbClr val="475569"/>
                </a:solidFill>
                <a:latin typeface="Inter"/>
              </a:rPr>
              <a:t>A modular pipeline with integrated </a:t>
            </a:r>
            <a:r>
              <a:rPr sz="1500" b="1" i="0" u="none" dirty="0">
                <a:solidFill>
                  <a:srgbClr val="475569"/>
                </a:solidFill>
                <a:latin typeface="Inter"/>
              </a:rPr>
              <a:t>Human-in-the-Loop (HITL)</a:t>
            </a:r>
            <a:r>
              <a:rPr sz="1500" b="0" i="0" u="none" dirty="0">
                <a:solidFill>
                  <a:srgbClr val="475569"/>
                </a:solidFill>
                <a:latin typeface="Inter"/>
              </a:rPr>
              <a:t> governance gates to ensure enterprise safety.</a:t>
            </a:r>
          </a:p>
        </p:txBody>
      </p:sp>
      <p:sp>
        <p:nvSpPr>
          <p:cNvPr id="11" name="TextBox 10"/>
          <p:cNvSpPr txBox="1"/>
          <p:nvPr/>
        </p:nvSpPr>
        <p:spPr>
          <a:xfrm>
            <a:off x="6935978" y="2653159"/>
            <a:ext cx="4930616" cy="295275"/>
          </a:xfrm>
          <a:prstGeom prst="rect">
            <a:avLst/>
          </a:prstGeom>
          <a:noFill/>
        </p:spPr>
        <p:txBody>
          <a:bodyPr wrap="square" lIns="242738" tIns="0" rIns="0" bIns="0" anchor="t">
            <a:spAutoFit/>
          </a:bodyPr>
          <a:lstStyle/>
          <a:p>
            <a:pPr algn="l"/>
            <a:r>
              <a:rPr sz="1950" b="0" i="0" u="none" dirty="0">
                <a:solidFill>
                  <a:srgbClr val="2563EB"/>
                </a:solidFill>
                <a:latin typeface="Inter SemiBold"/>
              </a:rPr>
              <a:t>Continuous Loop</a:t>
            </a:r>
          </a:p>
        </p:txBody>
      </p:sp>
      <p:sp>
        <p:nvSpPr>
          <p:cNvPr id="12" name="TextBox 11"/>
          <p:cNvSpPr txBox="1"/>
          <p:nvPr/>
        </p:nvSpPr>
        <p:spPr>
          <a:xfrm>
            <a:off x="6784367" y="3148460"/>
            <a:ext cx="4695825" cy="914400"/>
          </a:xfrm>
          <a:prstGeom prst="rect">
            <a:avLst/>
          </a:prstGeom>
          <a:noFill/>
        </p:spPr>
        <p:txBody>
          <a:bodyPr wrap="square" lIns="0" tIns="0" rIns="0" bIns="0" anchor="t">
            <a:spAutoFit/>
          </a:bodyPr>
          <a:lstStyle/>
          <a:p>
            <a:pPr algn="l">
              <a:lnSpc>
                <a:spcPts val="2400"/>
              </a:lnSpc>
            </a:pPr>
            <a:r>
              <a:rPr sz="1500" b="1" i="0" u="none" dirty="0">
                <a:solidFill>
                  <a:srgbClr val="334155"/>
                </a:solidFill>
                <a:latin typeface="Inter"/>
              </a:rPr>
              <a:t>7. Monitoring &amp; Learning:</a:t>
            </a:r>
            <a:r>
              <a:rPr sz="1500" b="0" i="0" u="none" dirty="0">
                <a:solidFill>
                  <a:srgbClr val="334155"/>
                </a:solidFill>
                <a:latin typeface="Inter"/>
              </a:rPr>
              <a:t> Consumes production logs, metrics, and user feedback to detect errors and optimize prompts.</a:t>
            </a:r>
          </a:p>
        </p:txBody>
      </p:sp>
      <p:sp>
        <p:nvSpPr>
          <p:cNvPr id="13" name="TextBox 12"/>
          <p:cNvSpPr txBox="1"/>
          <p:nvPr/>
        </p:nvSpPr>
        <p:spPr>
          <a:xfrm>
            <a:off x="6784367" y="4205735"/>
            <a:ext cx="4695825" cy="914400"/>
          </a:xfrm>
          <a:prstGeom prst="rect">
            <a:avLst/>
          </a:prstGeom>
          <a:noFill/>
        </p:spPr>
        <p:txBody>
          <a:bodyPr wrap="square" lIns="0" tIns="0" rIns="0" bIns="0" anchor="t">
            <a:spAutoFit/>
          </a:bodyPr>
          <a:lstStyle/>
          <a:p>
            <a:pPr algn="l">
              <a:lnSpc>
                <a:spcPts val="2400"/>
              </a:lnSpc>
            </a:pPr>
            <a:r>
              <a:rPr sz="1500" b="1" i="0" u="none" dirty="0">
                <a:solidFill>
                  <a:srgbClr val="334155"/>
                </a:solidFill>
                <a:latin typeface="Inter"/>
              </a:rPr>
              <a:t>8. Organizational Memory:</a:t>
            </a:r>
            <a:r>
              <a:rPr sz="1500" b="0" i="0" u="none" dirty="0">
                <a:solidFill>
                  <a:srgbClr val="334155"/>
                </a:solidFill>
                <a:latin typeface="Inter"/>
              </a:rPr>
              <a:t> Captures all requirements,</a:t>
            </a:r>
            <a:endParaRPr lang="en-IN" sz="1500" b="0" i="0" u="none" dirty="0">
              <a:solidFill>
                <a:srgbClr val="334155"/>
              </a:solidFill>
              <a:latin typeface="Inter"/>
            </a:endParaRPr>
          </a:p>
          <a:p>
            <a:pPr algn="l">
              <a:lnSpc>
                <a:spcPts val="2400"/>
              </a:lnSpc>
            </a:pPr>
            <a:r>
              <a:rPr sz="1500" b="0" i="0" u="none" dirty="0">
                <a:solidFill>
                  <a:srgbClr val="334155"/>
                </a:solidFill>
                <a:latin typeface="Inter"/>
              </a:rPr>
              <a:t>code, reviews, and bug fixes into a Knowledge Graph for cross-sprint learning.</a:t>
            </a:r>
          </a:p>
        </p:txBody>
      </p:sp>
      <p:sp>
        <p:nvSpPr>
          <p:cNvPr id="15" name="Rectangle 14"/>
          <p:cNvSpPr/>
          <p:nvPr/>
        </p:nvSpPr>
        <p:spPr>
          <a:xfrm>
            <a:off x="1231970" y="3123601"/>
            <a:ext cx="19050" cy="1428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231970" y="3838858"/>
            <a:ext cx="19050" cy="1428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231970" y="5257677"/>
            <a:ext cx="19050" cy="1428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10"/>
          <a:stretch>
            <a:fillRect/>
          </a:stretch>
        </p:blipFill>
        <p:spPr>
          <a:xfrm>
            <a:off x="6784367" y="2691260"/>
            <a:ext cx="242738" cy="247650"/>
          </a:xfrm>
          <a:prstGeom prst="rect">
            <a:avLst/>
          </a:prstGeom>
        </p:spPr>
      </p:pic>
      <p:sp>
        <p:nvSpPr>
          <p:cNvPr id="20" name="TextBox 19"/>
          <p:cNvSpPr txBox="1"/>
          <p:nvPr/>
        </p:nvSpPr>
        <p:spPr>
          <a:xfrm>
            <a:off x="1536770" y="2104324"/>
            <a:ext cx="2095500" cy="230832"/>
          </a:xfrm>
          <a:prstGeom prst="rect">
            <a:avLst/>
          </a:prstGeom>
          <a:noFill/>
        </p:spPr>
        <p:txBody>
          <a:bodyPr wrap="square" lIns="0" tIns="0" rIns="0" bIns="0" anchor="t">
            <a:spAutoFit/>
          </a:bodyPr>
          <a:lstStyle/>
          <a:p>
            <a:pPr algn="l"/>
            <a:r>
              <a:rPr sz="1500" b="0" i="0" u="none" dirty="0">
                <a:solidFill>
                  <a:srgbClr val="1E293B"/>
                </a:solidFill>
                <a:latin typeface="Inter Medium"/>
              </a:rPr>
              <a:t>Requirement Engineering</a:t>
            </a:r>
          </a:p>
        </p:txBody>
      </p:sp>
      <p:sp>
        <p:nvSpPr>
          <p:cNvPr id="22" name="TextBox 21"/>
          <p:cNvSpPr txBox="1"/>
          <p:nvPr/>
        </p:nvSpPr>
        <p:spPr>
          <a:xfrm>
            <a:off x="1555820" y="2653159"/>
            <a:ext cx="2095500" cy="228600"/>
          </a:xfrm>
          <a:prstGeom prst="rect">
            <a:avLst/>
          </a:prstGeom>
          <a:noFill/>
        </p:spPr>
        <p:txBody>
          <a:bodyPr wrap="square" lIns="0" tIns="0" rIns="0" bIns="0" anchor="t">
            <a:spAutoFit/>
          </a:bodyPr>
          <a:lstStyle/>
          <a:p>
            <a:pPr algn="l"/>
            <a:r>
              <a:rPr sz="1500" b="0" i="0" u="none">
                <a:solidFill>
                  <a:srgbClr val="1E293B"/>
                </a:solidFill>
                <a:latin typeface="Inter Medium"/>
              </a:rPr>
              <a:t>Planning</a:t>
            </a:r>
          </a:p>
        </p:txBody>
      </p:sp>
      <p:sp>
        <p:nvSpPr>
          <p:cNvPr id="23" name="TextBox 22"/>
          <p:cNvSpPr txBox="1"/>
          <p:nvPr/>
        </p:nvSpPr>
        <p:spPr>
          <a:xfrm>
            <a:off x="3816980" y="2694674"/>
            <a:ext cx="1047750" cy="190500"/>
          </a:xfrm>
          <a:prstGeom prst="rect">
            <a:avLst/>
          </a:prstGeom>
          <a:noFill/>
        </p:spPr>
        <p:txBody>
          <a:bodyPr wrap="square" lIns="0" tIns="0" rIns="0" bIns="0" anchor="ctr">
            <a:spAutoFit/>
          </a:bodyPr>
          <a:lstStyle/>
          <a:p>
            <a:pPr algn="l"/>
            <a:r>
              <a:rPr sz="1200" b="0" i="0" u="none" dirty="0">
                <a:solidFill>
                  <a:srgbClr val="16A34A"/>
                </a:solidFill>
                <a:latin typeface="Inter SemiBold"/>
              </a:rPr>
              <a:t>HITL Approval</a:t>
            </a:r>
          </a:p>
        </p:txBody>
      </p:sp>
      <p:sp>
        <p:nvSpPr>
          <p:cNvPr id="24" name="TextBox 23"/>
          <p:cNvSpPr txBox="1"/>
          <p:nvPr/>
        </p:nvSpPr>
        <p:spPr>
          <a:xfrm>
            <a:off x="1536770" y="3423100"/>
            <a:ext cx="2095500" cy="228600"/>
          </a:xfrm>
          <a:prstGeom prst="rect">
            <a:avLst/>
          </a:prstGeom>
          <a:noFill/>
        </p:spPr>
        <p:txBody>
          <a:bodyPr wrap="square" lIns="0" tIns="0" rIns="0" bIns="0" anchor="t">
            <a:spAutoFit/>
          </a:bodyPr>
          <a:lstStyle/>
          <a:p>
            <a:pPr algn="l"/>
            <a:r>
              <a:rPr sz="1500" b="0" i="0" u="none">
                <a:solidFill>
                  <a:srgbClr val="1E293B"/>
                </a:solidFill>
                <a:latin typeface="Inter Medium"/>
              </a:rPr>
              <a:t>Architecture &amp; Design</a:t>
            </a:r>
          </a:p>
        </p:txBody>
      </p:sp>
      <p:sp>
        <p:nvSpPr>
          <p:cNvPr id="25" name="TextBox 24"/>
          <p:cNvSpPr txBox="1"/>
          <p:nvPr/>
        </p:nvSpPr>
        <p:spPr>
          <a:xfrm>
            <a:off x="3832295" y="3442150"/>
            <a:ext cx="1047750" cy="190500"/>
          </a:xfrm>
          <a:prstGeom prst="rect">
            <a:avLst/>
          </a:prstGeom>
          <a:noFill/>
        </p:spPr>
        <p:txBody>
          <a:bodyPr wrap="square" lIns="0" tIns="0" rIns="0" bIns="0" anchor="ctr">
            <a:spAutoFit/>
          </a:bodyPr>
          <a:lstStyle/>
          <a:p>
            <a:pPr algn="l"/>
            <a:r>
              <a:rPr sz="1200" b="0" i="0" u="none">
                <a:solidFill>
                  <a:srgbClr val="16A34A"/>
                </a:solidFill>
                <a:latin typeface="Inter SemiBold"/>
              </a:rPr>
              <a:t>HITL Approval</a:t>
            </a:r>
          </a:p>
        </p:txBody>
      </p:sp>
      <p:sp>
        <p:nvSpPr>
          <p:cNvPr id="26" name="TextBox 25"/>
          <p:cNvSpPr txBox="1"/>
          <p:nvPr/>
        </p:nvSpPr>
        <p:spPr>
          <a:xfrm>
            <a:off x="1536770" y="4200880"/>
            <a:ext cx="2095500" cy="228600"/>
          </a:xfrm>
          <a:prstGeom prst="rect">
            <a:avLst/>
          </a:prstGeom>
          <a:noFill/>
        </p:spPr>
        <p:txBody>
          <a:bodyPr wrap="square" lIns="0" tIns="0" rIns="0" bIns="0" anchor="t">
            <a:spAutoFit/>
          </a:bodyPr>
          <a:lstStyle/>
          <a:p>
            <a:pPr algn="l"/>
            <a:r>
              <a:rPr sz="1500" b="0" i="0" u="none">
                <a:solidFill>
                  <a:srgbClr val="1E293B"/>
                </a:solidFill>
                <a:latin typeface="Inter Medium"/>
              </a:rPr>
              <a:t>Development</a:t>
            </a:r>
          </a:p>
        </p:txBody>
      </p:sp>
      <p:sp>
        <p:nvSpPr>
          <p:cNvPr id="27" name="TextBox 26"/>
          <p:cNvSpPr txBox="1"/>
          <p:nvPr/>
        </p:nvSpPr>
        <p:spPr>
          <a:xfrm>
            <a:off x="1509875" y="4650569"/>
            <a:ext cx="2550014" cy="461665"/>
          </a:xfrm>
          <a:prstGeom prst="rect">
            <a:avLst/>
          </a:prstGeom>
          <a:noFill/>
        </p:spPr>
        <p:txBody>
          <a:bodyPr wrap="square" lIns="0" tIns="0" rIns="0" bIns="0" anchor="t">
            <a:spAutoFit/>
          </a:bodyPr>
          <a:lstStyle/>
          <a:p>
            <a:r>
              <a:rPr sz="1500" b="0" i="0" u="none" dirty="0">
                <a:solidFill>
                  <a:srgbClr val="1E293B"/>
                </a:solidFill>
                <a:latin typeface="Inter Medium"/>
              </a:rPr>
              <a:t>Verification (</a:t>
            </a:r>
            <a:r>
              <a:rPr lang="en-IN" sz="1500" dirty="0"/>
              <a:t>Quality Assurance (Testing)</a:t>
            </a:r>
            <a:r>
              <a:rPr sz="1500" b="0" i="0" u="none" dirty="0">
                <a:solidFill>
                  <a:srgbClr val="1E293B"/>
                </a:solidFill>
                <a:latin typeface="Inter Medium"/>
              </a:rPr>
              <a:t>/Security)</a:t>
            </a:r>
          </a:p>
        </p:txBody>
      </p:sp>
      <p:sp>
        <p:nvSpPr>
          <p:cNvPr id="29" name="TextBox 28"/>
          <p:cNvSpPr txBox="1"/>
          <p:nvPr/>
        </p:nvSpPr>
        <p:spPr>
          <a:xfrm>
            <a:off x="1536770" y="5581527"/>
            <a:ext cx="2095500" cy="228600"/>
          </a:xfrm>
          <a:prstGeom prst="rect">
            <a:avLst/>
          </a:prstGeom>
          <a:noFill/>
        </p:spPr>
        <p:txBody>
          <a:bodyPr wrap="square" lIns="0" tIns="0" rIns="0" bIns="0" anchor="t">
            <a:spAutoFit/>
          </a:bodyPr>
          <a:lstStyle/>
          <a:p>
            <a:pPr algn="l"/>
            <a:r>
              <a:rPr sz="1500" b="0" i="0" u="none">
                <a:solidFill>
                  <a:srgbClr val="1E293B"/>
                </a:solidFill>
                <a:latin typeface="Inter Medium"/>
              </a:rPr>
              <a:t>Deployment</a:t>
            </a:r>
          </a:p>
        </p:txBody>
      </p:sp>
      <p:sp>
        <p:nvSpPr>
          <p:cNvPr id="30" name="TextBox 29"/>
          <p:cNvSpPr txBox="1"/>
          <p:nvPr/>
        </p:nvSpPr>
        <p:spPr>
          <a:xfrm>
            <a:off x="571500" y="323850"/>
            <a:ext cx="11601450" cy="514350"/>
          </a:xfrm>
          <a:prstGeom prst="rect">
            <a:avLst/>
          </a:prstGeom>
          <a:noFill/>
        </p:spPr>
        <p:txBody>
          <a:bodyPr wrap="square" lIns="0" tIns="0" rIns="0" bIns="0" anchor="t">
            <a:spAutoFit/>
          </a:bodyPr>
          <a:lstStyle/>
          <a:p>
            <a:pPr algn="l"/>
            <a:r>
              <a:rPr sz="3300" b="1" i="0" u="none" dirty="0">
                <a:solidFill>
                  <a:srgbClr val="0F172A"/>
                </a:solidFill>
                <a:latin typeface="Inter"/>
              </a:rPr>
              <a:t>Proposed Architecture: </a:t>
            </a:r>
            <a:r>
              <a:rPr sz="3300" b="1" i="0" u="none" dirty="0">
                <a:solidFill>
                  <a:srgbClr val="2563EB"/>
                </a:solidFill>
                <a:latin typeface="Inter"/>
              </a:rPr>
              <a:t>Modu</a:t>
            </a:r>
            <a:r>
              <a:rPr lang="en-IN" sz="3300" b="1" i="0" u="none" dirty="0">
                <a:solidFill>
                  <a:srgbClr val="2563EB"/>
                </a:solidFill>
                <a:latin typeface="Inter"/>
              </a:rPr>
              <a:t>lar</a:t>
            </a:r>
            <a:r>
              <a:rPr sz="3300" b="1" i="0" u="none" dirty="0">
                <a:solidFill>
                  <a:srgbClr val="2563EB"/>
                </a:solidFill>
                <a:latin typeface="Inter"/>
              </a:rPr>
              <a:t> Pipeline</a:t>
            </a:r>
          </a:p>
        </p:txBody>
      </p:sp>
      <p:sp>
        <p:nvSpPr>
          <p:cNvPr id="71" name="TextBox 70">
            <a:extLst>
              <a:ext uri="{FF2B5EF4-FFF2-40B4-BE49-F238E27FC236}">
                <a16:creationId xmlns:a16="http://schemas.microsoft.com/office/drawing/2014/main" id="{0D8EC028-5D16-CAD3-E5F3-8A9A85590BA4}"/>
              </a:ext>
            </a:extLst>
          </p:cNvPr>
          <p:cNvSpPr txBox="1"/>
          <p:nvPr/>
        </p:nvSpPr>
        <p:spPr>
          <a:xfrm>
            <a:off x="3895047" y="4923758"/>
            <a:ext cx="1047750" cy="190500"/>
          </a:xfrm>
          <a:prstGeom prst="rect">
            <a:avLst/>
          </a:prstGeom>
          <a:noFill/>
        </p:spPr>
        <p:txBody>
          <a:bodyPr wrap="square" lIns="0" tIns="0" rIns="0" bIns="0" anchor="ctr">
            <a:spAutoFit/>
          </a:bodyPr>
          <a:lstStyle/>
          <a:p>
            <a:pPr algn="l"/>
            <a:r>
              <a:rPr sz="1200" b="0" i="0" u="none" dirty="0">
                <a:solidFill>
                  <a:srgbClr val="16A34A"/>
                </a:solidFill>
                <a:latin typeface="Inter SemiBold"/>
              </a:rPr>
              <a:t>HITL Approval</a:t>
            </a:r>
          </a:p>
        </p:txBody>
      </p:sp>
      <p:sp>
        <p:nvSpPr>
          <p:cNvPr id="73" name="TextBox 72">
            <a:extLst>
              <a:ext uri="{FF2B5EF4-FFF2-40B4-BE49-F238E27FC236}">
                <a16:creationId xmlns:a16="http://schemas.microsoft.com/office/drawing/2014/main" id="{B8EED8D0-6A02-FEF3-83D7-CFE4AC8EE770}"/>
              </a:ext>
            </a:extLst>
          </p:cNvPr>
          <p:cNvSpPr txBox="1"/>
          <p:nvPr/>
        </p:nvSpPr>
        <p:spPr>
          <a:xfrm>
            <a:off x="3832295" y="5686757"/>
            <a:ext cx="1047750" cy="190500"/>
          </a:xfrm>
          <a:prstGeom prst="rect">
            <a:avLst/>
          </a:prstGeom>
          <a:noFill/>
        </p:spPr>
        <p:txBody>
          <a:bodyPr wrap="square" lIns="0" tIns="0" rIns="0" bIns="0" anchor="ctr">
            <a:spAutoFit/>
          </a:bodyPr>
          <a:lstStyle/>
          <a:p>
            <a:pPr algn="l"/>
            <a:r>
              <a:rPr sz="1200" b="0" i="0" u="none" dirty="0">
                <a:solidFill>
                  <a:srgbClr val="16A34A"/>
                </a:solidFill>
                <a:latin typeface="Inter SemiBold"/>
              </a:rPr>
              <a:t>HITL Approval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E3C082F-0A42-D7B8-A67F-ED7E627C39F9}"/>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CDC49EFA-0EB5-3FCD-11F0-66179AEDD2F8}"/>
              </a:ext>
            </a:extLst>
          </p:cNvPr>
          <p:cNvPicPr>
            <a:picLocks noChangeAspect="1"/>
          </p:cNvPicPr>
          <p:nvPr/>
        </p:nvPicPr>
        <p:blipFill>
          <a:blip r:embed="rId2"/>
          <a:stretch>
            <a:fillRect/>
          </a:stretch>
        </p:blipFill>
        <p:spPr>
          <a:xfrm>
            <a:off x="-71120" y="-12025"/>
            <a:ext cx="12301220" cy="6955436"/>
          </a:xfrm>
          <a:prstGeom prst="rect">
            <a:avLst/>
          </a:prstGeom>
        </p:spPr>
      </p:pic>
      <p:sp>
        <p:nvSpPr>
          <p:cNvPr id="30" name="TextBox 29">
            <a:extLst>
              <a:ext uri="{FF2B5EF4-FFF2-40B4-BE49-F238E27FC236}">
                <a16:creationId xmlns:a16="http://schemas.microsoft.com/office/drawing/2014/main" id="{B7C9B56D-539F-ECA1-86D9-A377C11B350D}"/>
              </a:ext>
            </a:extLst>
          </p:cNvPr>
          <p:cNvSpPr txBox="1"/>
          <p:nvPr/>
        </p:nvSpPr>
        <p:spPr>
          <a:xfrm>
            <a:off x="571500" y="323850"/>
            <a:ext cx="11601450" cy="514350"/>
          </a:xfrm>
          <a:prstGeom prst="rect">
            <a:avLst/>
          </a:prstGeom>
          <a:noFill/>
        </p:spPr>
        <p:txBody>
          <a:bodyPr wrap="square" lIns="0" tIns="0" rIns="0" bIns="0" anchor="t">
            <a:spAutoFit/>
          </a:bodyPr>
          <a:lstStyle/>
          <a:p>
            <a:pPr algn="l"/>
            <a:r>
              <a:rPr sz="3300" b="1" i="0" u="none" dirty="0">
                <a:solidFill>
                  <a:srgbClr val="0F172A"/>
                </a:solidFill>
                <a:latin typeface="Inter"/>
              </a:rPr>
              <a:t>Proposed Architecture: </a:t>
            </a:r>
            <a:r>
              <a:rPr sz="3300" b="1" i="0" u="none" dirty="0">
                <a:solidFill>
                  <a:srgbClr val="2563EB"/>
                </a:solidFill>
                <a:latin typeface="Inter"/>
              </a:rPr>
              <a:t>Modu</a:t>
            </a:r>
            <a:r>
              <a:rPr lang="en-IN" sz="3300" b="1" i="0" u="none" dirty="0">
                <a:solidFill>
                  <a:srgbClr val="2563EB"/>
                </a:solidFill>
                <a:latin typeface="Inter"/>
              </a:rPr>
              <a:t>lar</a:t>
            </a:r>
            <a:r>
              <a:rPr sz="3300" b="1" i="0" u="none" dirty="0">
                <a:solidFill>
                  <a:srgbClr val="2563EB"/>
                </a:solidFill>
                <a:latin typeface="Inter"/>
              </a:rPr>
              <a:t> Pipeline</a:t>
            </a:r>
          </a:p>
        </p:txBody>
      </p:sp>
      <p:pic>
        <p:nvPicPr>
          <p:cNvPr id="17" name="Picture 16">
            <a:extLst>
              <a:ext uri="{FF2B5EF4-FFF2-40B4-BE49-F238E27FC236}">
                <a16:creationId xmlns:a16="http://schemas.microsoft.com/office/drawing/2014/main" id="{B9733B2C-8C17-D677-B8A0-F33792DAA4E4}"/>
              </a:ext>
            </a:extLst>
          </p:cNvPr>
          <p:cNvPicPr>
            <a:picLocks noChangeAspect="1"/>
          </p:cNvPicPr>
          <p:nvPr/>
        </p:nvPicPr>
        <p:blipFill>
          <a:blip r:embed="rId3"/>
          <a:srcRect t="-483" b="10106"/>
          <a:stretch>
            <a:fillRect/>
          </a:stretch>
        </p:blipFill>
        <p:spPr>
          <a:xfrm>
            <a:off x="15020" y="1054511"/>
            <a:ext cx="12192000" cy="5395452"/>
          </a:xfrm>
          <a:prstGeom prst="rect">
            <a:avLst/>
          </a:prstGeom>
        </p:spPr>
      </p:pic>
    </p:spTree>
    <p:extLst>
      <p:ext uri="{BB962C8B-B14F-4D97-AF65-F5344CB8AC3E}">
        <p14:creationId xmlns:p14="http://schemas.microsoft.com/office/powerpoint/2010/main" val="2255306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descr="image.png">
            <a:extLst>
              <a:ext uri="{FF2B5EF4-FFF2-40B4-BE49-F238E27FC236}">
                <a16:creationId xmlns:a16="http://schemas.microsoft.com/office/drawing/2014/main" id="{C148C6CA-BA22-0BFD-A6EE-48E3BBF21684}"/>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1025" y="374970"/>
            <a:ext cx="10001250" cy="984885"/>
          </a:xfrm>
          <a:prstGeom prst="rect">
            <a:avLst/>
          </a:prstGeom>
          <a:noFill/>
        </p:spPr>
        <p:txBody>
          <a:bodyPr wrap="square" lIns="0" tIns="0" rIns="0" bIns="0" anchor="t">
            <a:spAutoFit/>
          </a:bodyPr>
          <a:lstStyle/>
          <a:p>
            <a:pPr marL="0" marR="0" lvl="0" indent="0" algn="l" defTabSz="457200" rtl="0" eaLnBrk="1" fontAlgn="auto" latinLnBrk="0" hangingPunct="1">
              <a:spcBef>
                <a:spcPts val="0"/>
              </a:spcBef>
              <a:spcAft>
                <a:spcPts val="0"/>
              </a:spcAft>
              <a:buClrTx/>
              <a:buSzTx/>
              <a:buFontTx/>
              <a:buNone/>
              <a:tabLst/>
              <a:defRPr/>
            </a:pPr>
            <a:r>
              <a:rPr kumimoji="0" sz="3200" b="1" i="0" u="none" strike="noStrike" kern="1200" cap="none" spc="0" normalizeH="0" baseline="0" noProof="0" dirty="0">
                <a:ln>
                  <a:noFill/>
                </a:ln>
                <a:solidFill>
                  <a:srgbClr val="0F172A"/>
                </a:solidFill>
                <a:effectLst/>
                <a:uLnTx/>
                <a:uFillTx/>
                <a:latin typeface="Inter"/>
              </a:rPr>
              <a:t>Core Innovation:</a:t>
            </a:r>
            <a:r>
              <a:rPr lang="en-IN" sz="3200" dirty="0">
                <a:solidFill>
                  <a:prstClr val="black"/>
                </a:solidFill>
                <a:latin typeface="Inter"/>
              </a:rPr>
              <a:t> </a:t>
            </a:r>
            <a:r>
              <a:rPr kumimoji="0" sz="3200" b="1" i="0" u="none" strike="noStrike" kern="1200" cap="none" spc="0" normalizeH="0" baseline="0" noProof="0" dirty="0">
                <a:ln>
                  <a:noFill/>
                </a:ln>
                <a:solidFill>
                  <a:srgbClr val="2563EB"/>
                </a:solidFill>
                <a:effectLst/>
                <a:uLnTx/>
                <a:uFillTx/>
                <a:latin typeface="Inter"/>
              </a:rPr>
              <a:t>Hierarchical Software Knowledge Graph (HSKG)</a:t>
            </a:r>
          </a:p>
        </p:txBody>
      </p:sp>
      <p:sp>
        <p:nvSpPr>
          <p:cNvPr id="4" name="TextBox 3"/>
          <p:cNvSpPr txBox="1"/>
          <p:nvPr/>
        </p:nvSpPr>
        <p:spPr>
          <a:xfrm>
            <a:off x="651025" y="1933446"/>
            <a:ext cx="3365450" cy="553998"/>
          </a:xfrm>
          <a:prstGeom prst="rect">
            <a:avLst/>
          </a:prstGeom>
          <a:noFill/>
        </p:spPr>
        <p:txBody>
          <a:bodyPr wrap="square" lIns="0" tIns="0" rIns="0" bIns="0" anchor="t">
            <a:spAutoFit/>
          </a:bodyPr>
          <a:lstStyle/>
          <a:p>
            <a:pPr marL="0" marR="0" lvl="0" indent="0" algn="l" defTabSz="457200" rtl="0" eaLnBrk="1" fontAlgn="auto" latinLnBrk="0" hangingPunct="1">
              <a:spcBef>
                <a:spcPts val="0"/>
              </a:spcBef>
              <a:spcAft>
                <a:spcPts val="0"/>
              </a:spcAft>
              <a:buClrTx/>
              <a:buSzTx/>
              <a:buFontTx/>
              <a:buNone/>
              <a:tabLst/>
              <a:defRPr/>
            </a:pPr>
            <a:r>
              <a:rPr kumimoji="0" b="0" i="0" u="none" strike="noStrike" kern="1200" cap="none" spc="0" normalizeH="0" baseline="0" noProof="0" dirty="0">
                <a:ln>
                  <a:noFill/>
                </a:ln>
                <a:solidFill>
                  <a:srgbClr val="475569"/>
                </a:solidFill>
                <a:effectLst/>
                <a:uLnTx/>
                <a:uFillTx/>
                <a:latin typeface="Inter Medium"/>
                <a:ea typeface="+mn-ea"/>
                <a:cs typeface="+mn-cs"/>
              </a:rPr>
              <a:t>Beyond Traditional Memory:</a:t>
            </a:r>
            <a:endParaRPr kumimoji="0" lang="en-IN" b="0" i="0" u="none" strike="noStrike" kern="1200" cap="none" spc="0" normalizeH="0" baseline="0" noProof="0" dirty="0">
              <a:ln>
                <a:noFill/>
              </a:ln>
              <a:solidFill>
                <a:srgbClr val="475569"/>
              </a:solidFill>
              <a:effectLst/>
              <a:uLnTx/>
              <a:uFillTx/>
              <a:latin typeface="Inter Medium"/>
              <a:ea typeface="+mn-ea"/>
              <a:cs typeface="+mn-cs"/>
            </a:endParaRPr>
          </a:p>
          <a:p>
            <a:pPr marL="0" marR="0" lvl="0" indent="0" algn="l" defTabSz="457200" rtl="0" eaLnBrk="1" fontAlgn="auto" latinLnBrk="0" hangingPunct="1">
              <a:spcBef>
                <a:spcPts val="0"/>
              </a:spcBef>
              <a:spcAft>
                <a:spcPts val="0"/>
              </a:spcAft>
              <a:buClrTx/>
              <a:buSzTx/>
              <a:buFontTx/>
              <a:buNone/>
              <a:tabLst/>
              <a:defRPr/>
            </a:pPr>
            <a:r>
              <a:rPr kumimoji="0" b="0" i="0" u="none" strike="noStrike" kern="1200" cap="none" spc="0" normalizeH="0" baseline="0" noProof="0" dirty="0">
                <a:ln>
                  <a:noFill/>
                </a:ln>
                <a:solidFill>
                  <a:srgbClr val="475569"/>
                </a:solidFill>
                <a:effectLst/>
                <a:uLnTx/>
                <a:uFillTx/>
                <a:latin typeface="Inter Medium"/>
                <a:ea typeface="+mn-ea"/>
                <a:cs typeface="+mn-cs"/>
              </a:rPr>
              <a:t>A Context-Aware Project Memory</a:t>
            </a:r>
          </a:p>
        </p:txBody>
      </p:sp>
      <p:sp>
        <p:nvSpPr>
          <p:cNvPr id="5" name="TextBox 4"/>
          <p:cNvSpPr txBox="1"/>
          <p:nvPr/>
        </p:nvSpPr>
        <p:spPr>
          <a:xfrm>
            <a:off x="651025" y="3084575"/>
            <a:ext cx="4141834" cy="897169"/>
          </a:xfrm>
          <a:prstGeom prst="rect">
            <a:avLst/>
          </a:prstGeom>
          <a:noFill/>
        </p:spPr>
        <p:txBody>
          <a:bodyPr wrap="square" lIns="0" tIns="0" rIns="0" bIns="0" anchor="t">
            <a:spAutoFit/>
          </a:bodyPr>
          <a:lstStyle/>
          <a:p>
            <a:pPr marL="0" marR="0" lvl="0" indent="0" algn="l" defTabSz="457200" rtl="0" eaLnBrk="1" fontAlgn="auto" latinLnBrk="0" hangingPunct="1">
              <a:lnSpc>
                <a:spcPts val="2400"/>
              </a:lnSpc>
              <a:spcBef>
                <a:spcPts val="0"/>
              </a:spcBef>
              <a:spcAft>
                <a:spcPts val="0"/>
              </a:spcAft>
              <a:buClrTx/>
              <a:buSzTx/>
              <a:buFontTx/>
              <a:buNone/>
              <a:tabLst/>
              <a:defRPr/>
            </a:pPr>
            <a:r>
              <a:rPr kumimoji="0" sz="1500" b="1" i="0" u="none" strike="noStrike" kern="1200" cap="none" spc="0" normalizeH="0" baseline="0" noProof="0" dirty="0">
                <a:ln>
                  <a:noFill/>
                </a:ln>
                <a:solidFill>
                  <a:srgbClr val="334155"/>
                </a:solidFill>
                <a:effectLst/>
                <a:uLnTx/>
                <a:uFillTx/>
                <a:latin typeface="Inter"/>
                <a:ea typeface="+mn-ea"/>
                <a:cs typeface="+mn-cs"/>
              </a:rPr>
              <a:t>The Problem:</a:t>
            </a:r>
            <a:r>
              <a:rPr kumimoji="0" sz="1500" b="0" i="0" u="none" strike="noStrike" kern="1200" cap="none" spc="0" normalizeH="0" baseline="0" noProof="0" dirty="0">
                <a:ln>
                  <a:noFill/>
                </a:ln>
                <a:solidFill>
                  <a:srgbClr val="334155"/>
                </a:solidFill>
                <a:effectLst/>
                <a:uLnTx/>
                <a:uFillTx/>
                <a:latin typeface="Inter"/>
                <a:ea typeface="+mn-ea"/>
                <a:cs typeface="+mn-cs"/>
              </a:rPr>
              <a:t> Current AI agents retrieve entire repositories or large documents, resulting in high token consumption and irrelevant context.</a:t>
            </a:r>
            <a:r>
              <a:rPr kumimoji="0" lang="en-IN" sz="1500" b="0" i="0" u="none" strike="noStrike" kern="1200" cap="none" spc="0" normalizeH="0" baseline="0" noProof="0" dirty="0">
                <a:ln>
                  <a:noFill/>
                </a:ln>
                <a:solidFill>
                  <a:srgbClr val="334155"/>
                </a:solidFill>
                <a:effectLst/>
                <a:uLnTx/>
                <a:uFillTx/>
                <a:latin typeface="Inter"/>
                <a:ea typeface="+mn-ea"/>
                <a:cs typeface="+mn-cs"/>
              </a:rPr>
              <a:t> [1]</a:t>
            </a:r>
            <a:endParaRPr kumimoji="0" sz="1500" b="0" i="0" u="none" strike="noStrike" kern="1200" cap="none" spc="0" normalizeH="0" baseline="0" noProof="0" dirty="0">
              <a:ln>
                <a:noFill/>
              </a:ln>
              <a:solidFill>
                <a:srgbClr val="334155"/>
              </a:solidFill>
              <a:effectLst/>
              <a:uLnTx/>
              <a:uFillTx/>
              <a:latin typeface="Inter"/>
              <a:ea typeface="+mn-ea"/>
              <a:cs typeface="+mn-cs"/>
            </a:endParaRPr>
          </a:p>
        </p:txBody>
      </p:sp>
      <p:sp>
        <p:nvSpPr>
          <p:cNvPr id="6" name="TextBox 5"/>
          <p:cNvSpPr txBox="1"/>
          <p:nvPr/>
        </p:nvSpPr>
        <p:spPr>
          <a:xfrm>
            <a:off x="651025" y="4578875"/>
            <a:ext cx="3884104" cy="1204945"/>
          </a:xfrm>
          <a:prstGeom prst="rect">
            <a:avLst/>
          </a:prstGeom>
          <a:noFill/>
        </p:spPr>
        <p:txBody>
          <a:bodyPr wrap="square" lIns="0" tIns="0" rIns="0" bIns="0" anchor="t">
            <a:spAutoFit/>
          </a:bodyPr>
          <a:lstStyle/>
          <a:p>
            <a:pPr marL="0" marR="0" lvl="0" indent="0" algn="l" defTabSz="457200" rtl="0" eaLnBrk="1" fontAlgn="auto" latinLnBrk="0" hangingPunct="1">
              <a:lnSpc>
                <a:spcPts val="2400"/>
              </a:lnSpc>
              <a:spcBef>
                <a:spcPts val="0"/>
              </a:spcBef>
              <a:spcAft>
                <a:spcPts val="0"/>
              </a:spcAft>
              <a:buClrTx/>
              <a:buSzTx/>
              <a:buFontTx/>
              <a:buNone/>
              <a:tabLst/>
              <a:defRPr/>
            </a:pPr>
            <a:r>
              <a:rPr kumimoji="0" sz="1500" b="1" i="0" u="none" strike="noStrike" kern="1200" cap="none" spc="0" normalizeH="0" baseline="0" noProof="0" dirty="0">
                <a:ln>
                  <a:noFill/>
                </a:ln>
                <a:solidFill>
                  <a:srgbClr val="334155"/>
                </a:solidFill>
                <a:effectLst/>
                <a:uLnTx/>
                <a:uFillTx/>
                <a:latin typeface="Inter"/>
                <a:ea typeface="+mn-ea"/>
                <a:cs typeface="+mn-cs"/>
              </a:rPr>
              <a:t>Our Solution:</a:t>
            </a:r>
            <a:r>
              <a:rPr kumimoji="0" sz="1500" b="0" i="0" u="none" strike="noStrike" kern="1200" cap="none" spc="0" normalizeH="0" baseline="0" noProof="0" dirty="0">
                <a:ln>
                  <a:noFill/>
                </a:ln>
                <a:solidFill>
                  <a:srgbClr val="334155"/>
                </a:solidFill>
                <a:effectLst/>
                <a:uLnTx/>
                <a:uFillTx/>
                <a:latin typeface="Inter"/>
                <a:ea typeface="+mn-ea"/>
                <a:cs typeface="+mn-cs"/>
              </a:rPr>
              <a:t> Our proposed HSKG stores the software project as a hierarchical graph, enabling agents to retrieve only the smallest relevant subgraph required for a task.</a:t>
            </a:r>
          </a:p>
        </p:txBody>
      </p:sp>
      <p:pic>
        <p:nvPicPr>
          <p:cNvPr id="8" name="Picture 7" descr="image.png">
            <a:extLst>
              <a:ext uri="{FF2B5EF4-FFF2-40B4-BE49-F238E27FC236}">
                <a16:creationId xmlns:a16="http://schemas.microsoft.com/office/drawing/2014/main" id="{C8894353-4957-A2E0-39B0-543F843E4B23}"/>
              </a:ext>
            </a:extLst>
          </p:cNvPr>
          <p:cNvPicPr>
            <a:picLocks noChangeAspect="1"/>
          </p:cNvPicPr>
          <p:nvPr/>
        </p:nvPicPr>
        <p:blipFill>
          <a:blip r:embed="rId3"/>
          <a:stretch>
            <a:fillRect/>
          </a:stretch>
        </p:blipFill>
        <p:spPr>
          <a:xfrm>
            <a:off x="4740205" y="1165202"/>
            <a:ext cx="3365450" cy="5418667"/>
          </a:xfrm>
          <a:prstGeom prst="rect">
            <a:avLst/>
          </a:prstGeom>
        </p:spPr>
      </p:pic>
      <p:pic>
        <p:nvPicPr>
          <p:cNvPr id="10" name="Picture 9" descr="image.png">
            <a:extLst>
              <a:ext uri="{FF2B5EF4-FFF2-40B4-BE49-F238E27FC236}">
                <a16:creationId xmlns:a16="http://schemas.microsoft.com/office/drawing/2014/main" id="{CECFA41D-13C9-DCB9-66E2-F0072055DA33}"/>
              </a:ext>
            </a:extLst>
          </p:cNvPr>
          <p:cNvPicPr>
            <a:picLocks noChangeAspect="1"/>
          </p:cNvPicPr>
          <p:nvPr/>
        </p:nvPicPr>
        <p:blipFill>
          <a:blip r:embed="rId4"/>
          <a:stretch>
            <a:fillRect/>
          </a:stretch>
        </p:blipFill>
        <p:spPr>
          <a:xfrm>
            <a:off x="8310731" y="1205440"/>
            <a:ext cx="3365599" cy="5418667"/>
          </a:xfrm>
          <a:prstGeom prst="rect">
            <a:avLst/>
          </a:prstGeom>
        </p:spPr>
      </p:pic>
      <p:pic>
        <p:nvPicPr>
          <p:cNvPr id="12" name="Picture 11" descr="image.png">
            <a:extLst>
              <a:ext uri="{FF2B5EF4-FFF2-40B4-BE49-F238E27FC236}">
                <a16:creationId xmlns:a16="http://schemas.microsoft.com/office/drawing/2014/main" id="{A9C44036-61A8-EAFF-080D-463D5EB47DAE}"/>
              </a:ext>
            </a:extLst>
          </p:cNvPr>
          <p:cNvPicPr>
            <a:picLocks noChangeAspect="1"/>
          </p:cNvPicPr>
          <p:nvPr/>
        </p:nvPicPr>
        <p:blipFill>
          <a:blip r:embed="rId5"/>
          <a:stretch>
            <a:fillRect/>
          </a:stretch>
        </p:blipFill>
        <p:spPr>
          <a:xfrm>
            <a:off x="5109641" y="2400720"/>
            <a:ext cx="2774900" cy="1905000"/>
          </a:xfrm>
          <a:prstGeom prst="rect">
            <a:avLst/>
          </a:prstGeom>
        </p:spPr>
      </p:pic>
      <p:pic>
        <p:nvPicPr>
          <p:cNvPr id="14" name="Picture 13" descr="image.png">
            <a:extLst>
              <a:ext uri="{FF2B5EF4-FFF2-40B4-BE49-F238E27FC236}">
                <a16:creationId xmlns:a16="http://schemas.microsoft.com/office/drawing/2014/main" id="{F43C9D70-D90B-24BB-82BB-1FE1034C86B1}"/>
              </a:ext>
            </a:extLst>
          </p:cNvPr>
          <p:cNvPicPr>
            <a:picLocks noChangeAspect="1"/>
          </p:cNvPicPr>
          <p:nvPr/>
        </p:nvPicPr>
        <p:blipFill>
          <a:blip r:embed="rId6"/>
          <a:stretch>
            <a:fillRect/>
          </a:stretch>
        </p:blipFill>
        <p:spPr>
          <a:xfrm>
            <a:off x="8632189" y="2302833"/>
            <a:ext cx="2775049" cy="695325"/>
          </a:xfrm>
          <a:prstGeom prst="rect">
            <a:avLst/>
          </a:prstGeom>
        </p:spPr>
      </p:pic>
      <p:pic>
        <p:nvPicPr>
          <p:cNvPr id="16" name="Picture 15">
            <a:extLst>
              <a:ext uri="{FF2B5EF4-FFF2-40B4-BE49-F238E27FC236}">
                <a16:creationId xmlns:a16="http://schemas.microsoft.com/office/drawing/2014/main" id="{C12D879C-E449-8EE8-C292-2DEF48407B4B}"/>
              </a:ext>
            </a:extLst>
          </p:cNvPr>
          <p:cNvPicPr>
            <a:picLocks noChangeAspect="1"/>
          </p:cNvPicPr>
          <p:nvPr/>
        </p:nvPicPr>
        <p:blipFill>
          <a:blip r:embed="rId7"/>
          <a:srcRect/>
          <a:stretch/>
        </p:blipFill>
        <p:spPr>
          <a:xfrm>
            <a:off x="8658223" y="3196196"/>
            <a:ext cx="2775049" cy="867202"/>
          </a:xfrm>
          <a:prstGeom prst="rect">
            <a:avLst/>
          </a:prstGeom>
        </p:spPr>
      </p:pic>
      <p:pic>
        <p:nvPicPr>
          <p:cNvPr id="18" name="Picture 17" descr="image.png">
            <a:extLst>
              <a:ext uri="{FF2B5EF4-FFF2-40B4-BE49-F238E27FC236}">
                <a16:creationId xmlns:a16="http://schemas.microsoft.com/office/drawing/2014/main" id="{3450BF5F-ACC6-1481-77A0-89F91D2119A1}"/>
              </a:ext>
            </a:extLst>
          </p:cNvPr>
          <p:cNvPicPr>
            <a:picLocks noChangeAspect="1"/>
          </p:cNvPicPr>
          <p:nvPr/>
        </p:nvPicPr>
        <p:blipFill>
          <a:blip r:embed="rId8"/>
          <a:stretch>
            <a:fillRect/>
          </a:stretch>
        </p:blipFill>
        <p:spPr>
          <a:xfrm>
            <a:off x="5109641" y="1524420"/>
            <a:ext cx="476250" cy="476250"/>
          </a:xfrm>
          <a:prstGeom prst="rect">
            <a:avLst/>
          </a:prstGeom>
        </p:spPr>
      </p:pic>
      <p:sp>
        <p:nvSpPr>
          <p:cNvPr id="20" name="TextBox 19">
            <a:extLst>
              <a:ext uri="{FF2B5EF4-FFF2-40B4-BE49-F238E27FC236}">
                <a16:creationId xmlns:a16="http://schemas.microsoft.com/office/drawing/2014/main" id="{F2BC2538-76AC-5EA5-9CD1-0F4C45DCC710}"/>
              </a:ext>
            </a:extLst>
          </p:cNvPr>
          <p:cNvSpPr txBox="1"/>
          <p:nvPr/>
        </p:nvSpPr>
        <p:spPr>
          <a:xfrm>
            <a:off x="5728766" y="1595857"/>
            <a:ext cx="1608901" cy="276999"/>
          </a:xfrm>
          <a:prstGeom prst="rect">
            <a:avLst/>
          </a:prstGeom>
          <a:noFill/>
        </p:spPr>
        <p:txBody>
          <a:bodyPr wrap="square" lIns="0" tIns="0" rIns="0" bIns="0" anchor="t">
            <a:spAutoFit/>
          </a:bodyPr>
          <a:lstStyle/>
          <a:p>
            <a:pPr algn="l"/>
            <a:r>
              <a:rPr sz="1800" b="0" i="0" u="none" dirty="0">
                <a:solidFill>
                  <a:srgbClr val="0F172A"/>
                </a:solidFill>
                <a:latin typeface="Poppins SemiBold"/>
              </a:rPr>
              <a:t>Project Graph</a:t>
            </a:r>
          </a:p>
        </p:txBody>
      </p:sp>
      <p:sp>
        <p:nvSpPr>
          <p:cNvPr id="22" name="TextBox 21">
            <a:extLst>
              <a:ext uri="{FF2B5EF4-FFF2-40B4-BE49-F238E27FC236}">
                <a16:creationId xmlns:a16="http://schemas.microsoft.com/office/drawing/2014/main" id="{FF81CDCC-DDC8-74B1-835F-DEF5155317C5}"/>
              </a:ext>
            </a:extLst>
          </p:cNvPr>
          <p:cNvSpPr txBox="1"/>
          <p:nvPr/>
        </p:nvSpPr>
        <p:spPr>
          <a:xfrm>
            <a:off x="5262041" y="2572170"/>
            <a:ext cx="605872" cy="213776"/>
          </a:xfrm>
          <a:prstGeom prst="rect">
            <a:avLst/>
          </a:prstGeom>
          <a:noFill/>
        </p:spPr>
        <p:txBody>
          <a:bodyPr wrap="square" lIns="0" tIns="0" rIns="0" bIns="0" anchor="t">
            <a:spAutoFit/>
          </a:bodyPr>
          <a:lstStyle/>
          <a:p>
            <a:pPr algn="l">
              <a:lnSpc>
                <a:spcPts val="1800"/>
              </a:lnSpc>
            </a:pPr>
            <a:r>
              <a:rPr sz="1200" b="1" i="0" u="none">
                <a:solidFill>
                  <a:srgbClr val="2563EB"/>
                </a:solidFill>
                <a:latin typeface="monospace"/>
              </a:rPr>
              <a:t>Project</a:t>
            </a:r>
          </a:p>
        </p:txBody>
      </p:sp>
      <p:sp>
        <p:nvSpPr>
          <p:cNvPr id="24" name="TextBox 23">
            <a:extLst>
              <a:ext uri="{FF2B5EF4-FFF2-40B4-BE49-F238E27FC236}">
                <a16:creationId xmlns:a16="http://schemas.microsoft.com/office/drawing/2014/main" id="{AA13F7FD-E8AF-B22C-71D4-B2B1E68640E6}"/>
              </a:ext>
            </a:extLst>
          </p:cNvPr>
          <p:cNvSpPr txBox="1"/>
          <p:nvPr/>
        </p:nvSpPr>
        <p:spPr>
          <a:xfrm>
            <a:off x="5452541" y="2781720"/>
            <a:ext cx="2157172" cy="457200"/>
          </a:xfrm>
          <a:prstGeom prst="rect">
            <a:avLst/>
          </a:prstGeom>
          <a:noFill/>
        </p:spPr>
        <p:txBody>
          <a:bodyPr wrap="square" lIns="0" tIns="0" rIns="0" bIns="0" anchor="t">
            <a:spAutoFit/>
          </a:bodyPr>
          <a:lstStyle/>
          <a:p>
            <a:pPr algn="l">
              <a:lnSpc>
                <a:spcPts val="1800"/>
              </a:lnSpc>
            </a:pPr>
            <a:r>
              <a:rPr sz="1200" b="0" i="0" u="none" dirty="0">
                <a:solidFill>
                  <a:srgbClr val="0F172A"/>
                </a:solidFill>
                <a:latin typeface="monospace"/>
              </a:rPr>
              <a:t>Authentication</a:t>
            </a:r>
            <a:r>
              <a:rPr dirty="0"/>
              <a:t>
</a:t>
            </a:r>
            <a:r>
              <a:rPr sz="1200" b="0" i="0" u="none" dirty="0">
                <a:solidFill>
                  <a:srgbClr val="0F172A"/>
                </a:solidFill>
                <a:latin typeface="monospace"/>
              </a:rPr>
              <a:t>    Login, Register</a:t>
            </a:r>
          </a:p>
        </p:txBody>
      </p:sp>
      <p:sp>
        <p:nvSpPr>
          <p:cNvPr id="26" name="TextBox 25">
            <a:extLst>
              <a:ext uri="{FF2B5EF4-FFF2-40B4-BE49-F238E27FC236}">
                <a16:creationId xmlns:a16="http://schemas.microsoft.com/office/drawing/2014/main" id="{87B79403-EE1D-2590-3964-5B017F6ECAA7}"/>
              </a:ext>
            </a:extLst>
          </p:cNvPr>
          <p:cNvSpPr txBox="1"/>
          <p:nvPr/>
        </p:nvSpPr>
        <p:spPr>
          <a:xfrm>
            <a:off x="5452541" y="3238920"/>
            <a:ext cx="2157172" cy="457200"/>
          </a:xfrm>
          <a:prstGeom prst="rect">
            <a:avLst/>
          </a:prstGeom>
          <a:noFill/>
        </p:spPr>
        <p:txBody>
          <a:bodyPr wrap="square" lIns="0" tIns="0" rIns="0" bIns="0" anchor="t">
            <a:spAutoFit/>
          </a:bodyPr>
          <a:lstStyle/>
          <a:p>
            <a:pPr algn="l">
              <a:lnSpc>
                <a:spcPts val="1800"/>
              </a:lnSpc>
            </a:pPr>
            <a:r>
              <a:rPr sz="1200" b="0" i="0" u="none">
                <a:solidFill>
                  <a:srgbClr val="0F172A"/>
                </a:solidFill>
                <a:latin typeface="monospace"/>
              </a:rPr>
              <a:t>Inventory</a:t>
            </a:r>
            <a:r>
              <a:t>
</a:t>
            </a:r>
            <a:r>
              <a:rPr sz="1200" b="0" i="0" u="none">
                <a:solidFill>
                  <a:srgbClr val="0F172A"/>
                </a:solidFill>
                <a:latin typeface="monospace"/>
              </a:rPr>
              <a:t>    Product, Stock</a:t>
            </a:r>
          </a:p>
        </p:txBody>
      </p:sp>
      <p:sp>
        <p:nvSpPr>
          <p:cNvPr id="28" name="TextBox 27">
            <a:extLst>
              <a:ext uri="{FF2B5EF4-FFF2-40B4-BE49-F238E27FC236}">
                <a16:creationId xmlns:a16="http://schemas.microsoft.com/office/drawing/2014/main" id="{FC3AFB7E-1C71-262A-88A1-0636E38B5FF1}"/>
              </a:ext>
            </a:extLst>
          </p:cNvPr>
          <p:cNvSpPr txBox="1"/>
          <p:nvPr/>
        </p:nvSpPr>
        <p:spPr>
          <a:xfrm>
            <a:off x="5563098" y="3696120"/>
            <a:ext cx="2157172" cy="457200"/>
          </a:xfrm>
          <a:prstGeom prst="rect">
            <a:avLst/>
          </a:prstGeom>
          <a:noFill/>
        </p:spPr>
        <p:txBody>
          <a:bodyPr wrap="square" lIns="0" tIns="0" rIns="0" bIns="0" anchor="t">
            <a:spAutoFit/>
          </a:bodyPr>
          <a:lstStyle/>
          <a:p>
            <a:pPr algn="l">
              <a:lnSpc>
                <a:spcPts val="1800"/>
              </a:lnSpc>
            </a:pPr>
            <a:r>
              <a:rPr sz="1200" b="0" i="0" u="none" dirty="0">
                <a:solidFill>
                  <a:srgbClr val="0F172A"/>
                </a:solidFill>
                <a:latin typeface="monospace"/>
              </a:rPr>
              <a:t>Invoice</a:t>
            </a:r>
            <a:r>
              <a:rPr dirty="0"/>
              <a:t>
</a:t>
            </a:r>
            <a:r>
              <a:rPr sz="1200" b="0" i="0" u="none" dirty="0">
                <a:solidFill>
                  <a:srgbClr val="0F172A"/>
                </a:solidFill>
                <a:latin typeface="monospace"/>
              </a:rPr>
              <a:t>    Create, Payment</a:t>
            </a:r>
          </a:p>
        </p:txBody>
      </p:sp>
      <p:pic>
        <p:nvPicPr>
          <p:cNvPr id="30" name="Picture 29" descr="image.png">
            <a:extLst>
              <a:ext uri="{FF2B5EF4-FFF2-40B4-BE49-F238E27FC236}">
                <a16:creationId xmlns:a16="http://schemas.microsoft.com/office/drawing/2014/main" id="{61E5B721-F27F-9A91-2215-100B6E6A7F34}"/>
              </a:ext>
            </a:extLst>
          </p:cNvPr>
          <p:cNvPicPr>
            <a:picLocks noChangeAspect="1"/>
          </p:cNvPicPr>
          <p:nvPr/>
        </p:nvPicPr>
        <p:blipFill>
          <a:blip r:embed="rId9"/>
          <a:stretch>
            <a:fillRect/>
          </a:stretch>
        </p:blipFill>
        <p:spPr>
          <a:xfrm>
            <a:off x="8632189" y="1426533"/>
            <a:ext cx="476250" cy="476250"/>
          </a:xfrm>
          <a:prstGeom prst="rect">
            <a:avLst/>
          </a:prstGeom>
        </p:spPr>
      </p:pic>
      <p:sp>
        <p:nvSpPr>
          <p:cNvPr id="32" name="TextBox 31">
            <a:extLst>
              <a:ext uri="{FF2B5EF4-FFF2-40B4-BE49-F238E27FC236}">
                <a16:creationId xmlns:a16="http://schemas.microsoft.com/office/drawing/2014/main" id="{92D2E74F-B994-818F-03DF-284A4E268508}"/>
              </a:ext>
            </a:extLst>
          </p:cNvPr>
          <p:cNvSpPr txBox="1"/>
          <p:nvPr/>
        </p:nvSpPr>
        <p:spPr>
          <a:xfrm>
            <a:off x="9269076" y="1564658"/>
            <a:ext cx="2155924" cy="276999"/>
          </a:xfrm>
          <a:prstGeom prst="rect">
            <a:avLst/>
          </a:prstGeom>
          <a:noFill/>
        </p:spPr>
        <p:txBody>
          <a:bodyPr wrap="square" lIns="0" tIns="0" rIns="0" bIns="0" anchor="t">
            <a:spAutoFit/>
          </a:bodyPr>
          <a:lstStyle/>
          <a:p>
            <a:pPr algn="l"/>
            <a:r>
              <a:rPr sz="1800" b="0" i="0" u="none" dirty="0">
                <a:solidFill>
                  <a:srgbClr val="0F172A"/>
                </a:solidFill>
                <a:latin typeface="Poppins SemiBold"/>
              </a:rPr>
              <a:t>Context</a:t>
            </a:r>
            <a:r>
              <a:rPr lang="en-IN" sz="1800" b="0" i="0" u="none" dirty="0">
                <a:solidFill>
                  <a:srgbClr val="0F172A"/>
                </a:solidFill>
                <a:latin typeface="Poppins SemiBold"/>
              </a:rPr>
              <a:t>-</a:t>
            </a:r>
            <a:r>
              <a:rPr sz="1800" b="0" i="0" u="none" dirty="0">
                <a:solidFill>
                  <a:srgbClr val="0F172A"/>
                </a:solidFill>
                <a:latin typeface="Poppins SemiBold"/>
              </a:rPr>
              <a:t>Aware</a:t>
            </a:r>
          </a:p>
        </p:txBody>
      </p:sp>
      <p:pic>
        <p:nvPicPr>
          <p:cNvPr id="34" name="Picture 33" descr="image.png">
            <a:extLst>
              <a:ext uri="{FF2B5EF4-FFF2-40B4-BE49-F238E27FC236}">
                <a16:creationId xmlns:a16="http://schemas.microsoft.com/office/drawing/2014/main" id="{882A0E9C-DFF4-A7E1-CF68-679BD9791604}"/>
              </a:ext>
            </a:extLst>
          </p:cNvPr>
          <p:cNvPicPr>
            <a:picLocks noChangeAspect="1"/>
          </p:cNvPicPr>
          <p:nvPr/>
        </p:nvPicPr>
        <p:blipFill>
          <a:blip r:embed="rId10"/>
          <a:stretch>
            <a:fillRect/>
          </a:stretch>
        </p:blipFill>
        <p:spPr>
          <a:xfrm>
            <a:off x="5219178" y="1648245"/>
            <a:ext cx="257175" cy="228600"/>
          </a:xfrm>
          <a:prstGeom prst="rect">
            <a:avLst/>
          </a:prstGeom>
        </p:spPr>
      </p:pic>
      <p:sp>
        <p:nvSpPr>
          <p:cNvPr id="36" name="TextBox 35">
            <a:extLst>
              <a:ext uri="{FF2B5EF4-FFF2-40B4-BE49-F238E27FC236}">
                <a16:creationId xmlns:a16="http://schemas.microsoft.com/office/drawing/2014/main" id="{43E909B9-3386-C9EC-DD9B-F9AD6805D318}"/>
              </a:ext>
            </a:extLst>
          </p:cNvPr>
          <p:cNvSpPr txBox="1"/>
          <p:nvPr/>
        </p:nvSpPr>
        <p:spPr>
          <a:xfrm>
            <a:off x="5262041" y="2781720"/>
            <a:ext cx="466725" cy="210763"/>
          </a:xfrm>
          <a:prstGeom prst="rect">
            <a:avLst/>
          </a:prstGeom>
          <a:noFill/>
        </p:spPr>
        <p:txBody>
          <a:bodyPr wrap="square" lIns="0" tIns="0" rIns="0" bIns="0" anchor="t">
            <a:spAutoFit/>
          </a:bodyPr>
          <a:lstStyle/>
          <a:p>
            <a:pPr algn="l">
              <a:lnSpc>
                <a:spcPts val="1800"/>
              </a:lnSpc>
            </a:pPr>
            <a:r>
              <a:rPr sz="1200" b="0" i="0" u="none" dirty="0">
                <a:solidFill>
                  <a:srgbClr val="94A3B8"/>
                </a:solidFill>
                <a:latin typeface="monospace"/>
              </a:rPr>
              <a:t>├</a:t>
            </a:r>
          </a:p>
        </p:txBody>
      </p:sp>
      <p:sp>
        <p:nvSpPr>
          <p:cNvPr id="38" name="TextBox 37">
            <a:extLst>
              <a:ext uri="{FF2B5EF4-FFF2-40B4-BE49-F238E27FC236}">
                <a16:creationId xmlns:a16="http://schemas.microsoft.com/office/drawing/2014/main" id="{F698F0DB-254F-2D40-2AD9-A970CA668489}"/>
              </a:ext>
            </a:extLst>
          </p:cNvPr>
          <p:cNvSpPr txBox="1"/>
          <p:nvPr/>
        </p:nvSpPr>
        <p:spPr>
          <a:xfrm>
            <a:off x="5262041" y="3238920"/>
            <a:ext cx="306597" cy="210763"/>
          </a:xfrm>
          <a:prstGeom prst="rect">
            <a:avLst/>
          </a:prstGeom>
          <a:noFill/>
        </p:spPr>
        <p:txBody>
          <a:bodyPr wrap="square" lIns="0" tIns="0" rIns="0" bIns="0" anchor="t">
            <a:spAutoFit/>
          </a:bodyPr>
          <a:lstStyle/>
          <a:p>
            <a:pPr algn="l">
              <a:lnSpc>
                <a:spcPts val="1800"/>
              </a:lnSpc>
            </a:pPr>
            <a:r>
              <a:rPr sz="1200" b="0" i="0" u="none" dirty="0">
                <a:solidFill>
                  <a:srgbClr val="94A3B8"/>
                </a:solidFill>
                <a:latin typeface="monospace"/>
              </a:rPr>
              <a:t>├</a:t>
            </a:r>
          </a:p>
        </p:txBody>
      </p:sp>
      <p:sp>
        <p:nvSpPr>
          <p:cNvPr id="40" name="TextBox 39">
            <a:extLst>
              <a:ext uri="{FF2B5EF4-FFF2-40B4-BE49-F238E27FC236}">
                <a16:creationId xmlns:a16="http://schemas.microsoft.com/office/drawing/2014/main" id="{1BD22A3C-922F-6B77-4B7C-BBEDDC1C654D}"/>
              </a:ext>
            </a:extLst>
          </p:cNvPr>
          <p:cNvSpPr txBox="1"/>
          <p:nvPr/>
        </p:nvSpPr>
        <p:spPr>
          <a:xfrm>
            <a:off x="5262041" y="3696120"/>
            <a:ext cx="306597" cy="213776"/>
          </a:xfrm>
          <a:prstGeom prst="rect">
            <a:avLst/>
          </a:prstGeom>
          <a:noFill/>
        </p:spPr>
        <p:txBody>
          <a:bodyPr wrap="square" lIns="0" tIns="0" rIns="0" bIns="0" anchor="t">
            <a:spAutoFit/>
          </a:bodyPr>
          <a:lstStyle/>
          <a:p>
            <a:pPr algn="l">
              <a:lnSpc>
                <a:spcPts val="1800"/>
              </a:lnSpc>
            </a:pPr>
            <a:r>
              <a:rPr sz="1200" b="0" i="0" u="none" dirty="0">
                <a:solidFill>
                  <a:srgbClr val="94A3B8"/>
                </a:solidFill>
                <a:latin typeface="monospace"/>
              </a:rPr>
              <a:t>└── </a:t>
            </a:r>
          </a:p>
        </p:txBody>
      </p:sp>
      <p:pic>
        <p:nvPicPr>
          <p:cNvPr id="42" name="Picture 41" descr="image.png">
            <a:extLst>
              <a:ext uri="{FF2B5EF4-FFF2-40B4-BE49-F238E27FC236}">
                <a16:creationId xmlns:a16="http://schemas.microsoft.com/office/drawing/2014/main" id="{1D2CA2AD-8227-4D6B-04FF-8A120F7E02C9}"/>
              </a:ext>
            </a:extLst>
          </p:cNvPr>
          <p:cNvPicPr>
            <a:picLocks noChangeAspect="1"/>
          </p:cNvPicPr>
          <p:nvPr/>
        </p:nvPicPr>
        <p:blipFill>
          <a:blip r:embed="rId11"/>
          <a:stretch>
            <a:fillRect/>
          </a:stretch>
        </p:blipFill>
        <p:spPr>
          <a:xfrm>
            <a:off x="8756014" y="1550358"/>
            <a:ext cx="228600" cy="228600"/>
          </a:xfrm>
          <a:prstGeom prst="rect">
            <a:avLst/>
          </a:prstGeom>
        </p:spPr>
      </p:pic>
      <p:sp>
        <p:nvSpPr>
          <p:cNvPr id="44" name="TextBox 43">
            <a:extLst>
              <a:ext uri="{FF2B5EF4-FFF2-40B4-BE49-F238E27FC236}">
                <a16:creationId xmlns:a16="http://schemas.microsoft.com/office/drawing/2014/main" id="{AFE40426-94BF-0EC7-C272-59D3C5005D5D}"/>
              </a:ext>
            </a:extLst>
          </p:cNvPr>
          <p:cNvSpPr txBox="1"/>
          <p:nvPr/>
        </p:nvSpPr>
        <p:spPr>
          <a:xfrm>
            <a:off x="9653002" y="2483808"/>
            <a:ext cx="694036" cy="173124"/>
          </a:xfrm>
          <a:prstGeom prst="rect">
            <a:avLst/>
          </a:prstGeom>
          <a:noFill/>
        </p:spPr>
        <p:txBody>
          <a:bodyPr wrap="square" lIns="0" tIns="0" rIns="0" bIns="0" anchor="t">
            <a:spAutoFit/>
          </a:bodyPr>
          <a:lstStyle/>
          <a:p>
            <a:pPr algn="ctr"/>
            <a:r>
              <a:rPr sz="1125" b="1" i="0" u="none">
                <a:solidFill>
                  <a:srgbClr val="334155"/>
                </a:solidFill>
                <a:latin typeface="Inter"/>
              </a:rPr>
              <a:t>Instead of:</a:t>
            </a:r>
          </a:p>
        </p:txBody>
      </p:sp>
      <p:sp>
        <p:nvSpPr>
          <p:cNvPr id="46" name="TextBox 45">
            <a:extLst>
              <a:ext uri="{FF2B5EF4-FFF2-40B4-BE49-F238E27FC236}">
                <a16:creationId xmlns:a16="http://schemas.microsoft.com/office/drawing/2014/main" id="{6C0AE494-88C7-BA10-3B01-D4B27A084DF8}"/>
              </a:ext>
            </a:extLst>
          </p:cNvPr>
          <p:cNvSpPr txBox="1"/>
          <p:nvPr/>
        </p:nvSpPr>
        <p:spPr>
          <a:xfrm>
            <a:off x="5003950" y="4452825"/>
            <a:ext cx="2837960" cy="1815882"/>
          </a:xfrm>
          <a:prstGeom prst="rect">
            <a:avLst/>
          </a:prstGeom>
          <a:noFill/>
        </p:spPr>
        <p:txBody>
          <a:bodyPr wrap="square">
            <a:spAutoFit/>
          </a:bodyPr>
          <a:lstStyle/>
          <a:p>
            <a:pPr>
              <a:buNone/>
            </a:pPr>
            <a:r>
              <a:rPr lang="en-IN" sz="1600" b="1" dirty="0"/>
              <a:t>Purpose</a:t>
            </a:r>
            <a:endParaRPr lang="en-IN" sz="1600" dirty="0"/>
          </a:p>
          <a:p>
            <a:pPr marL="285750" lvl="0" indent="-285750">
              <a:buFont typeface="Arial" panose="020B0604020202020204" pitchFamily="34" charset="0"/>
              <a:buChar char="•"/>
            </a:pPr>
            <a:r>
              <a:rPr lang="en-IN" sz="1600" dirty="0"/>
              <a:t>Represents the complete SDLC structure </a:t>
            </a:r>
          </a:p>
          <a:p>
            <a:pPr marL="285750" lvl="0" indent="-285750">
              <a:buFont typeface="Arial" panose="020B0604020202020204" pitchFamily="34" charset="0"/>
              <a:buChar char="•"/>
            </a:pPr>
            <a:r>
              <a:rPr lang="en-IN" sz="1600" dirty="0"/>
              <a:t>Maintains hierarchy between project components </a:t>
            </a:r>
          </a:p>
          <a:p>
            <a:pPr marL="285750" lvl="0" indent="-285750">
              <a:buFont typeface="Arial" panose="020B0604020202020204" pitchFamily="34" charset="0"/>
              <a:buChar char="•"/>
            </a:pPr>
            <a:r>
              <a:rPr lang="en-IN" sz="1600" dirty="0"/>
              <a:t>Enables modular navigation </a:t>
            </a:r>
          </a:p>
        </p:txBody>
      </p:sp>
      <p:sp>
        <p:nvSpPr>
          <p:cNvPr id="48" name="TextBox 47">
            <a:extLst>
              <a:ext uri="{FF2B5EF4-FFF2-40B4-BE49-F238E27FC236}">
                <a16:creationId xmlns:a16="http://schemas.microsoft.com/office/drawing/2014/main" id="{12D4B858-718C-3FEB-4BCC-04D8417C0C8D}"/>
              </a:ext>
            </a:extLst>
          </p:cNvPr>
          <p:cNvSpPr txBox="1"/>
          <p:nvPr/>
        </p:nvSpPr>
        <p:spPr>
          <a:xfrm>
            <a:off x="8632189" y="4677015"/>
            <a:ext cx="2792811" cy="1569660"/>
          </a:xfrm>
          <a:prstGeom prst="rect">
            <a:avLst/>
          </a:prstGeom>
          <a:noFill/>
        </p:spPr>
        <p:txBody>
          <a:bodyPr wrap="square">
            <a:spAutoFit/>
          </a:bodyPr>
          <a:lstStyle/>
          <a:p>
            <a:pPr>
              <a:buNone/>
            </a:pPr>
            <a:r>
              <a:rPr lang="en-IN" sz="1600" b="1" dirty="0"/>
              <a:t>Benefits</a:t>
            </a:r>
          </a:p>
          <a:p>
            <a:pPr marL="342900" lvl="0" indent="-342900">
              <a:buFont typeface="Arial" panose="020B0604020202020204" pitchFamily="34" charset="0"/>
              <a:buChar char="•"/>
            </a:pPr>
            <a:r>
              <a:rPr lang="en-IN" sz="1600" dirty="0"/>
              <a:t>Minimal context </a:t>
            </a:r>
          </a:p>
          <a:p>
            <a:pPr marL="342900" lvl="0" indent="-342900">
              <a:buFont typeface="Arial" panose="020B0604020202020204" pitchFamily="34" charset="0"/>
              <a:buChar char="•"/>
            </a:pPr>
            <a:r>
              <a:rPr lang="en-IN" sz="1600" dirty="0"/>
              <a:t>Lower token usage </a:t>
            </a:r>
          </a:p>
          <a:p>
            <a:pPr marL="342900" lvl="0" indent="-342900">
              <a:buFont typeface="Arial" panose="020B0604020202020204" pitchFamily="34" charset="0"/>
              <a:buChar char="•"/>
            </a:pPr>
            <a:r>
              <a:rPr lang="en-IN" sz="1600" dirty="0"/>
              <a:t>Faster reasoning </a:t>
            </a:r>
          </a:p>
          <a:p>
            <a:pPr marL="342900" lvl="0" indent="-342900">
              <a:buFont typeface="Arial" panose="020B0604020202020204" pitchFamily="34" charset="0"/>
              <a:buChar char="•"/>
            </a:pPr>
            <a:r>
              <a:rPr lang="en-IN" sz="1600" dirty="0"/>
              <a:t>Better accuracy </a:t>
            </a:r>
          </a:p>
          <a:p>
            <a:pPr marL="342900" lvl="0" indent="-342900">
              <a:buFont typeface="Arial" panose="020B0604020202020204" pitchFamily="34" charset="0"/>
              <a:buChar char="•"/>
            </a:pPr>
            <a:r>
              <a:rPr lang="en-IN" sz="1600" dirty="0"/>
              <a:t>Reduced hallucination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B8AC8CD-26F2-8E0A-CB00-D8B4956915FF}"/>
            </a:ext>
          </a:extLst>
        </p:cNvPr>
        <p:cNvGrpSpPr/>
        <p:nvPr/>
      </p:nvGrpSpPr>
      <p:grpSpPr>
        <a:xfrm>
          <a:off x="0" y="0"/>
          <a:ext cx="0" cy="0"/>
          <a:chOff x="0" y="0"/>
          <a:chExt cx="0" cy="0"/>
        </a:xfrm>
      </p:grpSpPr>
      <p:pic>
        <p:nvPicPr>
          <p:cNvPr id="7" name="Picture 6" descr="image.png">
            <a:extLst>
              <a:ext uri="{FF2B5EF4-FFF2-40B4-BE49-F238E27FC236}">
                <a16:creationId xmlns:a16="http://schemas.microsoft.com/office/drawing/2014/main" id="{6B09184F-681D-CE26-B2D5-71529D925534}"/>
              </a:ext>
            </a:extLst>
          </p:cNvPr>
          <p:cNvPicPr>
            <a:picLocks noChangeAspect="1"/>
          </p:cNvPicPr>
          <p:nvPr/>
        </p:nvPicPr>
        <p:blipFill>
          <a:blip r:embed="rId2"/>
          <a:stretch>
            <a:fillRect/>
          </a:stretch>
        </p:blipFill>
        <p:spPr>
          <a:xfrm>
            <a:off x="0" y="0"/>
            <a:ext cx="12192000" cy="6858000"/>
          </a:xfrm>
          <a:prstGeom prst="rect">
            <a:avLst/>
          </a:prstGeom>
        </p:spPr>
      </p:pic>
      <p:pic>
        <p:nvPicPr>
          <p:cNvPr id="13" name="Picture 12">
            <a:extLst>
              <a:ext uri="{FF2B5EF4-FFF2-40B4-BE49-F238E27FC236}">
                <a16:creationId xmlns:a16="http://schemas.microsoft.com/office/drawing/2014/main" id="{7A4F2E38-C1BB-0BCA-41CC-FE7C2DD29353}"/>
              </a:ext>
            </a:extLst>
          </p:cNvPr>
          <p:cNvPicPr>
            <a:picLocks noChangeAspect="1"/>
          </p:cNvPicPr>
          <p:nvPr/>
        </p:nvPicPr>
        <p:blipFill>
          <a:blip r:embed="rId3"/>
          <a:stretch>
            <a:fillRect/>
          </a:stretch>
        </p:blipFill>
        <p:spPr>
          <a:xfrm>
            <a:off x="806681" y="1044696"/>
            <a:ext cx="9689938" cy="5646155"/>
          </a:xfrm>
          <a:prstGeom prst="rect">
            <a:avLst/>
          </a:prstGeom>
        </p:spPr>
      </p:pic>
      <p:sp>
        <p:nvSpPr>
          <p:cNvPr id="3" name="TextBox 2">
            <a:extLst>
              <a:ext uri="{FF2B5EF4-FFF2-40B4-BE49-F238E27FC236}">
                <a16:creationId xmlns:a16="http://schemas.microsoft.com/office/drawing/2014/main" id="{489C5040-96BD-45C1-C4AD-24F36B48321C}"/>
              </a:ext>
            </a:extLst>
          </p:cNvPr>
          <p:cNvSpPr txBox="1"/>
          <p:nvPr/>
        </p:nvSpPr>
        <p:spPr>
          <a:xfrm>
            <a:off x="651025" y="374970"/>
            <a:ext cx="10001250" cy="984885"/>
          </a:xfrm>
          <a:prstGeom prst="rect">
            <a:avLst/>
          </a:prstGeom>
          <a:noFill/>
        </p:spPr>
        <p:txBody>
          <a:bodyPr wrap="square" lIns="0" tIns="0" rIns="0" bIns="0" anchor="t">
            <a:spAutoFit/>
          </a:bodyPr>
          <a:lstStyle/>
          <a:p>
            <a:pPr marL="0" marR="0" lvl="0" indent="0" algn="l" defTabSz="457200" rtl="0" eaLnBrk="1" fontAlgn="auto" latinLnBrk="0" hangingPunct="1">
              <a:spcBef>
                <a:spcPts val="0"/>
              </a:spcBef>
              <a:spcAft>
                <a:spcPts val="0"/>
              </a:spcAft>
              <a:buClrTx/>
              <a:buSzTx/>
              <a:buFontTx/>
              <a:buNone/>
              <a:tabLst/>
              <a:defRPr/>
            </a:pPr>
            <a:r>
              <a:rPr kumimoji="0" sz="3200" b="1" i="0" u="none" strike="noStrike" kern="1200" cap="none" spc="0" normalizeH="0" baseline="0" noProof="0" dirty="0">
                <a:ln>
                  <a:noFill/>
                </a:ln>
                <a:solidFill>
                  <a:srgbClr val="0F172A"/>
                </a:solidFill>
                <a:effectLst/>
                <a:uLnTx/>
                <a:uFillTx/>
                <a:latin typeface="Inter"/>
              </a:rPr>
              <a:t>Core Innovation:</a:t>
            </a:r>
            <a:r>
              <a:rPr lang="en-IN" sz="3200" dirty="0">
                <a:solidFill>
                  <a:prstClr val="black"/>
                </a:solidFill>
                <a:latin typeface="Inter"/>
              </a:rPr>
              <a:t> </a:t>
            </a:r>
            <a:r>
              <a:rPr kumimoji="0" sz="3200" b="1" i="0" u="none" strike="noStrike" kern="1200" cap="none" spc="0" normalizeH="0" baseline="0" noProof="0" dirty="0">
                <a:ln>
                  <a:noFill/>
                </a:ln>
                <a:solidFill>
                  <a:srgbClr val="2563EB"/>
                </a:solidFill>
                <a:effectLst/>
                <a:uLnTx/>
                <a:uFillTx/>
                <a:latin typeface="Inter"/>
              </a:rPr>
              <a:t>Hierarchical Software Knowledge Graph (HSKG)</a:t>
            </a:r>
          </a:p>
        </p:txBody>
      </p:sp>
    </p:spTree>
    <p:extLst>
      <p:ext uri="{BB962C8B-B14F-4D97-AF65-F5344CB8AC3E}">
        <p14:creationId xmlns:p14="http://schemas.microsoft.com/office/powerpoint/2010/main" val="1394658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5"/>
            <a:ext cx="12192000" cy="6858000"/>
          </a:xfrm>
          <a:prstGeom prst="rect">
            <a:avLst/>
          </a:prstGeom>
        </p:spPr>
      </p:pic>
      <p:pic>
        <p:nvPicPr>
          <p:cNvPr id="3" name="Picture 2" descr="image.png"/>
          <p:cNvPicPr>
            <a:picLocks noChangeAspect="1"/>
          </p:cNvPicPr>
          <p:nvPr/>
        </p:nvPicPr>
        <p:blipFill>
          <a:blip r:embed="rId3"/>
          <a:stretch>
            <a:fillRect/>
          </a:stretch>
        </p:blipFill>
        <p:spPr>
          <a:xfrm>
            <a:off x="590860" y="1578247"/>
            <a:ext cx="11049000" cy="4577506"/>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1526105151"/>
              </p:ext>
            </p:extLst>
          </p:nvPr>
        </p:nvGraphicFramePr>
        <p:xfrm>
          <a:off x="600385" y="1577942"/>
          <a:ext cx="11029947" cy="4721387"/>
        </p:xfrm>
        <a:graphic>
          <a:graphicData uri="http://schemas.openxmlformats.org/drawingml/2006/table">
            <a:tbl>
              <a:tblPr firstRow="1" bandRow="1">
                <a:tableStyleId>{5C22544A-7EE6-4342-B048-85BDC9FD1C3A}</a:tableStyleId>
              </a:tblPr>
              <a:tblGrid>
                <a:gridCol w="2205930">
                  <a:extLst>
                    <a:ext uri="{9D8B030D-6E8A-4147-A177-3AD203B41FA5}">
                      <a16:colId xmlns:a16="http://schemas.microsoft.com/office/drawing/2014/main" val="20000"/>
                    </a:ext>
                  </a:extLst>
                </a:gridCol>
                <a:gridCol w="1563737">
                  <a:extLst>
                    <a:ext uri="{9D8B030D-6E8A-4147-A177-3AD203B41FA5}">
                      <a16:colId xmlns:a16="http://schemas.microsoft.com/office/drawing/2014/main" val="20001"/>
                    </a:ext>
                  </a:extLst>
                </a:gridCol>
                <a:gridCol w="1796504">
                  <a:extLst>
                    <a:ext uri="{9D8B030D-6E8A-4147-A177-3AD203B41FA5}">
                      <a16:colId xmlns:a16="http://schemas.microsoft.com/office/drawing/2014/main" val="20002"/>
                    </a:ext>
                  </a:extLst>
                </a:gridCol>
                <a:gridCol w="1935360">
                  <a:extLst>
                    <a:ext uri="{9D8B030D-6E8A-4147-A177-3AD203B41FA5}">
                      <a16:colId xmlns:a16="http://schemas.microsoft.com/office/drawing/2014/main" val="20003"/>
                    </a:ext>
                  </a:extLst>
                </a:gridCol>
                <a:gridCol w="1730722">
                  <a:extLst>
                    <a:ext uri="{9D8B030D-6E8A-4147-A177-3AD203B41FA5}">
                      <a16:colId xmlns:a16="http://schemas.microsoft.com/office/drawing/2014/main" val="20004"/>
                    </a:ext>
                  </a:extLst>
                </a:gridCol>
                <a:gridCol w="1797694">
                  <a:extLst>
                    <a:ext uri="{9D8B030D-6E8A-4147-A177-3AD203B41FA5}">
                      <a16:colId xmlns:a16="http://schemas.microsoft.com/office/drawing/2014/main" val="20005"/>
                    </a:ext>
                  </a:extLst>
                </a:gridCol>
              </a:tblGrid>
              <a:tr h="911691">
                <a:tc>
                  <a:txBody>
                    <a:bodyPr/>
                    <a:lstStyle/>
                    <a:p>
                      <a:pPr algn="l"/>
                      <a:r>
                        <a:rPr sz="1400" b="1" i="0" u="none" dirty="0">
                          <a:solidFill>
                            <a:srgbClr val="374151"/>
                          </a:solidFill>
                          <a:latin typeface="Inter"/>
                        </a:rPr>
                        <a:t>System</a:t>
                      </a:r>
                    </a:p>
                  </a:txBody>
                  <a:tcPr marL="63500" marR="63500" marT="25400" marB="25400" anchor="ctr">
                    <a:lnL>
                      <a:noFill/>
                    </a:lnL>
                    <a:lnR>
                      <a:noFill/>
                    </a:lnR>
                    <a:lnT>
                      <a:noFill/>
                    </a:lnT>
                    <a:lnB>
                      <a:noFill/>
                    </a:lnB>
                    <a:solidFill>
                      <a:srgbClr val="F8FAFC"/>
                    </a:solidFill>
                  </a:tcPr>
                </a:tc>
                <a:tc>
                  <a:txBody>
                    <a:bodyPr/>
                    <a:lstStyle/>
                    <a:p>
                      <a:pPr algn="l"/>
                      <a:r>
                        <a:rPr sz="1400" b="1" i="0" u="none">
                          <a:solidFill>
                            <a:srgbClr val="374151"/>
                          </a:solidFill>
                          <a:latin typeface="Inter"/>
                        </a:rPr>
                        <a:t>Requirements</a:t>
                      </a:r>
                    </a:p>
                  </a:txBody>
                  <a:tcPr marL="63500" marR="63500" marT="25400" marB="25400" anchor="ctr">
                    <a:lnL>
                      <a:noFill/>
                    </a:lnL>
                    <a:lnR>
                      <a:noFill/>
                    </a:lnR>
                    <a:lnT>
                      <a:noFill/>
                    </a:lnT>
                    <a:lnB>
                      <a:noFill/>
                    </a:lnB>
                    <a:solidFill>
                      <a:srgbClr val="F8FAFC"/>
                    </a:solidFill>
                  </a:tcPr>
                </a:tc>
                <a:tc>
                  <a:txBody>
                    <a:bodyPr/>
                    <a:lstStyle/>
                    <a:p>
                      <a:pPr algn="l"/>
                      <a:r>
                        <a:rPr sz="1400" b="1" i="0" u="none">
                          <a:solidFill>
                            <a:srgbClr val="374151"/>
                          </a:solidFill>
                          <a:latin typeface="Inter"/>
                        </a:rPr>
                        <a:t>Architecture</a:t>
                      </a:r>
                    </a:p>
                  </a:txBody>
                  <a:tcPr marL="63500" marR="63500" marT="25400" marB="25400" anchor="ctr">
                    <a:lnL>
                      <a:noFill/>
                    </a:lnL>
                    <a:lnR>
                      <a:noFill/>
                    </a:lnR>
                    <a:lnT>
                      <a:noFill/>
                    </a:lnT>
                    <a:lnB>
                      <a:noFill/>
                    </a:lnB>
                    <a:solidFill>
                      <a:srgbClr val="F8FAFC"/>
                    </a:solidFill>
                  </a:tcPr>
                </a:tc>
                <a:tc>
                  <a:txBody>
                    <a:bodyPr/>
                    <a:lstStyle/>
                    <a:p>
                      <a:pPr algn="l"/>
                      <a:r>
                        <a:rPr sz="1400" b="1" i="0" u="none">
                          <a:solidFill>
                            <a:srgbClr val="374151"/>
                          </a:solidFill>
                          <a:latin typeface="Inter"/>
                        </a:rPr>
                        <a:t>Coding &amp; Test</a:t>
                      </a:r>
                    </a:p>
                  </a:txBody>
                  <a:tcPr marL="63500" marR="63500" marT="25400" marB="25400" anchor="ctr">
                    <a:lnL>
                      <a:noFill/>
                    </a:lnL>
                    <a:lnR>
                      <a:noFill/>
                    </a:lnR>
                    <a:lnT>
                      <a:noFill/>
                    </a:lnT>
                    <a:lnB>
                      <a:noFill/>
                    </a:lnB>
                    <a:solidFill>
                      <a:srgbClr val="F8FAFC"/>
                    </a:solidFill>
                  </a:tcPr>
                </a:tc>
                <a:tc>
                  <a:txBody>
                    <a:bodyPr/>
                    <a:lstStyle/>
                    <a:p>
                      <a:pPr algn="l"/>
                      <a:r>
                        <a:rPr sz="1400" b="1" i="0" u="none">
                          <a:solidFill>
                            <a:srgbClr val="374151"/>
                          </a:solidFill>
                          <a:latin typeface="Inter"/>
                        </a:rPr>
                        <a:t>Deployment</a:t>
                      </a:r>
                    </a:p>
                  </a:txBody>
                  <a:tcPr marL="63500" marR="63500" marT="25400" marB="25400" anchor="ctr">
                    <a:lnL>
                      <a:noFill/>
                    </a:lnL>
                    <a:lnR>
                      <a:noFill/>
                    </a:lnR>
                    <a:lnT>
                      <a:noFill/>
                    </a:lnT>
                    <a:lnB>
                      <a:noFill/>
                    </a:lnB>
                    <a:solidFill>
                      <a:srgbClr val="F8FAFC"/>
                    </a:solidFill>
                  </a:tcPr>
                </a:tc>
                <a:tc>
                  <a:txBody>
                    <a:bodyPr/>
                    <a:lstStyle/>
                    <a:p>
                      <a:pPr algn="l"/>
                      <a:r>
                        <a:rPr sz="1400" b="1" i="0" u="none" dirty="0">
                          <a:solidFill>
                            <a:srgbClr val="374151"/>
                          </a:solidFill>
                          <a:latin typeface="Inter"/>
                        </a:rPr>
                        <a:t>Org. Memory</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0"/>
                  </a:ext>
                </a:extLst>
              </a:tr>
              <a:tr h="911691">
                <a:tc>
                  <a:txBody>
                    <a:bodyPr/>
                    <a:lstStyle/>
                    <a:p>
                      <a:pPr algn="l"/>
                      <a:r>
                        <a:rPr sz="1400" b="1" i="0" u="none" dirty="0">
                          <a:solidFill>
                            <a:srgbClr val="111827"/>
                          </a:solidFill>
                          <a:latin typeface="Inter"/>
                        </a:rPr>
                        <a:t>Devin AI [15]</a:t>
                      </a:r>
                    </a:p>
                  </a:txBody>
                  <a:tcPr marL="63500" marR="63500" marT="25400" marB="25400" anchor="ctr">
                    <a:lnL>
                      <a:noFill/>
                    </a:lnL>
                    <a:lnR>
                      <a:noFill/>
                    </a:lnR>
                    <a:lnT>
                      <a:noFill/>
                    </a:lnT>
                    <a:lnB>
                      <a:noFill/>
                    </a:lnB>
                    <a:noFill/>
                  </a:tcPr>
                </a:tc>
                <a:tc>
                  <a:txBody>
                    <a:bodyPr/>
                    <a:lstStyle/>
                    <a:p>
                      <a:pPr algn="l"/>
                      <a:r>
                        <a:rPr sz="1200" b="1" i="0" u="none" dirty="0">
                          <a:solidFill>
                            <a:srgbClr val="1F2937"/>
                          </a:solidFill>
                          <a:latin typeface="Inter"/>
                        </a:rPr>
                        <a:t> Partial</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Prompt-driven only</a:t>
                      </a:r>
                    </a:p>
                  </a:txBody>
                  <a:tcPr marL="238125" marR="63500" marT="25400" marB="25400" anchor="ctr">
                    <a:lnL>
                      <a:noFill/>
                    </a:lnL>
                    <a:lnR>
                      <a:noFill/>
                    </a:lnR>
                    <a:lnT>
                      <a:noFill/>
                    </a:lnT>
                    <a:lnB>
                      <a:noFill/>
                    </a:lnB>
                    <a:noFill/>
                  </a:tcPr>
                </a:tc>
                <a:tc>
                  <a:txBody>
                    <a:bodyPr/>
                    <a:lstStyle/>
                    <a:p>
                      <a:pPr algn="l"/>
                      <a:r>
                        <a:rPr sz="1200" b="1" i="0" u="none" dirty="0">
                          <a:solidFill>
                            <a:srgbClr val="1F2937"/>
                          </a:solidFill>
                          <a:latin typeface="Inter"/>
                        </a:rPr>
                        <a:t> Partial</a:t>
                      </a:r>
                      <a:r>
                        <a:rPr lang="en-IN" sz="1200" b="0" i="0" u="none" dirty="0">
                          <a:solidFill>
                            <a:srgbClr val="1F2937"/>
                          </a:solidFill>
                          <a:latin typeface="Inter"/>
                        </a:rPr>
                        <a:t>, </a:t>
                      </a:r>
                      <a:r>
                        <a:rPr sz="1200" b="0" i="0" u="none" dirty="0">
                          <a:solidFill>
                            <a:srgbClr val="1F2937"/>
                          </a:solidFill>
                          <a:latin typeface="Inter"/>
                        </a:rPr>
                        <a:t>Ad-hoc planning</a:t>
                      </a:r>
                    </a:p>
                  </a:txBody>
                  <a:tcPr marL="238125" marR="63500" marT="25400" marB="25400" anchor="ctr">
                    <a:lnL>
                      <a:noFill/>
                    </a:lnL>
                    <a:lnR>
                      <a:noFill/>
                    </a:lnR>
                    <a:lnT>
                      <a:noFill/>
                    </a:lnT>
                    <a:lnB>
                      <a:noFill/>
                    </a:lnB>
                    <a:noFill/>
                  </a:tcPr>
                </a:tc>
                <a:tc>
                  <a:txBody>
                    <a:bodyPr/>
                    <a:lstStyle/>
                    <a:p>
                      <a:pPr algn="l"/>
                      <a:r>
                        <a:rPr sz="1200" b="1" i="0" u="none" dirty="0">
                          <a:solidFill>
                            <a:srgbClr val="1F2937"/>
                          </a:solidFill>
                          <a:latin typeface="Inter"/>
                        </a:rPr>
                        <a:t> Yes</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Autonomous execution</a:t>
                      </a:r>
                    </a:p>
                  </a:txBody>
                  <a:tcPr marL="238125" marR="63500" marT="25400" marB="25400" anchor="ctr">
                    <a:lnL>
                      <a:noFill/>
                    </a:lnL>
                    <a:lnR>
                      <a:noFill/>
                    </a:lnR>
                    <a:lnT>
                      <a:noFill/>
                    </a:lnT>
                    <a:lnB>
                      <a:noFill/>
                    </a:lnB>
                    <a:noFill/>
                  </a:tcPr>
                </a:tc>
                <a:tc>
                  <a:txBody>
                    <a:bodyPr/>
                    <a:lstStyle/>
                    <a:p>
                      <a:pPr algn="l"/>
                      <a:r>
                        <a:rPr sz="1200" b="1" i="0" u="none" dirty="0">
                          <a:solidFill>
                            <a:srgbClr val="1F2937"/>
                          </a:solidFill>
                          <a:latin typeface="Inter"/>
                        </a:rPr>
                        <a:t> Partial</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Sandboxed environments</a:t>
                      </a:r>
                    </a:p>
                  </a:txBody>
                  <a:tcPr marL="238125" marR="63500" marT="25400" marB="25400" anchor="ctr">
                    <a:lnL>
                      <a:noFill/>
                    </a:lnL>
                    <a:lnR>
                      <a:noFill/>
                    </a:lnR>
                    <a:lnT>
                      <a:noFill/>
                    </a:lnT>
                    <a:lnB>
                      <a:noFill/>
                    </a:lnB>
                    <a:noFill/>
                  </a:tcPr>
                </a:tc>
                <a:tc>
                  <a:txBody>
                    <a:bodyPr/>
                    <a:lstStyle/>
                    <a:p>
                      <a:pPr algn="l"/>
                      <a:r>
                        <a:rPr sz="1200" b="0" i="0" u="none" dirty="0">
                          <a:solidFill>
                            <a:srgbClr val="1F2937"/>
                          </a:solidFill>
                          <a:latin typeface="Inter"/>
                        </a:rPr>
                        <a:t> </a:t>
                      </a:r>
                      <a:r>
                        <a:rPr sz="1200" b="1" i="0" u="none" dirty="0">
                          <a:solidFill>
                            <a:srgbClr val="1F2937"/>
                          </a:solidFill>
                          <a:latin typeface="Inter"/>
                        </a:rPr>
                        <a:t>No</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Session-limited context</a:t>
                      </a:r>
                    </a:p>
                  </a:txBody>
                  <a:tcPr marL="238125" marR="63500" marT="25400" marB="25400" anchor="ctr">
                    <a:lnL>
                      <a:noFill/>
                    </a:lnL>
                    <a:lnR>
                      <a:noFill/>
                    </a:lnR>
                    <a:lnT>
                      <a:noFill/>
                    </a:lnT>
                    <a:lnB>
                      <a:noFill/>
                    </a:lnB>
                    <a:noFill/>
                  </a:tcPr>
                </a:tc>
                <a:extLst>
                  <a:ext uri="{0D108BD9-81ED-4DB2-BD59-A6C34878D82A}">
                    <a16:rowId xmlns:a16="http://schemas.microsoft.com/office/drawing/2014/main" val="10001"/>
                  </a:ext>
                </a:extLst>
              </a:tr>
              <a:tr h="911691">
                <a:tc>
                  <a:txBody>
                    <a:bodyPr/>
                    <a:lstStyle/>
                    <a:p>
                      <a:pPr algn="l"/>
                      <a:r>
                        <a:rPr sz="1400" b="1" i="0" u="none" dirty="0" err="1">
                          <a:solidFill>
                            <a:srgbClr val="111827"/>
                          </a:solidFill>
                          <a:latin typeface="Inter"/>
                        </a:rPr>
                        <a:t>MetaGPT</a:t>
                      </a:r>
                      <a:r>
                        <a:rPr sz="1400" b="1" i="0" u="none" dirty="0">
                          <a:solidFill>
                            <a:srgbClr val="111827"/>
                          </a:solidFill>
                          <a:latin typeface="Inter"/>
                        </a:rPr>
                        <a:t> [11]</a:t>
                      </a:r>
                    </a:p>
                  </a:txBody>
                  <a:tcPr marL="63500" marR="63500" marT="25400" marB="25400" anchor="ctr">
                    <a:lnL>
                      <a:noFill/>
                    </a:lnL>
                    <a:lnR>
                      <a:noFill/>
                    </a:lnR>
                    <a:lnT>
                      <a:noFill/>
                    </a:lnT>
                    <a:lnB>
                      <a:noFill/>
                    </a:lnB>
                    <a:noFill/>
                  </a:tcPr>
                </a:tc>
                <a:tc>
                  <a:txBody>
                    <a:bodyPr/>
                    <a:lstStyle/>
                    <a:p>
                      <a:pPr algn="l"/>
                      <a:r>
                        <a:rPr sz="1200" b="0" i="0" u="none" dirty="0">
                          <a:solidFill>
                            <a:srgbClr val="1F2937"/>
                          </a:solidFill>
                          <a:latin typeface="Inter"/>
                        </a:rPr>
                        <a:t> </a:t>
                      </a:r>
                      <a:r>
                        <a:rPr sz="1200" b="1" i="0" u="none" dirty="0">
                          <a:solidFill>
                            <a:srgbClr val="1F2937"/>
                          </a:solidFill>
                          <a:latin typeface="Inter"/>
                        </a:rPr>
                        <a:t>Yes</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Multi-agent parsing</a:t>
                      </a:r>
                    </a:p>
                  </a:txBody>
                  <a:tcPr marL="238125" marR="63500" marT="25400" marB="25400" anchor="ctr">
                    <a:lnL>
                      <a:noFill/>
                    </a:lnL>
                    <a:lnR>
                      <a:noFill/>
                    </a:lnR>
                    <a:lnT>
                      <a:noFill/>
                    </a:lnT>
                    <a:lnB>
                      <a:noFill/>
                    </a:lnB>
                    <a:noFill/>
                  </a:tcPr>
                </a:tc>
                <a:tc>
                  <a:txBody>
                    <a:bodyPr/>
                    <a:lstStyle/>
                    <a:p>
                      <a:pPr algn="l"/>
                      <a:r>
                        <a:rPr sz="1200" b="1" i="0" u="none" dirty="0">
                          <a:solidFill>
                            <a:srgbClr val="1F2937"/>
                          </a:solidFill>
                          <a:latin typeface="Inter"/>
                        </a:rPr>
                        <a:t> Yes</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Structured PRD generation</a:t>
                      </a:r>
                    </a:p>
                  </a:txBody>
                  <a:tcPr marL="238125" marR="63500" marT="25400" marB="25400" anchor="ctr">
                    <a:lnL>
                      <a:noFill/>
                    </a:lnL>
                    <a:lnR>
                      <a:noFill/>
                    </a:lnR>
                    <a:lnT>
                      <a:noFill/>
                    </a:lnT>
                    <a:lnB>
                      <a:noFill/>
                    </a:lnB>
                    <a:noFill/>
                  </a:tcPr>
                </a:tc>
                <a:tc>
                  <a:txBody>
                    <a:bodyPr/>
                    <a:lstStyle/>
                    <a:p>
                      <a:pPr algn="l"/>
                      <a:r>
                        <a:rPr sz="1200" b="1" i="0" u="none" dirty="0">
                          <a:solidFill>
                            <a:srgbClr val="1F2937"/>
                          </a:solidFill>
                          <a:latin typeface="Inter"/>
                        </a:rPr>
                        <a:t>Partial</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Lacks dynamic env. feedback</a:t>
                      </a:r>
                    </a:p>
                  </a:txBody>
                  <a:tcPr marL="238125" marR="63500" marT="25400" marB="25400" anchor="ctr">
                    <a:lnL>
                      <a:noFill/>
                    </a:lnL>
                    <a:lnR>
                      <a:noFill/>
                    </a:lnR>
                    <a:lnT>
                      <a:noFill/>
                    </a:lnT>
                    <a:lnB>
                      <a:noFill/>
                    </a:lnB>
                    <a:noFill/>
                  </a:tcPr>
                </a:tc>
                <a:tc>
                  <a:txBody>
                    <a:bodyPr/>
                    <a:lstStyle/>
                    <a:p>
                      <a:pPr algn="l"/>
                      <a:r>
                        <a:rPr sz="1200" b="1" i="0" u="none" dirty="0">
                          <a:solidFill>
                            <a:srgbClr val="1F2937"/>
                          </a:solidFill>
                          <a:latin typeface="Inter"/>
                        </a:rPr>
                        <a:t>No</a:t>
                      </a:r>
                      <a:r>
                        <a:rPr lang="en-IN" sz="1200" b="0" i="0" u="none" dirty="0">
                          <a:solidFill>
                            <a:srgbClr val="1F2937"/>
                          </a:solidFill>
                          <a:latin typeface="Inter"/>
                        </a:rPr>
                        <a:t>,</a:t>
                      </a:r>
                      <a:r>
                        <a:rPr sz="1200" b="0" i="0" u="none" dirty="0">
                          <a:solidFill>
                            <a:srgbClr val="1F2937"/>
                          </a:solidFill>
                          <a:latin typeface="Inter"/>
                        </a:rPr>
                        <a:t> Manual intervention req.</a:t>
                      </a:r>
                    </a:p>
                  </a:txBody>
                  <a:tcPr marL="238125" marR="63500" marT="25400" marB="25400" anchor="ctr">
                    <a:lnL>
                      <a:noFill/>
                    </a:lnL>
                    <a:lnR>
                      <a:noFill/>
                    </a:lnR>
                    <a:lnT>
                      <a:noFill/>
                    </a:lnT>
                    <a:lnB>
                      <a:noFill/>
                    </a:lnB>
                    <a:noFill/>
                  </a:tcPr>
                </a:tc>
                <a:tc>
                  <a:txBody>
                    <a:bodyPr/>
                    <a:lstStyle/>
                    <a:p>
                      <a:pPr algn="l"/>
                      <a:r>
                        <a:rPr sz="1200" b="0" i="0" u="none" dirty="0">
                          <a:solidFill>
                            <a:srgbClr val="1F2937"/>
                          </a:solidFill>
                          <a:latin typeface="Inter"/>
                        </a:rPr>
                        <a:t> </a:t>
                      </a:r>
                      <a:r>
                        <a:rPr sz="1200" b="1" i="0" u="none" dirty="0">
                          <a:solidFill>
                            <a:srgbClr val="1F2937"/>
                          </a:solidFill>
                          <a:latin typeface="Inter"/>
                        </a:rPr>
                        <a:t>Partial</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Static file-based memory</a:t>
                      </a:r>
                    </a:p>
                  </a:txBody>
                  <a:tcPr marL="238125" marR="63500" marT="25400" marB="25400" anchor="ctr">
                    <a:lnL>
                      <a:noFill/>
                    </a:lnL>
                    <a:lnR>
                      <a:noFill/>
                    </a:lnR>
                    <a:lnT>
                      <a:noFill/>
                    </a:lnT>
                    <a:lnB>
                      <a:noFill/>
                    </a:lnB>
                    <a:noFill/>
                  </a:tcPr>
                </a:tc>
                <a:extLst>
                  <a:ext uri="{0D108BD9-81ED-4DB2-BD59-A6C34878D82A}">
                    <a16:rowId xmlns:a16="http://schemas.microsoft.com/office/drawing/2014/main" val="10002"/>
                  </a:ext>
                </a:extLst>
              </a:tr>
              <a:tr h="1074622">
                <a:tc>
                  <a:txBody>
                    <a:bodyPr/>
                    <a:lstStyle/>
                    <a:p>
                      <a:pPr algn="l"/>
                      <a:r>
                        <a:rPr lang="en-IN" sz="1400" b="1" dirty="0">
                          <a:latin typeface="Inter"/>
                        </a:rPr>
                        <a:t>GitHub Copilot Workspace</a:t>
                      </a:r>
                      <a:r>
                        <a:rPr sz="1400" b="1" i="0" u="none" dirty="0">
                          <a:solidFill>
                            <a:srgbClr val="111827"/>
                          </a:solidFill>
                          <a:latin typeface="Inter"/>
                        </a:rPr>
                        <a:t>[13]</a:t>
                      </a:r>
                    </a:p>
                  </a:txBody>
                  <a:tcPr marL="63500" marR="63500" marT="25400" marB="25400" anchor="ctr">
                    <a:lnL>
                      <a:noFill/>
                    </a:lnL>
                    <a:lnR>
                      <a:noFill/>
                    </a:lnR>
                    <a:lnT>
                      <a:noFill/>
                    </a:lnT>
                    <a:lnB>
                      <a:noFill/>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1" dirty="0"/>
                        <a:t>Partial</a:t>
                      </a:r>
                      <a:r>
                        <a:rPr lang="en-IN" sz="1200" dirty="0"/>
                        <a:t>, Spec/Issue refinement</a:t>
                      </a:r>
                    </a:p>
                    <a:p>
                      <a:pPr algn="l"/>
                      <a:endParaRPr sz="1200" b="0" i="0" u="none" dirty="0">
                        <a:solidFill>
                          <a:srgbClr val="1F2937"/>
                        </a:solidFill>
                        <a:latin typeface="Inter"/>
                      </a:endParaRPr>
                    </a:p>
                  </a:txBody>
                  <a:tcPr marL="238125" marR="63500" marT="25400" marB="25400" anchor="ctr">
                    <a:lnL>
                      <a:noFill/>
                    </a:lnL>
                    <a:lnR>
                      <a:noFill/>
                    </a:lnR>
                    <a:lnT>
                      <a:noFill/>
                    </a:lnT>
                    <a:lnB>
                      <a:noFill/>
                    </a:lnB>
                    <a:noFill/>
                  </a:tcPr>
                </a:tc>
                <a:tc>
                  <a:txBody>
                    <a:bodyPr/>
                    <a:lstStyle/>
                    <a:p>
                      <a:pPr algn="l"/>
                      <a:r>
                        <a:rPr sz="1200" b="0" i="0" u="none" dirty="0">
                          <a:solidFill>
                            <a:srgbClr val="1F2937"/>
                          </a:solidFill>
                          <a:latin typeface="Inter"/>
                        </a:rPr>
                        <a:t> </a:t>
                      </a:r>
                      <a:r>
                        <a:rPr lang="en-IN" sz="1200" b="1" dirty="0"/>
                        <a:t>Partial</a:t>
                      </a:r>
                      <a:r>
                        <a:rPr lang="en-IN" sz="1200" dirty="0"/>
                        <a:t>, File-level plan generation</a:t>
                      </a:r>
                      <a:endParaRPr sz="1200" b="0" i="0" u="none" dirty="0">
                        <a:solidFill>
                          <a:srgbClr val="1F2937"/>
                        </a:solidFill>
                        <a:latin typeface="Inter"/>
                      </a:endParaRPr>
                    </a:p>
                  </a:txBody>
                  <a:tcPr marL="238125" marR="63500" marT="25400" marB="25400" anchor="ctr">
                    <a:lnL>
                      <a:noFill/>
                    </a:lnL>
                    <a:lnR>
                      <a:noFill/>
                    </a:lnR>
                    <a:lnT>
                      <a:noFill/>
                    </a:lnT>
                    <a:lnB>
                      <a:noFill/>
                    </a:lnB>
                    <a:noFill/>
                  </a:tcPr>
                </a:tc>
                <a:tc>
                  <a:txBody>
                    <a:bodyPr/>
                    <a:lstStyle/>
                    <a:p>
                      <a:pPr algn="l"/>
                      <a:r>
                        <a:rPr lang="en-IN" sz="1200" b="1" dirty="0"/>
                        <a:t>Yes</a:t>
                      </a:r>
                      <a:r>
                        <a:rPr lang="en-IN" sz="1200" dirty="0"/>
                        <a:t>, Autonomous code generation &amp; test runs</a:t>
                      </a:r>
                      <a:endParaRPr sz="1200" b="0" i="0" u="none" dirty="0">
                        <a:solidFill>
                          <a:srgbClr val="1F2937"/>
                        </a:solidFill>
                        <a:latin typeface="Inter"/>
                      </a:endParaRPr>
                    </a:p>
                  </a:txBody>
                  <a:tcPr marL="238125" marR="63500" marT="25400" marB="25400" anchor="ctr">
                    <a:lnL>
                      <a:noFill/>
                    </a:lnL>
                    <a:lnR>
                      <a:noFill/>
                    </a:lnR>
                    <a:lnT>
                      <a:noFill/>
                    </a:lnT>
                    <a:lnB>
                      <a:noFill/>
                    </a:lnB>
                    <a:noFill/>
                  </a:tcPr>
                </a:tc>
                <a:tc>
                  <a:txBody>
                    <a:bodyPr/>
                    <a:lstStyle/>
                    <a:p>
                      <a:pPr algn="l"/>
                      <a:r>
                        <a:rPr sz="1200" b="0" i="0" u="none" dirty="0">
                          <a:solidFill>
                            <a:srgbClr val="1F2937"/>
                          </a:solidFill>
                          <a:latin typeface="Inter"/>
                        </a:rPr>
                        <a:t> </a:t>
                      </a:r>
                      <a:r>
                        <a:rPr lang="en-IN" sz="1200" b="1" dirty="0"/>
                        <a:t>No</a:t>
                      </a:r>
                      <a:r>
                        <a:rPr lang="en-IN" sz="1200" dirty="0"/>
                        <a:t>, Hands off at PR stage</a:t>
                      </a:r>
                      <a:endParaRPr sz="1200" b="0" i="0" u="none" dirty="0">
                        <a:solidFill>
                          <a:srgbClr val="1F2937"/>
                        </a:solidFill>
                        <a:latin typeface="Inter"/>
                      </a:endParaRPr>
                    </a:p>
                  </a:txBody>
                  <a:tcPr marL="238125" marR="63500" marT="25400" marB="25400" anchor="ctr">
                    <a:lnL>
                      <a:noFill/>
                    </a:lnL>
                    <a:lnR>
                      <a:noFill/>
                    </a:lnR>
                    <a:lnT>
                      <a:noFill/>
                    </a:lnT>
                    <a:lnB>
                      <a:noFill/>
                    </a:lnB>
                    <a:noFill/>
                  </a:tcPr>
                </a:tc>
                <a:tc>
                  <a:txBody>
                    <a:bodyPr/>
                    <a:lstStyle/>
                    <a:p>
                      <a:pPr algn="l"/>
                      <a:r>
                        <a:rPr sz="1200" b="0" i="0" u="none" dirty="0">
                          <a:solidFill>
                            <a:srgbClr val="1F2937"/>
                          </a:solidFill>
                          <a:latin typeface="Inter"/>
                        </a:rPr>
                        <a:t> </a:t>
                      </a:r>
                      <a:r>
                        <a:rPr lang="en-IN" sz="1200" b="1" dirty="0"/>
                        <a:t>Partial</a:t>
                      </a:r>
                      <a:r>
                        <a:rPr lang="en-IN" sz="1200" dirty="0"/>
                        <a:t>, Repository &amp; PR history context</a:t>
                      </a:r>
                      <a:endParaRPr sz="1200" b="0" i="0" u="none" dirty="0">
                        <a:solidFill>
                          <a:srgbClr val="1F2937"/>
                        </a:solidFill>
                        <a:latin typeface="Inter"/>
                      </a:endParaRPr>
                    </a:p>
                  </a:txBody>
                  <a:tcPr marL="238125" marR="63500" marT="25400" marB="25400" anchor="ctr">
                    <a:lnL>
                      <a:noFill/>
                    </a:lnL>
                    <a:lnR>
                      <a:noFill/>
                    </a:lnR>
                    <a:lnT>
                      <a:noFill/>
                    </a:lnT>
                    <a:lnB>
                      <a:noFill/>
                    </a:lnB>
                    <a:noFill/>
                  </a:tcPr>
                </a:tc>
                <a:extLst>
                  <a:ext uri="{0D108BD9-81ED-4DB2-BD59-A6C34878D82A}">
                    <a16:rowId xmlns:a16="http://schemas.microsoft.com/office/drawing/2014/main" val="10003"/>
                  </a:ext>
                </a:extLst>
              </a:tr>
              <a:tr h="911692">
                <a:tc>
                  <a:txBody>
                    <a:bodyPr/>
                    <a:lstStyle/>
                    <a:p>
                      <a:pPr algn="l"/>
                      <a:r>
                        <a:rPr sz="1400" b="1" i="0" u="none" dirty="0">
                          <a:solidFill>
                            <a:srgbClr val="1D4ED8"/>
                          </a:solidFill>
                          <a:latin typeface="Inter"/>
                        </a:rPr>
                        <a:t>Proposed System</a:t>
                      </a:r>
                    </a:p>
                  </a:txBody>
                  <a:tcPr marL="63500" marR="63500" marT="25400" marB="25400" anchor="ctr">
                    <a:lnL>
                      <a:noFill/>
                    </a:lnL>
                    <a:lnR>
                      <a:noFill/>
                    </a:lnR>
                    <a:lnT>
                      <a:noFill/>
                    </a:lnT>
                    <a:lnB>
                      <a:noFill/>
                    </a:lnB>
                    <a:solidFill>
                      <a:srgbClr val="EFF6FF"/>
                    </a:solidFill>
                  </a:tcPr>
                </a:tc>
                <a:tc>
                  <a:txBody>
                    <a:bodyPr/>
                    <a:lstStyle/>
                    <a:p>
                      <a:pPr algn="l"/>
                      <a:r>
                        <a:rPr sz="1200" b="1" i="0" u="none" dirty="0">
                          <a:solidFill>
                            <a:srgbClr val="1F2937"/>
                          </a:solidFill>
                          <a:latin typeface="Inter"/>
                        </a:rPr>
                        <a:t> Yes</a:t>
                      </a:r>
                      <a:r>
                        <a:rPr lang="en-IN" sz="1200" b="1" i="0" u="none" dirty="0">
                          <a:solidFill>
                            <a:srgbClr val="1F2937"/>
                          </a:solidFill>
                          <a:latin typeface="Inter"/>
                        </a:rPr>
                        <a:t>, </a:t>
                      </a:r>
                      <a:r>
                        <a:rPr sz="1200" b="0" i="0" u="none" dirty="0">
                          <a:solidFill>
                            <a:srgbClr val="1F2937"/>
                          </a:solidFill>
                          <a:latin typeface="Inter"/>
                        </a:rPr>
                        <a:t>Interactive elicitation</a:t>
                      </a:r>
                    </a:p>
                  </a:txBody>
                  <a:tcPr marL="238125" marR="63500" marT="25400" marB="25400" anchor="ctr">
                    <a:lnL>
                      <a:noFill/>
                    </a:lnL>
                    <a:lnR>
                      <a:noFill/>
                    </a:lnR>
                    <a:lnT>
                      <a:noFill/>
                    </a:lnT>
                    <a:lnB>
                      <a:noFill/>
                    </a:lnB>
                    <a:solidFill>
                      <a:srgbClr val="EFF6FF"/>
                    </a:solidFill>
                  </a:tcPr>
                </a:tc>
                <a:tc>
                  <a:txBody>
                    <a:bodyPr/>
                    <a:lstStyle/>
                    <a:p>
                      <a:pPr algn="l"/>
                      <a:r>
                        <a:rPr sz="1200" b="0" i="0" u="none" dirty="0">
                          <a:solidFill>
                            <a:srgbClr val="1F2937"/>
                          </a:solidFill>
                          <a:latin typeface="Inter"/>
                        </a:rPr>
                        <a:t> </a:t>
                      </a:r>
                      <a:r>
                        <a:rPr sz="1200" b="1" i="0" u="none" dirty="0">
                          <a:solidFill>
                            <a:srgbClr val="1F2937"/>
                          </a:solidFill>
                          <a:latin typeface="Inter"/>
                        </a:rPr>
                        <a:t>Yes</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Context-aware design</a:t>
                      </a:r>
                    </a:p>
                  </a:txBody>
                  <a:tcPr marL="238125" marR="63500" marT="25400" marB="25400" anchor="ctr">
                    <a:lnL>
                      <a:noFill/>
                    </a:lnL>
                    <a:lnR>
                      <a:noFill/>
                    </a:lnR>
                    <a:lnT>
                      <a:noFill/>
                    </a:lnT>
                    <a:lnB>
                      <a:noFill/>
                    </a:lnB>
                    <a:solidFill>
                      <a:srgbClr val="EFF6FF"/>
                    </a:solidFill>
                  </a:tcPr>
                </a:tc>
                <a:tc>
                  <a:txBody>
                    <a:bodyPr/>
                    <a:lstStyle/>
                    <a:p>
                      <a:pPr algn="l"/>
                      <a:r>
                        <a:rPr sz="1200" b="1" i="0" u="none" dirty="0">
                          <a:solidFill>
                            <a:srgbClr val="1F2937"/>
                          </a:solidFill>
                          <a:latin typeface="Inter"/>
                        </a:rPr>
                        <a:t> Yes</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Agentic orchestration</a:t>
                      </a:r>
                    </a:p>
                  </a:txBody>
                  <a:tcPr marL="238125" marR="63500" marT="25400" marB="25400" anchor="ctr">
                    <a:lnL>
                      <a:noFill/>
                    </a:lnL>
                    <a:lnR>
                      <a:noFill/>
                    </a:lnR>
                    <a:lnT>
                      <a:noFill/>
                    </a:lnT>
                    <a:lnB>
                      <a:noFill/>
                    </a:lnB>
                    <a:solidFill>
                      <a:srgbClr val="EFF6FF"/>
                    </a:solidFill>
                  </a:tcPr>
                </a:tc>
                <a:tc>
                  <a:txBody>
                    <a:bodyPr/>
                    <a:lstStyle/>
                    <a:p>
                      <a:pPr algn="l"/>
                      <a:r>
                        <a:rPr sz="1200" b="1" i="0" u="none" dirty="0">
                          <a:solidFill>
                            <a:srgbClr val="1F2937"/>
                          </a:solidFill>
                          <a:latin typeface="Inter"/>
                        </a:rPr>
                        <a:t> Yes</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CI/CD pipeline integrated</a:t>
                      </a:r>
                    </a:p>
                  </a:txBody>
                  <a:tcPr marL="238125" marR="63500" marT="25400" marB="25400" anchor="ctr">
                    <a:lnL>
                      <a:noFill/>
                    </a:lnL>
                    <a:lnR>
                      <a:noFill/>
                    </a:lnR>
                    <a:lnT>
                      <a:noFill/>
                    </a:lnT>
                    <a:lnB>
                      <a:noFill/>
                    </a:lnB>
                    <a:solidFill>
                      <a:srgbClr val="EFF6FF"/>
                    </a:solidFill>
                  </a:tcPr>
                </a:tc>
                <a:tc>
                  <a:txBody>
                    <a:bodyPr/>
                    <a:lstStyle/>
                    <a:p>
                      <a:pPr algn="l"/>
                      <a:r>
                        <a:rPr sz="1200" b="1" i="0" u="none" dirty="0">
                          <a:solidFill>
                            <a:srgbClr val="1F2937"/>
                          </a:solidFill>
                          <a:latin typeface="Inter"/>
                        </a:rPr>
                        <a:t> Yes</a:t>
                      </a:r>
                      <a:r>
                        <a:rPr lang="en-IN" sz="1200" b="1" i="0" u="none" dirty="0">
                          <a:solidFill>
                            <a:srgbClr val="1F2937"/>
                          </a:solidFill>
                          <a:latin typeface="Inter"/>
                        </a:rPr>
                        <a:t>,</a:t>
                      </a:r>
                      <a:r>
                        <a:rPr sz="1200" b="1" i="0" u="none" dirty="0">
                          <a:solidFill>
                            <a:srgbClr val="1F2937"/>
                          </a:solidFill>
                          <a:latin typeface="Inter"/>
                        </a:rPr>
                        <a:t> </a:t>
                      </a:r>
                      <a:r>
                        <a:rPr sz="1200" b="0" i="0" u="none" dirty="0">
                          <a:solidFill>
                            <a:srgbClr val="1F2937"/>
                          </a:solidFill>
                          <a:latin typeface="Inter"/>
                        </a:rPr>
                        <a:t>Long-term vector</a:t>
                      </a:r>
                      <a:r>
                        <a:rPr lang="en-IN" sz="1200" b="0" i="0" u="none" dirty="0">
                          <a:solidFill>
                            <a:srgbClr val="1F2937"/>
                          </a:solidFill>
                          <a:latin typeface="Inter"/>
                        </a:rPr>
                        <a:t>, HKG,</a:t>
                      </a:r>
                      <a:r>
                        <a:rPr sz="1200" b="0" i="0" u="none" dirty="0">
                          <a:solidFill>
                            <a:srgbClr val="1F2937"/>
                          </a:solidFill>
                          <a:latin typeface="Inter"/>
                        </a:rPr>
                        <a:t> retrieval</a:t>
                      </a:r>
                    </a:p>
                  </a:txBody>
                  <a:tcPr marL="238125" marR="63500" marT="25400" marB="25400" anchor="ctr">
                    <a:lnL>
                      <a:noFill/>
                    </a:lnL>
                    <a:lnR>
                      <a:noFill/>
                    </a:lnR>
                    <a:lnT>
                      <a:noFill/>
                    </a:lnT>
                    <a:lnB>
                      <a:noFill/>
                    </a:lnB>
                    <a:solidFill>
                      <a:srgbClr val="EFF6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600385" y="2484046"/>
            <a:ext cx="2205930" cy="1905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806315" y="2484046"/>
            <a:ext cx="1563737" cy="1905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70052" y="2484046"/>
            <a:ext cx="1796504" cy="1905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66556" y="2484046"/>
            <a:ext cx="1935360" cy="1905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101917" y="2484046"/>
            <a:ext cx="1730722" cy="1905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32640" y="2484046"/>
            <a:ext cx="1797694" cy="1905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0385" y="3532688"/>
            <a:ext cx="2205930"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806315" y="3532688"/>
            <a:ext cx="1563737"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70052" y="3532688"/>
            <a:ext cx="1796504"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66556" y="3532688"/>
            <a:ext cx="1935360"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01917" y="3532688"/>
            <a:ext cx="1730722"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832640" y="3532688"/>
            <a:ext cx="1797694"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0385" y="4567044"/>
            <a:ext cx="2205930"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806315" y="4567044"/>
            <a:ext cx="1563737"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70052" y="4567044"/>
            <a:ext cx="1796504"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66556" y="4567044"/>
            <a:ext cx="1935360"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01917" y="4567044"/>
            <a:ext cx="1730722"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832640" y="4567044"/>
            <a:ext cx="1797694"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00385" y="5441409"/>
            <a:ext cx="2205930"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806315" y="5441409"/>
            <a:ext cx="1563737"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70052" y="5441409"/>
            <a:ext cx="1796504"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66556" y="5441409"/>
            <a:ext cx="1935360"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01917" y="5441409"/>
            <a:ext cx="1730722"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832640" y="5441409"/>
            <a:ext cx="1797694" cy="9525"/>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image.png"/>
          <p:cNvPicPr>
            <a:picLocks noChangeAspect="1"/>
          </p:cNvPicPr>
          <p:nvPr/>
        </p:nvPicPr>
        <p:blipFill>
          <a:blip r:embed="rId4"/>
          <a:stretch>
            <a:fillRect/>
          </a:stretch>
        </p:blipFill>
        <p:spPr>
          <a:xfrm>
            <a:off x="3070659" y="3167398"/>
            <a:ext cx="790575" cy="266700"/>
          </a:xfrm>
          <a:prstGeom prst="rect">
            <a:avLst/>
          </a:prstGeom>
        </p:spPr>
      </p:pic>
      <p:pic>
        <p:nvPicPr>
          <p:cNvPr id="30" name="Picture 29" descr="image.png"/>
          <p:cNvPicPr>
            <a:picLocks noChangeAspect="1"/>
          </p:cNvPicPr>
          <p:nvPr/>
        </p:nvPicPr>
        <p:blipFill>
          <a:blip r:embed="rId5"/>
          <a:stretch>
            <a:fillRect/>
          </a:stretch>
        </p:blipFill>
        <p:spPr>
          <a:xfrm>
            <a:off x="4628439" y="3170377"/>
            <a:ext cx="790575" cy="266700"/>
          </a:xfrm>
          <a:prstGeom prst="rect">
            <a:avLst/>
          </a:prstGeom>
        </p:spPr>
      </p:pic>
      <p:pic>
        <p:nvPicPr>
          <p:cNvPr id="31" name="Picture 30" descr="image.png"/>
          <p:cNvPicPr>
            <a:picLocks noChangeAspect="1"/>
          </p:cNvPicPr>
          <p:nvPr/>
        </p:nvPicPr>
        <p:blipFill>
          <a:blip r:embed="rId6"/>
          <a:stretch>
            <a:fillRect/>
          </a:stretch>
        </p:blipFill>
        <p:spPr>
          <a:xfrm>
            <a:off x="6424946" y="3173356"/>
            <a:ext cx="647700" cy="266700"/>
          </a:xfrm>
          <a:prstGeom prst="rect">
            <a:avLst/>
          </a:prstGeom>
        </p:spPr>
      </p:pic>
      <p:pic>
        <p:nvPicPr>
          <p:cNvPr id="32" name="Picture 31" descr="image.png"/>
          <p:cNvPicPr>
            <a:picLocks noChangeAspect="1"/>
          </p:cNvPicPr>
          <p:nvPr/>
        </p:nvPicPr>
        <p:blipFill>
          <a:blip r:embed="rId7"/>
          <a:stretch>
            <a:fillRect/>
          </a:stretch>
        </p:blipFill>
        <p:spPr>
          <a:xfrm>
            <a:off x="8375196" y="3172092"/>
            <a:ext cx="790575" cy="266700"/>
          </a:xfrm>
          <a:prstGeom prst="rect">
            <a:avLst/>
          </a:prstGeom>
        </p:spPr>
      </p:pic>
      <p:pic>
        <p:nvPicPr>
          <p:cNvPr id="33" name="Picture 32" descr="image.png"/>
          <p:cNvPicPr>
            <a:picLocks noChangeAspect="1"/>
          </p:cNvPicPr>
          <p:nvPr/>
        </p:nvPicPr>
        <p:blipFill>
          <a:blip r:embed="rId8"/>
          <a:stretch>
            <a:fillRect/>
          </a:stretch>
        </p:blipFill>
        <p:spPr>
          <a:xfrm>
            <a:off x="10082093" y="3170377"/>
            <a:ext cx="600075" cy="266700"/>
          </a:xfrm>
          <a:prstGeom prst="rect">
            <a:avLst/>
          </a:prstGeom>
        </p:spPr>
      </p:pic>
      <p:pic>
        <p:nvPicPr>
          <p:cNvPr id="34" name="Picture 33" descr="image.png"/>
          <p:cNvPicPr>
            <a:picLocks noChangeAspect="1"/>
          </p:cNvPicPr>
          <p:nvPr/>
        </p:nvPicPr>
        <p:blipFill>
          <a:blip r:embed="rId9"/>
          <a:stretch>
            <a:fillRect/>
          </a:stretch>
        </p:blipFill>
        <p:spPr>
          <a:xfrm>
            <a:off x="3067680" y="4116240"/>
            <a:ext cx="647700" cy="266700"/>
          </a:xfrm>
          <a:prstGeom prst="rect">
            <a:avLst/>
          </a:prstGeom>
        </p:spPr>
      </p:pic>
      <p:pic>
        <p:nvPicPr>
          <p:cNvPr id="35" name="Picture 34" descr="image.png"/>
          <p:cNvPicPr>
            <a:picLocks noChangeAspect="1"/>
          </p:cNvPicPr>
          <p:nvPr/>
        </p:nvPicPr>
        <p:blipFill>
          <a:blip r:embed="rId10"/>
          <a:stretch>
            <a:fillRect/>
          </a:stretch>
        </p:blipFill>
        <p:spPr>
          <a:xfrm>
            <a:off x="4625461" y="4073563"/>
            <a:ext cx="647700" cy="266700"/>
          </a:xfrm>
          <a:prstGeom prst="rect">
            <a:avLst/>
          </a:prstGeom>
        </p:spPr>
      </p:pic>
      <p:pic>
        <p:nvPicPr>
          <p:cNvPr id="36" name="Picture 35" descr="image.png"/>
          <p:cNvPicPr>
            <a:picLocks noChangeAspect="1"/>
          </p:cNvPicPr>
          <p:nvPr/>
        </p:nvPicPr>
        <p:blipFill>
          <a:blip r:embed="rId11"/>
          <a:stretch>
            <a:fillRect/>
          </a:stretch>
        </p:blipFill>
        <p:spPr>
          <a:xfrm>
            <a:off x="6427921" y="4086374"/>
            <a:ext cx="790575" cy="266700"/>
          </a:xfrm>
          <a:prstGeom prst="rect">
            <a:avLst/>
          </a:prstGeom>
        </p:spPr>
      </p:pic>
      <p:pic>
        <p:nvPicPr>
          <p:cNvPr id="37" name="Picture 36" descr="image.png"/>
          <p:cNvPicPr>
            <a:picLocks noChangeAspect="1"/>
          </p:cNvPicPr>
          <p:nvPr/>
        </p:nvPicPr>
        <p:blipFill>
          <a:blip r:embed="rId8"/>
          <a:stretch>
            <a:fillRect/>
          </a:stretch>
        </p:blipFill>
        <p:spPr>
          <a:xfrm>
            <a:off x="8363284" y="4030361"/>
            <a:ext cx="600075" cy="266700"/>
          </a:xfrm>
          <a:prstGeom prst="rect">
            <a:avLst/>
          </a:prstGeom>
        </p:spPr>
      </p:pic>
      <p:pic>
        <p:nvPicPr>
          <p:cNvPr id="38" name="Picture 37" descr="image.png"/>
          <p:cNvPicPr>
            <a:picLocks noChangeAspect="1"/>
          </p:cNvPicPr>
          <p:nvPr/>
        </p:nvPicPr>
        <p:blipFill>
          <a:blip r:embed="rId12"/>
          <a:stretch>
            <a:fillRect/>
          </a:stretch>
        </p:blipFill>
        <p:spPr>
          <a:xfrm>
            <a:off x="10088051" y="4027382"/>
            <a:ext cx="790575" cy="266700"/>
          </a:xfrm>
          <a:prstGeom prst="rect">
            <a:avLst/>
          </a:prstGeom>
        </p:spPr>
      </p:pic>
      <p:pic>
        <p:nvPicPr>
          <p:cNvPr id="41" name="Picture 40" descr="image.png"/>
          <p:cNvPicPr>
            <a:picLocks noChangeAspect="1"/>
          </p:cNvPicPr>
          <p:nvPr/>
        </p:nvPicPr>
        <p:blipFill>
          <a:blip r:embed="rId13"/>
          <a:stretch>
            <a:fillRect/>
          </a:stretch>
        </p:blipFill>
        <p:spPr>
          <a:xfrm>
            <a:off x="7083709" y="5003933"/>
            <a:ext cx="647700" cy="266700"/>
          </a:xfrm>
          <a:prstGeom prst="rect">
            <a:avLst/>
          </a:prstGeom>
        </p:spPr>
      </p:pic>
      <p:pic>
        <p:nvPicPr>
          <p:cNvPr id="42" name="Picture 41" descr="image.png"/>
          <p:cNvPicPr>
            <a:picLocks noChangeAspect="1"/>
          </p:cNvPicPr>
          <p:nvPr/>
        </p:nvPicPr>
        <p:blipFill>
          <a:blip r:embed="rId14"/>
          <a:stretch>
            <a:fillRect/>
          </a:stretch>
        </p:blipFill>
        <p:spPr>
          <a:xfrm>
            <a:off x="9025026" y="5000954"/>
            <a:ext cx="600075" cy="266700"/>
          </a:xfrm>
          <a:prstGeom prst="rect">
            <a:avLst/>
          </a:prstGeom>
        </p:spPr>
      </p:pic>
      <p:pic>
        <p:nvPicPr>
          <p:cNvPr id="44" name="Picture 43" descr="image.png"/>
          <p:cNvPicPr>
            <a:picLocks noChangeAspect="1"/>
          </p:cNvPicPr>
          <p:nvPr/>
        </p:nvPicPr>
        <p:blipFill>
          <a:blip r:embed="rId15"/>
          <a:stretch>
            <a:fillRect/>
          </a:stretch>
        </p:blipFill>
        <p:spPr>
          <a:xfrm>
            <a:off x="3706779" y="5874130"/>
            <a:ext cx="647700" cy="266700"/>
          </a:xfrm>
          <a:prstGeom prst="rect">
            <a:avLst/>
          </a:prstGeom>
        </p:spPr>
      </p:pic>
      <p:pic>
        <p:nvPicPr>
          <p:cNvPr id="45" name="Picture 44" descr="image.png"/>
          <p:cNvPicPr>
            <a:picLocks noChangeAspect="1"/>
          </p:cNvPicPr>
          <p:nvPr/>
        </p:nvPicPr>
        <p:blipFill>
          <a:blip r:embed="rId16"/>
          <a:stretch>
            <a:fillRect/>
          </a:stretch>
        </p:blipFill>
        <p:spPr>
          <a:xfrm>
            <a:off x="5178149" y="5883434"/>
            <a:ext cx="647700" cy="266700"/>
          </a:xfrm>
          <a:prstGeom prst="rect">
            <a:avLst/>
          </a:prstGeom>
        </p:spPr>
      </p:pic>
      <p:pic>
        <p:nvPicPr>
          <p:cNvPr id="46" name="Picture 45" descr="image.png"/>
          <p:cNvPicPr>
            <a:picLocks noChangeAspect="1"/>
          </p:cNvPicPr>
          <p:nvPr/>
        </p:nvPicPr>
        <p:blipFill>
          <a:blip r:embed="rId17"/>
          <a:stretch>
            <a:fillRect/>
          </a:stretch>
        </p:blipFill>
        <p:spPr>
          <a:xfrm>
            <a:off x="7184887" y="5971325"/>
            <a:ext cx="647700" cy="266700"/>
          </a:xfrm>
          <a:prstGeom prst="rect">
            <a:avLst/>
          </a:prstGeom>
        </p:spPr>
      </p:pic>
      <p:pic>
        <p:nvPicPr>
          <p:cNvPr id="47" name="Picture 46" descr="image.png"/>
          <p:cNvPicPr>
            <a:picLocks noChangeAspect="1"/>
          </p:cNvPicPr>
          <p:nvPr/>
        </p:nvPicPr>
        <p:blipFill>
          <a:blip r:embed="rId18"/>
          <a:stretch>
            <a:fillRect/>
          </a:stretch>
        </p:blipFill>
        <p:spPr>
          <a:xfrm>
            <a:off x="9005359" y="5886045"/>
            <a:ext cx="647700" cy="266700"/>
          </a:xfrm>
          <a:prstGeom prst="rect">
            <a:avLst/>
          </a:prstGeom>
        </p:spPr>
      </p:pic>
      <p:pic>
        <p:nvPicPr>
          <p:cNvPr id="48" name="Picture 47" descr="image.png"/>
          <p:cNvPicPr>
            <a:picLocks noChangeAspect="1"/>
          </p:cNvPicPr>
          <p:nvPr/>
        </p:nvPicPr>
        <p:blipFill>
          <a:blip r:embed="rId19"/>
          <a:stretch>
            <a:fillRect/>
          </a:stretch>
        </p:blipFill>
        <p:spPr>
          <a:xfrm>
            <a:off x="10982632" y="5830090"/>
            <a:ext cx="647700" cy="266700"/>
          </a:xfrm>
          <a:prstGeom prst="rect">
            <a:avLst/>
          </a:prstGeom>
        </p:spPr>
      </p:pic>
      <p:pic>
        <p:nvPicPr>
          <p:cNvPr id="49" name="Picture 48" descr="image.png"/>
          <p:cNvPicPr>
            <a:picLocks noChangeAspect="1"/>
          </p:cNvPicPr>
          <p:nvPr/>
        </p:nvPicPr>
        <p:blipFill>
          <a:blip r:embed="rId20"/>
          <a:stretch>
            <a:fillRect/>
          </a:stretch>
        </p:blipFill>
        <p:spPr>
          <a:xfrm>
            <a:off x="3149215" y="3247773"/>
            <a:ext cx="123825" cy="123825"/>
          </a:xfrm>
          <a:prstGeom prst="rect">
            <a:avLst/>
          </a:prstGeom>
        </p:spPr>
      </p:pic>
      <p:pic>
        <p:nvPicPr>
          <p:cNvPr id="50" name="Picture 49" descr="image.png"/>
          <p:cNvPicPr>
            <a:picLocks noChangeAspect="1"/>
          </p:cNvPicPr>
          <p:nvPr/>
        </p:nvPicPr>
        <p:blipFill>
          <a:blip r:embed="rId21"/>
          <a:stretch>
            <a:fillRect/>
          </a:stretch>
        </p:blipFill>
        <p:spPr>
          <a:xfrm>
            <a:off x="3788312" y="5963440"/>
            <a:ext cx="123825" cy="123825"/>
          </a:xfrm>
          <a:prstGeom prst="rect">
            <a:avLst/>
          </a:prstGeom>
        </p:spPr>
      </p:pic>
      <p:pic>
        <p:nvPicPr>
          <p:cNvPr id="52" name="Picture 51" descr="image.png"/>
          <p:cNvPicPr>
            <a:picLocks noChangeAspect="1"/>
          </p:cNvPicPr>
          <p:nvPr/>
        </p:nvPicPr>
        <p:blipFill>
          <a:blip r:embed="rId22"/>
          <a:stretch>
            <a:fillRect/>
          </a:stretch>
        </p:blipFill>
        <p:spPr>
          <a:xfrm>
            <a:off x="10175540" y="4113714"/>
            <a:ext cx="123825" cy="123825"/>
          </a:xfrm>
          <a:prstGeom prst="rect">
            <a:avLst/>
          </a:prstGeom>
        </p:spPr>
      </p:pic>
      <p:pic>
        <p:nvPicPr>
          <p:cNvPr id="53" name="Picture 52" descr="image.png"/>
          <p:cNvPicPr>
            <a:picLocks noChangeAspect="1"/>
          </p:cNvPicPr>
          <p:nvPr/>
        </p:nvPicPr>
        <p:blipFill>
          <a:blip r:embed="rId23"/>
          <a:stretch>
            <a:fillRect/>
          </a:stretch>
        </p:blipFill>
        <p:spPr>
          <a:xfrm>
            <a:off x="9103581" y="5069413"/>
            <a:ext cx="123825" cy="123825"/>
          </a:xfrm>
          <a:prstGeom prst="rect">
            <a:avLst/>
          </a:prstGeom>
        </p:spPr>
      </p:pic>
      <p:pic>
        <p:nvPicPr>
          <p:cNvPr id="57" name="Picture 56" descr="image.png"/>
          <p:cNvPicPr>
            <a:picLocks noChangeAspect="1"/>
          </p:cNvPicPr>
          <p:nvPr/>
        </p:nvPicPr>
        <p:blipFill>
          <a:blip r:embed="rId24"/>
          <a:stretch>
            <a:fillRect/>
          </a:stretch>
        </p:blipFill>
        <p:spPr>
          <a:xfrm>
            <a:off x="8444817" y="4113714"/>
            <a:ext cx="123825" cy="123825"/>
          </a:xfrm>
          <a:prstGeom prst="rect">
            <a:avLst/>
          </a:prstGeom>
        </p:spPr>
      </p:pic>
      <p:pic>
        <p:nvPicPr>
          <p:cNvPr id="60" name="Picture 59" descr="image.png"/>
          <p:cNvPicPr>
            <a:picLocks noChangeAspect="1"/>
          </p:cNvPicPr>
          <p:nvPr/>
        </p:nvPicPr>
        <p:blipFill>
          <a:blip r:embed="rId25"/>
          <a:stretch>
            <a:fillRect/>
          </a:stretch>
        </p:blipFill>
        <p:spPr>
          <a:xfrm>
            <a:off x="6509456" y="3247773"/>
            <a:ext cx="123825" cy="123825"/>
          </a:xfrm>
          <a:prstGeom prst="rect">
            <a:avLst/>
          </a:prstGeom>
        </p:spPr>
      </p:pic>
      <p:pic>
        <p:nvPicPr>
          <p:cNvPr id="64" name="Picture 63" descr="image.png"/>
          <p:cNvPicPr>
            <a:picLocks noChangeAspect="1"/>
          </p:cNvPicPr>
          <p:nvPr/>
        </p:nvPicPr>
        <p:blipFill>
          <a:blip r:embed="rId26"/>
          <a:stretch>
            <a:fillRect/>
          </a:stretch>
        </p:blipFill>
        <p:spPr>
          <a:xfrm>
            <a:off x="3149215" y="4193635"/>
            <a:ext cx="123825" cy="123825"/>
          </a:xfrm>
          <a:prstGeom prst="rect">
            <a:avLst/>
          </a:prstGeom>
        </p:spPr>
      </p:pic>
      <p:pic>
        <p:nvPicPr>
          <p:cNvPr id="65" name="Picture 64" descr="image.png"/>
          <p:cNvPicPr>
            <a:picLocks noChangeAspect="1"/>
          </p:cNvPicPr>
          <p:nvPr/>
        </p:nvPicPr>
        <p:blipFill>
          <a:blip r:embed="rId27"/>
          <a:stretch>
            <a:fillRect/>
          </a:stretch>
        </p:blipFill>
        <p:spPr>
          <a:xfrm>
            <a:off x="4712952" y="3247773"/>
            <a:ext cx="123825" cy="123825"/>
          </a:xfrm>
          <a:prstGeom prst="rect">
            <a:avLst/>
          </a:prstGeom>
        </p:spPr>
      </p:pic>
      <p:pic>
        <p:nvPicPr>
          <p:cNvPr id="66" name="Picture 65" descr="image.png"/>
          <p:cNvPicPr>
            <a:picLocks noChangeAspect="1"/>
          </p:cNvPicPr>
          <p:nvPr/>
        </p:nvPicPr>
        <p:blipFill>
          <a:blip r:embed="rId23"/>
          <a:stretch>
            <a:fillRect/>
          </a:stretch>
        </p:blipFill>
        <p:spPr>
          <a:xfrm>
            <a:off x="10175540" y="3247773"/>
            <a:ext cx="123825" cy="123825"/>
          </a:xfrm>
          <a:prstGeom prst="rect">
            <a:avLst/>
          </a:prstGeom>
        </p:spPr>
      </p:pic>
      <p:pic>
        <p:nvPicPr>
          <p:cNvPr id="67" name="Picture 66" descr="image.png"/>
          <p:cNvPicPr>
            <a:picLocks noChangeAspect="1"/>
          </p:cNvPicPr>
          <p:nvPr/>
        </p:nvPicPr>
        <p:blipFill>
          <a:blip r:embed="rId25"/>
          <a:stretch>
            <a:fillRect/>
          </a:stretch>
        </p:blipFill>
        <p:spPr>
          <a:xfrm>
            <a:off x="7168220" y="5069413"/>
            <a:ext cx="123825" cy="123825"/>
          </a:xfrm>
          <a:prstGeom prst="rect">
            <a:avLst/>
          </a:prstGeom>
        </p:spPr>
      </p:pic>
      <p:pic>
        <p:nvPicPr>
          <p:cNvPr id="68" name="Picture 67" descr="image.png"/>
          <p:cNvPicPr>
            <a:picLocks noChangeAspect="1"/>
          </p:cNvPicPr>
          <p:nvPr/>
        </p:nvPicPr>
        <p:blipFill>
          <a:blip r:embed="rId28"/>
          <a:stretch>
            <a:fillRect/>
          </a:stretch>
        </p:blipFill>
        <p:spPr>
          <a:xfrm>
            <a:off x="9083914" y="5963440"/>
            <a:ext cx="123825" cy="123825"/>
          </a:xfrm>
          <a:prstGeom prst="rect">
            <a:avLst/>
          </a:prstGeom>
        </p:spPr>
      </p:pic>
      <p:pic>
        <p:nvPicPr>
          <p:cNvPr id="69" name="Picture 68" descr="image.png"/>
          <p:cNvPicPr>
            <a:picLocks noChangeAspect="1"/>
          </p:cNvPicPr>
          <p:nvPr/>
        </p:nvPicPr>
        <p:blipFill>
          <a:blip r:embed="rId20"/>
          <a:stretch>
            <a:fillRect/>
          </a:stretch>
        </p:blipFill>
        <p:spPr>
          <a:xfrm>
            <a:off x="3149215" y="3247773"/>
            <a:ext cx="123825" cy="123825"/>
          </a:xfrm>
          <a:prstGeom prst="rect">
            <a:avLst/>
          </a:prstGeom>
        </p:spPr>
      </p:pic>
      <p:pic>
        <p:nvPicPr>
          <p:cNvPr id="70" name="Picture 69" descr="image.png"/>
          <p:cNvPicPr>
            <a:picLocks noChangeAspect="1"/>
          </p:cNvPicPr>
          <p:nvPr/>
        </p:nvPicPr>
        <p:blipFill>
          <a:blip r:embed="rId27"/>
          <a:stretch>
            <a:fillRect/>
          </a:stretch>
        </p:blipFill>
        <p:spPr>
          <a:xfrm>
            <a:off x="4712952" y="3247773"/>
            <a:ext cx="123825" cy="123825"/>
          </a:xfrm>
          <a:prstGeom prst="rect">
            <a:avLst/>
          </a:prstGeom>
        </p:spPr>
      </p:pic>
      <p:pic>
        <p:nvPicPr>
          <p:cNvPr id="71" name="Picture 70" descr="image.png"/>
          <p:cNvPicPr>
            <a:picLocks noChangeAspect="1"/>
          </p:cNvPicPr>
          <p:nvPr/>
        </p:nvPicPr>
        <p:blipFill>
          <a:blip r:embed="rId25"/>
          <a:stretch>
            <a:fillRect/>
          </a:stretch>
        </p:blipFill>
        <p:spPr>
          <a:xfrm>
            <a:off x="6509456" y="3247773"/>
            <a:ext cx="123825" cy="123825"/>
          </a:xfrm>
          <a:prstGeom prst="rect">
            <a:avLst/>
          </a:prstGeom>
        </p:spPr>
      </p:pic>
      <p:pic>
        <p:nvPicPr>
          <p:cNvPr id="72" name="Picture 71" descr="image.png"/>
          <p:cNvPicPr>
            <a:picLocks noChangeAspect="1"/>
          </p:cNvPicPr>
          <p:nvPr/>
        </p:nvPicPr>
        <p:blipFill>
          <a:blip r:embed="rId29"/>
          <a:stretch>
            <a:fillRect/>
          </a:stretch>
        </p:blipFill>
        <p:spPr>
          <a:xfrm>
            <a:off x="8444817" y="3246508"/>
            <a:ext cx="123825" cy="123825"/>
          </a:xfrm>
          <a:prstGeom prst="rect">
            <a:avLst/>
          </a:prstGeom>
        </p:spPr>
      </p:pic>
      <p:pic>
        <p:nvPicPr>
          <p:cNvPr id="73" name="Picture 72" descr="image.png"/>
          <p:cNvPicPr>
            <a:picLocks noChangeAspect="1"/>
          </p:cNvPicPr>
          <p:nvPr/>
        </p:nvPicPr>
        <p:blipFill>
          <a:blip r:embed="rId23"/>
          <a:stretch>
            <a:fillRect/>
          </a:stretch>
        </p:blipFill>
        <p:spPr>
          <a:xfrm>
            <a:off x="10175540" y="3247773"/>
            <a:ext cx="123825" cy="123825"/>
          </a:xfrm>
          <a:prstGeom prst="rect">
            <a:avLst/>
          </a:prstGeom>
        </p:spPr>
      </p:pic>
      <p:pic>
        <p:nvPicPr>
          <p:cNvPr id="74" name="Picture 73" descr="image.png"/>
          <p:cNvPicPr>
            <a:picLocks noChangeAspect="1"/>
          </p:cNvPicPr>
          <p:nvPr/>
        </p:nvPicPr>
        <p:blipFill>
          <a:blip r:embed="rId26"/>
          <a:stretch>
            <a:fillRect/>
          </a:stretch>
        </p:blipFill>
        <p:spPr>
          <a:xfrm>
            <a:off x="3149215" y="4193635"/>
            <a:ext cx="123825" cy="123825"/>
          </a:xfrm>
          <a:prstGeom prst="rect">
            <a:avLst/>
          </a:prstGeom>
        </p:spPr>
      </p:pic>
      <p:pic>
        <p:nvPicPr>
          <p:cNvPr id="75" name="Picture 74" descr="image.png"/>
          <p:cNvPicPr>
            <a:picLocks noChangeAspect="1"/>
          </p:cNvPicPr>
          <p:nvPr/>
        </p:nvPicPr>
        <p:blipFill>
          <a:blip r:embed="rId30"/>
          <a:stretch>
            <a:fillRect/>
          </a:stretch>
        </p:blipFill>
        <p:spPr>
          <a:xfrm>
            <a:off x="4712952" y="4162874"/>
            <a:ext cx="123825" cy="123825"/>
          </a:xfrm>
          <a:prstGeom prst="rect">
            <a:avLst/>
          </a:prstGeom>
        </p:spPr>
      </p:pic>
      <p:pic>
        <p:nvPicPr>
          <p:cNvPr id="76" name="Picture 75" descr="image.png"/>
          <p:cNvPicPr>
            <a:picLocks noChangeAspect="1"/>
          </p:cNvPicPr>
          <p:nvPr/>
        </p:nvPicPr>
        <p:blipFill>
          <a:blip r:embed="rId31"/>
          <a:stretch>
            <a:fillRect/>
          </a:stretch>
        </p:blipFill>
        <p:spPr>
          <a:xfrm>
            <a:off x="6509456" y="4172706"/>
            <a:ext cx="123825" cy="123825"/>
          </a:xfrm>
          <a:prstGeom prst="rect">
            <a:avLst/>
          </a:prstGeom>
        </p:spPr>
      </p:pic>
      <p:pic>
        <p:nvPicPr>
          <p:cNvPr id="77" name="Picture 76" descr="image.png"/>
          <p:cNvPicPr>
            <a:picLocks noChangeAspect="1"/>
          </p:cNvPicPr>
          <p:nvPr/>
        </p:nvPicPr>
        <p:blipFill>
          <a:blip r:embed="rId24"/>
          <a:stretch>
            <a:fillRect/>
          </a:stretch>
        </p:blipFill>
        <p:spPr>
          <a:xfrm>
            <a:off x="8444817" y="4113714"/>
            <a:ext cx="123825" cy="123825"/>
          </a:xfrm>
          <a:prstGeom prst="rect">
            <a:avLst/>
          </a:prstGeom>
        </p:spPr>
      </p:pic>
      <p:pic>
        <p:nvPicPr>
          <p:cNvPr id="78" name="Picture 77" descr="image.png"/>
          <p:cNvPicPr>
            <a:picLocks noChangeAspect="1"/>
          </p:cNvPicPr>
          <p:nvPr/>
        </p:nvPicPr>
        <p:blipFill>
          <a:blip r:embed="rId22"/>
          <a:stretch>
            <a:fillRect/>
          </a:stretch>
        </p:blipFill>
        <p:spPr>
          <a:xfrm>
            <a:off x="10175540" y="4113714"/>
            <a:ext cx="123825" cy="123825"/>
          </a:xfrm>
          <a:prstGeom prst="rect">
            <a:avLst/>
          </a:prstGeom>
        </p:spPr>
      </p:pic>
      <p:pic>
        <p:nvPicPr>
          <p:cNvPr id="81" name="Picture 80" descr="image.png"/>
          <p:cNvPicPr>
            <a:picLocks noChangeAspect="1"/>
          </p:cNvPicPr>
          <p:nvPr/>
        </p:nvPicPr>
        <p:blipFill>
          <a:blip r:embed="rId25"/>
          <a:stretch>
            <a:fillRect/>
          </a:stretch>
        </p:blipFill>
        <p:spPr>
          <a:xfrm>
            <a:off x="7168220" y="5069413"/>
            <a:ext cx="123825" cy="123825"/>
          </a:xfrm>
          <a:prstGeom prst="rect">
            <a:avLst/>
          </a:prstGeom>
        </p:spPr>
      </p:pic>
      <p:pic>
        <p:nvPicPr>
          <p:cNvPr id="82" name="Picture 81" descr="image.png"/>
          <p:cNvPicPr>
            <a:picLocks noChangeAspect="1"/>
          </p:cNvPicPr>
          <p:nvPr/>
        </p:nvPicPr>
        <p:blipFill>
          <a:blip r:embed="rId23"/>
          <a:stretch>
            <a:fillRect/>
          </a:stretch>
        </p:blipFill>
        <p:spPr>
          <a:xfrm>
            <a:off x="9103581" y="5069413"/>
            <a:ext cx="123825" cy="123825"/>
          </a:xfrm>
          <a:prstGeom prst="rect">
            <a:avLst/>
          </a:prstGeom>
        </p:spPr>
      </p:pic>
      <p:pic>
        <p:nvPicPr>
          <p:cNvPr id="84" name="Picture 83" descr="image.png"/>
          <p:cNvPicPr>
            <a:picLocks noChangeAspect="1"/>
          </p:cNvPicPr>
          <p:nvPr/>
        </p:nvPicPr>
        <p:blipFill>
          <a:blip r:embed="rId21"/>
          <a:stretch>
            <a:fillRect/>
          </a:stretch>
        </p:blipFill>
        <p:spPr>
          <a:xfrm>
            <a:off x="3788312" y="5963440"/>
            <a:ext cx="123825" cy="123825"/>
          </a:xfrm>
          <a:prstGeom prst="rect">
            <a:avLst/>
          </a:prstGeom>
        </p:spPr>
      </p:pic>
      <p:pic>
        <p:nvPicPr>
          <p:cNvPr id="85" name="Picture 84" descr="image.png"/>
          <p:cNvPicPr>
            <a:picLocks noChangeAspect="1"/>
          </p:cNvPicPr>
          <p:nvPr/>
        </p:nvPicPr>
        <p:blipFill>
          <a:blip r:embed="rId32"/>
          <a:stretch>
            <a:fillRect/>
          </a:stretch>
        </p:blipFill>
        <p:spPr>
          <a:xfrm>
            <a:off x="5253726" y="5954872"/>
            <a:ext cx="123825" cy="123825"/>
          </a:xfrm>
          <a:prstGeom prst="rect">
            <a:avLst/>
          </a:prstGeom>
        </p:spPr>
      </p:pic>
      <p:pic>
        <p:nvPicPr>
          <p:cNvPr id="86" name="Picture 85" descr="image.png"/>
          <p:cNvPicPr>
            <a:picLocks noChangeAspect="1"/>
          </p:cNvPicPr>
          <p:nvPr/>
        </p:nvPicPr>
        <p:blipFill>
          <a:blip r:embed="rId32"/>
          <a:stretch>
            <a:fillRect/>
          </a:stretch>
        </p:blipFill>
        <p:spPr>
          <a:xfrm>
            <a:off x="7272378" y="6051700"/>
            <a:ext cx="123825" cy="123825"/>
          </a:xfrm>
          <a:prstGeom prst="rect">
            <a:avLst/>
          </a:prstGeom>
        </p:spPr>
      </p:pic>
      <p:pic>
        <p:nvPicPr>
          <p:cNvPr id="87" name="Picture 86" descr="image.png"/>
          <p:cNvPicPr>
            <a:picLocks noChangeAspect="1"/>
          </p:cNvPicPr>
          <p:nvPr/>
        </p:nvPicPr>
        <p:blipFill>
          <a:blip r:embed="rId28"/>
          <a:stretch>
            <a:fillRect/>
          </a:stretch>
        </p:blipFill>
        <p:spPr>
          <a:xfrm>
            <a:off x="9083914" y="5963440"/>
            <a:ext cx="123825" cy="123825"/>
          </a:xfrm>
          <a:prstGeom prst="rect">
            <a:avLst/>
          </a:prstGeom>
        </p:spPr>
      </p:pic>
      <p:pic>
        <p:nvPicPr>
          <p:cNvPr id="88" name="Picture 87" descr="image.png"/>
          <p:cNvPicPr>
            <a:picLocks noChangeAspect="1"/>
          </p:cNvPicPr>
          <p:nvPr/>
        </p:nvPicPr>
        <p:blipFill>
          <a:blip r:embed="rId28"/>
          <a:stretch>
            <a:fillRect/>
          </a:stretch>
        </p:blipFill>
        <p:spPr>
          <a:xfrm>
            <a:off x="11064167" y="5910464"/>
            <a:ext cx="123825" cy="123825"/>
          </a:xfrm>
          <a:prstGeom prst="rect">
            <a:avLst/>
          </a:prstGeom>
        </p:spPr>
      </p:pic>
      <p:sp>
        <p:nvSpPr>
          <p:cNvPr id="89" name="TextBox 88"/>
          <p:cNvSpPr txBox="1"/>
          <p:nvPr/>
        </p:nvSpPr>
        <p:spPr>
          <a:xfrm>
            <a:off x="581332" y="286367"/>
            <a:ext cx="11601450" cy="553998"/>
          </a:xfrm>
          <a:prstGeom prst="rect">
            <a:avLst/>
          </a:prstGeom>
          <a:noFill/>
        </p:spPr>
        <p:txBody>
          <a:bodyPr wrap="square" lIns="0" tIns="0" rIns="0" bIns="0" anchor="t">
            <a:spAutoFit/>
          </a:bodyPr>
          <a:lstStyle/>
          <a:p>
            <a:pPr algn="l"/>
            <a:r>
              <a:rPr lang="en-IN" sz="3600" b="1" dirty="0">
                <a:solidFill>
                  <a:srgbClr val="111827"/>
                </a:solidFill>
                <a:latin typeface="Inter"/>
              </a:rPr>
              <a:t>Existing</a:t>
            </a:r>
            <a:r>
              <a:rPr lang="en-IN" sz="3600" b="1" i="0" u="none" dirty="0">
                <a:solidFill>
                  <a:srgbClr val="111827"/>
                </a:solidFill>
                <a:latin typeface="Inter"/>
              </a:rPr>
              <a:t> </a:t>
            </a:r>
            <a:r>
              <a:rPr sz="3600" b="1" i="0" u="none" dirty="0">
                <a:solidFill>
                  <a:srgbClr val="2563EB"/>
                </a:solidFill>
                <a:latin typeface="Inter"/>
              </a:rPr>
              <a:t>SDLC </a:t>
            </a:r>
            <a:r>
              <a:rPr lang="en-IN" sz="3600" b="1" i="0" u="none" dirty="0">
                <a:solidFill>
                  <a:srgbClr val="2563EB"/>
                </a:solidFill>
                <a:latin typeface="Inter"/>
              </a:rPr>
              <a:t>Automations</a:t>
            </a:r>
            <a:endParaRPr sz="3600" b="1" i="0" u="none" dirty="0">
              <a:solidFill>
                <a:srgbClr val="2563EB"/>
              </a:solidFill>
              <a:latin typeface="Inter"/>
            </a:endParaRPr>
          </a:p>
        </p:txBody>
      </p:sp>
      <p:sp>
        <p:nvSpPr>
          <p:cNvPr id="90" name="TextBox 89"/>
          <p:cNvSpPr txBox="1"/>
          <p:nvPr/>
        </p:nvSpPr>
        <p:spPr>
          <a:xfrm>
            <a:off x="581332" y="862010"/>
            <a:ext cx="11049000" cy="609600"/>
          </a:xfrm>
          <a:prstGeom prst="rect">
            <a:avLst/>
          </a:prstGeom>
          <a:noFill/>
        </p:spPr>
        <p:txBody>
          <a:bodyPr wrap="square" lIns="0" tIns="0" rIns="0" bIns="0" anchor="t">
            <a:spAutoFit/>
          </a:bodyPr>
          <a:lstStyle/>
          <a:p>
            <a:pPr algn="l">
              <a:lnSpc>
                <a:spcPts val="2400"/>
              </a:lnSpc>
            </a:pPr>
            <a:r>
              <a:rPr sz="1500" b="0" i="0" u="none" dirty="0">
                <a:solidFill>
                  <a:srgbClr val="4B5563"/>
                </a:solidFill>
                <a:latin typeface="Inter"/>
              </a:rPr>
              <a:t>While existing autonomous systems are highly capable at code execution, they lack </a:t>
            </a:r>
            <a:r>
              <a:rPr sz="1500" b="1" i="0" u="none" dirty="0">
                <a:solidFill>
                  <a:srgbClr val="4B5563"/>
                </a:solidFill>
                <a:latin typeface="Inter"/>
              </a:rPr>
              <a:t>long-term organizational memory</a:t>
            </a:r>
            <a:r>
              <a:rPr sz="1500" b="0" i="0" u="none" dirty="0">
                <a:solidFill>
                  <a:srgbClr val="4B5563"/>
                </a:solidFill>
                <a:latin typeface="Inter"/>
              </a:rPr>
              <a:t> and struggle with end-to-end orchestration.</a:t>
            </a:r>
          </a:p>
        </p:txBody>
      </p:sp>
      <p:sp>
        <p:nvSpPr>
          <p:cNvPr id="91" name="TextBox 90"/>
          <p:cNvSpPr txBox="1"/>
          <p:nvPr/>
        </p:nvSpPr>
        <p:spPr>
          <a:xfrm>
            <a:off x="768146" y="6478537"/>
            <a:ext cx="7083767" cy="184666"/>
          </a:xfrm>
          <a:prstGeom prst="rect">
            <a:avLst/>
          </a:prstGeom>
          <a:noFill/>
        </p:spPr>
        <p:txBody>
          <a:bodyPr wrap="square" lIns="0" tIns="0" rIns="0" bIns="0" anchor="t">
            <a:spAutoFit/>
          </a:bodyPr>
          <a:lstStyle/>
          <a:p>
            <a:pPr algn="l"/>
            <a:r>
              <a:rPr sz="1200" b="0" i="1" u="none" dirty="0">
                <a:solidFill>
                  <a:schemeClr val="tx1">
                    <a:lumMod val="75000"/>
                    <a:lumOff val="25000"/>
                  </a:schemeClr>
                </a:solidFill>
                <a:latin typeface="Inter"/>
              </a:rPr>
              <a:t> Source: Compiled from official documentation and validated using publicly available implementation benchmarks. </a:t>
            </a:r>
          </a:p>
        </p:txBody>
      </p:sp>
      <p:pic>
        <p:nvPicPr>
          <p:cNvPr id="58" name="Picture 57" descr="image.png">
            <a:extLst>
              <a:ext uri="{FF2B5EF4-FFF2-40B4-BE49-F238E27FC236}">
                <a16:creationId xmlns:a16="http://schemas.microsoft.com/office/drawing/2014/main" id="{296C739A-24FD-D1F5-3606-EDBBA2CF9146}"/>
              </a:ext>
            </a:extLst>
          </p:cNvPr>
          <p:cNvPicPr>
            <a:picLocks noChangeAspect="1"/>
          </p:cNvPicPr>
          <p:nvPr/>
        </p:nvPicPr>
        <p:blipFill>
          <a:blip r:embed="rId12"/>
          <a:stretch>
            <a:fillRect/>
          </a:stretch>
        </p:blipFill>
        <p:spPr>
          <a:xfrm>
            <a:off x="10586010" y="5031133"/>
            <a:ext cx="790575" cy="266700"/>
          </a:xfrm>
          <a:prstGeom prst="rect">
            <a:avLst/>
          </a:prstGeom>
        </p:spPr>
      </p:pic>
      <p:pic>
        <p:nvPicPr>
          <p:cNvPr id="61" name="Picture 60" descr="image.png">
            <a:extLst>
              <a:ext uri="{FF2B5EF4-FFF2-40B4-BE49-F238E27FC236}">
                <a16:creationId xmlns:a16="http://schemas.microsoft.com/office/drawing/2014/main" id="{47CC200C-80B1-EDDD-F6DE-0307B7FD679D}"/>
              </a:ext>
            </a:extLst>
          </p:cNvPr>
          <p:cNvPicPr>
            <a:picLocks noChangeAspect="1"/>
          </p:cNvPicPr>
          <p:nvPr/>
        </p:nvPicPr>
        <p:blipFill>
          <a:blip r:embed="rId22"/>
          <a:stretch>
            <a:fillRect/>
          </a:stretch>
        </p:blipFill>
        <p:spPr>
          <a:xfrm>
            <a:off x="10673499" y="5117465"/>
            <a:ext cx="123825" cy="123825"/>
          </a:xfrm>
          <a:prstGeom prst="rect">
            <a:avLst/>
          </a:prstGeom>
        </p:spPr>
      </p:pic>
      <p:pic>
        <p:nvPicPr>
          <p:cNvPr id="93" name="Picture 92" descr="image.png">
            <a:extLst>
              <a:ext uri="{FF2B5EF4-FFF2-40B4-BE49-F238E27FC236}">
                <a16:creationId xmlns:a16="http://schemas.microsoft.com/office/drawing/2014/main" id="{77676428-B9BD-66AA-3048-2B33D6932B70}"/>
              </a:ext>
            </a:extLst>
          </p:cNvPr>
          <p:cNvPicPr>
            <a:picLocks noChangeAspect="1"/>
          </p:cNvPicPr>
          <p:nvPr/>
        </p:nvPicPr>
        <p:blipFill>
          <a:blip r:embed="rId12"/>
          <a:stretch>
            <a:fillRect/>
          </a:stretch>
        </p:blipFill>
        <p:spPr>
          <a:xfrm>
            <a:off x="5152855" y="5042778"/>
            <a:ext cx="790575" cy="266700"/>
          </a:xfrm>
          <a:prstGeom prst="rect">
            <a:avLst/>
          </a:prstGeom>
        </p:spPr>
      </p:pic>
      <p:pic>
        <p:nvPicPr>
          <p:cNvPr id="95" name="Picture 94" descr="image.png">
            <a:extLst>
              <a:ext uri="{FF2B5EF4-FFF2-40B4-BE49-F238E27FC236}">
                <a16:creationId xmlns:a16="http://schemas.microsoft.com/office/drawing/2014/main" id="{65EF564B-B448-F24A-133C-525C5CFED2F1}"/>
              </a:ext>
            </a:extLst>
          </p:cNvPr>
          <p:cNvPicPr>
            <a:picLocks noChangeAspect="1"/>
          </p:cNvPicPr>
          <p:nvPr/>
        </p:nvPicPr>
        <p:blipFill>
          <a:blip r:embed="rId22"/>
          <a:stretch>
            <a:fillRect/>
          </a:stretch>
        </p:blipFill>
        <p:spPr>
          <a:xfrm>
            <a:off x="5240344" y="5129110"/>
            <a:ext cx="123825" cy="123825"/>
          </a:xfrm>
          <a:prstGeom prst="rect">
            <a:avLst/>
          </a:prstGeom>
        </p:spPr>
      </p:pic>
      <p:pic>
        <p:nvPicPr>
          <p:cNvPr id="97" name="Picture 96" descr="image.png">
            <a:extLst>
              <a:ext uri="{FF2B5EF4-FFF2-40B4-BE49-F238E27FC236}">
                <a16:creationId xmlns:a16="http://schemas.microsoft.com/office/drawing/2014/main" id="{DEACCBB9-601B-0F54-938E-453449741F41}"/>
              </a:ext>
            </a:extLst>
          </p:cNvPr>
          <p:cNvPicPr>
            <a:picLocks noChangeAspect="1"/>
          </p:cNvPicPr>
          <p:nvPr/>
        </p:nvPicPr>
        <p:blipFill>
          <a:blip r:embed="rId12"/>
          <a:stretch>
            <a:fillRect/>
          </a:stretch>
        </p:blipFill>
        <p:spPr>
          <a:xfrm>
            <a:off x="3393024" y="4984115"/>
            <a:ext cx="790575" cy="266700"/>
          </a:xfrm>
          <a:prstGeom prst="rect">
            <a:avLst/>
          </a:prstGeom>
        </p:spPr>
      </p:pic>
      <p:pic>
        <p:nvPicPr>
          <p:cNvPr id="99" name="Picture 98" descr="image.png">
            <a:extLst>
              <a:ext uri="{FF2B5EF4-FFF2-40B4-BE49-F238E27FC236}">
                <a16:creationId xmlns:a16="http://schemas.microsoft.com/office/drawing/2014/main" id="{8201F29D-7DC4-2956-6FD9-8E510D18031C}"/>
              </a:ext>
            </a:extLst>
          </p:cNvPr>
          <p:cNvPicPr>
            <a:picLocks noChangeAspect="1"/>
          </p:cNvPicPr>
          <p:nvPr/>
        </p:nvPicPr>
        <p:blipFill>
          <a:blip r:embed="rId22"/>
          <a:stretch>
            <a:fillRect/>
          </a:stretch>
        </p:blipFill>
        <p:spPr>
          <a:xfrm>
            <a:off x="3480513" y="5070447"/>
            <a:ext cx="123825" cy="1238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CD6656C-03BF-43E4-35B1-C492ED7037ED}"/>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EEC1BD4C-30EB-9F01-655C-A2EE9173506D}"/>
              </a:ext>
            </a:extLst>
          </p:cNvPr>
          <p:cNvPicPr>
            <a:picLocks noChangeAspect="1"/>
          </p:cNvPicPr>
          <p:nvPr/>
        </p:nvPicPr>
        <p:blipFill>
          <a:blip r:embed="rId2"/>
          <a:stretch>
            <a:fillRect/>
          </a:stretch>
        </p:blipFill>
        <p:spPr>
          <a:xfrm>
            <a:off x="-98323" y="0"/>
            <a:ext cx="12408309" cy="6858000"/>
          </a:xfrm>
          <a:prstGeom prst="rect">
            <a:avLst/>
          </a:prstGeom>
        </p:spPr>
      </p:pic>
      <p:sp>
        <p:nvSpPr>
          <p:cNvPr id="18" name="TextBox 17">
            <a:extLst>
              <a:ext uri="{FF2B5EF4-FFF2-40B4-BE49-F238E27FC236}">
                <a16:creationId xmlns:a16="http://schemas.microsoft.com/office/drawing/2014/main" id="{852C7488-B9E0-BF19-2B7D-A40770F10ACA}"/>
              </a:ext>
            </a:extLst>
          </p:cNvPr>
          <p:cNvSpPr txBox="1"/>
          <p:nvPr/>
        </p:nvSpPr>
        <p:spPr>
          <a:xfrm>
            <a:off x="571500" y="375720"/>
            <a:ext cx="11601450" cy="514350"/>
          </a:xfrm>
          <a:prstGeom prst="rect">
            <a:avLst/>
          </a:prstGeom>
          <a:noFill/>
        </p:spPr>
        <p:txBody>
          <a:bodyPr wrap="square" lIns="0" tIns="0" rIns="0" bIns="0" anchor="t">
            <a:spAutoFit/>
          </a:bodyPr>
          <a:lstStyle/>
          <a:p>
            <a:pPr algn="l"/>
            <a:r>
              <a:rPr sz="3300" b="1" i="0" u="none" dirty="0">
                <a:solidFill>
                  <a:srgbClr val="0F172A"/>
                </a:solidFill>
                <a:latin typeface="Inter"/>
              </a:rPr>
              <a:t>Agentic </a:t>
            </a:r>
            <a:r>
              <a:rPr sz="3300" b="1" i="0" u="none" dirty="0">
                <a:solidFill>
                  <a:srgbClr val="2563EB"/>
                </a:solidFill>
                <a:latin typeface="Inter"/>
              </a:rPr>
              <a:t>Frameworks</a:t>
            </a:r>
          </a:p>
        </p:txBody>
      </p:sp>
      <p:sp>
        <p:nvSpPr>
          <p:cNvPr id="4" name="TextBox 3">
            <a:extLst>
              <a:ext uri="{FF2B5EF4-FFF2-40B4-BE49-F238E27FC236}">
                <a16:creationId xmlns:a16="http://schemas.microsoft.com/office/drawing/2014/main" id="{2980E8B9-E339-5EB8-D810-4688895F7D23}"/>
              </a:ext>
            </a:extLst>
          </p:cNvPr>
          <p:cNvSpPr txBox="1"/>
          <p:nvPr/>
        </p:nvSpPr>
        <p:spPr>
          <a:xfrm>
            <a:off x="497608" y="6385519"/>
            <a:ext cx="11049002" cy="261610"/>
          </a:xfrm>
          <a:prstGeom prst="rect">
            <a:avLst/>
          </a:prstGeom>
          <a:noFill/>
        </p:spPr>
        <p:txBody>
          <a:bodyPr wrap="square">
            <a:spAutoFit/>
          </a:bodyPr>
          <a:lstStyle/>
          <a:p>
            <a:r>
              <a:rPr lang="en-IN" sz="1100" b="1" dirty="0"/>
              <a:t>Source:</a:t>
            </a:r>
            <a:r>
              <a:rPr lang="en-IN" sz="1100" dirty="0"/>
              <a:t> </a:t>
            </a:r>
            <a:r>
              <a:rPr lang="en-IN" sz="1100" i="1" dirty="0"/>
              <a:t>Compiled from official model documentation and validated using publicly available implementation benchmarks and deployment experiences.</a:t>
            </a:r>
            <a:endParaRPr lang="en-IN" sz="1100" dirty="0"/>
          </a:p>
        </p:txBody>
      </p:sp>
      <p:graphicFrame>
        <p:nvGraphicFramePr>
          <p:cNvPr id="5" name="Table 4">
            <a:extLst>
              <a:ext uri="{FF2B5EF4-FFF2-40B4-BE49-F238E27FC236}">
                <a16:creationId xmlns:a16="http://schemas.microsoft.com/office/drawing/2014/main" id="{617A71BC-A993-6054-32CC-DF2A8DDD6777}"/>
              </a:ext>
            </a:extLst>
          </p:cNvPr>
          <p:cNvGraphicFramePr>
            <a:graphicFrameLocks noGrp="1"/>
          </p:cNvGraphicFramePr>
          <p:nvPr>
            <p:extLst>
              <p:ext uri="{D42A27DB-BD31-4B8C-83A1-F6EECF244321}">
                <p14:modId xmlns:p14="http://schemas.microsoft.com/office/powerpoint/2010/main" val="1309668646"/>
              </p:ext>
            </p:extLst>
          </p:nvPr>
        </p:nvGraphicFramePr>
        <p:xfrm>
          <a:off x="497608" y="983226"/>
          <a:ext cx="11196780" cy="5270089"/>
        </p:xfrm>
        <a:graphic>
          <a:graphicData uri="http://schemas.openxmlformats.org/drawingml/2006/table">
            <a:tbl>
              <a:tblPr>
                <a:tableStyleId>{073A0DAA-6AF3-43AB-8588-CEC1D06C72B9}</a:tableStyleId>
              </a:tblPr>
              <a:tblGrid>
                <a:gridCol w="1866130">
                  <a:extLst>
                    <a:ext uri="{9D8B030D-6E8A-4147-A177-3AD203B41FA5}">
                      <a16:colId xmlns:a16="http://schemas.microsoft.com/office/drawing/2014/main" val="502748909"/>
                    </a:ext>
                  </a:extLst>
                </a:gridCol>
                <a:gridCol w="1866130">
                  <a:extLst>
                    <a:ext uri="{9D8B030D-6E8A-4147-A177-3AD203B41FA5}">
                      <a16:colId xmlns:a16="http://schemas.microsoft.com/office/drawing/2014/main" val="2193687945"/>
                    </a:ext>
                  </a:extLst>
                </a:gridCol>
                <a:gridCol w="1866130">
                  <a:extLst>
                    <a:ext uri="{9D8B030D-6E8A-4147-A177-3AD203B41FA5}">
                      <a16:colId xmlns:a16="http://schemas.microsoft.com/office/drawing/2014/main" val="1622844346"/>
                    </a:ext>
                  </a:extLst>
                </a:gridCol>
                <a:gridCol w="1866130">
                  <a:extLst>
                    <a:ext uri="{9D8B030D-6E8A-4147-A177-3AD203B41FA5}">
                      <a16:colId xmlns:a16="http://schemas.microsoft.com/office/drawing/2014/main" val="3767884566"/>
                    </a:ext>
                  </a:extLst>
                </a:gridCol>
                <a:gridCol w="1866130">
                  <a:extLst>
                    <a:ext uri="{9D8B030D-6E8A-4147-A177-3AD203B41FA5}">
                      <a16:colId xmlns:a16="http://schemas.microsoft.com/office/drawing/2014/main" val="3052768701"/>
                    </a:ext>
                  </a:extLst>
                </a:gridCol>
                <a:gridCol w="1866130">
                  <a:extLst>
                    <a:ext uri="{9D8B030D-6E8A-4147-A177-3AD203B41FA5}">
                      <a16:colId xmlns:a16="http://schemas.microsoft.com/office/drawing/2014/main" val="997040840"/>
                    </a:ext>
                  </a:extLst>
                </a:gridCol>
              </a:tblGrid>
              <a:tr h="579315">
                <a:tc>
                  <a:txBody>
                    <a:bodyPr/>
                    <a:lstStyle/>
                    <a:p>
                      <a:pPr algn="ctr">
                        <a:buNone/>
                      </a:pPr>
                      <a:r>
                        <a:rPr lang="en-IN" sz="1400" b="1" dirty="0"/>
                        <a:t>Framework</a:t>
                      </a:r>
                      <a:endParaRPr lang="en-IN" sz="1400" dirty="0">
                        <a:latin typeface="Inter"/>
                      </a:endParaRPr>
                    </a:p>
                  </a:txBody>
                  <a:tcPr marL="39017" marR="39017" marT="19508" marB="19508" anchor="ctr">
                    <a:solidFill>
                      <a:schemeClr val="tx2">
                        <a:lumMod val="20000"/>
                        <a:lumOff val="80000"/>
                      </a:schemeClr>
                    </a:solidFill>
                  </a:tcPr>
                </a:tc>
                <a:tc>
                  <a:txBody>
                    <a:bodyPr/>
                    <a:lstStyle/>
                    <a:p>
                      <a:pPr algn="ctr">
                        <a:buNone/>
                      </a:pPr>
                      <a:r>
                        <a:rPr lang="en-IN" sz="1400" b="1" dirty="0"/>
                        <a:t>Execution Model</a:t>
                      </a:r>
                      <a:endParaRPr lang="en-IN" sz="1400" dirty="0">
                        <a:latin typeface="Inter"/>
                      </a:endParaRPr>
                    </a:p>
                  </a:txBody>
                  <a:tcPr marL="39017" marR="39017" marT="19508" marB="19508" anchor="ctr">
                    <a:solidFill>
                      <a:schemeClr val="tx2">
                        <a:lumMod val="20000"/>
                        <a:lumOff val="80000"/>
                      </a:schemeClr>
                    </a:solidFill>
                  </a:tcPr>
                </a:tc>
                <a:tc>
                  <a:txBody>
                    <a:bodyPr/>
                    <a:lstStyle/>
                    <a:p>
                      <a:pPr algn="ctr">
                        <a:buNone/>
                      </a:pPr>
                      <a:r>
                        <a:rPr lang="en-IN" sz="1400" b="1"/>
                        <a:t>Core Strengths</a:t>
                      </a:r>
                      <a:endParaRPr lang="en-IN" sz="1400">
                        <a:latin typeface="Inter"/>
                      </a:endParaRPr>
                    </a:p>
                  </a:txBody>
                  <a:tcPr marL="39017" marR="39017" marT="19508" marB="19508" anchor="ctr">
                    <a:solidFill>
                      <a:schemeClr val="tx2">
                        <a:lumMod val="20000"/>
                        <a:lumOff val="80000"/>
                      </a:schemeClr>
                    </a:solidFill>
                  </a:tcPr>
                </a:tc>
                <a:tc>
                  <a:txBody>
                    <a:bodyPr/>
                    <a:lstStyle/>
                    <a:p>
                      <a:pPr algn="ctr">
                        <a:buNone/>
                      </a:pPr>
                      <a:r>
                        <a:rPr lang="en-IN" sz="1400" b="1" dirty="0"/>
                        <a:t>Key Limitations</a:t>
                      </a:r>
                      <a:endParaRPr lang="en-IN" sz="1400" dirty="0">
                        <a:latin typeface="Inter"/>
                      </a:endParaRPr>
                    </a:p>
                  </a:txBody>
                  <a:tcPr marL="39017" marR="39017" marT="19508" marB="19508" anchor="ctr">
                    <a:solidFill>
                      <a:schemeClr val="tx2">
                        <a:lumMod val="20000"/>
                        <a:lumOff val="80000"/>
                      </a:schemeClr>
                    </a:solidFill>
                  </a:tcPr>
                </a:tc>
                <a:tc>
                  <a:txBody>
                    <a:bodyPr/>
                    <a:lstStyle/>
                    <a:p>
                      <a:pPr algn="ctr">
                        <a:buNone/>
                      </a:pPr>
                      <a:r>
                        <a:rPr lang="en-IN" sz="1400" b="1"/>
                        <a:t>Ideal Use Cases</a:t>
                      </a:r>
                      <a:endParaRPr lang="en-IN" sz="1400">
                        <a:latin typeface="Inter"/>
                      </a:endParaRPr>
                    </a:p>
                  </a:txBody>
                  <a:tcPr marL="39017" marR="39017" marT="19508" marB="19508" anchor="ctr">
                    <a:solidFill>
                      <a:schemeClr val="tx2">
                        <a:lumMod val="20000"/>
                        <a:lumOff val="80000"/>
                      </a:schemeClr>
                    </a:solidFill>
                  </a:tcPr>
                </a:tc>
                <a:tc>
                  <a:txBody>
                    <a:bodyPr/>
                    <a:lstStyle/>
                    <a:p>
                      <a:pPr algn="ctr">
                        <a:buNone/>
                      </a:pPr>
                      <a:r>
                        <a:rPr lang="en-IN" sz="1400" b="1" dirty="0"/>
                        <a:t>Local / Offline</a:t>
                      </a:r>
                      <a:endParaRPr lang="en-IN" sz="1400" dirty="0">
                        <a:latin typeface="Inter"/>
                      </a:endParaRPr>
                    </a:p>
                  </a:txBody>
                  <a:tcPr marL="39017" marR="39017" marT="19508" marB="19508" anchor="ctr">
                    <a:solidFill>
                      <a:schemeClr val="tx2">
                        <a:lumMod val="20000"/>
                        <a:lumOff val="80000"/>
                      </a:schemeClr>
                    </a:solidFill>
                  </a:tcPr>
                </a:tc>
                <a:extLst>
                  <a:ext uri="{0D108BD9-81ED-4DB2-BD59-A6C34878D82A}">
                    <a16:rowId xmlns:a16="http://schemas.microsoft.com/office/drawing/2014/main" val="4216016752"/>
                  </a:ext>
                </a:extLst>
              </a:tr>
              <a:tr h="1362362">
                <a:tc>
                  <a:txBody>
                    <a:bodyPr/>
                    <a:lstStyle/>
                    <a:p>
                      <a:pPr algn="ctr">
                        <a:buNone/>
                      </a:pPr>
                      <a:r>
                        <a:rPr lang="en-IN" sz="1400" b="1" dirty="0" err="1"/>
                        <a:t>LangChain</a:t>
                      </a:r>
                      <a:r>
                        <a:rPr lang="en-IN" sz="1400" b="1" dirty="0"/>
                        <a:t> [7]</a:t>
                      </a:r>
                      <a:endParaRPr lang="en-IN" sz="1400" dirty="0">
                        <a:latin typeface="Inter"/>
                      </a:endParaRPr>
                    </a:p>
                  </a:txBody>
                  <a:tcPr marL="39017" marR="39017" marT="19508" marB="19508" anchor="ctr">
                    <a:solidFill>
                      <a:schemeClr val="accent1">
                        <a:lumMod val="20000"/>
                        <a:lumOff val="80000"/>
                      </a:schemeClr>
                    </a:solidFill>
                  </a:tcPr>
                </a:tc>
                <a:tc>
                  <a:txBody>
                    <a:bodyPr/>
                    <a:lstStyle/>
                    <a:p>
                      <a:pPr algn="ctr">
                        <a:buNone/>
                      </a:pPr>
                      <a:r>
                        <a:rPr lang="en-IN" sz="1400" dirty="0"/>
                        <a:t>Linear chains &amp; tool pipelines</a:t>
                      </a:r>
                      <a:endParaRPr lang="en-IN" sz="1400" dirty="0">
                        <a:latin typeface="Inter"/>
                      </a:endParaRPr>
                    </a:p>
                  </a:txBody>
                  <a:tcPr marL="39017" marR="39017" marT="19508" marB="19508" anchor="ctr"/>
                </a:tc>
                <a:tc>
                  <a:txBody>
                    <a:bodyPr/>
                    <a:lstStyle/>
                    <a:p>
                      <a:pPr algn="ctr">
                        <a:buNone/>
                      </a:pPr>
                      <a:r>
                        <a:rPr lang="en-IN" sz="1400" dirty="0"/>
                        <a:t>Large integration ecosystem; RAG &amp; tool abstraction; rapid development</a:t>
                      </a:r>
                      <a:endParaRPr lang="en-IN" sz="1400" dirty="0">
                        <a:latin typeface="Inter"/>
                      </a:endParaRPr>
                    </a:p>
                  </a:txBody>
                  <a:tcPr marL="39017" marR="39017" marT="19508" marB="19508" anchor="ctr"/>
                </a:tc>
                <a:tc>
                  <a:txBody>
                    <a:bodyPr/>
                    <a:lstStyle/>
                    <a:p>
                      <a:pPr algn="ctr">
                        <a:buNone/>
                      </a:pPr>
                      <a:r>
                        <a:rPr lang="en-IN" sz="1400"/>
                        <a:t>High abstraction; limited control over complex loops; state management can become cumbersome</a:t>
                      </a:r>
                      <a:endParaRPr lang="en-IN" sz="1400">
                        <a:latin typeface="Inter"/>
                      </a:endParaRPr>
                    </a:p>
                  </a:txBody>
                  <a:tcPr marL="39017" marR="39017" marT="19508" marB="19508" anchor="ctr"/>
                </a:tc>
                <a:tc>
                  <a:txBody>
                    <a:bodyPr/>
                    <a:lstStyle/>
                    <a:p>
                      <a:pPr algn="ctr">
                        <a:buNone/>
                      </a:pPr>
                      <a:r>
                        <a:rPr lang="en-IN" sz="1400"/>
                        <a:t>RAG, Q&amp;A, tool-based LLM apps</a:t>
                      </a:r>
                      <a:endParaRPr lang="en-IN" sz="1400">
                        <a:latin typeface="Inter"/>
                      </a:endParaRPr>
                    </a:p>
                  </a:txBody>
                  <a:tcPr marL="39017" marR="39017" marT="19508" marB="19508" anchor="ctr"/>
                </a:tc>
                <a:tc>
                  <a:txBody>
                    <a:bodyPr/>
                    <a:lstStyle/>
                    <a:p>
                      <a:pPr algn="ctr">
                        <a:buNone/>
                      </a:pPr>
                      <a:r>
                        <a:rPr lang="en-IN" sz="1400" dirty="0"/>
                        <a:t>⭐⭐⭐⭐⭐ Excellent — </a:t>
                      </a:r>
                      <a:r>
                        <a:rPr lang="en-IN" sz="1400" dirty="0" err="1"/>
                        <a:t>Ollama</a:t>
                      </a:r>
                      <a:r>
                        <a:rPr lang="en-IN" sz="1400" dirty="0"/>
                        <a:t>, llama.cpp, Chroma, </a:t>
                      </a:r>
                      <a:r>
                        <a:rPr lang="en-IN" sz="1400" dirty="0" err="1"/>
                        <a:t>Qdrant</a:t>
                      </a:r>
                      <a:endParaRPr lang="en-IN" sz="1400" dirty="0">
                        <a:latin typeface="Inter"/>
                      </a:endParaRPr>
                    </a:p>
                  </a:txBody>
                  <a:tcPr marL="39017" marR="39017" marT="19508" marB="19508" anchor="ctr"/>
                </a:tc>
                <a:extLst>
                  <a:ext uri="{0D108BD9-81ED-4DB2-BD59-A6C34878D82A}">
                    <a16:rowId xmlns:a16="http://schemas.microsoft.com/office/drawing/2014/main" val="2425478865"/>
                  </a:ext>
                </a:extLst>
              </a:tr>
              <a:tr h="983025">
                <a:tc>
                  <a:txBody>
                    <a:bodyPr/>
                    <a:lstStyle/>
                    <a:p>
                      <a:pPr algn="ctr">
                        <a:buNone/>
                      </a:pPr>
                      <a:r>
                        <a:rPr lang="en-IN" sz="1400" b="1" dirty="0" err="1"/>
                        <a:t>LangGraph</a:t>
                      </a:r>
                      <a:r>
                        <a:rPr lang="en-IN" sz="1400" b="1" dirty="0"/>
                        <a:t> [8]</a:t>
                      </a:r>
                      <a:endParaRPr lang="en-IN" sz="1400" dirty="0">
                        <a:latin typeface="Inter"/>
                      </a:endParaRPr>
                    </a:p>
                  </a:txBody>
                  <a:tcPr marL="39017" marR="39017" marT="19508" marB="19508" anchor="ctr">
                    <a:solidFill>
                      <a:schemeClr val="accent1">
                        <a:lumMod val="20000"/>
                        <a:lumOff val="80000"/>
                      </a:schemeClr>
                    </a:solidFill>
                  </a:tcPr>
                </a:tc>
                <a:tc>
                  <a:txBody>
                    <a:bodyPr/>
                    <a:lstStyle/>
                    <a:p>
                      <a:pPr algn="ctr">
                        <a:buNone/>
                      </a:pPr>
                      <a:r>
                        <a:rPr lang="en-IN" sz="1400" dirty="0"/>
                        <a:t>Stateful graph with cycles &amp; conditional flows</a:t>
                      </a:r>
                      <a:endParaRPr lang="en-IN" sz="1400" dirty="0">
                        <a:latin typeface="Inter"/>
                      </a:endParaRPr>
                    </a:p>
                  </a:txBody>
                  <a:tcPr marL="39017" marR="39017" marT="19508" marB="19508" anchor="ctr"/>
                </a:tc>
                <a:tc>
                  <a:txBody>
                    <a:bodyPr/>
                    <a:lstStyle/>
                    <a:p>
                      <a:pPr algn="ctr">
                        <a:buNone/>
                      </a:pPr>
                      <a:r>
                        <a:rPr lang="en-IN" sz="1400" dirty="0"/>
                        <a:t>Fine-grained state control; checkpointing; fault tolerance; complex loops</a:t>
                      </a:r>
                      <a:endParaRPr lang="en-IN" sz="1400" dirty="0">
                        <a:latin typeface="Inter"/>
                      </a:endParaRPr>
                    </a:p>
                  </a:txBody>
                  <a:tcPr marL="39017" marR="39017" marT="19508" marB="19508" anchor="ctr"/>
                </a:tc>
                <a:tc>
                  <a:txBody>
                    <a:bodyPr/>
                    <a:lstStyle/>
                    <a:p>
                      <a:pPr algn="ctr">
                        <a:buNone/>
                      </a:pPr>
                      <a:r>
                        <a:rPr lang="en-IN" sz="1400"/>
                        <a:t>Steeper learning curve; more setup; explicit state management</a:t>
                      </a:r>
                      <a:endParaRPr lang="en-IN" sz="1400">
                        <a:latin typeface="Inter"/>
                      </a:endParaRPr>
                    </a:p>
                  </a:txBody>
                  <a:tcPr marL="39017" marR="39017" marT="19508" marB="19508" anchor="ctr"/>
                </a:tc>
                <a:tc>
                  <a:txBody>
                    <a:bodyPr/>
                    <a:lstStyle/>
                    <a:p>
                      <a:pPr algn="ctr">
                        <a:buNone/>
                      </a:pPr>
                      <a:r>
                        <a:rPr lang="en-IN" sz="1400" b="0" dirty="0"/>
                        <a:t>Complex agents, multi-agent systems, SDLC automation, HITL</a:t>
                      </a:r>
                      <a:endParaRPr lang="en-IN" sz="1400" b="0" dirty="0">
                        <a:latin typeface="Inter"/>
                      </a:endParaRPr>
                    </a:p>
                  </a:txBody>
                  <a:tcPr marL="39017" marR="39017" marT="19508" marB="19508" anchor="ctr"/>
                </a:tc>
                <a:tc>
                  <a:txBody>
                    <a:bodyPr/>
                    <a:lstStyle/>
                    <a:p>
                      <a:pPr algn="ctr">
                        <a:buNone/>
                      </a:pPr>
                      <a:r>
                        <a:rPr lang="en-IN" sz="1400"/>
                        <a:t>⭐⭐⭐⭐⭐ Excellent — self-hosted models &amp; local stores</a:t>
                      </a:r>
                      <a:endParaRPr lang="en-IN" sz="1400">
                        <a:latin typeface="Inter"/>
                      </a:endParaRPr>
                    </a:p>
                  </a:txBody>
                  <a:tcPr marL="39017" marR="39017" marT="19508" marB="19508" anchor="ctr"/>
                </a:tc>
                <a:extLst>
                  <a:ext uri="{0D108BD9-81ED-4DB2-BD59-A6C34878D82A}">
                    <a16:rowId xmlns:a16="http://schemas.microsoft.com/office/drawing/2014/main" val="2437761738"/>
                  </a:ext>
                </a:extLst>
              </a:tr>
              <a:tr h="983025">
                <a:tc>
                  <a:txBody>
                    <a:bodyPr/>
                    <a:lstStyle/>
                    <a:p>
                      <a:pPr algn="ctr">
                        <a:buNone/>
                      </a:pPr>
                      <a:r>
                        <a:rPr lang="en-IN" sz="1400" b="1" dirty="0" err="1"/>
                        <a:t>CrewAI</a:t>
                      </a:r>
                      <a:r>
                        <a:rPr lang="en-IN" sz="1400" b="1" dirty="0"/>
                        <a:t> [9]</a:t>
                      </a:r>
                      <a:endParaRPr lang="en-IN" sz="1400" dirty="0">
                        <a:latin typeface="Inter"/>
                      </a:endParaRPr>
                    </a:p>
                  </a:txBody>
                  <a:tcPr marL="39017" marR="39017" marT="19508" marB="19508" anchor="ctr">
                    <a:solidFill>
                      <a:schemeClr val="accent1">
                        <a:lumMod val="20000"/>
                        <a:lumOff val="80000"/>
                      </a:schemeClr>
                    </a:solidFill>
                  </a:tcPr>
                </a:tc>
                <a:tc>
                  <a:txBody>
                    <a:bodyPr/>
                    <a:lstStyle/>
                    <a:p>
                      <a:pPr algn="ctr">
                        <a:buNone/>
                      </a:pPr>
                      <a:r>
                        <a:rPr lang="en-IN" sz="1400" dirty="0"/>
                        <a:t>Role-based sequential / hierarchical teams</a:t>
                      </a:r>
                      <a:endParaRPr lang="en-IN" sz="1400" dirty="0">
                        <a:latin typeface="Inter"/>
                      </a:endParaRPr>
                    </a:p>
                  </a:txBody>
                  <a:tcPr marL="39017" marR="39017" marT="19508" marB="19508" anchor="ctr"/>
                </a:tc>
                <a:tc>
                  <a:txBody>
                    <a:bodyPr/>
                    <a:lstStyle/>
                    <a:p>
                      <a:pPr algn="ctr">
                        <a:buNone/>
                      </a:pPr>
                      <a:r>
                        <a:rPr lang="en-IN" sz="1400" dirty="0"/>
                        <a:t>Simple agent-role abstraction; delegation; fast multi-agent prototyping</a:t>
                      </a:r>
                      <a:endParaRPr lang="en-IN" sz="1400" dirty="0">
                        <a:latin typeface="Inter"/>
                      </a:endParaRPr>
                    </a:p>
                  </a:txBody>
                  <a:tcPr marL="39017" marR="39017" marT="19508" marB="19508" anchor="ctr"/>
                </a:tc>
                <a:tc>
                  <a:txBody>
                    <a:bodyPr/>
                    <a:lstStyle/>
                    <a:p>
                      <a:pPr algn="ctr">
                        <a:buNone/>
                      </a:pPr>
                      <a:r>
                        <a:rPr lang="en-IN" sz="1400" dirty="0"/>
                        <a:t>Less flexible for highly dynamic workflows; coordination overhead</a:t>
                      </a:r>
                      <a:endParaRPr lang="en-IN" sz="1400" dirty="0">
                        <a:latin typeface="Inter"/>
                      </a:endParaRPr>
                    </a:p>
                  </a:txBody>
                  <a:tcPr marL="39017" marR="39017" marT="19508" marB="19508" anchor="ctr"/>
                </a:tc>
                <a:tc>
                  <a:txBody>
                    <a:bodyPr/>
                    <a:lstStyle/>
                    <a:p>
                      <a:pPr algn="ctr">
                        <a:buNone/>
                      </a:pPr>
                      <a:r>
                        <a:rPr lang="en-IN" sz="1400"/>
                        <a:t>Multi-agent research, content teams, structured workflows</a:t>
                      </a:r>
                      <a:endParaRPr lang="en-IN" sz="1400">
                        <a:latin typeface="Inter"/>
                      </a:endParaRPr>
                    </a:p>
                  </a:txBody>
                  <a:tcPr marL="39017" marR="39017" marT="19508" marB="19508" anchor="ctr"/>
                </a:tc>
                <a:tc>
                  <a:txBody>
                    <a:bodyPr/>
                    <a:lstStyle/>
                    <a:p>
                      <a:pPr algn="ctr">
                        <a:buNone/>
                      </a:pPr>
                      <a:r>
                        <a:rPr lang="en-IN" sz="1400"/>
                        <a:t>⭐⭐⭐⭐ Strong — Ollama, LiteLLM, vLLM</a:t>
                      </a:r>
                      <a:endParaRPr lang="en-IN" sz="1400">
                        <a:latin typeface="Inter"/>
                      </a:endParaRPr>
                    </a:p>
                  </a:txBody>
                  <a:tcPr marL="39017" marR="39017" marT="19508" marB="19508" anchor="ctr"/>
                </a:tc>
                <a:extLst>
                  <a:ext uri="{0D108BD9-81ED-4DB2-BD59-A6C34878D82A}">
                    <a16:rowId xmlns:a16="http://schemas.microsoft.com/office/drawing/2014/main" val="112068229"/>
                  </a:ext>
                </a:extLst>
              </a:tr>
              <a:tr h="1362362">
                <a:tc>
                  <a:txBody>
                    <a:bodyPr/>
                    <a:lstStyle/>
                    <a:p>
                      <a:pPr algn="ctr">
                        <a:buNone/>
                      </a:pPr>
                      <a:r>
                        <a:rPr lang="en-IN" sz="1400" b="1" dirty="0"/>
                        <a:t>OpenAI Agents SDK [10]</a:t>
                      </a:r>
                      <a:endParaRPr lang="en-IN" sz="1400" dirty="0">
                        <a:latin typeface="Inter"/>
                      </a:endParaRPr>
                    </a:p>
                  </a:txBody>
                  <a:tcPr marL="39017" marR="39017" marT="19508" marB="19508" anchor="ctr">
                    <a:solidFill>
                      <a:schemeClr val="accent1">
                        <a:lumMod val="20000"/>
                        <a:lumOff val="80000"/>
                      </a:schemeClr>
                    </a:solidFill>
                  </a:tcPr>
                </a:tc>
                <a:tc>
                  <a:txBody>
                    <a:bodyPr/>
                    <a:lstStyle/>
                    <a:p>
                      <a:pPr algn="ctr">
                        <a:buNone/>
                      </a:pPr>
                      <a:r>
                        <a:rPr lang="en-IN" sz="1400" dirty="0"/>
                        <a:t>Handoffs, tools &amp; guardrail-driven execution</a:t>
                      </a:r>
                      <a:endParaRPr lang="en-IN" sz="1400" dirty="0">
                        <a:latin typeface="Inter"/>
                      </a:endParaRPr>
                    </a:p>
                  </a:txBody>
                  <a:tcPr marL="39017" marR="39017" marT="19508" marB="19508" anchor="ctr"/>
                </a:tc>
                <a:tc>
                  <a:txBody>
                    <a:bodyPr/>
                    <a:lstStyle/>
                    <a:p>
                      <a:pPr algn="ctr">
                        <a:buNone/>
                      </a:pPr>
                      <a:r>
                        <a:rPr lang="en-IN" sz="1400"/>
                        <a:t>Simple abstractions; guardrails; tracing; agent handoffs; sandbox support</a:t>
                      </a:r>
                      <a:endParaRPr lang="en-IN" sz="1400">
                        <a:latin typeface="Inter"/>
                      </a:endParaRPr>
                    </a:p>
                  </a:txBody>
                  <a:tcPr marL="39017" marR="39017" marT="19508" marB="19508" anchor="ctr"/>
                </a:tc>
                <a:tc>
                  <a:txBody>
                    <a:bodyPr/>
                    <a:lstStyle/>
                    <a:p>
                      <a:pPr algn="ctr">
                        <a:buNone/>
                      </a:pPr>
                      <a:r>
                        <a:rPr lang="en-IN" sz="1400"/>
                        <a:t>Limited built-in long-term memory/graph persistence; ecosystem-oriented conventions</a:t>
                      </a:r>
                      <a:endParaRPr lang="en-IN" sz="1400">
                        <a:latin typeface="Inter"/>
                      </a:endParaRPr>
                    </a:p>
                  </a:txBody>
                  <a:tcPr marL="39017" marR="39017" marT="19508" marB="19508" anchor="ctr"/>
                </a:tc>
                <a:tc>
                  <a:txBody>
                    <a:bodyPr/>
                    <a:lstStyle/>
                    <a:p>
                      <a:pPr algn="ctr">
                        <a:buNone/>
                      </a:pPr>
                      <a:r>
                        <a:rPr lang="en-IN" sz="1400" dirty="0"/>
                        <a:t>Multi-agent services, real-time/voice agents, sandboxed coding</a:t>
                      </a:r>
                      <a:endParaRPr lang="en-IN" sz="1400" dirty="0">
                        <a:latin typeface="Inter"/>
                      </a:endParaRPr>
                    </a:p>
                  </a:txBody>
                  <a:tcPr marL="39017" marR="39017" marT="19508" marB="19508" anchor="ctr"/>
                </a:tc>
                <a:tc>
                  <a:txBody>
                    <a:bodyPr/>
                    <a:lstStyle/>
                    <a:p>
                      <a:pPr algn="ctr">
                        <a:buNone/>
                      </a:pPr>
                      <a:r>
                        <a:rPr lang="en-IN" sz="1400" dirty="0"/>
                        <a:t>⭐⭐⭐⭐ Very Good — local models through compatible endpoints</a:t>
                      </a:r>
                      <a:endParaRPr lang="en-IN" sz="1400" dirty="0">
                        <a:latin typeface="Inter"/>
                      </a:endParaRPr>
                    </a:p>
                  </a:txBody>
                  <a:tcPr marL="39017" marR="39017" marT="19508" marB="19508" anchor="ctr"/>
                </a:tc>
                <a:extLst>
                  <a:ext uri="{0D108BD9-81ED-4DB2-BD59-A6C34878D82A}">
                    <a16:rowId xmlns:a16="http://schemas.microsoft.com/office/drawing/2014/main" val="779388183"/>
                  </a:ext>
                </a:extLst>
              </a:tr>
            </a:tbl>
          </a:graphicData>
        </a:graphic>
      </p:graphicFrame>
    </p:spTree>
    <p:extLst>
      <p:ext uri="{BB962C8B-B14F-4D97-AF65-F5344CB8AC3E}">
        <p14:creationId xmlns:p14="http://schemas.microsoft.com/office/powerpoint/2010/main" val="2767127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497610" y="1066723"/>
            <a:ext cx="11049000" cy="461665"/>
          </a:xfrm>
          <a:prstGeom prst="rect">
            <a:avLst/>
          </a:prstGeom>
          <a:noFill/>
        </p:spPr>
        <p:txBody>
          <a:bodyPr wrap="square" lIns="0" tIns="0" rIns="0" bIns="0" anchor="t">
            <a:spAutoFit/>
          </a:bodyPr>
          <a:lstStyle/>
          <a:p>
            <a:pPr algn="l"/>
            <a:r>
              <a:rPr sz="1500" b="0" i="0" u="none" dirty="0">
                <a:solidFill>
                  <a:srgbClr val="334155"/>
                </a:solidFill>
                <a:latin typeface="Inter"/>
              </a:rPr>
              <a:t>Deploying via offline models ensures data privacy. Model selection is based on VRAM footprint</a:t>
            </a:r>
            <a:r>
              <a:rPr lang="en-IN" sz="1500" dirty="0">
                <a:solidFill>
                  <a:srgbClr val="334155"/>
                </a:solidFill>
                <a:latin typeface="Inter"/>
              </a:rPr>
              <a:t>, T</a:t>
            </a:r>
            <a:r>
              <a:rPr sz="1500" b="0" i="0" u="none" dirty="0">
                <a:solidFill>
                  <a:srgbClr val="334155"/>
                </a:solidFill>
                <a:latin typeface="Inter"/>
              </a:rPr>
              <a:t>raining data freshness</a:t>
            </a:r>
            <a:r>
              <a:rPr lang="en-IN" sz="1500" b="0" i="0" u="none" dirty="0">
                <a:solidFill>
                  <a:srgbClr val="334155"/>
                </a:solidFill>
                <a:latin typeface="Inter"/>
              </a:rPr>
              <a:t>, Suitable for Agentic Operations</a:t>
            </a:r>
            <a:r>
              <a:rPr sz="1500" b="0" i="0" u="none" dirty="0">
                <a:solidFill>
                  <a:srgbClr val="334155"/>
                </a:solidFill>
                <a:latin typeface="Inter"/>
              </a:rPr>
              <a:t>.</a:t>
            </a:r>
          </a:p>
        </p:txBody>
      </p:sp>
      <p:sp>
        <p:nvSpPr>
          <p:cNvPr id="23" name="TextBox 22"/>
          <p:cNvSpPr txBox="1"/>
          <p:nvPr/>
        </p:nvSpPr>
        <p:spPr>
          <a:xfrm>
            <a:off x="497608" y="381159"/>
            <a:ext cx="11601450" cy="514350"/>
          </a:xfrm>
          <a:prstGeom prst="rect">
            <a:avLst/>
          </a:prstGeom>
          <a:noFill/>
        </p:spPr>
        <p:txBody>
          <a:bodyPr wrap="square" lIns="0" tIns="0" rIns="0" bIns="0" anchor="t">
            <a:spAutoFit/>
          </a:bodyPr>
          <a:lstStyle/>
          <a:p>
            <a:pPr algn="l"/>
            <a:r>
              <a:rPr sz="3300" b="1" i="0" u="none" dirty="0">
                <a:solidFill>
                  <a:srgbClr val="0F172A"/>
                </a:solidFill>
                <a:latin typeface="Inter"/>
              </a:rPr>
              <a:t>Local Offline </a:t>
            </a:r>
            <a:r>
              <a:rPr sz="3300" b="1" i="0" u="none" dirty="0">
                <a:solidFill>
                  <a:srgbClr val="2563EB"/>
                </a:solidFill>
                <a:latin typeface="Inter"/>
              </a:rPr>
              <a:t>Execution Strategy</a:t>
            </a:r>
          </a:p>
        </p:txBody>
      </p:sp>
      <p:sp>
        <p:nvSpPr>
          <p:cNvPr id="6" name="TextBox 5">
            <a:extLst>
              <a:ext uri="{FF2B5EF4-FFF2-40B4-BE49-F238E27FC236}">
                <a16:creationId xmlns:a16="http://schemas.microsoft.com/office/drawing/2014/main" id="{FDAF922B-4B4F-0F5C-4CFB-0E6D2F50B079}"/>
              </a:ext>
            </a:extLst>
          </p:cNvPr>
          <p:cNvSpPr txBox="1"/>
          <p:nvPr/>
        </p:nvSpPr>
        <p:spPr>
          <a:xfrm>
            <a:off x="497608" y="6280356"/>
            <a:ext cx="11049002" cy="261610"/>
          </a:xfrm>
          <a:prstGeom prst="rect">
            <a:avLst/>
          </a:prstGeom>
          <a:noFill/>
        </p:spPr>
        <p:txBody>
          <a:bodyPr wrap="square">
            <a:spAutoFit/>
          </a:bodyPr>
          <a:lstStyle/>
          <a:p>
            <a:r>
              <a:rPr lang="en-IN" sz="1100" b="1" dirty="0"/>
              <a:t>Source:</a:t>
            </a:r>
            <a:r>
              <a:rPr lang="en-IN" sz="1100" dirty="0"/>
              <a:t> </a:t>
            </a:r>
            <a:r>
              <a:rPr lang="en-IN" sz="1100" i="1" dirty="0"/>
              <a:t>Compiled from official model documentation and validated using publicly available implementation benchmarks and deployment experiences.</a:t>
            </a:r>
            <a:endParaRPr lang="en-IN" sz="1100" dirty="0"/>
          </a:p>
        </p:txBody>
      </p:sp>
      <p:graphicFrame>
        <p:nvGraphicFramePr>
          <p:cNvPr id="5" name="Table 4">
            <a:extLst>
              <a:ext uri="{FF2B5EF4-FFF2-40B4-BE49-F238E27FC236}">
                <a16:creationId xmlns:a16="http://schemas.microsoft.com/office/drawing/2014/main" id="{851DB9BA-45FF-9551-5E52-C0A16B12512F}"/>
              </a:ext>
            </a:extLst>
          </p:cNvPr>
          <p:cNvGraphicFramePr>
            <a:graphicFrameLocks noGrp="1"/>
          </p:cNvGraphicFramePr>
          <p:nvPr>
            <p:extLst>
              <p:ext uri="{D42A27DB-BD31-4B8C-83A1-F6EECF244321}">
                <p14:modId xmlns:p14="http://schemas.microsoft.com/office/powerpoint/2010/main" val="2777494437"/>
              </p:ext>
            </p:extLst>
          </p:nvPr>
        </p:nvGraphicFramePr>
        <p:xfrm>
          <a:off x="497609" y="1779639"/>
          <a:ext cx="10750495" cy="4329503"/>
        </p:xfrm>
        <a:graphic>
          <a:graphicData uri="http://schemas.openxmlformats.org/drawingml/2006/table">
            <a:tbl>
              <a:tblPr>
                <a:tableStyleId>{073A0DAA-6AF3-43AB-8588-CEC1D06C72B9}</a:tableStyleId>
              </a:tblPr>
              <a:tblGrid>
                <a:gridCol w="2958360">
                  <a:extLst>
                    <a:ext uri="{9D8B030D-6E8A-4147-A177-3AD203B41FA5}">
                      <a16:colId xmlns:a16="http://schemas.microsoft.com/office/drawing/2014/main" val="1903789091"/>
                    </a:ext>
                  </a:extLst>
                </a:gridCol>
                <a:gridCol w="2416887">
                  <a:extLst>
                    <a:ext uri="{9D8B030D-6E8A-4147-A177-3AD203B41FA5}">
                      <a16:colId xmlns:a16="http://schemas.microsoft.com/office/drawing/2014/main" val="840278944"/>
                    </a:ext>
                  </a:extLst>
                </a:gridCol>
                <a:gridCol w="2687624">
                  <a:extLst>
                    <a:ext uri="{9D8B030D-6E8A-4147-A177-3AD203B41FA5}">
                      <a16:colId xmlns:a16="http://schemas.microsoft.com/office/drawing/2014/main" val="766330318"/>
                    </a:ext>
                  </a:extLst>
                </a:gridCol>
                <a:gridCol w="2687624">
                  <a:extLst>
                    <a:ext uri="{9D8B030D-6E8A-4147-A177-3AD203B41FA5}">
                      <a16:colId xmlns:a16="http://schemas.microsoft.com/office/drawing/2014/main" val="3519205786"/>
                    </a:ext>
                  </a:extLst>
                </a:gridCol>
              </a:tblGrid>
              <a:tr h="505108">
                <a:tc>
                  <a:txBody>
                    <a:bodyPr/>
                    <a:lstStyle/>
                    <a:p>
                      <a:pPr algn="ctr">
                        <a:buNone/>
                      </a:pPr>
                      <a:r>
                        <a:rPr lang="en-IN" sz="1500" b="1" dirty="0"/>
                        <a:t>Models</a:t>
                      </a:r>
                      <a:endParaRPr lang="en-IN" sz="1500" dirty="0"/>
                    </a:p>
                  </a:txBody>
                  <a:tcPr marL="75433" marR="75433" marT="37716" marB="37716" anchor="ctr">
                    <a:solidFill>
                      <a:schemeClr val="tx2">
                        <a:lumMod val="40000"/>
                        <a:lumOff val="60000"/>
                      </a:schemeClr>
                    </a:solidFill>
                  </a:tcPr>
                </a:tc>
                <a:tc>
                  <a:txBody>
                    <a:bodyPr/>
                    <a:lstStyle/>
                    <a:p>
                      <a:pPr algn="ctr">
                        <a:buNone/>
                      </a:pPr>
                      <a:r>
                        <a:rPr lang="en-IN" sz="1500" b="1"/>
                        <a:t>Approx. VRAM</a:t>
                      </a:r>
                      <a:endParaRPr lang="en-IN" sz="1500"/>
                    </a:p>
                  </a:txBody>
                  <a:tcPr marL="75433" marR="75433" marT="37716" marB="37716" anchor="ctr">
                    <a:solidFill>
                      <a:schemeClr val="tx2">
                        <a:lumMod val="40000"/>
                        <a:lumOff val="60000"/>
                      </a:schemeClr>
                    </a:solidFill>
                  </a:tcPr>
                </a:tc>
                <a:tc>
                  <a:txBody>
                    <a:bodyPr/>
                    <a:lstStyle/>
                    <a:p>
                      <a:pPr algn="ctr">
                        <a:buNone/>
                      </a:pPr>
                      <a:r>
                        <a:rPr lang="en-IN" sz="1500" b="1"/>
                        <a:t>Context Window</a:t>
                      </a:r>
                      <a:endParaRPr lang="en-IN" sz="1500"/>
                    </a:p>
                  </a:txBody>
                  <a:tcPr marL="75433" marR="75433" marT="37716" marB="37716" anchor="ctr">
                    <a:solidFill>
                      <a:schemeClr val="tx2">
                        <a:lumMod val="40000"/>
                        <a:lumOff val="60000"/>
                      </a:schemeClr>
                    </a:solidFill>
                  </a:tcPr>
                </a:tc>
                <a:tc>
                  <a:txBody>
                    <a:bodyPr/>
                    <a:lstStyle/>
                    <a:p>
                      <a:pPr algn="ctr">
                        <a:buNone/>
                      </a:pPr>
                      <a:r>
                        <a:rPr lang="en-IN" sz="1500" b="1" dirty="0"/>
                        <a:t>Best Use Case</a:t>
                      </a:r>
                      <a:endParaRPr lang="en-IN" sz="1500" dirty="0"/>
                    </a:p>
                  </a:txBody>
                  <a:tcPr marL="75433" marR="75433" marT="37716" marB="37716" anchor="ctr">
                    <a:solidFill>
                      <a:schemeClr val="tx2">
                        <a:lumMod val="40000"/>
                        <a:lumOff val="60000"/>
                      </a:schemeClr>
                    </a:solidFill>
                  </a:tcPr>
                </a:tc>
                <a:extLst>
                  <a:ext uri="{0D108BD9-81ED-4DB2-BD59-A6C34878D82A}">
                    <a16:rowId xmlns:a16="http://schemas.microsoft.com/office/drawing/2014/main" val="1253580576"/>
                  </a:ext>
                </a:extLst>
              </a:tr>
              <a:tr h="721584">
                <a:tc>
                  <a:txBody>
                    <a:bodyPr/>
                    <a:lstStyle/>
                    <a:p>
                      <a:pPr algn="ctr">
                        <a:buNone/>
                      </a:pPr>
                      <a:r>
                        <a:rPr lang="en-IN" sz="1500" b="1"/>
                        <a:t>Mistral Small 3.2 24B</a:t>
                      </a:r>
                      <a:endParaRPr lang="en-IN" sz="1500"/>
                    </a:p>
                  </a:txBody>
                  <a:tcPr marL="75433" marR="75433" marT="37716" marB="37716" anchor="ctr">
                    <a:solidFill>
                      <a:schemeClr val="accent1">
                        <a:lumMod val="20000"/>
                        <a:lumOff val="80000"/>
                      </a:schemeClr>
                    </a:solidFill>
                  </a:tcPr>
                </a:tc>
                <a:tc>
                  <a:txBody>
                    <a:bodyPr/>
                    <a:lstStyle/>
                    <a:p>
                      <a:pPr algn="ctr">
                        <a:buNone/>
                      </a:pPr>
                      <a:r>
                        <a:rPr lang="en-IN" sz="1500"/>
                        <a:t>~15–17 GB</a:t>
                      </a:r>
                    </a:p>
                  </a:txBody>
                  <a:tcPr marL="75433" marR="75433" marT="37716" marB="37716" anchor="ctr"/>
                </a:tc>
                <a:tc>
                  <a:txBody>
                    <a:bodyPr/>
                    <a:lstStyle/>
                    <a:p>
                      <a:pPr algn="ctr">
                        <a:buNone/>
                      </a:pPr>
                      <a:r>
                        <a:rPr lang="en-IN" sz="1500" b="1" dirty="0"/>
                        <a:t>128K</a:t>
                      </a:r>
                      <a:endParaRPr lang="en-IN" sz="1500" dirty="0"/>
                    </a:p>
                  </a:txBody>
                  <a:tcPr marL="75433" marR="75433" marT="37716" marB="37716" anchor="ctr"/>
                </a:tc>
                <a:tc>
                  <a:txBody>
                    <a:bodyPr/>
                    <a:lstStyle/>
                    <a:p>
                      <a:pPr algn="ctr">
                        <a:buNone/>
                      </a:pPr>
                      <a:r>
                        <a:rPr lang="en-IN" sz="1500"/>
                        <a:t>General agents, planning, tool use</a:t>
                      </a:r>
                    </a:p>
                  </a:txBody>
                  <a:tcPr marL="75433" marR="75433" marT="37716" marB="37716" anchor="ctr"/>
                </a:tc>
                <a:extLst>
                  <a:ext uri="{0D108BD9-81ED-4DB2-BD59-A6C34878D82A}">
                    <a16:rowId xmlns:a16="http://schemas.microsoft.com/office/drawing/2014/main" val="3134654903"/>
                  </a:ext>
                </a:extLst>
              </a:tr>
              <a:tr h="721584">
                <a:tc>
                  <a:txBody>
                    <a:bodyPr/>
                    <a:lstStyle/>
                    <a:p>
                      <a:pPr algn="ctr">
                        <a:buNone/>
                      </a:pPr>
                      <a:r>
                        <a:rPr lang="en-IN" sz="1500" b="1"/>
                        <a:t>Qwen3 30B-A3B</a:t>
                      </a:r>
                      <a:endParaRPr lang="en-IN" sz="1500"/>
                    </a:p>
                  </a:txBody>
                  <a:tcPr marL="75433" marR="75433" marT="37716" marB="37716" anchor="ctr">
                    <a:solidFill>
                      <a:schemeClr val="accent1">
                        <a:lumMod val="20000"/>
                        <a:lumOff val="80000"/>
                      </a:schemeClr>
                    </a:solidFill>
                  </a:tcPr>
                </a:tc>
                <a:tc>
                  <a:txBody>
                    <a:bodyPr/>
                    <a:lstStyle/>
                    <a:p>
                      <a:pPr algn="ctr">
                        <a:buNone/>
                      </a:pPr>
                      <a:r>
                        <a:rPr lang="en-IN" sz="1500"/>
                        <a:t>~18–20 GB</a:t>
                      </a:r>
                    </a:p>
                  </a:txBody>
                  <a:tcPr marL="75433" marR="75433" marT="37716" marB="37716" anchor="ctr"/>
                </a:tc>
                <a:tc>
                  <a:txBody>
                    <a:bodyPr/>
                    <a:lstStyle/>
                    <a:p>
                      <a:pPr algn="ctr">
                        <a:buNone/>
                      </a:pPr>
                      <a:r>
                        <a:rPr lang="en-IN" sz="1500" b="1" dirty="0"/>
                        <a:t>32K</a:t>
                      </a:r>
                      <a:endParaRPr lang="en-IN" sz="1500" dirty="0"/>
                    </a:p>
                  </a:txBody>
                  <a:tcPr marL="75433" marR="75433" marT="37716" marB="37716" anchor="ctr"/>
                </a:tc>
                <a:tc>
                  <a:txBody>
                    <a:bodyPr/>
                    <a:lstStyle/>
                    <a:p>
                      <a:pPr algn="ctr">
                        <a:buNone/>
                      </a:pPr>
                      <a:r>
                        <a:rPr lang="en-IN" sz="1500" b="1" dirty="0"/>
                        <a:t>Orchestrator, planning, reasoning</a:t>
                      </a:r>
                      <a:endParaRPr lang="en-IN" sz="1500" dirty="0"/>
                    </a:p>
                  </a:txBody>
                  <a:tcPr marL="75433" marR="75433" marT="37716" marB="37716" anchor="ctr"/>
                </a:tc>
                <a:extLst>
                  <a:ext uri="{0D108BD9-81ED-4DB2-BD59-A6C34878D82A}">
                    <a16:rowId xmlns:a16="http://schemas.microsoft.com/office/drawing/2014/main" val="4211334029"/>
                  </a:ext>
                </a:extLst>
              </a:tr>
              <a:tr h="721584">
                <a:tc>
                  <a:txBody>
                    <a:bodyPr/>
                    <a:lstStyle/>
                    <a:p>
                      <a:pPr algn="ctr">
                        <a:buNone/>
                      </a:pPr>
                      <a:r>
                        <a:rPr lang="en-IN" sz="1500" b="1"/>
                        <a:t>Qwen2.5-Coder 32B</a:t>
                      </a:r>
                      <a:endParaRPr lang="en-IN" sz="1500"/>
                    </a:p>
                  </a:txBody>
                  <a:tcPr marL="75433" marR="75433" marT="37716" marB="37716" anchor="ctr">
                    <a:solidFill>
                      <a:schemeClr val="accent1">
                        <a:lumMod val="20000"/>
                        <a:lumOff val="80000"/>
                      </a:schemeClr>
                    </a:solidFill>
                  </a:tcPr>
                </a:tc>
                <a:tc>
                  <a:txBody>
                    <a:bodyPr/>
                    <a:lstStyle/>
                    <a:p>
                      <a:pPr algn="ctr">
                        <a:buNone/>
                      </a:pPr>
                      <a:r>
                        <a:rPr lang="en-IN" sz="1500"/>
                        <a:t>~18–20 GB</a:t>
                      </a:r>
                    </a:p>
                  </a:txBody>
                  <a:tcPr marL="75433" marR="75433" marT="37716" marB="37716" anchor="ctr"/>
                </a:tc>
                <a:tc>
                  <a:txBody>
                    <a:bodyPr/>
                    <a:lstStyle/>
                    <a:p>
                      <a:pPr algn="ctr">
                        <a:buNone/>
                      </a:pPr>
                      <a:r>
                        <a:rPr lang="en-IN" sz="1500" b="1" dirty="0"/>
                        <a:t>128K</a:t>
                      </a:r>
                      <a:endParaRPr lang="en-IN" sz="1500" dirty="0"/>
                    </a:p>
                  </a:txBody>
                  <a:tcPr marL="75433" marR="75433" marT="37716" marB="37716" anchor="ctr"/>
                </a:tc>
                <a:tc>
                  <a:txBody>
                    <a:bodyPr/>
                    <a:lstStyle/>
                    <a:p>
                      <a:pPr algn="ctr">
                        <a:buNone/>
                      </a:pPr>
                      <a:r>
                        <a:rPr lang="en-IN" sz="1500" b="1" dirty="0"/>
                        <a:t>Developer, coding &amp; debugging</a:t>
                      </a:r>
                      <a:endParaRPr lang="en-IN" sz="1500" dirty="0"/>
                    </a:p>
                  </a:txBody>
                  <a:tcPr marL="75433" marR="75433" marT="37716" marB="37716" anchor="ctr"/>
                </a:tc>
                <a:extLst>
                  <a:ext uri="{0D108BD9-81ED-4DB2-BD59-A6C34878D82A}">
                    <a16:rowId xmlns:a16="http://schemas.microsoft.com/office/drawing/2014/main" val="3272167280"/>
                  </a:ext>
                </a:extLst>
              </a:tr>
              <a:tr h="721584">
                <a:tc>
                  <a:txBody>
                    <a:bodyPr/>
                    <a:lstStyle/>
                    <a:p>
                      <a:pPr algn="ctr">
                        <a:buNone/>
                      </a:pPr>
                      <a:r>
                        <a:rPr lang="en-IN" sz="1500" b="1"/>
                        <a:t>Qwen3 32B</a:t>
                      </a:r>
                      <a:endParaRPr lang="en-IN" sz="1500"/>
                    </a:p>
                  </a:txBody>
                  <a:tcPr marL="75433" marR="75433" marT="37716" marB="37716" anchor="ctr">
                    <a:solidFill>
                      <a:schemeClr val="accent1">
                        <a:lumMod val="20000"/>
                        <a:lumOff val="80000"/>
                      </a:schemeClr>
                    </a:solidFill>
                  </a:tcPr>
                </a:tc>
                <a:tc>
                  <a:txBody>
                    <a:bodyPr/>
                    <a:lstStyle/>
                    <a:p>
                      <a:pPr algn="ctr">
                        <a:buNone/>
                      </a:pPr>
                      <a:r>
                        <a:rPr lang="en-IN" sz="1500"/>
                        <a:t>~19–22 GB</a:t>
                      </a:r>
                    </a:p>
                  </a:txBody>
                  <a:tcPr marL="75433" marR="75433" marT="37716" marB="37716" anchor="ctr"/>
                </a:tc>
                <a:tc>
                  <a:txBody>
                    <a:bodyPr/>
                    <a:lstStyle/>
                    <a:p>
                      <a:pPr algn="ctr">
                        <a:buNone/>
                      </a:pPr>
                      <a:r>
                        <a:rPr lang="en-IN" sz="1500" b="1" dirty="0"/>
                        <a:t>32K</a:t>
                      </a:r>
                      <a:endParaRPr lang="en-IN" sz="1500" dirty="0"/>
                    </a:p>
                  </a:txBody>
                  <a:tcPr marL="75433" marR="75433" marT="37716" marB="37716" anchor="ctr"/>
                </a:tc>
                <a:tc>
                  <a:txBody>
                    <a:bodyPr/>
                    <a:lstStyle/>
                    <a:p>
                      <a:pPr algn="ctr">
                        <a:buNone/>
                      </a:pPr>
                      <a:r>
                        <a:rPr lang="en-IN" sz="1500" dirty="0"/>
                        <a:t>Architect, reasoning, complex agents</a:t>
                      </a:r>
                    </a:p>
                  </a:txBody>
                  <a:tcPr marL="75433" marR="75433" marT="37716" marB="37716" anchor="ctr"/>
                </a:tc>
                <a:extLst>
                  <a:ext uri="{0D108BD9-81ED-4DB2-BD59-A6C34878D82A}">
                    <a16:rowId xmlns:a16="http://schemas.microsoft.com/office/drawing/2014/main" val="810943091"/>
                  </a:ext>
                </a:extLst>
              </a:tr>
              <a:tr h="938059">
                <a:tc>
                  <a:txBody>
                    <a:bodyPr/>
                    <a:lstStyle/>
                    <a:p>
                      <a:pPr algn="ctr">
                        <a:buNone/>
                      </a:pPr>
                      <a:r>
                        <a:rPr lang="en-IN" sz="1500" b="1" dirty="0"/>
                        <a:t>Gemma 4 31B</a:t>
                      </a:r>
                      <a:endParaRPr lang="en-IN" sz="1500" dirty="0"/>
                    </a:p>
                  </a:txBody>
                  <a:tcPr marL="75433" marR="75433" marT="37716" marB="37716" anchor="ctr">
                    <a:solidFill>
                      <a:schemeClr val="accent1">
                        <a:lumMod val="20000"/>
                        <a:lumOff val="80000"/>
                      </a:schemeClr>
                    </a:solidFill>
                  </a:tcPr>
                </a:tc>
                <a:tc>
                  <a:txBody>
                    <a:bodyPr/>
                    <a:lstStyle/>
                    <a:p>
                      <a:pPr algn="ctr">
                        <a:buNone/>
                      </a:pPr>
                      <a:r>
                        <a:rPr lang="en-IN" sz="1500"/>
                        <a:t>~19–21 GB</a:t>
                      </a:r>
                    </a:p>
                  </a:txBody>
                  <a:tcPr marL="75433" marR="75433" marT="37716" marB="37716" anchor="ctr"/>
                </a:tc>
                <a:tc>
                  <a:txBody>
                    <a:bodyPr/>
                    <a:lstStyle/>
                    <a:p>
                      <a:pPr algn="ctr">
                        <a:buNone/>
                      </a:pPr>
                      <a:r>
                        <a:rPr lang="en-IN" sz="1500" b="1"/>
                        <a:t>256K</a:t>
                      </a:r>
                      <a:endParaRPr lang="en-IN" sz="1500"/>
                    </a:p>
                  </a:txBody>
                  <a:tcPr marL="75433" marR="75433" marT="37716" marB="37716" anchor="ctr"/>
                </a:tc>
                <a:tc>
                  <a:txBody>
                    <a:bodyPr/>
                    <a:lstStyle/>
                    <a:p>
                      <a:pPr algn="ctr">
                        <a:buNone/>
                      </a:pPr>
                      <a:r>
                        <a:rPr lang="en-IN" sz="1500" dirty="0"/>
                        <a:t>Multimodal, coding, reasoning &amp; agents</a:t>
                      </a:r>
                    </a:p>
                  </a:txBody>
                  <a:tcPr marL="75433" marR="75433" marT="37716" marB="37716" anchor="ctr"/>
                </a:tc>
                <a:extLst>
                  <a:ext uri="{0D108BD9-81ED-4DB2-BD59-A6C34878D82A}">
                    <a16:rowId xmlns:a16="http://schemas.microsoft.com/office/drawing/2014/main" val="182148382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27000" y="-20320"/>
            <a:ext cx="12446000" cy="6858000"/>
          </a:xfrm>
          <a:prstGeom prst="rect">
            <a:avLst/>
          </a:prstGeom>
        </p:spPr>
      </p:pic>
      <p:sp>
        <p:nvSpPr>
          <p:cNvPr id="7" name="TextBox 6">
            <a:extLst>
              <a:ext uri="{FF2B5EF4-FFF2-40B4-BE49-F238E27FC236}">
                <a16:creationId xmlns:a16="http://schemas.microsoft.com/office/drawing/2014/main" id="{1F89E271-73A2-A27E-5A7A-195F2FB1D8C6}"/>
              </a:ext>
            </a:extLst>
          </p:cNvPr>
          <p:cNvSpPr txBox="1"/>
          <p:nvPr/>
        </p:nvSpPr>
        <p:spPr>
          <a:xfrm>
            <a:off x="701370" y="529035"/>
            <a:ext cx="2100255" cy="600164"/>
          </a:xfrm>
          <a:prstGeom prst="rect">
            <a:avLst/>
          </a:prstGeom>
          <a:noFill/>
        </p:spPr>
        <p:txBody>
          <a:bodyPr wrap="none" rtlCol="0">
            <a:spAutoFit/>
          </a:bodyPr>
          <a:lstStyle/>
          <a:p>
            <a:r>
              <a:rPr lang="en-IN" sz="3300" b="1" dirty="0">
                <a:latin typeface="Inter"/>
              </a:rPr>
              <a:t>Conclusion</a:t>
            </a:r>
            <a:endParaRPr lang="en-IN" sz="3300" b="1" dirty="0">
              <a:solidFill>
                <a:srgbClr val="2563EB"/>
              </a:solidFill>
              <a:latin typeface="Inter"/>
            </a:endParaRPr>
          </a:p>
        </p:txBody>
      </p:sp>
      <p:sp>
        <p:nvSpPr>
          <p:cNvPr id="4" name="Rectangle 3">
            <a:extLst>
              <a:ext uri="{FF2B5EF4-FFF2-40B4-BE49-F238E27FC236}">
                <a16:creationId xmlns:a16="http://schemas.microsoft.com/office/drawing/2014/main" id="{89409D1F-C205-C268-4D1E-23F4817CFC66}"/>
              </a:ext>
            </a:extLst>
          </p:cNvPr>
          <p:cNvSpPr/>
          <p:nvPr/>
        </p:nvSpPr>
        <p:spPr>
          <a:xfrm>
            <a:off x="760362" y="1122747"/>
            <a:ext cx="2124075" cy="1905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82E6E73-EBBE-0FAA-A388-7A215719DE46}"/>
              </a:ext>
            </a:extLst>
          </p:cNvPr>
          <p:cNvSpPr txBox="1"/>
          <p:nvPr/>
        </p:nvSpPr>
        <p:spPr>
          <a:xfrm>
            <a:off x="701370" y="1268368"/>
            <a:ext cx="10730268" cy="5001369"/>
          </a:xfrm>
          <a:prstGeom prst="rect">
            <a:avLst/>
          </a:prstGeom>
          <a:noFill/>
        </p:spPr>
        <p:txBody>
          <a:bodyPr wrap="square">
            <a:spAutoFit/>
          </a:bodyPr>
          <a:lstStyle/>
          <a:p>
            <a:pPr>
              <a:spcBef>
                <a:spcPts val="600"/>
              </a:spcBef>
              <a:buNone/>
            </a:pPr>
            <a:r>
              <a:rPr lang="en-IN" sz="1600" dirty="0">
                <a:latin typeface="Inter"/>
              </a:rPr>
              <a:t>We propose an </a:t>
            </a:r>
            <a:r>
              <a:rPr lang="en-IN" sz="1600" b="1" dirty="0">
                <a:latin typeface="Inter"/>
              </a:rPr>
              <a:t>Autonomous Software Development Lifecycle (A-SDLC)</a:t>
            </a:r>
            <a:r>
              <a:rPr lang="en-IN" sz="1600" dirty="0">
                <a:latin typeface="Inter"/>
              </a:rPr>
              <a:t> framework that transforms traditional software development into an </a:t>
            </a:r>
            <a:r>
              <a:rPr lang="en-IN" sz="1600" b="1" dirty="0">
                <a:latin typeface="Inter"/>
              </a:rPr>
              <a:t>AI-orchestrated, adaptive engineering process</a:t>
            </a:r>
            <a:r>
              <a:rPr lang="en-IN" sz="1600" dirty="0">
                <a:latin typeface="Inter"/>
              </a:rPr>
              <a:t>.</a:t>
            </a:r>
          </a:p>
          <a:p>
            <a:pPr>
              <a:spcBef>
                <a:spcPts val="600"/>
              </a:spcBef>
              <a:buNone/>
            </a:pPr>
            <a:r>
              <a:rPr lang="en-IN" sz="1600" dirty="0">
                <a:latin typeface="Inter"/>
              </a:rPr>
              <a:t>Instead of relying on isolated coding assistants, the framework coordinates </a:t>
            </a:r>
            <a:r>
              <a:rPr lang="en-IN" sz="1600" b="1" dirty="0">
                <a:latin typeface="Inter"/>
              </a:rPr>
              <a:t>specialized AI agents, reusable skills, persistent project memory (HSKG), tools, and feedback loops</a:t>
            </a:r>
            <a:r>
              <a:rPr lang="en-IN" sz="1600" dirty="0">
                <a:latin typeface="Inter"/>
              </a:rPr>
              <a:t> across the complete SDLC—from </a:t>
            </a:r>
            <a:r>
              <a:rPr lang="en-IN" sz="1600" b="1" dirty="0">
                <a:latin typeface="Inter"/>
              </a:rPr>
              <a:t>requirements and architecture to development, testing, deployment, and continuous improvement</a:t>
            </a:r>
            <a:r>
              <a:rPr lang="en-IN" sz="1600" dirty="0">
                <a:latin typeface="Inter"/>
              </a:rPr>
              <a:t>.</a:t>
            </a:r>
          </a:p>
          <a:p>
            <a:pPr>
              <a:spcBef>
                <a:spcPts val="600"/>
              </a:spcBef>
              <a:buNone/>
            </a:pPr>
            <a:endParaRPr lang="en-IN" sz="1600" dirty="0">
              <a:latin typeface="Inter"/>
            </a:endParaRPr>
          </a:p>
          <a:p>
            <a:pPr>
              <a:lnSpc>
                <a:spcPct val="150000"/>
              </a:lnSpc>
              <a:spcBef>
                <a:spcPts val="600"/>
              </a:spcBef>
              <a:buNone/>
            </a:pPr>
            <a:r>
              <a:rPr lang="en-IN" sz="1600" b="1" dirty="0">
                <a:latin typeface="Inter"/>
              </a:rPr>
              <a:t>Expected Outcomes</a:t>
            </a:r>
          </a:p>
          <a:p>
            <a:pPr marL="342900" lvl="0" indent="-342900">
              <a:spcBef>
                <a:spcPts val="600"/>
              </a:spcBef>
              <a:buFont typeface="Arial" panose="020B0604020202020204" pitchFamily="34" charset="0"/>
              <a:buChar char="•"/>
            </a:pPr>
            <a:r>
              <a:rPr lang="en-IN" sz="1600" b="1" dirty="0">
                <a:latin typeface="Inter"/>
              </a:rPr>
              <a:t>End-to-end SDLC automation</a:t>
            </a:r>
            <a:r>
              <a:rPr lang="en-IN" sz="1600" dirty="0">
                <a:latin typeface="Inter"/>
              </a:rPr>
              <a:t> through coordinated specialized agents </a:t>
            </a:r>
          </a:p>
          <a:p>
            <a:pPr marL="342900" lvl="0" indent="-342900">
              <a:spcBef>
                <a:spcPts val="600"/>
              </a:spcBef>
              <a:buFont typeface="Arial" panose="020B0604020202020204" pitchFamily="34" charset="0"/>
              <a:buChar char="•"/>
            </a:pPr>
            <a:r>
              <a:rPr lang="en-IN" sz="1600" b="1" dirty="0">
                <a:latin typeface="Inter"/>
              </a:rPr>
              <a:t>Context-efficient development</a:t>
            </a:r>
            <a:r>
              <a:rPr lang="en-IN" sz="1600" dirty="0">
                <a:latin typeface="Inter"/>
              </a:rPr>
              <a:t> through HSKG-based selective retrieval </a:t>
            </a:r>
          </a:p>
          <a:p>
            <a:pPr marL="342900" lvl="0" indent="-342900">
              <a:spcBef>
                <a:spcPts val="600"/>
              </a:spcBef>
              <a:buFont typeface="Arial" panose="020B0604020202020204" pitchFamily="34" charset="0"/>
              <a:buChar char="•"/>
            </a:pPr>
            <a:r>
              <a:rPr lang="en-IN" sz="1600" b="1" dirty="0">
                <a:latin typeface="Inter"/>
              </a:rPr>
              <a:t>Reliable and adaptive execution</a:t>
            </a:r>
            <a:r>
              <a:rPr lang="en-IN" sz="1600" dirty="0">
                <a:latin typeface="Inter"/>
              </a:rPr>
              <a:t> through harnesses, verification, and feedback loops </a:t>
            </a:r>
          </a:p>
          <a:p>
            <a:pPr marL="342900" lvl="0" indent="-342900">
              <a:spcBef>
                <a:spcPts val="600"/>
              </a:spcBef>
              <a:buFont typeface="Arial" panose="020B0604020202020204" pitchFamily="34" charset="0"/>
              <a:buChar char="•"/>
            </a:pPr>
            <a:r>
              <a:rPr lang="en-IN" sz="1600" b="1" dirty="0">
                <a:latin typeface="Inter"/>
              </a:rPr>
              <a:t>Improved traceability</a:t>
            </a:r>
            <a:r>
              <a:rPr lang="en-IN" sz="1600" dirty="0">
                <a:latin typeface="Inter"/>
              </a:rPr>
              <a:t> of requirements, decisions, code, tests, and changes </a:t>
            </a:r>
          </a:p>
          <a:p>
            <a:pPr marL="342900" lvl="0" indent="-342900">
              <a:spcBef>
                <a:spcPts val="600"/>
              </a:spcBef>
              <a:buFont typeface="Arial" panose="020B0604020202020204" pitchFamily="34" charset="0"/>
              <a:buChar char="•"/>
            </a:pPr>
            <a:r>
              <a:rPr lang="en-IN" sz="1600" b="1" dirty="0">
                <a:latin typeface="Inter"/>
              </a:rPr>
              <a:t>Reusable engineering knowledge</a:t>
            </a:r>
            <a:r>
              <a:rPr lang="en-IN" sz="1600" dirty="0">
                <a:latin typeface="Inter"/>
              </a:rPr>
              <a:t> through persistent project memory and skills </a:t>
            </a:r>
          </a:p>
          <a:p>
            <a:pPr marL="342900" lvl="0" indent="-342900">
              <a:spcBef>
                <a:spcPts val="600"/>
              </a:spcBef>
              <a:buFont typeface="Arial" panose="020B0604020202020204" pitchFamily="34" charset="0"/>
              <a:buChar char="•"/>
            </a:pPr>
            <a:r>
              <a:rPr lang="en-IN" sz="1600" b="1" dirty="0">
                <a:latin typeface="Inter"/>
              </a:rPr>
              <a:t>Reduced repetitive human effort</a:t>
            </a:r>
            <a:r>
              <a:rPr lang="en-IN" sz="1600" dirty="0">
                <a:latin typeface="Inter"/>
              </a:rPr>
              <a:t> while retaining human oversight for critical decisions </a:t>
            </a:r>
          </a:p>
          <a:p>
            <a:pPr>
              <a:spcBef>
                <a:spcPts val="600"/>
              </a:spcBef>
              <a:buNone/>
            </a:pPr>
            <a:endParaRPr lang="en-IN" sz="1600" b="1" dirty="0">
              <a:latin typeface="Inter"/>
            </a:endParaRPr>
          </a:p>
          <a:p>
            <a:pPr>
              <a:spcBef>
                <a:spcPts val="600"/>
              </a:spcBef>
              <a:buNone/>
            </a:pPr>
            <a:r>
              <a:rPr lang="en-IN" sz="1600" dirty="0">
                <a:latin typeface="Inter"/>
              </a:rPr>
              <a:t>The goal is not to replace software engineers, but to build an AI-orchestrated engineering system that can continuously plan, execute, verify, and improve software development.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image.png">
            <a:extLst>
              <a:ext uri="{FF2B5EF4-FFF2-40B4-BE49-F238E27FC236}">
                <a16:creationId xmlns:a16="http://schemas.microsoft.com/office/drawing/2014/main" id="{79FB4A8F-71C5-327D-3986-3FDF98E36CBD}"/>
              </a:ext>
            </a:extLst>
          </p:cNvPr>
          <p:cNvPicPr>
            <a:picLocks noChangeAspect="1"/>
          </p:cNvPicPr>
          <p:nvPr/>
        </p:nvPicPr>
        <p:blipFill>
          <a:blip r:embed="rId2"/>
          <a:stretch>
            <a:fillRect/>
          </a:stretch>
        </p:blipFill>
        <p:spPr>
          <a:xfrm>
            <a:off x="-241877" y="0"/>
            <a:ext cx="12446000" cy="6858000"/>
          </a:xfrm>
          <a:prstGeom prst="rect">
            <a:avLst/>
          </a:prstGeom>
        </p:spPr>
      </p:pic>
      <p:sp>
        <p:nvSpPr>
          <p:cNvPr id="3" name="TextBox 2"/>
          <p:cNvSpPr txBox="1"/>
          <p:nvPr/>
        </p:nvSpPr>
        <p:spPr>
          <a:xfrm>
            <a:off x="495300" y="1077339"/>
            <a:ext cx="5600700" cy="246221"/>
          </a:xfrm>
          <a:prstGeom prst="rect">
            <a:avLst/>
          </a:prstGeom>
          <a:noFill/>
        </p:spPr>
        <p:txBody>
          <a:bodyPr wrap="square" lIns="0" tIns="0" rIns="0" bIns="0" anchor="t">
            <a:spAutoFit/>
          </a:bodyPr>
          <a:lstStyle/>
          <a:p>
            <a:pPr algn="l"/>
            <a:r>
              <a:rPr sz="1600" b="1" i="0" u="none" dirty="0">
                <a:latin typeface="Inter"/>
              </a:rPr>
              <a:t>Research Papers</a:t>
            </a:r>
            <a:r>
              <a:rPr lang="en-IN" sz="1600" b="1" i="0" u="none" dirty="0">
                <a:latin typeface="Inter"/>
              </a:rPr>
              <a:t> &amp; Book</a:t>
            </a:r>
            <a:endParaRPr sz="1600" b="1" i="0" u="none" dirty="0">
              <a:latin typeface="Inter"/>
            </a:endParaRPr>
          </a:p>
        </p:txBody>
      </p:sp>
      <p:sp>
        <p:nvSpPr>
          <p:cNvPr id="4" name="Rectangle 3"/>
          <p:cNvSpPr/>
          <p:nvPr/>
        </p:nvSpPr>
        <p:spPr>
          <a:xfrm>
            <a:off x="495300" y="1448814"/>
            <a:ext cx="53340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sz="1600"/>
          </a:p>
        </p:txBody>
      </p:sp>
      <p:sp>
        <p:nvSpPr>
          <p:cNvPr id="5" name="TextBox 4"/>
          <p:cNvSpPr txBox="1"/>
          <p:nvPr/>
        </p:nvSpPr>
        <p:spPr>
          <a:xfrm>
            <a:off x="6210300" y="383657"/>
            <a:ext cx="5600700" cy="246221"/>
          </a:xfrm>
          <a:prstGeom prst="rect">
            <a:avLst/>
          </a:prstGeom>
          <a:noFill/>
        </p:spPr>
        <p:txBody>
          <a:bodyPr wrap="square" lIns="0" tIns="0" rIns="0" bIns="0" anchor="t">
            <a:spAutoFit/>
          </a:bodyPr>
          <a:lstStyle/>
          <a:p>
            <a:pPr algn="just"/>
            <a:r>
              <a:rPr lang="en-IN" sz="1600" b="1" i="0" u="none" dirty="0">
                <a:latin typeface="Inter"/>
              </a:rPr>
              <a:t>Articles &amp; Official Documentations</a:t>
            </a:r>
            <a:endParaRPr sz="1600" b="1" i="0" u="none" dirty="0">
              <a:latin typeface="Inter"/>
            </a:endParaRPr>
          </a:p>
        </p:txBody>
      </p:sp>
      <p:sp>
        <p:nvSpPr>
          <p:cNvPr id="6" name="Rectangle 5"/>
          <p:cNvSpPr/>
          <p:nvPr/>
        </p:nvSpPr>
        <p:spPr>
          <a:xfrm>
            <a:off x="6210300" y="755132"/>
            <a:ext cx="53340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sz="1600"/>
          </a:p>
        </p:txBody>
      </p:sp>
      <p:sp>
        <p:nvSpPr>
          <p:cNvPr id="7" name="TextBox 6"/>
          <p:cNvSpPr txBox="1"/>
          <p:nvPr/>
        </p:nvSpPr>
        <p:spPr>
          <a:xfrm>
            <a:off x="371168" y="1748764"/>
            <a:ext cx="5334000" cy="3360472"/>
          </a:xfrm>
          <a:prstGeom prst="rect">
            <a:avLst/>
          </a:prstGeom>
          <a:noFill/>
        </p:spPr>
        <p:txBody>
          <a:bodyPr wrap="square" lIns="0" tIns="0" rIns="0" bIns="0" anchor="t">
            <a:spAutoFit/>
          </a:bodyPr>
          <a:lstStyle/>
          <a:p>
            <a:pPr algn="just">
              <a:lnSpc>
                <a:spcPts val="1679"/>
              </a:lnSpc>
              <a:spcBef>
                <a:spcPts val="600"/>
              </a:spcBef>
            </a:pPr>
            <a:r>
              <a:rPr sz="1400" b="1" i="0" u="none" dirty="0">
                <a:latin typeface="Inter"/>
              </a:rPr>
              <a:t>[1]</a:t>
            </a:r>
            <a:r>
              <a:rPr sz="1400" b="0" i="0" u="none" dirty="0">
                <a:latin typeface="Inter"/>
              </a:rPr>
              <a:t> He, J., </a:t>
            </a:r>
            <a:r>
              <a:rPr sz="1400" b="0" i="0" u="none" dirty="0" err="1">
                <a:latin typeface="Inter"/>
              </a:rPr>
              <a:t>Treude</a:t>
            </a:r>
            <a:r>
              <a:rPr sz="1400" b="0" i="0" u="none" dirty="0">
                <a:latin typeface="Inter"/>
              </a:rPr>
              <a:t>, C., &amp; Lo, D. (2025). </a:t>
            </a:r>
            <a:r>
              <a:rPr sz="1400" b="0" i="1" u="none" dirty="0">
                <a:latin typeface="Inter"/>
              </a:rPr>
              <a:t>LLM-Based Multi-Agent Systems for Software Engineering: Literature Review, Vision...</a:t>
            </a:r>
            <a:r>
              <a:rPr sz="1400" b="0" i="0" u="none" dirty="0">
                <a:latin typeface="Inter"/>
              </a:rPr>
              <a:t> ACM TOSEM.</a:t>
            </a:r>
            <a:endParaRPr lang="en-IN" sz="1400" b="0" i="0" u="none" dirty="0">
              <a:latin typeface="Inter"/>
            </a:endParaRPr>
          </a:p>
          <a:p>
            <a:pPr algn="just">
              <a:lnSpc>
                <a:spcPts val="1679"/>
              </a:lnSpc>
              <a:spcBef>
                <a:spcPts val="600"/>
              </a:spcBef>
            </a:pPr>
            <a:r>
              <a:rPr lang="en-US" sz="1400" b="1" dirty="0">
                <a:latin typeface="Inter"/>
              </a:rPr>
              <a:t>[2]</a:t>
            </a:r>
            <a:r>
              <a:rPr lang="en-US" sz="1400" dirty="0">
                <a:latin typeface="Inter"/>
              </a:rPr>
              <a:t> Apostolou, S. A., et al. (2026). </a:t>
            </a:r>
            <a:r>
              <a:rPr lang="en-US" sz="1400" i="1" dirty="0">
                <a:latin typeface="Inter"/>
              </a:rPr>
              <a:t>Assistance to Autonomy: A Systematic Literature Review of Agentic AI across the SDLC</a:t>
            </a:r>
            <a:r>
              <a:rPr lang="en-US" sz="1400" dirty="0">
                <a:latin typeface="Inter"/>
              </a:rPr>
              <a:t>. </a:t>
            </a:r>
            <a:r>
              <a:rPr lang="en-US" sz="1400" dirty="0" err="1">
                <a:latin typeface="Inter"/>
              </a:rPr>
              <a:t>arXiv</a:t>
            </a:r>
            <a:r>
              <a:rPr lang="en-US" sz="1400" dirty="0">
                <a:latin typeface="Inter"/>
              </a:rPr>
              <a:t>.</a:t>
            </a:r>
          </a:p>
          <a:p>
            <a:pPr algn="just">
              <a:lnSpc>
                <a:spcPts val="1679"/>
              </a:lnSpc>
              <a:spcBef>
                <a:spcPts val="600"/>
              </a:spcBef>
            </a:pPr>
            <a:r>
              <a:rPr lang="en-US" sz="1400" b="1" dirty="0">
                <a:latin typeface="Inter"/>
              </a:rPr>
              <a:t>[3]</a:t>
            </a:r>
            <a:r>
              <a:rPr lang="en-US" sz="1400" dirty="0">
                <a:latin typeface="Inter"/>
              </a:rPr>
              <a:t> </a:t>
            </a:r>
            <a:r>
              <a:rPr lang="en-US" sz="1400" i="1" dirty="0">
                <a:latin typeface="Inter"/>
              </a:rPr>
              <a:t>Agentic AI in the Software Development Lifecycle: Architecture, Empirical Evidence...</a:t>
            </a:r>
            <a:r>
              <a:rPr lang="en-US" sz="1400" dirty="0">
                <a:latin typeface="Inter"/>
              </a:rPr>
              <a:t> (2026). </a:t>
            </a:r>
            <a:r>
              <a:rPr lang="en-US" sz="1400" dirty="0" err="1">
                <a:latin typeface="Inter"/>
              </a:rPr>
              <a:t>arXiv</a:t>
            </a:r>
            <a:r>
              <a:rPr lang="en-US" sz="1400" dirty="0">
                <a:latin typeface="Inter"/>
              </a:rPr>
              <a:t>.</a:t>
            </a:r>
          </a:p>
          <a:p>
            <a:pPr algn="just">
              <a:lnSpc>
                <a:spcPts val="1679"/>
              </a:lnSpc>
              <a:spcBef>
                <a:spcPts val="600"/>
              </a:spcBef>
            </a:pPr>
            <a:r>
              <a:rPr lang="en-US" sz="1400" b="1" dirty="0">
                <a:latin typeface="Inter"/>
              </a:rPr>
              <a:t>[4]  </a:t>
            </a:r>
            <a:r>
              <a:rPr lang="en-US" sz="1400" i="1" dirty="0">
                <a:latin typeface="Inter"/>
              </a:rPr>
              <a:t>Veselka </a:t>
            </a:r>
            <a:r>
              <a:rPr lang="en-US" sz="1400" i="1" dirty="0" err="1">
                <a:latin typeface="Inter"/>
              </a:rPr>
              <a:t>Sasheva</a:t>
            </a:r>
            <a:r>
              <a:rPr lang="en-US" sz="1400" i="1" dirty="0">
                <a:latin typeface="Inter"/>
              </a:rPr>
              <a:t> Petrova-Dimitrova, “Classifications of intelligence agents and their applications,” Fundamental sciences and applications, Vol. 28, No. 1, 2022.</a:t>
            </a:r>
          </a:p>
          <a:p>
            <a:pPr algn="just">
              <a:lnSpc>
                <a:spcPts val="1679"/>
              </a:lnSpc>
              <a:spcBef>
                <a:spcPts val="600"/>
              </a:spcBef>
            </a:pPr>
            <a:r>
              <a:rPr lang="en-US" sz="1400" b="1" dirty="0">
                <a:latin typeface="Inter"/>
              </a:rPr>
              <a:t>[5]</a:t>
            </a:r>
            <a:r>
              <a:rPr lang="en-US" sz="1400" dirty="0">
                <a:latin typeface="Inter"/>
              </a:rPr>
              <a:t> Sommerville, I. </a:t>
            </a:r>
            <a:r>
              <a:rPr lang="en-US" sz="1400" i="1" dirty="0">
                <a:latin typeface="Inter"/>
              </a:rPr>
              <a:t>Software Engineering (10th Edition)</a:t>
            </a:r>
            <a:r>
              <a:rPr lang="en-US" sz="1400" dirty="0">
                <a:latin typeface="Inter"/>
              </a:rPr>
              <a:t>.</a:t>
            </a:r>
          </a:p>
          <a:p>
            <a:pPr>
              <a:spcBef>
                <a:spcPts val="600"/>
              </a:spcBef>
            </a:pPr>
            <a:r>
              <a:rPr lang="en-US" sz="1400" b="1" dirty="0">
                <a:latin typeface="Inter"/>
              </a:rPr>
              <a:t>[6]</a:t>
            </a:r>
            <a:r>
              <a:rPr lang="en-US" sz="1400" dirty="0">
                <a:latin typeface="Inter"/>
              </a:rPr>
              <a:t> The Hitchhiker's Guide to Agentic AI: From Foundations to Systems by</a:t>
            </a:r>
          </a:p>
          <a:p>
            <a:pPr>
              <a:spcBef>
                <a:spcPts val="600"/>
              </a:spcBef>
            </a:pPr>
            <a:r>
              <a:rPr lang="en-US" sz="1400" dirty="0">
                <a:latin typeface="Inter"/>
                <a:hlinkClick r:id="rId3"/>
              </a:rPr>
              <a:t>Haggai Roitman</a:t>
            </a:r>
            <a:endParaRPr lang="en-US" sz="1400" dirty="0">
              <a:latin typeface="Inter"/>
            </a:endParaRPr>
          </a:p>
          <a:p>
            <a:pPr algn="just">
              <a:lnSpc>
                <a:spcPts val="1679"/>
              </a:lnSpc>
              <a:spcBef>
                <a:spcPts val="600"/>
              </a:spcBef>
            </a:pPr>
            <a:endParaRPr sz="1400" b="0" i="0" u="none" dirty="0">
              <a:latin typeface="Inter"/>
            </a:endParaRPr>
          </a:p>
        </p:txBody>
      </p:sp>
      <p:sp>
        <p:nvSpPr>
          <p:cNvPr id="12" name="TextBox 11"/>
          <p:cNvSpPr txBox="1"/>
          <p:nvPr/>
        </p:nvSpPr>
        <p:spPr>
          <a:xfrm>
            <a:off x="6200468" y="966963"/>
            <a:ext cx="5496232" cy="5816977"/>
          </a:xfrm>
          <a:prstGeom prst="rect">
            <a:avLst/>
          </a:prstGeom>
          <a:noFill/>
        </p:spPr>
        <p:txBody>
          <a:bodyPr wrap="square" lIns="0" tIns="0" rIns="0" bIns="0" anchor="t">
            <a:spAutoFit/>
          </a:bodyPr>
          <a:lstStyle/>
          <a:p>
            <a:pPr>
              <a:spcBef>
                <a:spcPts val="600"/>
              </a:spcBef>
            </a:pPr>
            <a:r>
              <a:rPr sz="1400" b="1" u="none" dirty="0">
                <a:latin typeface="Inter"/>
              </a:rPr>
              <a:t>[</a:t>
            </a:r>
            <a:r>
              <a:rPr lang="en-IN" sz="1400" b="1" u="none" dirty="0">
                <a:latin typeface="Inter"/>
              </a:rPr>
              <a:t>7</a:t>
            </a:r>
            <a:r>
              <a:rPr sz="1400" b="1" u="none" dirty="0">
                <a:latin typeface="Inter"/>
              </a:rPr>
              <a:t>]</a:t>
            </a:r>
            <a:r>
              <a:rPr sz="1400" b="0" u="none" dirty="0">
                <a:latin typeface="Inter"/>
              </a:rPr>
              <a:t> </a:t>
            </a:r>
            <a:r>
              <a:rPr sz="1400" b="0" u="none" dirty="0" err="1">
                <a:latin typeface="Inter"/>
              </a:rPr>
              <a:t>LangChain</a:t>
            </a:r>
            <a:r>
              <a:rPr sz="1400" b="0" u="none" dirty="0">
                <a:latin typeface="Inter"/>
              </a:rPr>
              <a:t> Documentation.</a:t>
            </a:r>
            <a:endParaRPr lang="en-IN" sz="1400" b="0" u="none" dirty="0">
              <a:latin typeface="Inter"/>
            </a:endParaRPr>
          </a:p>
          <a:p>
            <a:pPr>
              <a:spcBef>
                <a:spcPts val="600"/>
              </a:spcBef>
            </a:pPr>
            <a:r>
              <a:rPr lang="en-IN" sz="1400" b="1" dirty="0">
                <a:latin typeface="Inter"/>
              </a:rPr>
              <a:t>[8]</a:t>
            </a:r>
            <a:r>
              <a:rPr lang="en-IN" sz="1400" dirty="0">
                <a:latin typeface="Inter"/>
              </a:rPr>
              <a:t> </a:t>
            </a:r>
            <a:r>
              <a:rPr lang="en-IN" sz="1400" dirty="0" err="1">
                <a:latin typeface="Inter"/>
              </a:rPr>
              <a:t>LangGraph</a:t>
            </a:r>
            <a:r>
              <a:rPr lang="en-IN" sz="1400" dirty="0">
                <a:latin typeface="Inter"/>
              </a:rPr>
              <a:t> Documentation.</a:t>
            </a:r>
          </a:p>
          <a:p>
            <a:pPr>
              <a:spcBef>
                <a:spcPts val="600"/>
              </a:spcBef>
            </a:pPr>
            <a:r>
              <a:rPr lang="en-IN" sz="1400" b="1" dirty="0">
                <a:latin typeface="Inter"/>
              </a:rPr>
              <a:t>[9]</a:t>
            </a:r>
            <a:r>
              <a:rPr lang="en-IN" sz="1400" dirty="0">
                <a:latin typeface="Inter"/>
              </a:rPr>
              <a:t> </a:t>
            </a:r>
            <a:r>
              <a:rPr lang="en-IN" sz="1400" dirty="0" err="1">
                <a:latin typeface="Inter"/>
              </a:rPr>
              <a:t>CrewAI</a:t>
            </a:r>
            <a:r>
              <a:rPr lang="en-IN" sz="1400" dirty="0">
                <a:latin typeface="Inter"/>
              </a:rPr>
              <a:t> Documentation.</a:t>
            </a:r>
          </a:p>
          <a:p>
            <a:pPr>
              <a:spcBef>
                <a:spcPts val="600"/>
              </a:spcBef>
            </a:pPr>
            <a:r>
              <a:rPr lang="fr-FR" sz="1400" b="1" dirty="0">
                <a:latin typeface="Inter"/>
              </a:rPr>
              <a:t>[10]</a:t>
            </a:r>
            <a:r>
              <a:rPr lang="fr-FR" sz="1400" dirty="0">
                <a:latin typeface="Inter"/>
              </a:rPr>
              <a:t> </a:t>
            </a:r>
            <a:r>
              <a:rPr lang="fr-FR" sz="1400" dirty="0" err="1">
                <a:latin typeface="Inter"/>
              </a:rPr>
              <a:t>OpenAI</a:t>
            </a:r>
            <a:r>
              <a:rPr lang="fr-FR" sz="1400" dirty="0">
                <a:latin typeface="Inter"/>
              </a:rPr>
              <a:t> Agents SDK Documentation.</a:t>
            </a:r>
          </a:p>
          <a:p>
            <a:pPr>
              <a:spcBef>
                <a:spcPts val="600"/>
              </a:spcBef>
            </a:pPr>
            <a:r>
              <a:rPr lang="en-IN" sz="1400" b="1" dirty="0">
                <a:latin typeface="Inter"/>
              </a:rPr>
              <a:t>[11]</a:t>
            </a:r>
            <a:r>
              <a:rPr lang="en-IN" sz="1400" dirty="0">
                <a:latin typeface="Inter"/>
              </a:rPr>
              <a:t> Hong, S., et al. (2024). </a:t>
            </a:r>
            <a:r>
              <a:rPr lang="en-IN" sz="1400" dirty="0" err="1">
                <a:latin typeface="Inter"/>
              </a:rPr>
              <a:t>MetaGPT</a:t>
            </a:r>
            <a:r>
              <a:rPr lang="en-IN" sz="1400" dirty="0">
                <a:latin typeface="Inter"/>
              </a:rPr>
              <a:t>: Meta Programming for Multi-Agent Collaborative Framework.</a:t>
            </a:r>
          </a:p>
          <a:p>
            <a:pPr>
              <a:spcBef>
                <a:spcPts val="600"/>
              </a:spcBef>
            </a:pPr>
            <a:r>
              <a:rPr lang="en-IN" sz="1400" b="1" dirty="0">
                <a:latin typeface="Inter"/>
              </a:rPr>
              <a:t>[12] </a:t>
            </a:r>
            <a:r>
              <a:rPr lang="en-IN" sz="1400" dirty="0">
                <a:latin typeface="Inter"/>
              </a:rPr>
              <a:t>IBM: https://www.ibm.com/think/topics/agent2agent-protocol</a:t>
            </a:r>
          </a:p>
          <a:p>
            <a:pPr>
              <a:spcBef>
                <a:spcPts val="600"/>
              </a:spcBef>
            </a:pPr>
            <a:r>
              <a:rPr lang="en-IN" sz="1400" b="1" dirty="0"/>
              <a:t>[13] GitHub.</a:t>
            </a:r>
            <a:r>
              <a:rPr lang="en-IN" sz="1400" dirty="0"/>
              <a:t> </a:t>
            </a:r>
            <a:r>
              <a:rPr lang="en-IN" sz="1400" i="1" dirty="0"/>
              <a:t>"Copilot Workspace: AI-Native Developer Environment."</a:t>
            </a:r>
            <a:r>
              <a:rPr lang="en-IN" sz="1400" dirty="0"/>
              <a:t>: </a:t>
            </a:r>
            <a:r>
              <a:rPr lang="en-IN" sz="1400" dirty="0">
                <a:hlinkClick r:id="rId4"/>
              </a:rPr>
              <a:t>https://githubnext.com/projects/copilot-workspace/</a:t>
            </a:r>
            <a:endParaRPr lang="en-IN" sz="1400" dirty="0"/>
          </a:p>
          <a:p>
            <a:pPr>
              <a:spcBef>
                <a:spcPts val="600"/>
              </a:spcBef>
            </a:pPr>
            <a:r>
              <a:rPr lang="en-IN" sz="1400" b="1" dirty="0">
                <a:latin typeface="Inter"/>
              </a:rPr>
              <a:t>[14]</a:t>
            </a:r>
            <a:r>
              <a:rPr lang="en-IN" sz="1400" dirty="0">
                <a:latin typeface="Inter"/>
              </a:rPr>
              <a:t> </a:t>
            </a:r>
            <a:r>
              <a:rPr lang="en-IN" sz="1400" dirty="0" err="1">
                <a:latin typeface="Inter"/>
              </a:rPr>
              <a:t>OpenAi</a:t>
            </a:r>
            <a:r>
              <a:rPr lang="en-IN" sz="1400" dirty="0">
                <a:latin typeface="Inter"/>
              </a:rPr>
              <a:t> - </a:t>
            </a:r>
            <a:r>
              <a:rPr lang="en-IN" sz="1400" dirty="0">
                <a:latin typeface="Inter"/>
                <a:hlinkClick r:id="rId5"/>
              </a:rPr>
              <a:t>https://openai.com/index/harness-engineering/</a:t>
            </a:r>
            <a:endParaRPr lang="en-IN" sz="1400" dirty="0">
              <a:latin typeface="Inter"/>
            </a:endParaRPr>
          </a:p>
          <a:p>
            <a:pPr>
              <a:spcBef>
                <a:spcPts val="600"/>
              </a:spcBef>
            </a:pPr>
            <a:r>
              <a:rPr lang="it-IT" sz="1400" b="1" dirty="0">
                <a:latin typeface="Inter"/>
              </a:rPr>
              <a:t>[15]</a:t>
            </a:r>
            <a:r>
              <a:rPr lang="it-IT" sz="1400" dirty="0">
                <a:latin typeface="Inter"/>
              </a:rPr>
              <a:t> Cognition AI – Devin: AI Software Engineer.</a:t>
            </a:r>
          </a:p>
          <a:p>
            <a:pPr>
              <a:spcBef>
                <a:spcPts val="600"/>
              </a:spcBef>
            </a:pPr>
            <a:r>
              <a:rPr lang="en-IN" sz="1400" b="1" dirty="0">
                <a:latin typeface="Inter"/>
              </a:rPr>
              <a:t>[16] </a:t>
            </a:r>
            <a:r>
              <a:rPr lang="en-IN" sz="1400" dirty="0">
                <a:latin typeface="Inter"/>
              </a:rPr>
              <a:t>Microsoft Copilot: Microsoft-copilot/for-individuals/do-more-with-ai/general-ai/understanding-ai-agents-vs-chatbots?</a:t>
            </a:r>
          </a:p>
          <a:p>
            <a:pPr>
              <a:spcBef>
                <a:spcPts val="600"/>
              </a:spcBef>
            </a:pPr>
            <a:r>
              <a:rPr lang="en-IN" sz="1400" b="1" dirty="0">
                <a:latin typeface="Inter"/>
              </a:rPr>
              <a:t>[17] </a:t>
            </a:r>
            <a:r>
              <a:rPr lang="en-IN" sz="1400" dirty="0">
                <a:latin typeface="Inter"/>
              </a:rPr>
              <a:t>IBM: </a:t>
            </a:r>
            <a:r>
              <a:rPr lang="en-IN" sz="1400" dirty="0">
                <a:latin typeface="Inter"/>
                <a:hlinkClick r:id="rId6"/>
              </a:rPr>
              <a:t>https://www.ibm.com/think/topics/ai-agents</a:t>
            </a:r>
            <a:endParaRPr lang="en-IN" sz="1400" dirty="0">
              <a:latin typeface="Inter"/>
            </a:endParaRPr>
          </a:p>
          <a:p>
            <a:pPr>
              <a:spcBef>
                <a:spcPts val="600"/>
              </a:spcBef>
            </a:pPr>
            <a:r>
              <a:rPr lang="en-IN" sz="1400" b="1" dirty="0">
                <a:latin typeface="Inter"/>
              </a:rPr>
              <a:t>[18] </a:t>
            </a:r>
            <a:r>
              <a:rPr lang="en-IN" sz="1400" dirty="0">
                <a:latin typeface="Inter"/>
              </a:rPr>
              <a:t>Google Cloud</a:t>
            </a:r>
            <a:r>
              <a:rPr lang="en-IN" sz="1400" b="1" dirty="0">
                <a:latin typeface="Inter"/>
              </a:rPr>
              <a:t>: </a:t>
            </a:r>
            <a:r>
              <a:rPr lang="en-IN" sz="1400" dirty="0">
                <a:latin typeface="Inter"/>
              </a:rPr>
              <a:t>cloud.google.com/discover/what-is-model-context-protocol</a:t>
            </a:r>
          </a:p>
          <a:p>
            <a:pPr>
              <a:spcBef>
                <a:spcPts val="600"/>
              </a:spcBef>
            </a:pPr>
            <a:r>
              <a:rPr lang="fr-FR" sz="1400" b="1" dirty="0">
                <a:latin typeface="Inter"/>
              </a:rPr>
              <a:t>[19] </a:t>
            </a:r>
            <a:r>
              <a:rPr lang="fr-FR" sz="1400" dirty="0" err="1">
                <a:latin typeface="Inter"/>
              </a:rPr>
              <a:t>Langchain</a:t>
            </a:r>
            <a:r>
              <a:rPr lang="fr-FR" sz="1400" dirty="0">
                <a:latin typeface="Inter"/>
              </a:rPr>
              <a:t>: </a:t>
            </a:r>
            <a:r>
              <a:rPr lang="fr-FR" sz="1400" dirty="0">
                <a:latin typeface="Inter"/>
                <a:hlinkClick r:id="rId7"/>
              </a:rPr>
              <a:t>https://www.langchain.com/blog/the-anatomy-of-an-agent-harness</a:t>
            </a:r>
            <a:endParaRPr lang="fr-FR" sz="1400" dirty="0">
              <a:latin typeface="Inter"/>
            </a:endParaRPr>
          </a:p>
          <a:p>
            <a:pPr>
              <a:spcBef>
                <a:spcPts val="600"/>
              </a:spcBef>
            </a:pPr>
            <a:r>
              <a:rPr lang="en-US" sz="1400" b="1" dirty="0">
                <a:latin typeface="Inter"/>
              </a:rPr>
              <a:t>[20] </a:t>
            </a:r>
            <a:r>
              <a:rPr lang="en-US" sz="1400" dirty="0">
                <a:latin typeface="Inter"/>
              </a:rPr>
              <a:t>Anthropic: </a:t>
            </a:r>
            <a:r>
              <a:rPr lang="en-US" sz="1400" dirty="0">
                <a:latin typeface="Inter"/>
                <a:hlinkClick r:id="rId8"/>
              </a:rPr>
              <a:t>https://www.anthropic.com/engineering/demystifying-evals-for-ai-agents</a:t>
            </a:r>
            <a:endParaRPr lang="en-US" sz="1400" dirty="0">
              <a:latin typeface="Inter"/>
            </a:endParaRPr>
          </a:p>
          <a:p>
            <a:pPr>
              <a:spcBef>
                <a:spcPts val="600"/>
              </a:spcBef>
            </a:pPr>
            <a:r>
              <a:rPr lang="en-US" sz="1400" b="1" dirty="0">
                <a:latin typeface="Inter"/>
              </a:rPr>
              <a:t>[21] </a:t>
            </a:r>
            <a:r>
              <a:rPr lang="en-US" sz="1400" dirty="0" err="1">
                <a:latin typeface="Inter"/>
              </a:rPr>
              <a:t>DeepEval</a:t>
            </a:r>
            <a:r>
              <a:rPr lang="en-US" sz="1400" dirty="0">
                <a:latin typeface="Inter"/>
              </a:rPr>
              <a:t>: https://deepeval.com/guides/guides-ai-agent-evaluation</a:t>
            </a:r>
          </a:p>
        </p:txBody>
      </p:sp>
      <p:sp>
        <p:nvSpPr>
          <p:cNvPr id="35" name="TextBox 34"/>
          <p:cNvSpPr txBox="1"/>
          <p:nvPr/>
        </p:nvSpPr>
        <p:spPr>
          <a:xfrm>
            <a:off x="485468" y="415233"/>
            <a:ext cx="2230278" cy="461665"/>
          </a:xfrm>
          <a:prstGeom prst="rect">
            <a:avLst/>
          </a:prstGeom>
          <a:noFill/>
        </p:spPr>
        <p:txBody>
          <a:bodyPr wrap="square" lIns="0" tIns="0" rIns="0" bIns="0" anchor="t">
            <a:spAutoFit/>
          </a:bodyPr>
          <a:lstStyle/>
          <a:p>
            <a:pPr algn="l"/>
            <a:r>
              <a:rPr sz="3000" b="1" i="0" u="none" dirty="0">
                <a:latin typeface="Inter"/>
              </a:rPr>
              <a:t>References</a:t>
            </a:r>
          </a:p>
        </p:txBody>
      </p:sp>
      <p:sp>
        <p:nvSpPr>
          <p:cNvPr id="36" name="Rectangle 35"/>
          <p:cNvSpPr/>
          <p:nvPr/>
        </p:nvSpPr>
        <p:spPr>
          <a:xfrm>
            <a:off x="495300" y="878884"/>
            <a:ext cx="2124075" cy="1905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4B636A-EEAD-78BB-9121-0D9E5F13743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F30942B-D517-8939-2F9F-FFB3488A77E3}"/>
              </a:ext>
            </a:extLst>
          </p:cNvPr>
          <p:cNvSpPr txBox="1"/>
          <p:nvPr/>
        </p:nvSpPr>
        <p:spPr>
          <a:xfrm>
            <a:off x="1209675" y="1815554"/>
            <a:ext cx="451693" cy="1095375"/>
          </a:xfrm>
          <a:prstGeom prst="rect">
            <a:avLst/>
          </a:prstGeom>
          <a:noFill/>
        </p:spPr>
        <p:txBody>
          <a:bodyPr wrap="square" lIns="0" tIns="0" rIns="0" bIns="0" anchor="t">
            <a:spAutoFit/>
          </a:bodyPr>
          <a:lstStyle/>
          <a:p>
            <a:pPr algn="l">
              <a:lnSpc>
                <a:spcPts val="0"/>
              </a:lnSpc>
            </a:pPr>
            <a:r>
              <a:rPr sz="7500" b="0" i="0" u="none">
                <a:solidFill>
                  <a:srgbClr val="CBD5E1"/>
                </a:solidFill>
                <a:latin typeface="Arial SemiBold"/>
              </a:rPr>
              <a:t>"</a:t>
            </a:r>
          </a:p>
        </p:txBody>
      </p:sp>
      <p:pic>
        <p:nvPicPr>
          <p:cNvPr id="2" name="Picture 1" descr="image.png">
            <a:extLst>
              <a:ext uri="{FF2B5EF4-FFF2-40B4-BE49-F238E27FC236}">
                <a16:creationId xmlns:a16="http://schemas.microsoft.com/office/drawing/2014/main" id="{DAD3B9FC-D4F5-728A-3BC6-14807CFC7D41}"/>
              </a:ext>
            </a:extLst>
          </p:cNvPr>
          <p:cNvPicPr>
            <a:picLocks noChangeAspect="1"/>
          </p:cNvPicPr>
          <p:nvPr/>
        </p:nvPicPr>
        <p:blipFill>
          <a:blip r:embed="rId2"/>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14F4D3A6-0717-E18B-22C6-D0EBDD70B4CF}"/>
              </a:ext>
            </a:extLst>
          </p:cNvPr>
          <p:cNvSpPr txBox="1"/>
          <p:nvPr/>
        </p:nvSpPr>
        <p:spPr>
          <a:xfrm>
            <a:off x="4521530" y="2967335"/>
            <a:ext cx="3148939" cy="923330"/>
          </a:xfrm>
          <a:prstGeom prst="rect">
            <a:avLst/>
          </a:prstGeom>
          <a:noFill/>
        </p:spPr>
        <p:txBody>
          <a:bodyPr wrap="none" rtlCol="0">
            <a:spAutoFit/>
          </a:bodyPr>
          <a:lstStyle/>
          <a:p>
            <a:r>
              <a:rPr lang="en-IN" sz="5400" b="1" dirty="0">
                <a:solidFill>
                  <a:srgbClr val="2563EB"/>
                </a:solidFill>
              </a:rPr>
              <a:t>Thank You</a:t>
            </a:r>
          </a:p>
        </p:txBody>
      </p:sp>
    </p:spTree>
    <p:extLst>
      <p:ext uri="{BB962C8B-B14F-4D97-AF65-F5344CB8AC3E}">
        <p14:creationId xmlns:p14="http://schemas.microsoft.com/office/powerpoint/2010/main" val="4111202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2717</TotalTime>
  <Words>5285</Words>
  <Application>Microsoft Office PowerPoint</Application>
  <PresentationFormat>Widescreen</PresentationFormat>
  <Paragraphs>422</Paragraphs>
  <Slides>33</Slides>
  <Notes>5</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33</vt:i4>
      </vt:variant>
    </vt:vector>
  </HeadingPairs>
  <TitlesOfParts>
    <vt:vector size="49" baseType="lpstr">
      <vt:lpstr>anthropicSerif</vt:lpstr>
      <vt:lpstr>Arial</vt:lpstr>
      <vt:lpstr>Arial SemiBold</vt:lpstr>
      <vt:lpstr>Calibri</vt:lpstr>
      <vt:lpstr>IBM Plex Sans</vt:lpstr>
      <vt:lpstr>Inter</vt:lpstr>
      <vt:lpstr>Inter Medium</vt:lpstr>
      <vt:lpstr>Inter SemiBold</vt:lpstr>
      <vt:lpstr>monospace</vt:lpstr>
      <vt:lpstr>Plus Jakarta Sans</vt:lpstr>
      <vt:lpstr>Poppins</vt:lpstr>
      <vt:lpstr>Poppins SemiBold</vt:lpstr>
      <vt:lpstr>Twklausanne</vt:lpstr>
      <vt:lpstr>Urbanist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Abhishek Raj</cp:lastModifiedBy>
  <cp:revision>35</cp:revision>
  <dcterms:created xsi:type="dcterms:W3CDTF">2013-01-27T09:14:16Z</dcterms:created>
  <dcterms:modified xsi:type="dcterms:W3CDTF">2026-09-28T13:23:15Z</dcterms:modified>
  <cp:category/>
</cp:coreProperties>
</file>