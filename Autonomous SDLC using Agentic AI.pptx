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7" r:id="rId9"/>
    <p:sldId id="264" r:id="rId10"/>
    <p:sldId id="265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6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03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605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363241"/>
            <a:ext cx="11601450" cy="1401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520"/>
              </a:lnSpc>
            </a:pPr>
            <a:r>
              <a:rPr sz="4800" b="1" i="0" u="none" dirty="0">
                <a:solidFill>
                  <a:srgbClr val="0F172A"/>
                </a:solidFill>
                <a:latin typeface="Inter"/>
              </a:rPr>
              <a:t>Autonomous SDLC</a:t>
            </a:r>
            <a:r>
              <a:rPr dirty="0"/>
              <a:t>
</a:t>
            </a:r>
            <a:r>
              <a:rPr sz="4800" b="1" i="0" u="none" dirty="0">
                <a:solidFill>
                  <a:srgbClr val="0F172A"/>
                </a:solidFill>
                <a:latin typeface="Inter"/>
              </a:rPr>
              <a:t> using </a:t>
            </a:r>
            <a:r>
              <a:rPr sz="4800" b="1" i="0" u="none" dirty="0">
                <a:solidFill>
                  <a:srgbClr val="2563EB"/>
                </a:solidFill>
                <a:latin typeface="Inter"/>
              </a:rPr>
              <a:t>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955702"/>
            <a:ext cx="11049000" cy="396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sz="1950" b="0" i="0" u="none" dirty="0">
                <a:solidFill>
                  <a:srgbClr val="64748B"/>
                </a:solidFill>
                <a:latin typeface="Inter Medium"/>
              </a:rPr>
              <a:t>Building an Adaptive AI Software Engineering Organization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BC449C-DBD9-236B-C1B9-FEF4B80F7E53}"/>
              </a:ext>
            </a:extLst>
          </p:cNvPr>
          <p:cNvSpPr txBox="1"/>
          <p:nvPr/>
        </p:nvSpPr>
        <p:spPr>
          <a:xfrm>
            <a:off x="989371" y="5455177"/>
            <a:ext cx="3936590" cy="7616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120"/>
              </a:lnSpc>
            </a:pPr>
            <a:r>
              <a:rPr lang="en-IN" sz="1950" b="1" i="0" u="none" dirty="0">
                <a:solidFill>
                  <a:srgbClr val="64748B"/>
                </a:solidFill>
                <a:latin typeface="Inter Medium"/>
              </a:rPr>
              <a:t>Presented By:</a:t>
            </a:r>
          </a:p>
          <a:p>
            <a:pPr>
              <a:lnSpc>
                <a:spcPts val="3120"/>
              </a:lnSpc>
            </a:pPr>
            <a:r>
              <a:rPr lang="en-IN" sz="1950" dirty="0">
                <a:latin typeface="Inter Medium"/>
              </a:rPr>
              <a:t>Abhishek Raj (</a:t>
            </a:r>
            <a:r>
              <a:rPr lang="en-IN" sz="1950" dirty="0" err="1">
                <a:latin typeface="Inter Medium"/>
              </a:rPr>
              <a:t>M.Tech</a:t>
            </a:r>
            <a:r>
              <a:rPr lang="en-IN" sz="1950" dirty="0">
                <a:latin typeface="Inter Medium"/>
              </a:rPr>
              <a:t> Intern)</a:t>
            </a:r>
            <a:endParaRPr sz="1950" b="0" i="0" u="none" dirty="0">
              <a:latin typeface="Inter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8C9C62-C2EA-FF0A-565F-413C1CE45600}"/>
              </a:ext>
            </a:extLst>
          </p:cNvPr>
          <p:cNvSpPr txBox="1"/>
          <p:nvPr/>
        </p:nvSpPr>
        <p:spPr>
          <a:xfrm>
            <a:off x="8407810" y="5455176"/>
            <a:ext cx="3936590" cy="7616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120"/>
              </a:lnSpc>
            </a:pPr>
            <a:r>
              <a:rPr lang="en-IN" sz="1950" b="1" dirty="0">
                <a:solidFill>
                  <a:srgbClr val="64748B"/>
                </a:solidFill>
                <a:latin typeface="Inter Medium"/>
              </a:rPr>
              <a:t>Guide</a:t>
            </a:r>
            <a:r>
              <a:rPr lang="en-IN" sz="1950" b="1" i="0" u="none" dirty="0">
                <a:solidFill>
                  <a:srgbClr val="64748B"/>
                </a:solidFill>
                <a:latin typeface="Inter Medium"/>
              </a:rPr>
              <a:t>:</a:t>
            </a:r>
          </a:p>
          <a:p>
            <a:pPr>
              <a:lnSpc>
                <a:spcPts val="3120"/>
              </a:lnSpc>
            </a:pPr>
            <a:r>
              <a:rPr lang="en-IN" sz="1950" dirty="0">
                <a:latin typeface="Inter Medium"/>
              </a:rPr>
              <a:t>M.B. Sai Charan (Scientist C)</a:t>
            </a:r>
            <a:endParaRPr sz="1950" b="0" i="0" u="none" dirty="0">
              <a:latin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90539" y="1711982"/>
            <a:ext cx="9013639" cy="26590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5591" y="1317946"/>
            <a:ext cx="1084882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defRPr sz="2000"/>
            </a:pPr>
            <a:r>
              <a:rPr lang="en-US" sz="1600" dirty="0">
                <a:latin typeface="Inter"/>
              </a:rPr>
              <a:t>The Traditional Software Development Life Cycle (SDLC) is the structured framework that engineering teams follow to plan, design, build, test, and deploy software applications from initial concept.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42032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The Friction of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Traditional SDLC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3CF981-F4E7-6250-EC53-D95CA12BD3A0}"/>
              </a:ext>
            </a:extLst>
          </p:cNvPr>
          <p:cNvSpPr txBox="1"/>
          <p:nvPr/>
        </p:nvSpPr>
        <p:spPr>
          <a:xfrm>
            <a:off x="615591" y="4185837"/>
            <a:ext cx="10848822" cy="1723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defRPr sz="2000"/>
            </a:pPr>
            <a:r>
              <a:rPr lang="en-IN" sz="1600" dirty="0">
                <a:latin typeface="Inter"/>
              </a:rPr>
              <a:t>This Manual SDLC execution creates severe friction—engineers waste most of their time on administrative handoffs, environment setups, regression testing, and ticketing overhead instead of writing core logic.</a:t>
            </a:r>
          </a:p>
          <a:p>
            <a:pPr algn="just">
              <a:defRPr sz="2000"/>
            </a:pPr>
            <a:endParaRPr lang="en-IN" sz="1600" b="1" dirty="0">
              <a:latin typeface="Inter"/>
            </a:endParaRPr>
          </a:p>
          <a:p>
            <a:pPr algn="just">
              <a:defRPr sz="2000"/>
            </a:pP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  <a:latin typeface="Inter"/>
              </a:rPr>
              <a:t>So, Our Aim is to automate the Traditional SDLC </a:t>
            </a:r>
            <a:r>
              <a:rPr lang="en-IN" sz="1600" b="1" dirty="0">
                <a:solidFill>
                  <a:schemeClr val="accent1">
                    <a:lumMod val="50000"/>
                  </a:schemeClr>
                </a:solidFill>
                <a:latin typeface="Inter"/>
              </a:rPr>
              <a:t>with Agentic AI, </a:t>
            </a:r>
            <a:r>
              <a:rPr lang="en-IN" sz="1600" dirty="0">
                <a:latin typeface="Inter"/>
              </a:rPr>
              <a:t>which will replaces these static bottlenecks with continuous, self-healing pipelines that autonomously execute tests, patch build failures, flag vulnerabilities, and manage releases. This </a:t>
            </a:r>
            <a:r>
              <a:rPr lang="en-IN" sz="1600" b="1" dirty="0">
                <a:latin typeface="Inter"/>
              </a:rPr>
              <a:t>eliminates human error, compresses cycle times from months to hours, and frees development teams to focus on high-value architecture and innovation.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1657350"/>
            <a:ext cx="11049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Agentic AI consists of autonomous AI agents capable of planning, reasoning, using tools, maintaining memory, and collaborating to achieve complex goals.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457450"/>
            <a:ext cx="11049000" cy="32956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95504"/>
              </p:ext>
            </p:extLst>
          </p:nvPr>
        </p:nvGraphicFramePr>
        <p:xfrm>
          <a:off x="571500" y="2457450"/>
          <a:ext cx="11039473" cy="329565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85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2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7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Capability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0F172A"/>
                          </a:solidFill>
                          <a:latin typeface="Inter SemiBold"/>
                        </a:rPr>
                        <a:t>Standard Chatbot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Agentic AI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Execution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Passive (Answers queries)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Autonomous (Acts &amp; Uses Tools)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Workflow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Single-step generation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Multi-step reasoning &amp; execution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Context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No Memory (Session bound)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Persistent Memory (Context aware)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Strategy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No Planning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Goal Planning &amp; Reflection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76262" y="3109912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435423" y="3109912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78351" y="3109912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6262" y="3767137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435423" y="3767137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78351" y="3767137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6262" y="4424362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35423" y="4424362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78351" y="4424362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6262" y="5081587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35423" y="5081587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78351" y="5081587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0F172A"/>
                </a:solidFill>
                <a:latin typeface="Inter"/>
              </a:rPr>
              <a:t>Beyond Code Generation: </a:t>
            </a:r>
            <a:r>
              <a:rPr sz="3300" b="1" i="0" u="none">
                <a:solidFill>
                  <a:srgbClr val="2563EB"/>
                </a:solidFill>
                <a:latin typeface="Inter"/>
              </a:rPr>
              <a:t>Agentic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37572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Agentic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Frameworks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29F9555-D699-C3C4-1F84-8A79F8D652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690624"/>
              </p:ext>
            </p:extLst>
          </p:nvPr>
        </p:nvGraphicFramePr>
        <p:xfrm>
          <a:off x="571500" y="1063176"/>
          <a:ext cx="10951908" cy="5419104"/>
        </p:xfrm>
        <a:graphic>
          <a:graphicData uri="http://schemas.openxmlformats.org/drawingml/2006/table">
            <a:tbl>
              <a:tblPr/>
              <a:tblGrid>
                <a:gridCol w="1825318">
                  <a:extLst>
                    <a:ext uri="{9D8B030D-6E8A-4147-A177-3AD203B41FA5}">
                      <a16:colId xmlns:a16="http://schemas.microsoft.com/office/drawing/2014/main" val="3296468212"/>
                    </a:ext>
                  </a:extLst>
                </a:gridCol>
                <a:gridCol w="1825318">
                  <a:extLst>
                    <a:ext uri="{9D8B030D-6E8A-4147-A177-3AD203B41FA5}">
                      <a16:colId xmlns:a16="http://schemas.microsoft.com/office/drawing/2014/main" val="2433383122"/>
                    </a:ext>
                  </a:extLst>
                </a:gridCol>
                <a:gridCol w="1825318">
                  <a:extLst>
                    <a:ext uri="{9D8B030D-6E8A-4147-A177-3AD203B41FA5}">
                      <a16:colId xmlns:a16="http://schemas.microsoft.com/office/drawing/2014/main" val="3440802060"/>
                    </a:ext>
                  </a:extLst>
                </a:gridCol>
                <a:gridCol w="1749527">
                  <a:extLst>
                    <a:ext uri="{9D8B030D-6E8A-4147-A177-3AD203B41FA5}">
                      <a16:colId xmlns:a16="http://schemas.microsoft.com/office/drawing/2014/main" val="313064993"/>
                    </a:ext>
                  </a:extLst>
                </a:gridCol>
                <a:gridCol w="1901109">
                  <a:extLst>
                    <a:ext uri="{9D8B030D-6E8A-4147-A177-3AD203B41FA5}">
                      <a16:colId xmlns:a16="http://schemas.microsoft.com/office/drawing/2014/main" val="1155137944"/>
                    </a:ext>
                  </a:extLst>
                </a:gridCol>
                <a:gridCol w="1825318">
                  <a:extLst>
                    <a:ext uri="{9D8B030D-6E8A-4147-A177-3AD203B41FA5}">
                      <a16:colId xmlns:a16="http://schemas.microsoft.com/office/drawing/2014/main" val="2842996800"/>
                    </a:ext>
                  </a:extLst>
                </a:gridCol>
              </a:tblGrid>
              <a:tr h="468216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Framework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Execution Model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Core Strengths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Key Limitations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Ideal Use Cases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Offline / Local Capability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376244"/>
                  </a:ext>
                </a:extLst>
              </a:tr>
              <a:tr h="1123048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LangChain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Chained Prompting &amp; Tools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Rich toolset, extensive RAG ecosystem, vast API integrations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Workflow complexity at scale, abstractions can hide errors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General LLM applications, retrieval-augmented generation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Excellent: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Natively connects to local LLMs (</a:t>
                      </a:r>
                      <a:r>
                        <a:rPr lang="en-IN" sz="1400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Ollama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, Llama.cpp) and local vector stores (Chroma).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084250"/>
                  </a:ext>
                </a:extLst>
              </a:tr>
              <a:tr h="1123048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LangGraph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Stateful Graph Orchestration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Cycles and loops, robust state persistence, time-travel debugging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Steeper learning curve, excessive setup for simple tasks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Production-grade multi-agent systems, human-in-the-loop control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Excellent:</a:t>
                      </a: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Inherits LangChain's local capabilities; operates entirely offline with self-hosted models.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7860845"/>
                  </a:ext>
                </a:extLst>
              </a:tr>
              <a:tr h="1341325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CrewAI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Role-based Team Collaboration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Easy setup, intuitive agent personas, automatic task delegation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Limited dynamic branching and complex workflow flow control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Autonomous research pipelines, content creation, structured teams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Strong: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Explicitly supports local execution by binding agents to local endpoints via </a:t>
                      </a:r>
                      <a:r>
                        <a:rPr lang="en-IN" sz="1400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Ollama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or </a:t>
                      </a:r>
                      <a:r>
                        <a:rPr lang="en-IN" sz="1400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LiteLLM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6865933"/>
                  </a:ext>
                </a:extLst>
              </a:tr>
              <a:tr h="1341325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OpenAI Agents SDK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Lightweight Handoffs &amp; Guardrails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Minimal abstractions, built-in tracing, standardized routing primitives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Lacks built-in persistent long-term memory or native graph structures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Rapid deployment of production agents, voice pipelines, clear delegation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Very Good: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Provider-agnostic design allows it to run offline by routing to local models via the Chat Completions API.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1999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20" y="-12025"/>
            <a:ext cx="12301220" cy="6858000"/>
          </a:xfrm>
          <a:prstGeom prst="rect">
            <a:avLst/>
          </a:prstGeom>
        </p:spPr>
      </p:pic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140C37B-D52A-8E41-CE37-9FB27AC870E6}"/>
              </a:ext>
            </a:extLst>
          </p:cNvPr>
          <p:cNvSpPr/>
          <p:nvPr/>
        </p:nvSpPr>
        <p:spPr>
          <a:xfrm>
            <a:off x="762000" y="5419562"/>
            <a:ext cx="4502150" cy="59562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EADB9D7-CABA-C15E-65E0-02CBC0788E5D}"/>
              </a:ext>
            </a:extLst>
          </p:cNvPr>
          <p:cNvSpPr/>
          <p:nvPr/>
        </p:nvSpPr>
        <p:spPr>
          <a:xfrm>
            <a:off x="762000" y="4000743"/>
            <a:ext cx="4502150" cy="1233999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E2CCB64-612D-62FF-FD45-08A7D393C5E6}"/>
              </a:ext>
            </a:extLst>
          </p:cNvPr>
          <p:cNvSpPr/>
          <p:nvPr/>
        </p:nvSpPr>
        <p:spPr>
          <a:xfrm>
            <a:off x="762000" y="3263846"/>
            <a:ext cx="4502150" cy="56843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A36B0AC3-D7D0-B89C-6F21-AAB4BB83F14C}"/>
              </a:ext>
            </a:extLst>
          </p:cNvPr>
          <p:cNvSpPr/>
          <p:nvPr/>
        </p:nvSpPr>
        <p:spPr>
          <a:xfrm>
            <a:off x="762000" y="1890340"/>
            <a:ext cx="4502150" cy="1219272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1409700"/>
            <a:ext cx="5286375" cy="460548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095" y="2060080"/>
            <a:ext cx="304800" cy="304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145" y="2615059"/>
            <a:ext cx="304800" cy="3048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9095" y="3385000"/>
            <a:ext cx="304800" cy="304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95" y="4162780"/>
            <a:ext cx="304800" cy="304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9095" y="4651456"/>
            <a:ext cx="304800" cy="304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9095" y="5543427"/>
            <a:ext cx="304800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3037" y="1028700"/>
            <a:ext cx="5286375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475569"/>
                </a:solidFill>
                <a:latin typeface="Inter"/>
              </a:rPr>
              <a:t>A modular pipeline with integrated </a:t>
            </a:r>
            <a:r>
              <a:rPr sz="1500" b="1" i="0" u="none" dirty="0">
                <a:solidFill>
                  <a:srgbClr val="475569"/>
                </a:solidFill>
                <a:latin typeface="Inter"/>
              </a:rPr>
              <a:t>Human-in-the-Loop (HITL)</a:t>
            </a:r>
            <a:r>
              <a:rPr sz="1500" b="0" i="0" u="none" dirty="0">
                <a:solidFill>
                  <a:srgbClr val="475569"/>
                </a:solidFill>
                <a:latin typeface="Inter"/>
              </a:rPr>
              <a:t> governance gates to ensure enterprise safety.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2622" y="1854145"/>
            <a:ext cx="4930616" cy="295275"/>
          </a:xfrm>
          <a:prstGeom prst="rect">
            <a:avLst/>
          </a:prstGeom>
          <a:noFill/>
        </p:spPr>
        <p:txBody>
          <a:bodyPr wrap="square" lIns="242738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2563EB"/>
                </a:solidFill>
                <a:latin typeface="Inter SemiBold"/>
              </a:rPr>
              <a:t>Continuous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011" y="2349446"/>
            <a:ext cx="469582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>
                <a:solidFill>
                  <a:srgbClr val="334155"/>
                </a:solidFill>
                <a:latin typeface="Inter"/>
              </a:rPr>
              <a:t>7. Monitoring &amp; Learning:</a:t>
            </a:r>
            <a:r>
              <a:rPr sz="1500" b="0" i="0" u="none" dirty="0">
                <a:solidFill>
                  <a:srgbClr val="334155"/>
                </a:solidFill>
                <a:latin typeface="Inter"/>
              </a:rPr>
              <a:t> Consumes production logs, metrics, and user feedback to detect errors and optimize prompts.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011" y="3406721"/>
            <a:ext cx="469582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>
                <a:solidFill>
                  <a:srgbClr val="334155"/>
                </a:solidFill>
                <a:latin typeface="Inter"/>
              </a:rPr>
              <a:t>8. Organizational Memory:</a:t>
            </a:r>
            <a:r>
              <a:rPr sz="1500" b="0" i="0" u="none" dirty="0">
                <a:solidFill>
                  <a:srgbClr val="334155"/>
                </a:solidFill>
                <a:latin typeface="Inter"/>
              </a:rPr>
              <a:t> Captures all requirements,</a:t>
            </a:r>
            <a:endParaRPr lang="en-IN" sz="1500" b="0" i="0" u="none" dirty="0">
              <a:solidFill>
                <a:srgbClr val="334155"/>
              </a:solidFill>
              <a:latin typeface="Inter"/>
            </a:endParaRPr>
          </a:p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code, reviews, and bug fixes into a Knowledge Graph for cross-sprint learning.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1970" y="3123601"/>
            <a:ext cx="19050" cy="14287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231970" y="3838858"/>
            <a:ext cx="19050" cy="14287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231970" y="5257677"/>
            <a:ext cx="19050" cy="14287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1011" y="1892246"/>
            <a:ext cx="242738" cy="2476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36770" y="2104324"/>
            <a:ext cx="20955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1E293B"/>
                </a:solidFill>
                <a:latin typeface="Inter Medium"/>
              </a:rPr>
              <a:t>Requirement 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5820" y="2653159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Planning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6980" y="2694674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770" y="342310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Architecture &amp;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32295" y="3442150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770" y="420088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9875" y="4650569"/>
            <a:ext cx="2550014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 i="0" u="none" dirty="0">
                <a:solidFill>
                  <a:srgbClr val="1E293B"/>
                </a:solidFill>
                <a:latin typeface="Inter Medium"/>
              </a:rPr>
              <a:t>Verification (</a:t>
            </a:r>
            <a:r>
              <a:rPr lang="en-IN" sz="1500" dirty="0"/>
              <a:t>Quality Assurance (Testing)</a:t>
            </a:r>
            <a:r>
              <a:rPr sz="1500" b="0" i="0" u="none" dirty="0">
                <a:solidFill>
                  <a:srgbClr val="1E293B"/>
                </a:solidFill>
                <a:latin typeface="Inter Medium"/>
              </a:rPr>
              <a:t>/Security)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770" y="5581527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" y="3238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Proposed Architecture: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Modu</a:t>
            </a:r>
            <a:r>
              <a:rPr lang="en-IN" sz="3300" b="1" i="0" u="none" dirty="0">
                <a:solidFill>
                  <a:srgbClr val="2563EB"/>
                </a:solidFill>
                <a:latin typeface="Inter"/>
              </a:rPr>
              <a:t>lar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 Pipeline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8EC028-5D16-CAD3-E5F3-8A9A85590BA4}"/>
              </a:ext>
            </a:extLst>
          </p:cNvPr>
          <p:cNvSpPr txBox="1"/>
          <p:nvPr/>
        </p:nvSpPr>
        <p:spPr>
          <a:xfrm>
            <a:off x="3895047" y="4923758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8EED8D0-6A02-FEF3-83D7-CFE4AC8EE770}"/>
              </a:ext>
            </a:extLst>
          </p:cNvPr>
          <p:cNvSpPr txBox="1"/>
          <p:nvPr/>
        </p:nvSpPr>
        <p:spPr>
          <a:xfrm>
            <a:off x="3832295" y="5686757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242" y="1224731"/>
            <a:ext cx="11049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While highly capable, existing autonomous systems index heavily on code generation, lacking end-to-end SDLC orchestration and organizational memory.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1972" y="2119312"/>
            <a:ext cx="11049000" cy="32956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560691"/>
              </p:ext>
            </p:extLst>
          </p:nvPr>
        </p:nvGraphicFramePr>
        <p:xfrm>
          <a:off x="561972" y="2119312"/>
          <a:ext cx="11039472" cy="3295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91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19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54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89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34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System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Requirements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Design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Coding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Testing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Deployment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Devin / OpenHands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MetaGPT / ChatDev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SWE-Agent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Proposed System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734" y="2771774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405928" y="2771774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545630" y="2771774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97585" y="2771774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73054" y="2771774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672039" y="2771774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734" y="3428999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05928" y="3428999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545630" y="3428999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897585" y="3428999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73054" y="3428999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72039" y="3428999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734" y="4086224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05928" y="4086224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45630" y="4086224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97585" y="4086224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73054" y="4086224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672039" y="4086224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734" y="4743449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405928" y="4743449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545630" y="4743449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97585" y="4743449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73054" y="4743449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672039" y="4743449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Identifying the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Gap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57350"/>
            <a:ext cx="5334000" cy="46291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657350"/>
            <a:ext cx="5334000" cy="4629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2025" y="2047875"/>
            <a:ext cx="4780597" cy="295275"/>
          </a:xfrm>
          <a:prstGeom prst="rect">
            <a:avLst/>
          </a:prstGeom>
          <a:noFill/>
        </p:spPr>
        <p:txBody>
          <a:bodyPr wrap="square" lIns="309413" tIns="0" rIns="0" bIns="0" anchor="t">
            <a:spAutoFit/>
          </a:bodyPr>
          <a:lstStyle/>
          <a:p>
            <a:pPr algn="l"/>
            <a:r>
              <a:rPr sz="1950" b="0" i="0" u="none">
                <a:solidFill>
                  <a:srgbClr val="EF4444"/>
                </a:solidFill>
                <a:latin typeface="Inter SemiBold"/>
              </a:rPr>
              <a:t>Traditional: Fixed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2486025"/>
            <a:ext cx="45529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Standard agentic systems rely on rigid, hardcoded workflows (e.g., always Planner → Developer → Tester).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7025" y="2047875"/>
            <a:ext cx="4780597" cy="295275"/>
          </a:xfrm>
          <a:prstGeom prst="rect">
            <a:avLst/>
          </a:prstGeom>
          <a:noFill/>
        </p:spPr>
        <p:txBody>
          <a:bodyPr wrap="square" lIns="309413" tIns="0" rIns="0" bIns="0" anchor="t">
            <a:spAutoFit/>
          </a:bodyPr>
          <a:lstStyle/>
          <a:p>
            <a:pPr algn="l"/>
            <a:r>
              <a:rPr sz="1950" b="0" i="0" u="none">
                <a:solidFill>
                  <a:srgbClr val="16A34A"/>
                </a:solidFill>
                <a:latin typeface="Inter SemiBold"/>
              </a:rPr>
              <a:t>Proposed: Dynamic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7025" y="2486025"/>
            <a:ext cx="45529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The Orchestrator analyzes project complexity, risk, and size before execution to spawn agents on-the-fly.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7775" y="3543300"/>
            <a:ext cx="42672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Inefficient for small tasks (over-engineered).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7775" y="4019550"/>
            <a:ext cx="42672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Lacks specialized roles (Security, DevOps) for complex enterprise apps.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2775" y="3543300"/>
            <a:ext cx="42672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Inter"/>
              </a:rPr>
              <a:t>Small Script:</a:t>
            </a:r>
            <a:r>
              <a:rPr sz="1500" b="0" i="0" u="none">
                <a:solidFill>
                  <a:srgbClr val="334155"/>
                </a:solidFill>
                <a:latin typeface="Inter"/>
              </a:rPr>
              <a:t> Spawns Planner + Developer.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2775" y="4019550"/>
            <a:ext cx="42672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Inter"/>
              </a:rPr>
              <a:t>Enterprise App:</a:t>
            </a:r>
            <a:r>
              <a:rPr sz="1500" b="0" i="0" u="none">
                <a:solidFill>
                  <a:srgbClr val="334155"/>
                </a:solidFill>
                <a:latin typeface="Inter"/>
              </a:rPr>
              <a:t> Spawns Architect, Backend, Frontend, Security, QA, DevOps.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2775" y="4800600"/>
            <a:ext cx="42672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Agents are retired when tasks complete, saving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360045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025" y="407670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7025" y="360045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7025" y="407670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7025" y="485775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0F172A"/>
                </a:solidFill>
                <a:latin typeface="Inter"/>
              </a:rPr>
              <a:t>Core Innovation: </a:t>
            </a:r>
            <a:r>
              <a:rPr sz="3300" b="1" i="0" u="none">
                <a:solidFill>
                  <a:srgbClr val="2563EB"/>
                </a:solidFill>
                <a:latin typeface="Inter"/>
              </a:rPr>
              <a:t>Adaptive Team Generation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1025" y="374970"/>
            <a:ext cx="1000125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Inter"/>
              </a:rPr>
              <a:t>Core Innovation:</a:t>
            </a:r>
            <a:r>
              <a:rPr lang="en-IN" sz="3200" dirty="0">
                <a:solidFill>
                  <a:prstClr val="black"/>
                </a:solidFill>
                <a:latin typeface="Inter"/>
              </a:rPr>
              <a:t> 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Inter"/>
              </a:rPr>
              <a:t>Hierarchical Software Knowledge Graph (HSKG)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1025" y="1690379"/>
            <a:ext cx="336545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Inter Medium"/>
                <a:ea typeface="+mn-ea"/>
                <a:cs typeface="+mn-cs"/>
              </a:rPr>
              <a:t>Beyond Traditional Memory:</a:t>
            </a:r>
            <a:endParaRPr kumimoji="0" lang="en-IN" b="0" i="0" u="none" strike="noStrike" kern="1200" cap="none" spc="0" normalizeH="0" baseline="0" noProof="0" dirty="0">
              <a:ln>
                <a:noFill/>
              </a:ln>
              <a:solidFill>
                <a:srgbClr val="475569"/>
              </a:solidFill>
              <a:effectLst/>
              <a:uLnTx/>
              <a:uFillTx/>
              <a:latin typeface="Inter Medium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Inter Medium"/>
                <a:ea typeface="+mn-ea"/>
                <a:cs typeface="+mn-cs"/>
              </a:rPr>
              <a:t>A Context-Aware Project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8371" y="3188730"/>
            <a:ext cx="4141834" cy="8971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The Problem: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 Current AI agents retrieve entire repositories or large documents, resulting in high token consumption and irrelevant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025" y="4335808"/>
            <a:ext cx="3884104" cy="12049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Our Solution: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 Our proposed HSKG stores the software project as a hierarchical graph, enabling agents to retrieve only the smallest relevant subgraph required for a task.</a:t>
            </a:r>
          </a:p>
        </p:txBody>
      </p:sp>
      <p:pic>
        <p:nvPicPr>
          <p:cNvPr id="8" name="Picture 7" descr="image.png">
            <a:extLst>
              <a:ext uri="{FF2B5EF4-FFF2-40B4-BE49-F238E27FC236}">
                <a16:creationId xmlns:a16="http://schemas.microsoft.com/office/drawing/2014/main" id="{C8894353-4957-A2E0-39B0-543F843E4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0205" y="922135"/>
            <a:ext cx="3365450" cy="5418667"/>
          </a:xfrm>
          <a:prstGeom prst="rect">
            <a:avLst/>
          </a:prstGeom>
        </p:spPr>
      </p:pic>
      <p:pic>
        <p:nvPicPr>
          <p:cNvPr id="10" name="Picture 9" descr="image.png">
            <a:extLst>
              <a:ext uri="{FF2B5EF4-FFF2-40B4-BE49-F238E27FC236}">
                <a16:creationId xmlns:a16="http://schemas.microsoft.com/office/drawing/2014/main" id="{CECFA41D-13C9-DCB9-66E2-F0072055D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731" y="962373"/>
            <a:ext cx="3365599" cy="5418667"/>
          </a:xfrm>
          <a:prstGeom prst="rect">
            <a:avLst/>
          </a:prstGeom>
        </p:spPr>
      </p:pic>
      <p:pic>
        <p:nvPicPr>
          <p:cNvPr id="12" name="Picture 11" descr="image.png">
            <a:extLst>
              <a:ext uri="{FF2B5EF4-FFF2-40B4-BE49-F238E27FC236}">
                <a16:creationId xmlns:a16="http://schemas.microsoft.com/office/drawing/2014/main" id="{A9C44036-61A8-EAFF-080D-463D5EB47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9641" y="2157653"/>
            <a:ext cx="2774900" cy="1905000"/>
          </a:xfrm>
          <a:prstGeom prst="rect">
            <a:avLst/>
          </a:prstGeom>
        </p:spPr>
      </p:pic>
      <p:pic>
        <p:nvPicPr>
          <p:cNvPr id="14" name="Picture 13" descr="image.png">
            <a:extLst>
              <a:ext uri="{FF2B5EF4-FFF2-40B4-BE49-F238E27FC236}">
                <a16:creationId xmlns:a16="http://schemas.microsoft.com/office/drawing/2014/main" id="{F43C9D70-D90B-24BB-82BB-1FE1034C86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2189" y="2059766"/>
            <a:ext cx="2775049" cy="6953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12D879C-E449-8EE8-C292-2DEF48407B4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658223" y="2953129"/>
            <a:ext cx="2775049" cy="867202"/>
          </a:xfrm>
          <a:prstGeom prst="rect">
            <a:avLst/>
          </a:prstGeom>
        </p:spPr>
      </p:pic>
      <p:pic>
        <p:nvPicPr>
          <p:cNvPr id="18" name="Picture 17" descr="image.png">
            <a:extLst>
              <a:ext uri="{FF2B5EF4-FFF2-40B4-BE49-F238E27FC236}">
                <a16:creationId xmlns:a16="http://schemas.microsoft.com/office/drawing/2014/main" id="{3450BF5F-ACC6-1481-77A0-89F91D2119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9641" y="1281353"/>
            <a:ext cx="476250" cy="4762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2BC2538-76AC-5EA5-9CD1-0F4C45DCC710}"/>
              </a:ext>
            </a:extLst>
          </p:cNvPr>
          <p:cNvSpPr txBox="1"/>
          <p:nvPr/>
        </p:nvSpPr>
        <p:spPr>
          <a:xfrm>
            <a:off x="5728766" y="1352790"/>
            <a:ext cx="160890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>
                <a:solidFill>
                  <a:srgbClr val="0F172A"/>
                </a:solidFill>
                <a:latin typeface="Poppins SemiBold"/>
              </a:rPr>
              <a:t>Project Graph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81CDCC-DDC8-74B1-835F-DEF5155317C5}"/>
              </a:ext>
            </a:extLst>
          </p:cNvPr>
          <p:cNvSpPr txBox="1"/>
          <p:nvPr/>
        </p:nvSpPr>
        <p:spPr>
          <a:xfrm>
            <a:off x="5262041" y="2329103"/>
            <a:ext cx="605872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563EB"/>
                </a:solidFill>
                <a:latin typeface="monospace"/>
              </a:rPr>
              <a:t>Project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13F7FD-E8AF-B22C-71D4-B2B1E68640E6}"/>
              </a:ext>
            </a:extLst>
          </p:cNvPr>
          <p:cNvSpPr txBox="1"/>
          <p:nvPr/>
        </p:nvSpPr>
        <p:spPr>
          <a:xfrm>
            <a:off x="5452541" y="2538653"/>
            <a:ext cx="21571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0F172A"/>
                </a:solidFill>
                <a:latin typeface="monospace"/>
              </a:rPr>
              <a:t>Authentication</a:t>
            </a:r>
            <a:r>
              <a:rPr dirty="0"/>
              <a:t>
</a:t>
            </a:r>
            <a:r>
              <a:rPr sz="1200" b="0" i="0" u="none" dirty="0">
                <a:solidFill>
                  <a:srgbClr val="0F172A"/>
                </a:solidFill>
                <a:latin typeface="monospace"/>
              </a:rPr>
              <a:t>    Login, Register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B79403-EE1D-2590-3964-5B017F6ECAA7}"/>
              </a:ext>
            </a:extLst>
          </p:cNvPr>
          <p:cNvSpPr txBox="1"/>
          <p:nvPr/>
        </p:nvSpPr>
        <p:spPr>
          <a:xfrm>
            <a:off x="5452541" y="2995853"/>
            <a:ext cx="21571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0F172A"/>
                </a:solidFill>
                <a:latin typeface="monospace"/>
              </a:rPr>
              <a:t>Inventory</a:t>
            </a:r>
            <a:r>
              <a:t>
</a:t>
            </a:r>
            <a:r>
              <a:rPr sz="1200" b="0" i="0" u="none">
                <a:solidFill>
                  <a:srgbClr val="0F172A"/>
                </a:solidFill>
                <a:latin typeface="monospace"/>
              </a:rPr>
              <a:t>    Product, Stock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3AFB7E-1C71-262A-88A1-0636E38B5FF1}"/>
              </a:ext>
            </a:extLst>
          </p:cNvPr>
          <p:cNvSpPr txBox="1"/>
          <p:nvPr/>
        </p:nvSpPr>
        <p:spPr>
          <a:xfrm>
            <a:off x="5563098" y="3453053"/>
            <a:ext cx="21571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0F172A"/>
                </a:solidFill>
                <a:latin typeface="monospace"/>
              </a:rPr>
              <a:t>Invoice</a:t>
            </a:r>
            <a:r>
              <a:rPr dirty="0"/>
              <a:t>
</a:t>
            </a:r>
            <a:r>
              <a:rPr sz="1200" b="0" i="0" u="none" dirty="0">
                <a:solidFill>
                  <a:srgbClr val="0F172A"/>
                </a:solidFill>
                <a:latin typeface="monospace"/>
              </a:rPr>
              <a:t>    Create, Payment</a:t>
            </a:r>
          </a:p>
        </p:txBody>
      </p:sp>
      <p:pic>
        <p:nvPicPr>
          <p:cNvPr id="30" name="Picture 29" descr="image.png">
            <a:extLst>
              <a:ext uri="{FF2B5EF4-FFF2-40B4-BE49-F238E27FC236}">
                <a16:creationId xmlns:a16="http://schemas.microsoft.com/office/drawing/2014/main" id="{61E5B721-F27F-9A91-2215-100B6E6A7F3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2189" y="1183466"/>
            <a:ext cx="476250" cy="47625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2D2E74F-B994-818F-03DF-284A4E268508}"/>
              </a:ext>
            </a:extLst>
          </p:cNvPr>
          <p:cNvSpPr txBox="1"/>
          <p:nvPr/>
        </p:nvSpPr>
        <p:spPr>
          <a:xfrm>
            <a:off x="9269076" y="1321591"/>
            <a:ext cx="21559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>
                <a:solidFill>
                  <a:srgbClr val="0F172A"/>
                </a:solidFill>
                <a:latin typeface="Poppins SemiBold"/>
              </a:rPr>
              <a:t>Context</a:t>
            </a:r>
            <a:r>
              <a:rPr lang="en-IN" sz="1800" b="0" i="0" u="none" dirty="0">
                <a:solidFill>
                  <a:srgbClr val="0F172A"/>
                </a:solidFill>
                <a:latin typeface="Poppins SemiBold"/>
              </a:rPr>
              <a:t>-</a:t>
            </a:r>
            <a:r>
              <a:rPr sz="1800" b="0" i="0" u="none" dirty="0">
                <a:solidFill>
                  <a:srgbClr val="0F172A"/>
                </a:solidFill>
                <a:latin typeface="Poppins SemiBold"/>
              </a:rPr>
              <a:t>Aware</a:t>
            </a:r>
          </a:p>
        </p:txBody>
      </p:sp>
      <p:pic>
        <p:nvPicPr>
          <p:cNvPr id="34" name="Picture 33" descr="image.png">
            <a:extLst>
              <a:ext uri="{FF2B5EF4-FFF2-40B4-BE49-F238E27FC236}">
                <a16:creationId xmlns:a16="http://schemas.microsoft.com/office/drawing/2014/main" id="{882A0E9C-DFF4-A7E1-CF68-679BD979160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9178" y="1405178"/>
            <a:ext cx="257175" cy="2286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3E909B9-3386-C9EC-DD9B-F9AD6805D318}"/>
              </a:ext>
            </a:extLst>
          </p:cNvPr>
          <p:cNvSpPr txBox="1"/>
          <p:nvPr/>
        </p:nvSpPr>
        <p:spPr>
          <a:xfrm>
            <a:off x="5262041" y="2538653"/>
            <a:ext cx="466725" cy="2107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94A3B8"/>
                </a:solidFill>
                <a:latin typeface="monospace"/>
              </a:rPr>
              <a:t>├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98F0DB-254F-2D40-2AD9-A970CA668489}"/>
              </a:ext>
            </a:extLst>
          </p:cNvPr>
          <p:cNvSpPr txBox="1"/>
          <p:nvPr/>
        </p:nvSpPr>
        <p:spPr>
          <a:xfrm>
            <a:off x="5262041" y="2995853"/>
            <a:ext cx="306597" cy="2107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94A3B8"/>
                </a:solidFill>
                <a:latin typeface="monospace"/>
              </a:rPr>
              <a:t>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D22A3C-922F-6B77-4B7C-BBEDDC1C654D}"/>
              </a:ext>
            </a:extLst>
          </p:cNvPr>
          <p:cNvSpPr txBox="1"/>
          <p:nvPr/>
        </p:nvSpPr>
        <p:spPr>
          <a:xfrm>
            <a:off x="5262041" y="3453053"/>
            <a:ext cx="306597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94A3B8"/>
                </a:solidFill>
                <a:latin typeface="monospace"/>
              </a:rPr>
              <a:t>└── </a:t>
            </a:r>
          </a:p>
        </p:txBody>
      </p:sp>
      <p:pic>
        <p:nvPicPr>
          <p:cNvPr id="42" name="Picture 41" descr="image.png">
            <a:extLst>
              <a:ext uri="{FF2B5EF4-FFF2-40B4-BE49-F238E27FC236}">
                <a16:creationId xmlns:a16="http://schemas.microsoft.com/office/drawing/2014/main" id="{1D2CA2AD-8227-4D6B-04FF-8A120F7E02C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56014" y="1307291"/>
            <a:ext cx="228600" cy="22860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FE40426-94BF-0EC7-C272-59D3C5005D5D}"/>
              </a:ext>
            </a:extLst>
          </p:cNvPr>
          <p:cNvSpPr txBox="1"/>
          <p:nvPr/>
        </p:nvSpPr>
        <p:spPr>
          <a:xfrm>
            <a:off x="9653002" y="2240741"/>
            <a:ext cx="694036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334155"/>
                </a:solidFill>
                <a:latin typeface="Inter"/>
              </a:rPr>
              <a:t>Instead of: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0AE494-88C7-BA10-3B01-D4B27A084DF8}"/>
              </a:ext>
            </a:extLst>
          </p:cNvPr>
          <p:cNvSpPr txBox="1"/>
          <p:nvPr/>
        </p:nvSpPr>
        <p:spPr>
          <a:xfrm>
            <a:off x="5003950" y="4209758"/>
            <a:ext cx="28379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Purpose</a:t>
            </a:r>
            <a:endParaRPr lang="en-IN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Represents the complete SDLC structure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Maintains hierarchy between project components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Enables modular navigation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D4B858-718C-3FEB-4BCC-04D8417C0C8D}"/>
              </a:ext>
            </a:extLst>
          </p:cNvPr>
          <p:cNvSpPr txBox="1"/>
          <p:nvPr/>
        </p:nvSpPr>
        <p:spPr>
          <a:xfrm>
            <a:off x="8632189" y="4433948"/>
            <a:ext cx="279281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Benefits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Minimal context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Lower token usage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Faster reasoning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Better accuracy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Reduced hallucination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325909"/>
            <a:ext cx="11049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Deploying via offline models ensures data privacy. Model selection is based on VRAM footprint and training data freshness (crucial for modern API syntax).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2259359"/>
            <a:ext cx="11049000" cy="32956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588914"/>
              </p:ext>
            </p:extLst>
          </p:nvPr>
        </p:nvGraphicFramePr>
        <p:xfrm>
          <a:off x="571500" y="2259359"/>
          <a:ext cx="11039473" cy="3295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0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97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02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Model Tier (4-bit Quant)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Target Hardware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VRAM Reqd.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Knowledge Cutoff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Gemma 4 E4B</a:t>
                      </a:r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 (4B)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Laptops / Integrated GPU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~5 GB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Early 2026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Gemma 4 12B</a:t>
                      </a:r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 (12B)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Consumer GPU (RTX 4070)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8-10 GB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Mid 2026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Inter"/>
                        </a:rPr>
                        <a:t>Mistral Small 3.2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 (24B)</a:t>
                      </a:r>
                      <a:r>
                        <a:rPr lang="en-IN"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 or</a:t>
                      </a:r>
                    </a:p>
                    <a:p>
                      <a:pPr algn="l"/>
                      <a:r>
                        <a:rPr lang="en-IN" sz="1600" b="1" dirty="0"/>
                        <a:t>Gemma 4 </a:t>
                      </a:r>
                      <a:r>
                        <a:rPr lang="en-IN" sz="1600" dirty="0"/>
                        <a:t>(26B A4B)</a:t>
                      </a:r>
                      <a:endParaRPr sz="1500" b="0" i="0" u="none" dirty="0">
                        <a:solidFill>
                          <a:srgbClr val="334155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High-End (RTX 4090)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16 GB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Mid 2025</a:t>
                      </a:r>
                      <a:endParaRPr lang="en-IN" sz="1500" b="0" i="0" u="none" dirty="0">
                        <a:solidFill>
                          <a:srgbClr val="334155"/>
                        </a:solidFill>
                        <a:latin typeface="Inter"/>
                      </a:endParaRPr>
                    </a:p>
                    <a:p>
                      <a:pPr algn="l"/>
                      <a:r>
                        <a:rPr lang="en-IN"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Early 2026</a:t>
                      </a:r>
                      <a:endParaRPr sz="1500" b="0" i="0" u="none" dirty="0">
                        <a:solidFill>
                          <a:srgbClr val="334155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Qwen3-Coder</a:t>
                      </a:r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 (32B)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Workstation / Mac M-Max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20-22 GB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Mid 2025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76262" y="2911822"/>
            <a:ext cx="31163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92574" y="2911822"/>
            <a:ext cx="351502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207597" y="2911822"/>
            <a:ext cx="18978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05453" y="2911822"/>
            <a:ext cx="251028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76262" y="3569047"/>
            <a:ext cx="31163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92574" y="3569047"/>
            <a:ext cx="351502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207597" y="3569047"/>
            <a:ext cx="18978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05453" y="3569047"/>
            <a:ext cx="251028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6262" y="4226272"/>
            <a:ext cx="31163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92574" y="4226272"/>
            <a:ext cx="351502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07597" y="4226272"/>
            <a:ext cx="18978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105453" y="4226272"/>
            <a:ext cx="251028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6262" y="4883497"/>
            <a:ext cx="31163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92574" y="4883497"/>
            <a:ext cx="351502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07597" y="4883497"/>
            <a:ext cx="18978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05453" y="4883497"/>
            <a:ext cx="251028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1500" y="571498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Local Offline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Execution Strategy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209675" y="1815554"/>
            <a:ext cx="451693" cy="1095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sz="7500" b="0" i="0" u="none">
                <a:solidFill>
                  <a:srgbClr val="CBD5E1"/>
                </a:solidFill>
                <a:latin typeface="Arial SemiBold"/>
              </a:rPr>
              <a:t>"</a:t>
            </a:r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7000" y="-20320"/>
            <a:ext cx="12446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89E271-73A2-A27E-5A7A-195F2FB1D8C6}"/>
              </a:ext>
            </a:extLst>
          </p:cNvPr>
          <p:cNvSpPr txBox="1"/>
          <p:nvPr/>
        </p:nvSpPr>
        <p:spPr>
          <a:xfrm>
            <a:off x="701370" y="607695"/>
            <a:ext cx="210025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300" b="1" dirty="0">
                <a:latin typeface="Inter"/>
              </a:rPr>
              <a:t>Conclusion</a:t>
            </a:r>
            <a:endParaRPr lang="en-IN" sz="3300" b="1" dirty="0">
              <a:solidFill>
                <a:srgbClr val="2563EB"/>
              </a:solidFill>
              <a:latin typeface="Inte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FFAFDB-284E-FABD-EC24-FB53EBFFF922}"/>
              </a:ext>
            </a:extLst>
          </p:cNvPr>
          <p:cNvSpPr txBox="1"/>
          <p:nvPr/>
        </p:nvSpPr>
        <p:spPr>
          <a:xfrm>
            <a:off x="701370" y="1564640"/>
            <a:ext cx="10982631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1500" dirty="0">
                <a:latin typeface="Inter"/>
              </a:rPr>
              <a:t>We are proposing an </a:t>
            </a:r>
            <a:r>
              <a:rPr lang="en-IN" sz="1500" b="1" dirty="0">
                <a:latin typeface="Inter"/>
              </a:rPr>
              <a:t>Autonomous Software Development Lifecycle (A-SDLC)</a:t>
            </a:r>
            <a:r>
              <a:rPr lang="en-IN" sz="1500" dirty="0">
                <a:latin typeface="Inter"/>
              </a:rPr>
              <a:t> framework that transforms traditional software engineering into an </a:t>
            </a:r>
            <a:r>
              <a:rPr lang="en-IN" sz="1500" b="1" dirty="0">
                <a:latin typeface="Inter"/>
              </a:rPr>
              <a:t>AI-Orchestrated Software Engineering Organization</a:t>
            </a:r>
            <a:r>
              <a:rPr lang="en-IN" sz="1500" dirty="0">
                <a:latin typeface="Inter"/>
              </a:rPr>
              <a:t>.</a:t>
            </a: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r>
              <a:rPr lang="en-IN" sz="1500" dirty="0">
                <a:latin typeface="Inter"/>
              </a:rPr>
              <a:t>Instead of isolated coding assistants, the system coordinates multiple specialized AI agents across the complete SDLC—from </a:t>
            </a:r>
            <a:r>
              <a:rPr lang="en-IN" sz="1500" b="1" dirty="0">
                <a:latin typeface="Inter"/>
              </a:rPr>
              <a:t>requirements engineering</a:t>
            </a:r>
            <a:r>
              <a:rPr lang="en-IN" sz="1500" dirty="0">
                <a:latin typeface="Inter"/>
              </a:rPr>
              <a:t> to </a:t>
            </a:r>
            <a:r>
              <a:rPr lang="en-IN" sz="1500" b="1" dirty="0">
                <a:latin typeface="Inter"/>
              </a:rPr>
              <a:t>continuous monitoring and learning</a:t>
            </a:r>
            <a:r>
              <a:rPr lang="en-IN" sz="1500" dirty="0">
                <a:latin typeface="Inter"/>
              </a:rPr>
              <a:t>.</a:t>
            </a: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endParaRPr lang="en-IN" sz="1500" dirty="0">
              <a:latin typeface="Inter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0B5A693-1607-FD0D-DBB0-E8445D6CC513}"/>
              </a:ext>
            </a:extLst>
          </p:cNvPr>
          <p:cNvSpPr txBox="1"/>
          <p:nvPr/>
        </p:nvSpPr>
        <p:spPr>
          <a:xfrm>
            <a:off x="835865" y="3271837"/>
            <a:ext cx="5550693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oppins"/>
              </a:rPr>
              <a:t>Expected Outcomes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4E7DDFE-768C-D219-C521-13495D1F11A9}"/>
              </a:ext>
            </a:extLst>
          </p:cNvPr>
          <p:cNvSpPr txBox="1"/>
          <p:nvPr/>
        </p:nvSpPr>
        <p:spPr>
          <a:xfrm>
            <a:off x="1188290" y="377666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Reduced context size and token consumption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7F4456A-FFC2-F6BB-C366-047FB4A94C0D}"/>
              </a:ext>
            </a:extLst>
          </p:cNvPr>
          <p:cNvSpPr txBox="1"/>
          <p:nvPr/>
        </p:nvSpPr>
        <p:spPr>
          <a:xfrm>
            <a:off x="1188290" y="413861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Faster and more accurate software development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1FD3D4B-2D8D-1398-75A5-5798D9FC8104}"/>
              </a:ext>
            </a:extLst>
          </p:cNvPr>
          <p:cNvSpPr txBox="1"/>
          <p:nvPr/>
        </p:nvSpPr>
        <p:spPr>
          <a:xfrm>
            <a:off x="1188290" y="450056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Improved traceability across the SDLC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73D4014-86D0-0F9F-27DA-28FF06974CC3}"/>
              </a:ext>
            </a:extLst>
          </p:cNvPr>
          <p:cNvSpPr txBox="1"/>
          <p:nvPr/>
        </p:nvSpPr>
        <p:spPr>
          <a:xfrm>
            <a:off x="1188290" y="486251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Persistent engineering knowledge</a:t>
            </a:r>
          </a:p>
        </p:txBody>
      </p:sp>
      <p:pic>
        <p:nvPicPr>
          <p:cNvPr id="128" name="Picture 127" descr="image.png">
            <a:extLst>
              <a:ext uri="{FF2B5EF4-FFF2-40B4-BE49-F238E27FC236}">
                <a16:creationId xmlns:a16="http://schemas.microsoft.com/office/drawing/2014/main" id="{B60B6D2B-5DE3-7090-DD1B-1B02FDFE2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3771900"/>
            <a:ext cx="209550" cy="219075"/>
          </a:xfrm>
          <a:prstGeom prst="rect">
            <a:avLst/>
          </a:prstGeom>
        </p:spPr>
      </p:pic>
      <p:pic>
        <p:nvPicPr>
          <p:cNvPr id="130" name="Picture 129" descr="image.png">
            <a:extLst>
              <a:ext uri="{FF2B5EF4-FFF2-40B4-BE49-F238E27FC236}">
                <a16:creationId xmlns:a16="http://schemas.microsoft.com/office/drawing/2014/main" id="{56190B3E-1981-C098-5E90-E0BEE058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4133850"/>
            <a:ext cx="209550" cy="219075"/>
          </a:xfrm>
          <a:prstGeom prst="rect">
            <a:avLst/>
          </a:prstGeom>
        </p:spPr>
      </p:pic>
      <p:pic>
        <p:nvPicPr>
          <p:cNvPr id="132" name="Picture 131" descr="image.png">
            <a:extLst>
              <a:ext uri="{FF2B5EF4-FFF2-40B4-BE49-F238E27FC236}">
                <a16:creationId xmlns:a16="http://schemas.microsoft.com/office/drawing/2014/main" id="{A4CC8115-3F4C-33B4-77DA-E981D8E77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4495800"/>
            <a:ext cx="209550" cy="219075"/>
          </a:xfrm>
          <a:prstGeom prst="rect">
            <a:avLst/>
          </a:prstGeom>
        </p:spPr>
      </p:pic>
      <p:pic>
        <p:nvPicPr>
          <p:cNvPr id="134" name="Picture 133" descr="image.png">
            <a:extLst>
              <a:ext uri="{FF2B5EF4-FFF2-40B4-BE49-F238E27FC236}">
                <a16:creationId xmlns:a16="http://schemas.microsoft.com/office/drawing/2014/main" id="{4D4651EE-C88D-E6BA-38F1-E14847DEF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4857750"/>
            <a:ext cx="209550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4B636A-EEAD-78BB-9121-0D9E5F13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F30942B-D517-8939-2F9F-FFB3488A77E3}"/>
              </a:ext>
            </a:extLst>
          </p:cNvPr>
          <p:cNvSpPr txBox="1"/>
          <p:nvPr/>
        </p:nvSpPr>
        <p:spPr>
          <a:xfrm>
            <a:off x="1209675" y="1815554"/>
            <a:ext cx="451693" cy="1095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sz="7500" b="0" i="0" u="none">
                <a:solidFill>
                  <a:srgbClr val="CBD5E1"/>
                </a:solidFill>
                <a:latin typeface="Arial SemiBold"/>
              </a:rPr>
              <a:t>"</a:t>
            </a:r>
          </a:p>
        </p:txBody>
      </p:sp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D3B9FC-D4F5-728A-3BC6-14807CFC7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F4D3A6-0717-E18B-22C6-D0EBDD70B4CF}"/>
              </a:ext>
            </a:extLst>
          </p:cNvPr>
          <p:cNvSpPr txBox="1"/>
          <p:nvPr/>
        </p:nvSpPr>
        <p:spPr>
          <a:xfrm>
            <a:off x="4521530" y="2967335"/>
            <a:ext cx="31489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5400" b="1" dirty="0">
                <a:solidFill>
                  <a:srgbClr val="2563EB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111202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1046</Words>
  <Application>Microsoft Office PowerPoint</Application>
  <PresentationFormat>Widescreen</PresentationFormat>
  <Paragraphs>185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Arial</vt:lpstr>
      <vt:lpstr>Arial SemiBold</vt:lpstr>
      <vt:lpstr>Calibri</vt:lpstr>
      <vt:lpstr>Inter</vt:lpstr>
      <vt:lpstr>Inter Medium</vt:lpstr>
      <vt:lpstr>Inter SemiBold</vt:lpstr>
      <vt:lpstr>Lato Medium</vt:lpstr>
      <vt:lpstr>monospace</vt:lpstr>
      <vt:lpstr>Poppins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Abhishek Raj</cp:lastModifiedBy>
  <cp:revision>3</cp:revision>
  <dcterms:created xsi:type="dcterms:W3CDTF">2013-01-27T09:14:16Z</dcterms:created>
  <dcterms:modified xsi:type="dcterms:W3CDTF">2026-08-06T13:04:11Z</dcterms:modified>
  <cp:category/>
</cp:coreProperties>
</file>