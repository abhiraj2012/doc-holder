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0" r:id="rId3"/>
    <p:sldId id="273" r:id="rId4"/>
    <p:sldId id="274" r:id="rId5"/>
    <p:sldId id="275" r:id="rId6"/>
    <p:sldId id="257" r:id="rId7"/>
    <p:sldId id="258" r:id="rId8"/>
    <p:sldId id="259" r:id="rId9"/>
    <p:sldId id="261" r:id="rId10"/>
    <p:sldId id="276" r:id="rId11"/>
    <p:sldId id="260" r:id="rId12"/>
    <p:sldId id="262" r:id="rId13"/>
    <p:sldId id="267" r:id="rId14"/>
    <p:sldId id="264" r:id="rId15"/>
    <p:sldId id="265" r:id="rId16"/>
    <p:sldId id="268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6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03" autoAdjust="0"/>
    <p:restoredTop sz="94660"/>
  </p:normalViewPr>
  <p:slideViewPr>
    <p:cSldViewPr snapToGrid="0" snapToObjects="1">
      <p:cViewPr>
        <p:scale>
          <a:sx n="76" d="100"/>
          <a:sy n="76" d="100"/>
        </p:scale>
        <p:origin x="667" y="10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openxmlformats.org/officeDocument/2006/relationships/image" Target="../media/image15.png"/><Relationship Id="rId18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12" Type="http://schemas.microsoft.com/office/2007/relationships/hdphoto" Target="../media/hdphoto5.wdp"/><Relationship Id="rId17" Type="http://schemas.openxmlformats.org/officeDocument/2006/relationships/image" Target="../media/image19.png"/><Relationship Id="rId2" Type="http://schemas.openxmlformats.org/officeDocument/2006/relationships/image" Target="../media/image1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5" Type="http://schemas.openxmlformats.org/officeDocument/2006/relationships/image" Target="../media/image17.png"/><Relationship Id="rId10" Type="http://schemas.microsoft.com/office/2007/relationships/hdphoto" Target="../media/hdphoto4.wdp"/><Relationship Id="rId4" Type="http://schemas.microsoft.com/office/2007/relationships/hdphoto" Target="../media/hdphoto1.wdp"/><Relationship Id="rId9" Type="http://schemas.openxmlformats.org/officeDocument/2006/relationships/image" Target="../media/image13.png"/><Relationship Id="rId1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21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17" Type="http://schemas.openxmlformats.org/officeDocument/2006/relationships/image" Target="../media/image33.png"/><Relationship Id="rId2" Type="http://schemas.openxmlformats.org/officeDocument/2006/relationships/image" Target="../media/image1.png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microsoft.com/office/2007/relationships/hdphoto" Target="../media/hdphoto7.wdp"/><Relationship Id="rId11" Type="http://schemas.openxmlformats.org/officeDocument/2006/relationships/image" Target="../media/image27.png"/><Relationship Id="rId5" Type="http://schemas.openxmlformats.org/officeDocument/2006/relationships/image" Target="../media/image22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4" Type="http://schemas.microsoft.com/office/2007/relationships/hdphoto" Target="../media/hdphoto6.wdp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4.png"/><Relationship Id="rId7" Type="http://schemas.openxmlformats.org/officeDocument/2006/relationships/image" Target="../media/image36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image" Target="../media/image1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microsoft.com/office/2007/relationships/hdphoto" Target="../media/hdphoto9.wdp"/><Relationship Id="rId11" Type="http://schemas.openxmlformats.org/officeDocument/2006/relationships/image" Target="../media/image38.png"/><Relationship Id="rId5" Type="http://schemas.openxmlformats.org/officeDocument/2006/relationships/image" Target="../media/image35.png"/><Relationship Id="rId15" Type="http://schemas.openxmlformats.org/officeDocument/2006/relationships/image" Target="../media/image42.png"/><Relationship Id="rId10" Type="http://schemas.openxmlformats.org/officeDocument/2006/relationships/image" Target="../media/image24.png"/><Relationship Id="rId19" Type="http://schemas.openxmlformats.org/officeDocument/2006/relationships/image" Target="../media/image46.png"/><Relationship Id="rId4" Type="http://schemas.microsoft.com/office/2007/relationships/hdphoto" Target="../media/hdphoto8.wdp"/><Relationship Id="rId9" Type="http://schemas.openxmlformats.org/officeDocument/2006/relationships/image" Target="../media/image25.png"/><Relationship Id="rId1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10" Type="http://schemas.openxmlformats.org/officeDocument/2006/relationships/image" Target="../media/image68.png"/><Relationship Id="rId4" Type="http://schemas.openxmlformats.org/officeDocument/2006/relationships/image" Target="../media/image62.png"/><Relationship Id="rId9" Type="http://schemas.openxmlformats.org/officeDocument/2006/relationships/image" Target="../media/image6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6617" y="2476429"/>
            <a:ext cx="11601450" cy="705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520"/>
              </a:lnSpc>
            </a:pPr>
            <a:r>
              <a:rPr sz="4800" b="1" i="0" u="none" dirty="0">
                <a:solidFill>
                  <a:srgbClr val="0F172A"/>
                </a:solidFill>
                <a:latin typeface="Inter"/>
              </a:rPr>
              <a:t>SDLC</a:t>
            </a:r>
            <a:r>
              <a:rPr lang="en-IN" sz="4800" b="1" i="0" u="none" dirty="0">
                <a:solidFill>
                  <a:srgbClr val="0F172A"/>
                </a:solidFill>
                <a:latin typeface="Inter"/>
              </a:rPr>
              <a:t> </a:t>
            </a:r>
            <a:r>
              <a:rPr lang="en-IN" sz="4800" b="1" dirty="0">
                <a:solidFill>
                  <a:srgbClr val="0F172A"/>
                </a:solidFill>
                <a:latin typeface="Inter"/>
              </a:rPr>
              <a:t>U</a:t>
            </a:r>
            <a:r>
              <a:rPr sz="4800" b="1" i="0" u="none" dirty="0">
                <a:solidFill>
                  <a:srgbClr val="0F172A"/>
                </a:solidFill>
                <a:latin typeface="Inter"/>
              </a:rPr>
              <a:t>sing </a:t>
            </a:r>
            <a:r>
              <a:rPr sz="4800" b="1" i="0" u="none" dirty="0">
                <a:solidFill>
                  <a:srgbClr val="2563EB"/>
                </a:solidFill>
                <a:latin typeface="Inter"/>
              </a:rPr>
              <a:t>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3230910"/>
            <a:ext cx="11049000" cy="396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20"/>
              </a:lnSpc>
            </a:pPr>
            <a:r>
              <a:rPr sz="1950" b="0" i="0" u="none" dirty="0">
                <a:solidFill>
                  <a:srgbClr val="64748B"/>
                </a:solidFill>
                <a:latin typeface="Inter Medium"/>
              </a:rPr>
              <a:t>Building an Adaptive AI Software Engineering Organization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BC449C-DBD9-236B-C1B9-FEF4B80F7E53}"/>
              </a:ext>
            </a:extLst>
          </p:cNvPr>
          <p:cNvSpPr txBox="1"/>
          <p:nvPr/>
        </p:nvSpPr>
        <p:spPr>
          <a:xfrm>
            <a:off x="989371" y="5455177"/>
            <a:ext cx="3936590" cy="7616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3120"/>
              </a:lnSpc>
            </a:pPr>
            <a:r>
              <a:rPr lang="en-IN" sz="1950" b="1" i="0" u="none" dirty="0">
                <a:solidFill>
                  <a:srgbClr val="64748B"/>
                </a:solidFill>
                <a:latin typeface="Inter Medium"/>
              </a:rPr>
              <a:t>Presented By:</a:t>
            </a:r>
          </a:p>
          <a:p>
            <a:pPr>
              <a:lnSpc>
                <a:spcPts val="3120"/>
              </a:lnSpc>
            </a:pPr>
            <a:r>
              <a:rPr lang="en-IN" sz="1950" dirty="0">
                <a:latin typeface="Inter Medium"/>
              </a:rPr>
              <a:t>Abhishek Raj (</a:t>
            </a:r>
            <a:r>
              <a:rPr lang="en-IN" sz="1950" dirty="0" err="1">
                <a:latin typeface="Inter Medium"/>
              </a:rPr>
              <a:t>M.Tech</a:t>
            </a:r>
            <a:r>
              <a:rPr lang="en-IN" sz="1950" dirty="0">
                <a:latin typeface="Inter Medium"/>
              </a:rPr>
              <a:t> Intern)</a:t>
            </a:r>
            <a:endParaRPr sz="1950" b="0" i="0" u="none" dirty="0">
              <a:latin typeface="Inter Medium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8C9C62-C2EA-FF0A-565F-413C1CE45600}"/>
              </a:ext>
            </a:extLst>
          </p:cNvPr>
          <p:cNvSpPr txBox="1"/>
          <p:nvPr/>
        </p:nvSpPr>
        <p:spPr>
          <a:xfrm>
            <a:off x="8407810" y="5455176"/>
            <a:ext cx="3936590" cy="7616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3120"/>
              </a:lnSpc>
            </a:pPr>
            <a:r>
              <a:rPr lang="en-IN" sz="1950" b="1" dirty="0">
                <a:solidFill>
                  <a:srgbClr val="64748B"/>
                </a:solidFill>
                <a:latin typeface="Inter Medium"/>
              </a:rPr>
              <a:t>Guide</a:t>
            </a:r>
            <a:r>
              <a:rPr lang="en-IN" sz="1950" b="1" i="0" u="none" dirty="0">
                <a:solidFill>
                  <a:srgbClr val="64748B"/>
                </a:solidFill>
                <a:latin typeface="Inter Medium"/>
              </a:rPr>
              <a:t>:</a:t>
            </a:r>
          </a:p>
          <a:p>
            <a:pPr>
              <a:lnSpc>
                <a:spcPts val="3120"/>
              </a:lnSpc>
            </a:pPr>
            <a:r>
              <a:rPr lang="en-IN" sz="1950" dirty="0">
                <a:latin typeface="Inter Medium"/>
              </a:rPr>
              <a:t>M.B. Sai Charan (Scientist C)</a:t>
            </a:r>
            <a:endParaRPr sz="1950" b="0" i="0" u="none" dirty="0">
              <a:latin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image.png">
            <a:extLst>
              <a:ext uri="{FF2B5EF4-FFF2-40B4-BE49-F238E27FC236}">
                <a16:creationId xmlns:a16="http://schemas.microsoft.com/office/drawing/2014/main" id="{CCB9C80C-55A6-57DA-D61D-7FFC77EE3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543002"/>
            <a:ext cx="5286375" cy="132397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258" y="2080116"/>
            <a:ext cx="4326194" cy="35333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71500"/>
            <a:ext cx="11601450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>
                <a:solidFill>
                  <a:srgbClr val="0F172A"/>
                </a:solidFill>
                <a:latin typeface="Inter"/>
              </a:rPr>
              <a:t>What is an </a:t>
            </a:r>
            <a:r>
              <a:rPr sz="3150" b="1" i="0" u="none" dirty="0">
                <a:solidFill>
                  <a:schemeClr val="tx2"/>
                </a:solidFill>
                <a:latin typeface="Inter"/>
              </a:rPr>
              <a:t>AI Agent</a:t>
            </a:r>
            <a:r>
              <a:rPr sz="3150" b="1" i="0" u="none" dirty="0">
                <a:solidFill>
                  <a:srgbClr val="0F172A"/>
                </a:solidFill>
                <a:latin typeface="Inter"/>
              </a:rPr>
              <a:t>?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200150"/>
            <a:ext cx="11049000" cy="2857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1500" y="1896665"/>
            <a:ext cx="5603158" cy="9727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ts val="2640"/>
              </a:lnSpc>
            </a:pPr>
            <a:r>
              <a:rPr lang="en-IN" sz="1650" dirty="0">
                <a:solidFill>
                  <a:srgbClr val="334155"/>
                </a:solidFill>
                <a:latin typeface="Inter"/>
              </a:rPr>
              <a:t>A</a:t>
            </a:r>
            <a:r>
              <a:rPr sz="1650" b="0" i="0" u="none" dirty="0">
                <a:solidFill>
                  <a:srgbClr val="334155"/>
                </a:solidFill>
                <a:latin typeface="Inter"/>
              </a:rPr>
              <a:t>n </a:t>
            </a:r>
            <a:r>
              <a:rPr sz="1650" b="1" i="0" u="none" dirty="0">
                <a:solidFill>
                  <a:srgbClr val="334155"/>
                </a:solidFill>
                <a:latin typeface="Inter"/>
              </a:rPr>
              <a:t>AI Agent</a:t>
            </a:r>
            <a:r>
              <a:rPr sz="1650" b="0" i="0" u="none" dirty="0">
                <a:solidFill>
                  <a:srgbClr val="334155"/>
                </a:solidFill>
                <a:latin typeface="Inter"/>
              </a:rPr>
              <a:t> is an autonomous system that uses a Large Language Model (LLM) as its central reasoning engine to actively solve problems.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499" y="3187290"/>
            <a:ext cx="528637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ts val="2400"/>
              </a:lnSpc>
            </a:pPr>
            <a:r>
              <a:rPr sz="1500" b="0" i="0" u="none" dirty="0">
                <a:solidFill>
                  <a:srgbClr val="334155"/>
                </a:solidFill>
                <a:latin typeface="Inter"/>
              </a:rPr>
              <a:t>It observes its environment, breaks down complex goals into actionable steps, and manipulates its surroundings by calling external tools.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50" y="4838277"/>
            <a:ext cx="46672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00000"/>
                </a:solidFill>
                <a:latin typeface="Inter"/>
              </a:rPr>
              <a:t>The Formula: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7787" y="3519487"/>
            <a:ext cx="19050" cy="9525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5350" y="5324052"/>
            <a:ext cx="4667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 dirty="0">
                <a:solidFill>
                  <a:srgbClr val="4F46E5"/>
                </a:solidFill>
                <a:latin typeface="Fira Code"/>
              </a:rPr>
              <a:t>Agent = LLM + Memory + Planning +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86687" y="4471987"/>
            <a:ext cx="2381250" cy="190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6687" y="2976562"/>
            <a:ext cx="2381250" cy="762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47196" y="3138487"/>
            <a:ext cx="1860232" cy="228600"/>
          </a:xfrm>
          <a:prstGeom prst="rect">
            <a:avLst/>
          </a:prstGeom>
          <a:noFill/>
        </p:spPr>
        <p:txBody>
          <a:bodyPr wrap="square" lIns="190500" tIns="0" rIns="0" bIns="0" anchor="t">
            <a:spAutoFit/>
          </a:bodyPr>
          <a:lstStyle/>
          <a:p>
            <a:pPr algn="ctr"/>
            <a:r>
              <a:rPr sz="1500" b="1" i="0" u="none" dirty="0">
                <a:solidFill>
                  <a:srgbClr val="0F172A"/>
                </a:solidFill>
                <a:latin typeface="Inter"/>
              </a:rPr>
              <a:t>LLM 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1487" y="3414712"/>
            <a:ext cx="177165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Inter"/>
              </a:rPr>
              <a:t>Reasoning Engine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5337" y="3157537"/>
            <a:ext cx="190500" cy="19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53562" y="4238163"/>
            <a:ext cx="1428750" cy="5143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737883" y="4400088"/>
            <a:ext cx="860107" cy="190500"/>
          </a:xfrm>
          <a:prstGeom prst="rect">
            <a:avLst/>
          </a:prstGeom>
          <a:noFill/>
        </p:spPr>
        <p:txBody>
          <a:bodyPr wrap="square" lIns="15240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Inter"/>
              </a:rPr>
              <a:t>Tools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67900" y="4419138"/>
            <a:ext cx="152400" cy="152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72312" y="4228330"/>
            <a:ext cx="1428750" cy="5143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56633" y="4390255"/>
            <a:ext cx="860107" cy="190500"/>
          </a:xfrm>
          <a:prstGeom prst="rect">
            <a:avLst/>
          </a:prstGeom>
          <a:noFill/>
        </p:spPr>
        <p:txBody>
          <a:bodyPr wrap="square" lIns="13335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Inter"/>
              </a:rPr>
              <a:t>Memory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81875" y="4409305"/>
            <a:ext cx="13335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Picture 69" descr="image.png">
            <a:extLst>
              <a:ext uri="{FF2B5EF4-FFF2-40B4-BE49-F238E27FC236}">
                <a16:creationId xmlns:a16="http://schemas.microsoft.com/office/drawing/2014/main" id="{070330A2-AAA6-779F-BF61-96A06E6245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71648" y="871081"/>
            <a:ext cx="3530500" cy="286940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330749" y="871081"/>
            <a:ext cx="3530500" cy="286940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089850" y="871081"/>
            <a:ext cx="3530500" cy="286940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2114" y="3828872"/>
            <a:ext cx="4857750" cy="284691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91301" y="3828872"/>
            <a:ext cx="4857750" cy="2846913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9773" y="3136101"/>
            <a:ext cx="3054250" cy="37713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68874" y="3136101"/>
            <a:ext cx="3054250" cy="37713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27975" y="3136101"/>
            <a:ext cx="3054250" cy="37713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362075" y="6164637"/>
            <a:ext cx="4381500" cy="37713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48425" y="6164637"/>
            <a:ext cx="4381500" cy="37713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4014" y="246756"/>
            <a:ext cx="3840480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>
                <a:latin typeface="Inter"/>
              </a:rPr>
              <a:t>Types of </a:t>
            </a:r>
            <a:r>
              <a:rPr sz="3150" b="1" i="0" u="none" dirty="0">
                <a:solidFill>
                  <a:schemeClr val="tx2"/>
                </a:solidFill>
                <a:latin typeface="Inter"/>
              </a:rPr>
              <a:t>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668" y="1069672"/>
            <a:ext cx="2926928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u="none" dirty="0">
                <a:latin typeface="Inter"/>
              </a:rPr>
              <a:t>Simple Reflex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773" y="1421382"/>
            <a:ext cx="305425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 dirty="0">
                <a:solidFill>
                  <a:srgbClr val="475569"/>
                </a:solidFill>
                <a:latin typeface="Inter"/>
              </a:rPr>
              <a:t>React solely to current percepts without considering past experiences, following predefined condition–action rules.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773" y="2917026"/>
            <a:ext cx="30542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94A3B8"/>
                </a:solidFill>
                <a:latin typeface="Inter"/>
              </a:rPr>
              <a:t>EXAMPLES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9486" y="1069672"/>
            <a:ext cx="2906925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u="none" dirty="0">
                <a:latin typeface="Inter"/>
              </a:rPr>
              <a:t>Model-Based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8874" y="1421382"/>
            <a:ext cx="305425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 dirty="0">
                <a:solidFill>
                  <a:srgbClr val="475569"/>
                </a:solidFill>
                <a:latin typeface="Inter"/>
              </a:rPr>
              <a:t>Maintain an internal model (state) of the environment, allowing informed decisions despite partial observability.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8874" y="2917026"/>
            <a:ext cx="30542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94A3B8"/>
                </a:solidFill>
                <a:latin typeface="Inter"/>
              </a:rPr>
              <a:t>EXAMPLES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8588" y="1069672"/>
            <a:ext cx="2906925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u="none" dirty="0">
                <a:latin typeface="Inter"/>
              </a:rPr>
              <a:t>Goal-Based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7975" y="1421382"/>
            <a:ext cx="305425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Inter"/>
              </a:rPr>
              <a:t>Choose actions by evaluating future states and planning a sequence of steps to achieve a specific objective.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7975" y="2917026"/>
            <a:ext cx="30542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94A3B8"/>
                </a:solidFill>
                <a:latin typeface="Inter"/>
              </a:rPr>
              <a:t>EXAMPLES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62692" y="4039210"/>
            <a:ext cx="4300537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u="none" dirty="0">
                <a:latin typeface="Inter"/>
              </a:rPr>
              <a:t>Utility-Based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62075" y="4390920"/>
            <a:ext cx="438150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 dirty="0">
                <a:solidFill>
                  <a:srgbClr val="475569"/>
                </a:solidFill>
                <a:latin typeface="Inter"/>
              </a:rPr>
              <a:t>Evaluate multiple possible actions using a utility function, selecting the option that maximizes overall performance and handles trade-offs efficiently.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62075" y="5945562"/>
            <a:ext cx="4381500" cy="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94A3B8"/>
                </a:solidFill>
                <a:latin typeface="Inter"/>
              </a:rPr>
              <a:t>EXAMPLES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8702" y="4039210"/>
            <a:ext cx="4300537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u="none" dirty="0">
                <a:latin typeface="Inter"/>
              </a:rPr>
              <a:t>Learning Agents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8425" y="4390920"/>
            <a:ext cx="438150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Inter"/>
              </a:rPr>
              <a:t>Improve behavior autonomously over time by continuously learning from data, user feedback, and environment interactions.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8425" y="5945562"/>
            <a:ext cx="4381500" cy="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94A3B8"/>
                </a:solidFill>
                <a:latin typeface="Inter"/>
              </a:rPr>
              <a:t>EXAMPLES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273" y="2141132"/>
            <a:ext cx="286375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No memory capacity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0273" y="2384912"/>
            <a:ext cx="286375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Rule-based decisions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0273" y="2628693"/>
            <a:ext cx="286375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Fast but inflexible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9374" y="2141132"/>
            <a:ext cx="286375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Maintains internal state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9374" y="2384912"/>
            <a:ext cx="286375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Handles partial observability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9374" y="2628693"/>
            <a:ext cx="286375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Updates knowledge continuously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18475" y="2141132"/>
            <a:ext cx="286375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Goal-oriented approach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18475" y="2384912"/>
            <a:ext cx="286375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Planning &amp; search capabilities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18475" y="2628693"/>
            <a:ext cx="286375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Evaluates possible actions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2575" y="5071345"/>
            <a:ext cx="419100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Decision optimization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52575" y="5315126"/>
            <a:ext cx="4191000" cy="86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Handles complex trade-offs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52575" y="5558906"/>
            <a:ext cx="4191000" cy="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Maximizes expected reward/utility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38925" y="5071345"/>
            <a:ext cx="419100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Self-improving over time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38925" y="5315126"/>
            <a:ext cx="4191000" cy="86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Learns directly from experience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38925" y="5558906"/>
            <a:ext cx="4191000" cy="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Adapts to changing environments</a:t>
            </a:r>
          </a:p>
        </p:txBody>
      </p:sp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9773" y="2150657"/>
            <a:ext cx="133350" cy="142875"/>
          </a:xfrm>
          <a:prstGeom prst="rect">
            <a:avLst/>
          </a:prstGeom>
        </p:spPr>
      </p:pic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9773" y="2394437"/>
            <a:ext cx="133350" cy="142875"/>
          </a:xfrm>
          <a:prstGeom prst="rect">
            <a:avLst/>
          </a:prstGeom>
        </p:spPr>
      </p:pic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9773" y="2638218"/>
            <a:ext cx="133350" cy="142875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68874" y="2150657"/>
            <a:ext cx="133350" cy="142875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68874" y="2394437"/>
            <a:ext cx="133350" cy="142875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68874" y="2638218"/>
            <a:ext cx="133350" cy="142875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27975" y="2150657"/>
            <a:ext cx="133350" cy="142875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27975" y="2394437"/>
            <a:ext cx="133350" cy="142875"/>
          </a:xfrm>
          <a:prstGeom prst="rect">
            <a:avLst/>
          </a:prstGeom>
        </p:spPr>
      </p:pic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27975" y="2638218"/>
            <a:ext cx="133350" cy="142875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62075" y="5080870"/>
            <a:ext cx="133350" cy="142875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62075" y="5324651"/>
            <a:ext cx="133350" cy="142875"/>
          </a:xfrm>
          <a:prstGeom prst="rect">
            <a:avLst/>
          </a:prstGeom>
        </p:spPr>
      </p:pic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62075" y="5568431"/>
            <a:ext cx="133350" cy="142875"/>
          </a:xfrm>
          <a:prstGeom prst="rect">
            <a:avLst/>
          </a:prstGeom>
        </p:spPr>
      </p:pic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48425" y="5080870"/>
            <a:ext cx="133350" cy="142875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48425" y="5324651"/>
            <a:ext cx="133350" cy="142875"/>
          </a:xfrm>
          <a:prstGeom prst="rect">
            <a:avLst/>
          </a:prstGeom>
        </p:spPr>
      </p:pic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48425" y="5568431"/>
            <a:ext cx="133350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image.png">
            <a:extLst>
              <a:ext uri="{FF2B5EF4-FFF2-40B4-BE49-F238E27FC236}">
                <a16:creationId xmlns:a16="http://schemas.microsoft.com/office/drawing/2014/main" id="{74364B87-57FD-92D9-238E-F5AA79144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46200" y="2300610"/>
            <a:ext cx="5381625" cy="333048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38875" y="2300610"/>
            <a:ext cx="5381625" cy="333048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725" y="3857055"/>
            <a:ext cx="4791075" cy="94476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4150" y="3867472"/>
            <a:ext cx="4791075" cy="94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0550" y="823931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 dirty="0">
                <a:solidFill>
                  <a:srgbClr val="2563EB"/>
                </a:solidFill>
                <a:latin typeface="Inter"/>
              </a:rPr>
              <a:t>AI Agent</a:t>
            </a:r>
            <a:r>
              <a:rPr sz="3300" b="1" i="0" u="none" dirty="0">
                <a:solidFill>
                  <a:srgbClr val="0F172A"/>
                </a:solidFill>
                <a:latin typeface="Inter"/>
              </a:rPr>
              <a:t> Architectures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414481"/>
            <a:ext cx="11049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 dirty="0">
                <a:solidFill>
                  <a:srgbClr val="64748B"/>
                </a:solidFill>
                <a:latin typeface="Inter"/>
              </a:rPr>
              <a:t>Different patterns for designing agents based on how they reason, act, and collaborate.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476" y="3013200"/>
            <a:ext cx="4791075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475569"/>
                </a:solidFill>
                <a:latin typeface="Inter"/>
              </a:rPr>
              <a:t>A single agent follows an iterative loop: observe the environment, reason about what to do next, act using tools, evaluate the result, and repeat until the task is complete.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4150" y="3195960"/>
            <a:ext cx="47910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A pipeline where tasks are executed in a fixed, linear order. The output of one step becomes the input to the next.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174" y="2601783"/>
            <a:ext cx="2910363" cy="2952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 dirty="0">
                <a:solidFill>
                  <a:srgbClr val="1E3A8A"/>
                </a:solidFill>
                <a:latin typeface="Inter"/>
              </a:rPr>
              <a:t>1. </a:t>
            </a:r>
            <a:r>
              <a:rPr sz="1950" b="1" i="0" u="none" dirty="0" err="1">
                <a:solidFill>
                  <a:srgbClr val="1E3A8A"/>
                </a:solidFill>
                <a:latin typeface="Inter"/>
              </a:rPr>
              <a:t>ReAct</a:t>
            </a:r>
            <a:r>
              <a:rPr sz="1950" b="1" i="0" u="none" dirty="0">
                <a:solidFill>
                  <a:srgbClr val="1E3A8A"/>
                </a:solidFill>
                <a:latin typeface="Inter"/>
              </a:rPr>
              <a:t> (Reason &amp; Act)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64963" y="4262760"/>
            <a:ext cx="114300" cy="1333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3814" y="4262760"/>
            <a:ext cx="114300" cy="1333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2666" y="4262760"/>
            <a:ext cx="114300" cy="1333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34150" y="2631383"/>
            <a:ext cx="2930366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 dirty="0">
                <a:solidFill>
                  <a:schemeClr val="tx2"/>
                </a:solidFill>
                <a:latin typeface="Inter"/>
              </a:rPr>
              <a:t>2. Sequential Workflow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3388" y="4273177"/>
            <a:ext cx="114300" cy="13335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72239" y="4273177"/>
            <a:ext cx="114300" cy="13335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1091" y="4273177"/>
            <a:ext cx="114300" cy="1333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87250" y="4982338"/>
            <a:ext cx="2415301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2563EB"/>
                </a:solidFill>
                <a:latin typeface="Inter SemiBold"/>
              </a:rPr>
              <a:t>Example Use Cases</a:t>
            </a:r>
            <a:r>
              <a:rPr lang="en-IN" sz="1125" b="0" i="0" u="none" dirty="0">
                <a:solidFill>
                  <a:srgbClr val="2563EB"/>
                </a:solidFill>
                <a:latin typeface="Inter SemiBold"/>
              </a:rPr>
              <a:t>:</a:t>
            </a:r>
            <a:endParaRPr sz="1125" b="0" i="0" u="none" dirty="0">
              <a:solidFill>
                <a:srgbClr val="2563EB"/>
              </a:solidFill>
              <a:latin typeface="Inter SemiBold"/>
            </a:endParaRP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68150" y="4009455"/>
            <a:ext cx="219075" cy="190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63375" y="4257105"/>
            <a:ext cx="428625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125" y="4439866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Perceive the environment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71289" y="4009455"/>
            <a:ext cx="190500" cy="1905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376039" y="4257105"/>
            <a:ext cx="381000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Reason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56976" y="4439866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Decide what to do next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60140" y="4009455"/>
            <a:ext cx="190500" cy="1905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636315" y="4257105"/>
            <a:ext cx="438150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Call Tool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45828" y="4439866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Use tools or APIs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72804" y="4009455"/>
            <a:ext cx="142875" cy="1905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925167" y="4257105"/>
            <a:ext cx="438150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Evaluate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34679" y="4439866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Review result &amp; feedback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68875" y="5000494"/>
            <a:ext cx="2415301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chemeClr val="tx2"/>
                </a:solidFill>
                <a:latin typeface="Inter SemiBold"/>
              </a:rPr>
              <a:t>Example Use Cases</a:t>
            </a:r>
            <a:r>
              <a:rPr lang="en-IN" sz="1125" b="0" i="0" u="none" dirty="0">
                <a:solidFill>
                  <a:schemeClr val="tx2"/>
                </a:solidFill>
                <a:latin typeface="Inter SemiBold"/>
              </a:rPr>
              <a:t>:</a:t>
            </a:r>
            <a:endParaRPr sz="1125" b="0" i="0" u="none" dirty="0">
              <a:solidFill>
                <a:schemeClr val="tx2"/>
              </a:solidFill>
              <a:latin typeface="Inter SemiBold"/>
            </a:endParaRP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24675" y="4019872"/>
            <a:ext cx="142875" cy="1905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819900" y="4267522"/>
            <a:ext cx="352425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Extract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86550" y="4450283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Get data from source</a:t>
            </a:r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89714" y="4019872"/>
            <a:ext cx="190500" cy="1905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27789" y="4267522"/>
            <a:ext cx="514350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Transform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75401" y="4450283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Clean, format &amp; structure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478565" y="4019872"/>
            <a:ext cx="190500" cy="1905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69028" y="4267522"/>
            <a:ext cx="409575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Analyze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64253" y="4450283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Compute insights</a:t>
            </a: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753129" y="4019872"/>
            <a:ext cx="219075" cy="1905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624542" y="4267522"/>
            <a:ext cx="476250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Generate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53104" y="4450283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Create final output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88169" y="4971367"/>
            <a:ext cx="2090737" cy="1797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470"/>
              </a:lnSpc>
            </a:pPr>
            <a:r>
              <a:rPr sz="1050" b="0" i="0" u="none" dirty="0">
                <a:solidFill>
                  <a:srgbClr val="334155"/>
                </a:solidFill>
                <a:latin typeface="Inter"/>
              </a:rPr>
              <a:t>Q&amp;A</a:t>
            </a:r>
            <a:r>
              <a:rPr lang="en-IN" sz="1050" dirty="0">
                <a:solidFill>
                  <a:srgbClr val="334155"/>
                </a:solidFill>
                <a:latin typeface="Inter"/>
              </a:rPr>
              <a:t>, Code generation &amp; debugging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37834" y="4982338"/>
            <a:ext cx="3431109" cy="3721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470"/>
              </a:lnSpc>
            </a:pPr>
            <a:r>
              <a:rPr sz="1050" b="0" i="0" u="none" dirty="0">
                <a:solidFill>
                  <a:srgbClr val="334155"/>
                </a:solidFill>
                <a:latin typeface="Inter"/>
              </a:rPr>
              <a:t>Document processing pipeline</a:t>
            </a:r>
            <a:r>
              <a:rPr lang="en-IN" sz="1050" dirty="0">
                <a:solidFill>
                  <a:srgbClr val="334155"/>
                </a:solidFill>
                <a:latin typeface="Inter"/>
              </a:rPr>
              <a:t>, Report generation</a:t>
            </a:r>
          </a:p>
          <a:p>
            <a:pPr algn="l">
              <a:lnSpc>
                <a:spcPts val="1470"/>
              </a:lnSpc>
            </a:pPr>
            <a:endParaRPr sz="1050" b="0" i="0" u="none" dirty="0">
              <a:solidFill>
                <a:srgbClr val="334155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Picture 94" descr="image.png">
            <a:extLst>
              <a:ext uri="{FF2B5EF4-FFF2-40B4-BE49-F238E27FC236}">
                <a16:creationId xmlns:a16="http://schemas.microsoft.com/office/drawing/2014/main" id="{9138DB2E-103A-B6F8-7A56-44914CD168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90550" y="2171164"/>
            <a:ext cx="5381625" cy="3256697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57925" y="2171164"/>
            <a:ext cx="5381625" cy="325669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075" y="3764321"/>
            <a:ext cx="4791075" cy="94476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3200" y="3697646"/>
            <a:ext cx="4791075" cy="94476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4026" y="3897671"/>
            <a:ext cx="1905000" cy="5447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85825" y="3066514"/>
            <a:ext cx="47910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A supervisor (router) interprets the intent of the prompt and routes it to the most suitable specialized worker agent.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200" y="3066514"/>
            <a:ext cx="47910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Multiple agents with different roles collaborate, communicate, and debate to solve complex problems under a coordinating agent.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825" y="2639808"/>
            <a:ext cx="2920365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 dirty="0">
                <a:solidFill>
                  <a:schemeClr val="tx2"/>
                </a:solidFill>
                <a:latin typeface="Inter"/>
              </a:rPr>
              <a:t>3. Routing Architecture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0400" y="4170026"/>
            <a:ext cx="114300" cy="1333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65427" y="4170026"/>
            <a:ext cx="114300" cy="1333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01928" y="4170026"/>
            <a:ext cx="114300" cy="1333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24729" y="2581690"/>
            <a:ext cx="2760345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 dirty="0">
                <a:solidFill>
                  <a:schemeClr val="tx2"/>
                </a:solidFill>
                <a:latin typeface="Inter"/>
              </a:rPr>
              <a:t>4. Multi-Agent Swarm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99287" y="4103351"/>
            <a:ext cx="114300" cy="13335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15163" y="4103351"/>
            <a:ext cx="114300" cy="13335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83589" y="4103351"/>
            <a:ext cx="114300" cy="1333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83259" y="4873951"/>
            <a:ext cx="2415301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chemeClr val="tx2"/>
                </a:solidFill>
                <a:latin typeface="Inter SemiBold"/>
              </a:rPr>
              <a:t>Example Use Cases</a:t>
            </a:r>
            <a:r>
              <a:rPr lang="en-IN" sz="1125" b="0" i="0" u="none" dirty="0">
                <a:solidFill>
                  <a:schemeClr val="tx2"/>
                </a:solidFill>
                <a:latin typeface="Inter SemiBold"/>
              </a:rPr>
              <a:t>:</a:t>
            </a:r>
            <a:endParaRPr sz="1125" b="0" i="0" u="none" dirty="0">
              <a:solidFill>
                <a:schemeClr val="tx2"/>
              </a:solidFill>
              <a:latin typeface="Inter SemiBold"/>
            </a:endParaRP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9312" y="3969108"/>
            <a:ext cx="171450" cy="1905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84525" y="4216758"/>
            <a:ext cx="581025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User Query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5475" y="4399519"/>
            <a:ext cx="619125" cy="10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Input / Request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21001" y="3916721"/>
            <a:ext cx="238125" cy="1905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368614" y="4164371"/>
            <a:ext cx="342900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Router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30501" y="4347132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Understand intent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71765" y="3916721"/>
            <a:ext cx="238125" cy="1905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395528" y="4164371"/>
            <a:ext cx="990600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Specialized Agents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81265" y="4347132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Tech Support | Billing</a:t>
            </a: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46342" y="3916721"/>
            <a:ext cx="190500" cy="1905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4417" y="4164371"/>
            <a:ext cx="514350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Response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2029" y="4347132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Return best answer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5505" y="4860445"/>
            <a:ext cx="2415301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7C3AED"/>
                </a:solidFill>
                <a:latin typeface="Inter SemiBold"/>
              </a:rPr>
              <a:t>Example Use Cases</a:t>
            </a:r>
            <a:r>
              <a:rPr lang="en-IN" sz="1125" b="0" i="0" u="none" dirty="0">
                <a:solidFill>
                  <a:srgbClr val="7C3AED"/>
                </a:solidFill>
                <a:latin typeface="Inter SemiBold"/>
              </a:rPr>
              <a:t>:</a:t>
            </a:r>
            <a:endParaRPr sz="1125" b="0" i="0" u="none" dirty="0">
              <a:solidFill>
                <a:srgbClr val="7C3AED"/>
              </a:solidFill>
              <a:latin typeface="Inter SemiBold"/>
            </a:endParaRP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19912" y="3850046"/>
            <a:ext cx="190500" cy="1905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767512" y="4097696"/>
            <a:ext cx="495300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User Goal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05600" y="4280457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Define objective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78650" y="3902433"/>
            <a:ext cx="171450" cy="1905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640538" y="4150083"/>
            <a:ext cx="447675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Manager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8150" y="4332844"/>
            <a:ext cx="552450" cy="10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Plan &amp; assign</a:t>
            </a:r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762952" y="3850046"/>
            <a:ext cx="238125" cy="1905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572452" y="4097696"/>
            <a:ext cx="619125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Final Output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72452" y="4280457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Integrated result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38177" y="4860445"/>
            <a:ext cx="2090737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 dirty="0">
                <a:solidFill>
                  <a:srgbClr val="334155"/>
                </a:solidFill>
                <a:latin typeface="Inter"/>
              </a:rPr>
              <a:t>Customer support automation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59299" y="4846158"/>
            <a:ext cx="3184976" cy="3721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470"/>
              </a:lnSpc>
            </a:pPr>
            <a:r>
              <a:rPr sz="1050" b="0" i="0" u="none" dirty="0">
                <a:solidFill>
                  <a:srgbClr val="334155"/>
                </a:solidFill>
                <a:latin typeface="Inter"/>
              </a:rPr>
              <a:t>Software development teams</a:t>
            </a:r>
            <a:r>
              <a:rPr lang="en-IN" sz="1050" dirty="0">
                <a:solidFill>
                  <a:srgbClr val="334155"/>
                </a:solidFill>
                <a:latin typeface="Inter"/>
              </a:rPr>
              <a:t>, Threat analysis &amp; support</a:t>
            </a:r>
          </a:p>
          <a:p>
            <a:pPr algn="l">
              <a:lnSpc>
                <a:spcPts val="1470"/>
              </a:lnSpc>
            </a:pPr>
            <a:endParaRPr sz="1050" b="0" i="0" u="none" dirty="0">
              <a:solidFill>
                <a:srgbClr val="334155"/>
              </a:solidFill>
              <a:latin typeface="Inter"/>
            </a:endParaRPr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65951" y="3983396"/>
            <a:ext cx="238125" cy="1905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8527851" y="4231046"/>
            <a:ext cx="314325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Coder</a:t>
            </a:r>
          </a:p>
        </p:txBody>
      </p:sp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180314" y="3983396"/>
            <a:ext cx="190500" cy="19050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8985051" y="4231046"/>
            <a:ext cx="581025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Researcher</a:t>
            </a:r>
          </a:p>
        </p:txBody>
      </p:sp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875639" y="3983396"/>
            <a:ext cx="142875" cy="1905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9708951" y="4231046"/>
            <a:ext cx="476250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Reviewer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3517DB-AEFF-E33D-E286-BF5C7AB743C1}"/>
              </a:ext>
            </a:extLst>
          </p:cNvPr>
          <p:cNvSpPr/>
          <p:nvPr/>
        </p:nvSpPr>
        <p:spPr>
          <a:xfrm>
            <a:off x="8913227" y="3807184"/>
            <a:ext cx="832425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7" name="TextBox 46"/>
          <p:cNvSpPr txBox="1"/>
          <p:nvPr/>
        </p:nvSpPr>
        <p:spPr>
          <a:xfrm>
            <a:off x="9030324" y="3819476"/>
            <a:ext cx="876300" cy="923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0" b="0" i="0" u="none" dirty="0">
                <a:solidFill>
                  <a:srgbClr val="64748B"/>
                </a:solidFill>
                <a:latin typeface="Inter"/>
              </a:rPr>
              <a:t>Specialized Agents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255A733-BA81-94FA-1448-17A55E69EA2A}"/>
              </a:ext>
            </a:extLst>
          </p:cNvPr>
          <p:cNvSpPr txBox="1"/>
          <p:nvPr/>
        </p:nvSpPr>
        <p:spPr>
          <a:xfrm>
            <a:off x="590550" y="823931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 dirty="0">
                <a:solidFill>
                  <a:srgbClr val="2563EB"/>
                </a:solidFill>
                <a:latin typeface="Inter"/>
              </a:rPr>
              <a:t>AI Agent</a:t>
            </a:r>
            <a:r>
              <a:rPr sz="3300" b="1" i="0" u="none" dirty="0">
                <a:solidFill>
                  <a:srgbClr val="0F172A"/>
                </a:solidFill>
                <a:latin typeface="Inter"/>
              </a:rPr>
              <a:t> Architectures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D54F9D0-DC63-F4AC-87A5-525C869D9E61}"/>
              </a:ext>
            </a:extLst>
          </p:cNvPr>
          <p:cNvSpPr txBox="1"/>
          <p:nvPr/>
        </p:nvSpPr>
        <p:spPr>
          <a:xfrm>
            <a:off x="590550" y="1414481"/>
            <a:ext cx="11049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 dirty="0">
                <a:solidFill>
                  <a:srgbClr val="64748B"/>
                </a:solidFill>
                <a:latin typeface="Inter"/>
              </a:rPr>
              <a:t>Different patterns for designing agents based on how they reason, act, and collaborate.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90539" y="1711982"/>
            <a:ext cx="9013639" cy="265902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5591" y="1317946"/>
            <a:ext cx="10848822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defRPr sz="2000"/>
            </a:pPr>
            <a:r>
              <a:rPr lang="en-US" sz="1600" dirty="0">
                <a:latin typeface="Inter"/>
              </a:rPr>
              <a:t>The Traditional Software Development Life Cycle (SDLC) is the structured framework that engineering teams follow to plan, design, build, test, and deploy software applications from initial concept.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542032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 dirty="0">
                <a:solidFill>
                  <a:srgbClr val="0F172A"/>
                </a:solidFill>
                <a:latin typeface="Inter"/>
              </a:rPr>
              <a:t>The 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Traditional SDLC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3CF981-F4E7-6250-EC53-D95CA12BD3A0}"/>
              </a:ext>
            </a:extLst>
          </p:cNvPr>
          <p:cNvSpPr txBox="1"/>
          <p:nvPr/>
        </p:nvSpPr>
        <p:spPr>
          <a:xfrm>
            <a:off x="615591" y="4185837"/>
            <a:ext cx="10848822" cy="17235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defRPr sz="2000"/>
            </a:pPr>
            <a:r>
              <a:rPr lang="en-IN" sz="1600" dirty="0">
                <a:latin typeface="Inter"/>
              </a:rPr>
              <a:t>This Manual SDLC execution creates severe friction—engineers waste most of their time on administrative handoffs, environment setups, regression testing, and ticketing overhead instead of writing core logic.</a:t>
            </a:r>
          </a:p>
          <a:p>
            <a:pPr algn="just">
              <a:defRPr sz="2000"/>
            </a:pPr>
            <a:endParaRPr lang="en-IN" sz="1600" b="1" dirty="0">
              <a:latin typeface="Inter"/>
            </a:endParaRPr>
          </a:p>
          <a:p>
            <a:pPr algn="just">
              <a:defRPr sz="2000"/>
            </a:pPr>
            <a:r>
              <a:rPr lang="en-US" sz="1600" b="1" dirty="0">
                <a:solidFill>
                  <a:schemeClr val="accent1">
                    <a:lumMod val="50000"/>
                  </a:schemeClr>
                </a:solidFill>
                <a:latin typeface="Inter"/>
              </a:rPr>
              <a:t>So, Our Aim is to automate the Traditional SDLC </a:t>
            </a:r>
            <a:r>
              <a:rPr lang="en-IN" sz="1600" b="1" dirty="0">
                <a:solidFill>
                  <a:schemeClr val="accent1">
                    <a:lumMod val="50000"/>
                  </a:schemeClr>
                </a:solidFill>
                <a:latin typeface="Inter"/>
              </a:rPr>
              <a:t>with Agentic AI, </a:t>
            </a:r>
            <a:r>
              <a:rPr lang="en-IN" sz="1600" dirty="0">
                <a:latin typeface="Inter"/>
              </a:rPr>
              <a:t>which will replaces these static bottlenecks with continuous, self-healing pipelines that autonomously execute tests, patch build failures, flag vulnerabilities, and manage releases. This </a:t>
            </a:r>
            <a:r>
              <a:rPr lang="en-IN" sz="1600" b="1" dirty="0">
                <a:latin typeface="Inter"/>
              </a:rPr>
              <a:t>eliminates human error, compresses cycle times from months to hours, and frees development teams to focus on high-value architecture and innovation.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1473077"/>
            <a:ext cx="110490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 dirty="0">
                <a:solidFill>
                  <a:srgbClr val="334155"/>
                </a:solidFill>
                <a:latin typeface="Inter"/>
              </a:rPr>
              <a:t>Agentic AI consists of autonomous AI agents capable of planning, reasoning, using tools, maintaining memory, and collaborating to achieve complex goals.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2457450"/>
            <a:ext cx="11049000" cy="3295650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195504"/>
              </p:ext>
            </p:extLst>
          </p:nvPr>
        </p:nvGraphicFramePr>
        <p:xfrm>
          <a:off x="571500" y="2457450"/>
          <a:ext cx="11039473" cy="329565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185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42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73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Capability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0F172A"/>
                          </a:solidFill>
                          <a:latin typeface="Inter SemiBold"/>
                        </a:rPr>
                        <a:t>Standard Chatbot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Agentic AI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Execution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Passive (Answers queries)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Autonomous (Acts &amp; Uses Tools)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Workflow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Single-step generation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Multi-step reasoning &amp; execution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Context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No Memory (Session bound)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Persistent Memory (Context aware)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Strategy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No Planning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Inter"/>
                        </a:rPr>
                        <a:t>Goal Planning &amp; Reflection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76262" y="3109912"/>
            <a:ext cx="185916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435423" y="3109912"/>
            <a:ext cx="414292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78351" y="3109912"/>
            <a:ext cx="50373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76262" y="3767137"/>
            <a:ext cx="185916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435423" y="3767137"/>
            <a:ext cx="414292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78351" y="3767137"/>
            <a:ext cx="50373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76262" y="4424362"/>
            <a:ext cx="185916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435423" y="4424362"/>
            <a:ext cx="414292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578351" y="4424362"/>
            <a:ext cx="50373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76262" y="5081587"/>
            <a:ext cx="185916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435423" y="5081587"/>
            <a:ext cx="414292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78351" y="5081587"/>
            <a:ext cx="50373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1500" y="57150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>
                <a:solidFill>
                  <a:srgbClr val="0F172A"/>
                </a:solidFill>
                <a:latin typeface="Inter"/>
              </a:rPr>
              <a:t>Beyond Code Generation: </a:t>
            </a:r>
            <a:r>
              <a:rPr sz="3300" b="1" i="0" u="none">
                <a:solidFill>
                  <a:srgbClr val="2563EB"/>
                </a:solidFill>
                <a:latin typeface="Inter"/>
              </a:rPr>
              <a:t>Agentic 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" y="37572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 dirty="0">
                <a:solidFill>
                  <a:srgbClr val="0F172A"/>
                </a:solidFill>
                <a:latin typeface="Inter"/>
              </a:rPr>
              <a:t>Agentic 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Frameworks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29F9555-D699-C3C4-1F84-8A79F8D652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4690624"/>
              </p:ext>
            </p:extLst>
          </p:nvPr>
        </p:nvGraphicFramePr>
        <p:xfrm>
          <a:off x="571500" y="1063176"/>
          <a:ext cx="10951908" cy="5419104"/>
        </p:xfrm>
        <a:graphic>
          <a:graphicData uri="http://schemas.openxmlformats.org/drawingml/2006/table">
            <a:tbl>
              <a:tblPr/>
              <a:tblGrid>
                <a:gridCol w="1825318">
                  <a:extLst>
                    <a:ext uri="{9D8B030D-6E8A-4147-A177-3AD203B41FA5}">
                      <a16:colId xmlns:a16="http://schemas.microsoft.com/office/drawing/2014/main" val="3296468212"/>
                    </a:ext>
                  </a:extLst>
                </a:gridCol>
                <a:gridCol w="1825318">
                  <a:extLst>
                    <a:ext uri="{9D8B030D-6E8A-4147-A177-3AD203B41FA5}">
                      <a16:colId xmlns:a16="http://schemas.microsoft.com/office/drawing/2014/main" val="2433383122"/>
                    </a:ext>
                  </a:extLst>
                </a:gridCol>
                <a:gridCol w="1825318">
                  <a:extLst>
                    <a:ext uri="{9D8B030D-6E8A-4147-A177-3AD203B41FA5}">
                      <a16:colId xmlns:a16="http://schemas.microsoft.com/office/drawing/2014/main" val="3440802060"/>
                    </a:ext>
                  </a:extLst>
                </a:gridCol>
                <a:gridCol w="1749527">
                  <a:extLst>
                    <a:ext uri="{9D8B030D-6E8A-4147-A177-3AD203B41FA5}">
                      <a16:colId xmlns:a16="http://schemas.microsoft.com/office/drawing/2014/main" val="313064993"/>
                    </a:ext>
                  </a:extLst>
                </a:gridCol>
                <a:gridCol w="1901109">
                  <a:extLst>
                    <a:ext uri="{9D8B030D-6E8A-4147-A177-3AD203B41FA5}">
                      <a16:colId xmlns:a16="http://schemas.microsoft.com/office/drawing/2014/main" val="1155137944"/>
                    </a:ext>
                  </a:extLst>
                </a:gridCol>
                <a:gridCol w="1825318">
                  <a:extLst>
                    <a:ext uri="{9D8B030D-6E8A-4147-A177-3AD203B41FA5}">
                      <a16:colId xmlns:a16="http://schemas.microsoft.com/office/drawing/2014/main" val="2842996800"/>
                    </a:ext>
                  </a:extLst>
                </a:gridCol>
              </a:tblGrid>
              <a:tr h="468216"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Framework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Execution Model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Core Strengths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Key Limitations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Ideal Use Cases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Offline / Local Capability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6376244"/>
                  </a:ext>
                </a:extLst>
              </a:tr>
              <a:tr h="1123048"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 err="1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LangChain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Chained Prompting &amp; Tools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Rich toolset, extensive RAG ecosystem, vast API integrations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Workflow complexity at scale, abstractions can hide errors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General LLM applications, retrieval-augmented generation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Excellent:</a:t>
                      </a: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 Natively connects to local LLMs (</a:t>
                      </a:r>
                      <a:r>
                        <a:rPr lang="en-IN" sz="1400" dirty="0" err="1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Ollama</a:t>
                      </a: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, Llama.cpp) and local vector stores (Chroma).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3084250"/>
                  </a:ext>
                </a:extLst>
              </a:tr>
              <a:tr h="1123048"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 err="1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LangGraph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Stateful Graph Orchestration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Cycles and loops, robust state persistence, time-travel debugging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Steeper learning curve, excessive setup for simple tasks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Production-grade multi-agent systems, human-in-the-loop control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b="1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Excellent:</a:t>
                      </a:r>
                      <a:r>
                        <a:rPr lang="en-IN" sz="140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 Inherits LangChain's local capabilities; operates entirely offline with self-hosted models.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7860845"/>
                  </a:ext>
                </a:extLst>
              </a:tr>
              <a:tr h="1341325"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 err="1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CrewAI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Role-based Team Collaboration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Easy setup, intuitive agent personas, automatic task delegation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Limited dynamic branching and complex workflow flow control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Autonomous research pipelines, content creation, structured teams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Strong:</a:t>
                      </a: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 Explicitly supports local execution by binding agents to local endpoints via </a:t>
                      </a:r>
                      <a:r>
                        <a:rPr lang="en-IN" sz="1400" dirty="0" err="1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Ollama</a:t>
                      </a: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 or </a:t>
                      </a:r>
                      <a:r>
                        <a:rPr lang="en-IN" sz="1400" dirty="0" err="1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LiteLLM</a:t>
                      </a: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.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6865933"/>
                  </a:ext>
                </a:extLst>
              </a:tr>
              <a:tr h="1341325"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OpenAI Agents SDK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Lightweight Handoffs &amp; Guardrails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Minimal abstractions, built-in tracing, standardized routing primitives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Lacks built-in persistent long-term memory or native graph structures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Rapid deployment of production agents, voice pipelines, clear delegation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Very Good:</a:t>
                      </a: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 Provider-agnostic design allows it to run offline by routing to local models via the Chat Completions API.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19998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1120" y="-12025"/>
            <a:ext cx="12301220" cy="6858000"/>
          </a:xfrm>
          <a:prstGeom prst="rect">
            <a:avLst/>
          </a:prstGeom>
        </p:spPr>
      </p:pic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140C37B-D52A-8E41-CE37-9FB27AC870E6}"/>
              </a:ext>
            </a:extLst>
          </p:cNvPr>
          <p:cNvSpPr/>
          <p:nvPr/>
        </p:nvSpPr>
        <p:spPr>
          <a:xfrm>
            <a:off x="762000" y="5419562"/>
            <a:ext cx="4502150" cy="59562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IN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8EADB9D7-CABA-C15E-65E0-02CBC0788E5D}"/>
              </a:ext>
            </a:extLst>
          </p:cNvPr>
          <p:cNvSpPr/>
          <p:nvPr/>
        </p:nvSpPr>
        <p:spPr>
          <a:xfrm>
            <a:off x="762000" y="4000743"/>
            <a:ext cx="4502150" cy="1233999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IN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E2CCB64-612D-62FF-FD45-08A7D393C5E6}"/>
              </a:ext>
            </a:extLst>
          </p:cNvPr>
          <p:cNvSpPr/>
          <p:nvPr/>
        </p:nvSpPr>
        <p:spPr>
          <a:xfrm>
            <a:off x="762000" y="3263846"/>
            <a:ext cx="4502150" cy="56843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IN" dirty="0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A36B0AC3-D7D0-B89C-6F21-AAB4BB83F14C}"/>
              </a:ext>
            </a:extLst>
          </p:cNvPr>
          <p:cNvSpPr/>
          <p:nvPr/>
        </p:nvSpPr>
        <p:spPr>
          <a:xfrm>
            <a:off x="762000" y="1890340"/>
            <a:ext cx="4502150" cy="1219272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IN" dirty="0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125" y="1409700"/>
            <a:ext cx="5286375" cy="460548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9095" y="2060080"/>
            <a:ext cx="304800" cy="3048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145" y="2615059"/>
            <a:ext cx="304800" cy="3048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9095" y="3385000"/>
            <a:ext cx="304800" cy="3048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9095" y="4162780"/>
            <a:ext cx="304800" cy="3048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9095" y="4651456"/>
            <a:ext cx="304800" cy="3048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9095" y="5543427"/>
            <a:ext cx="304800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3037" y="1028700"/>
            <a:ext cx="5286375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 dirty="0">
                <a:solidFill>
                  <a:srgbClr val="475569"/>
                </a:solidFill>
                <a:latin typeface="Inter"/>
              </a:rPr>
              <a:t>A modular pipeline with integrated </a:t>
            </a:r>
            <a:r>
              <a:rPr sz="1500" b="1" i="0" u="none" dirty="0">
                <a:solidFill>
                  <a:srgbClr val="475569"/>
                </a:solidFill>
                <a:latin typeface="Inter"/>
              </a:rPr>
              <a:t>Human-in-the-Loop (HITL)</a:t>
            </a:r>
            <a:r>
              <a:rPr sz="1500" b="0" i="0" u="none" dirty="0">
                <a:solidFill>
                  <a:srgbClr val="475569"/>
                </a:solidFill>
                <a:latin typeface="Inter"/>
              </a:rPr>
              <a:t> governance gates to ensure enterprise safety.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2622" y="1854145"/>
            <a:ext cx="4930616" cy="295275"/>
          </a:xfrm>
          <a:prstGeom prst="rect">
            <a:avLst/>
          </a:prstGeom>
          <a:noFill/>
        </p:spPr>
        <p:txBody>
          <a:bodyPr wrap="square" lIns="242738" tIns="0" rIns="0" bIns="0" anchor="t">
            <a:spAutoFit/>
          </a:bodyPr>
          <a:lstStyle/>
          <a:p>
            <a:pPr algn="l"/>
            <a:r>
              <a:rPr sz="1950" b="0" i="0" u="none" dirty="0">
                <a:solidFill>
                  <a:srgbClr val="2563EB"/>
                </a:solidFill>
                <a:latin typeface="Inter SemiBold"/>
              </a:rPr>
              <a:t>Continuous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1011" y="2349446"/>
            <a:ext cx="469582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 dirty="0">
                <a:solidFill>
                  <a:srgbClr val="334155"/>
                </a:solidFill>
                <a:latin typeface="Inter"/>
              </a:rPr>
              <a:t>7. Monitoring &amp; Learning:</a:t>
            </a:r>
            <a:r>
              <a:rPr sz="1500" b="0" i="0" u="none" dirty="0">
                <a:solidFill>
                  <a:srgbClr val="334155"/>
                </a:solidFill>
                <a:latin typeface="Inter"/>
              </a:rPr>
              <a:t> Consumes production logs, metrics, and user feedback to detect errors and optimize prompts.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011" y="3406721"/>
            <a:ext cx="469582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 dirty="0">
                <a:solidFill>
                  <a:srgbClr val="334155"/>
                </a:solidFill>
                <a:latin typeface="Inter"/>
              </a:rPr>
              <a:t>8. Organizational Memory:</a:t>
            </a:r>
            <a:r>
              <a:rPr sz="1500" b="0" i="0" u="none" dirty="0">
                <a:solidFill>
                  <a:srgbClr val="334155"/>
                </a:solidFill>
                <a:latin typeface="Inter"/>
              </a:rPr>
              <a:t> Captures all requirements,</a:t>
            </a:r>
            <a:endParaRPr lang="en-IN" sz="1500" b="0" i="0" u="none" dirty="0">
              <a:solidFill>
                <a:srgbClr val="334155"/>
              </a:solidFill>
              <a:latin typeface="Inter"/>
            </a:endParaRPr>
          </a:p>
          <a:p>
            <a:pPr algn="l">
              <a:lnSpc>
                <a:spcPts val="2400"/>
              </a:lnSpc>
            </a:pPr>
            <a:r>
              <a:rPr sz="1500" b="0" i="0" u="none" dirty="0">
                <a:solidFill>
                  <a:srgbClr val="334155"/>
                </a:solidFill>
                <a:latin typeface="Inter"/>
              </a:rPr>
              <a:t>code, reviews, and bug fixes into a Knowledge Graph for cross-sprint learning.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31970" y="3123601"/>
            <a:ext cx="19050" cy="14287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231970" y="3838858"/>
            <a:ext cx="19050" cy="14287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231970" y="5257677"/>
            <a:ext cx="19050" cy="14287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1011" y="1892246"/>
            <a:ext cx="242738" cy="2476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36770" y="2104324"/>
            <a:ext cx="20955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 dirty="0">
                <a:solidFill>
                  <a:srgbClr val="1E293B"/>
                </a:solidFill>
                <a:latin typeface="Inter Medium"/>
              </a:rPr>
              <a:t>Requirement Engineering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5820" y="2653159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1E293B"/>
                </a:solidFill>
                <a:latin typeface="Inter Medium"/>
              </a:rPr>
              <a:t>Planning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6980" y="2694674"/>
            <a:ext cx="1047750" cy="190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 dirty="0">
                <a:solidFill>
                  <a:srgbClr val="16A34A"/>
                </a:solidFill>
                <a:latin typeface="Inter SemiBold"/>
              </a:rPr>
              <a:t>HITL Approval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770" y="3423100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1E293B"/>
                </a:solidFill>
                <a:latin typeface="Inter Medium"/>
              </a:rPr>
              <a:t>Architecture &amp; 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32295" y="3442150"/>
            <a:ext cx="1047750" cy="190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>
                <a:solidFill>
                  <a:srgbClr val="16A34A"/>
                </a:solidFill>
                <a:latin typeface="Inter SemiBold"/>
              </a:rPr>
              <a:t>HITL Approval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770" y="4200880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1E293B"/>
                </a:solidFill>
                <a:latin typeface="Inter Medium"/>
              </a:rPr>
              <a:t>Development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9875" y="4650569"/>
            <a:ext cx="2550014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0" i="0" u="none" dirty="0">
                <a:solidFill>
                  <a:srgbClr val="1E293B"/>
                </a:solidFill>
                <a:latin typeface="Inter Medium"/>
              </a:rPr>
              <a:t>Verification (</a:t>
            </a:r>
            <a:r>
              <a:rPr lang="en-IN" sz="1500" dirty="0"/>
              <a:t>Quality Assurance (Testing)</a:t>
            </a:r>
            <a:r>
              <a:rPr sz="1500" b="0" i="0" u="none" dirty="0">
                <a:solidFill>
                  <a:srgbClr val="1E293B"/>
                </a:solidFill>
                <a:latin typeface="Inter Medium"/>
              </a:rPr>
              <a:t>/Security)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770" y="5581527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1E293B"/>
                </a:solidFill>
                <a:latin typeface="Inter Medium"/>
              </a:rPr>
              <a:t>Deployment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" y="32385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 dirty="0">
                <a:solidFill>
                  <a:srgbClr val="0F172A"/>
                </a:solidFill>
                <a:latin typeface="Inter"/>
              </a:rPr>
              <a:t>Proposed Architecture: 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Modu</a:t>
            </a:r>
            <a:r>
              <a:rPr lang="en-IN" sz="3300" b="1" i="0" u="none" dirty="0">
                <a:solidFill>
                  <a:srgbClr val="2563EB"/>
                </a:solidFill>
                <a:latin typeface="Inter"/>
              </a:rPr>
              <a:t>lar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 Pipeline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D8EC028-5D16-CAD3-E5F3-8A9A85590BA4}"/>
              </a:ext>
            </a:extLst>
          </p:cNvPr>
          <p:cNvSpPr txBox="1"/>
          <p:nvPr/>
        </p:nvSpPr>
        <p:spPr>
          <a:xfrm>
            <a:off x="3895047" y="4923758"/>
            <a:ext cx="1047750" cy="190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 dirty="0">
                <a:solidFill>
                  <a:srgbClr val="16A34A"/>
                </a:solidFill>
                <a:latin typeface="Inter SemiBold"/>
              </a:rPr>
              <a:t>HITL Approval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8EED8D0-6A02-FEF3-83D7-CFE4AC8EE770}"/>
              </a:ext>
            </a:extLst>
          </p:cNvPr>
          <p:cNvSpPr txBox="1"/>
          <p:nvPr/>
        </p:nvSpPr>
        <p:spPr>
          <a:xfrm>
            <a:off x="3832295" y="5686757"/>
            <a:ext cx="1047750" cy="190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 dirty="0">
                <a:solidFill>
                  <a:srgbClr val="16A34A"/>
                </a:solidFill>
                <a:latin typeface="Inter SemiBold"/>
              </a:rPr>
              <a:t>HITL Approval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3C082F-0A42-D7B8-A67F-ED7E627C3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CDC49EFA-0EB5-3FCD-11F0-66179AEDD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1120" y="-12025"/>
            <a:ext cx="12301220" cy="6955436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B7C9B56D-539F-ECA1-86D9-A377C11B350D}"/>
              </a:ext>
            </a:extLst>
          </p:cNvPr>
          <p:cNvSpPr txBox="1"/>
          <p:nvPr/>
        </p:nvSpPr>
        <p:spPr>
          <a:xfrm>
            <a:off x="571500" y="32385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 dirty="0">
                <a:solidFill>
                  <a:srgbClr val="0F172A"/>
                </a:solidFill>
                <a:latin typeface="Inter"/>
              </a:rPr>
              <a:t>Proposed Architecture: 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Modu</a:t>
            </a:r>
            <a:r>
              <a:rPr lang="en-IN" sz="3300" b="1" i="0" u="none" dirty="0">
                <a:solidFill>
                  <a:srgbClr val="2563EB"/>
                </a:solidFill>
                <a:latin typeface="Inter"/>
              </a:rPr>
              <a:t>lar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 Pipeline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9733B2C-8C17-D677-B8A0-F33792DAA4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362" b="9276"/>
          <a:stretch>
            <a:fillRect/>
          </a:stretch>
        </p:blipFill>
        <p:spPr>
          <a:xfrm>
            <a:off x="-32447" y="1089406"/>
            <a:ext cx="12192000" cy="5321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3069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3242" y="1224731"/>
            <a:ext cx="110490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 dirty="0">
                <a:solidFill>
                  <a:srgbClr val="334155"/>
                </a:solidFill>
                <a:latin typeface="Inter"/>
              </a:rPr>
              <a:t>While highly capable, existing autonomous systems index heavily on code generation, lacking end-to-end SDLC orchestration and organizational memory.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1972" y="2119312"/>
            <a:ext cx="11049000" cy="3295650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560691"/>
              </p:ext>
            </p:extLst>
          </p:nvPr>
        </p:nvGraphicFramePr>
        <p:xfrm>
          <a:off x="561972" y="2119312"/>
          <a:ext cx="11039472" cy="3295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91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97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19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54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89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341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System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Requirements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Design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Coding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Testing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Deployment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Devin / OpenHands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F59E0B"/>
                          </a:solidFill>
                          <a:latin typeface="Inter"/>
                        </a:rPr>
                        <a:t>Partial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F59E0B"/>
                          </a:solidFill>
                          <a:latin typeface="Inter"/>
                        </a:rPr>
                        <a:t>Partial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F59E0B"/>
                          </a:solidFill>
                          <a:latin typeface="Inter"/>
                        </a:rPr>
                        <a:t>Partial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MetaGPT / ChatDev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F59E0B"/>
                          </a:solidFill>
                          <a:latin typeface="Inter"/>
                        </a:rPr>
                        <a:t>Partial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EF4444"/>
                          </a:solidFill>
                          <a:latin typeface="Inter"/>
                        </a:rPr>
                        <a:t>No</a:t>
                      </a:r>
                    </a:p>
                  </a:txBody>
                  <a:tcPr marL="25717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SWE-Agent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EF4444"/>
                          </a:solidFill>
                          <a:latin typeface="Inter"/>
                        </a:rPr>
                        <a:t>No</a:t>
                      </a:r>
                    </a:p>
                  </a:txBody>
                  <a:tcPr marL="25717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EF4444"/>
                          </a:solidFill>
                          <a:latin typeface="Inter"/>
                        </a:rPr>
                        <a:t>No</a:t>
                      </a:r>
                    </a:p>
                  </a:txBody>
                  <a:tcPr marL="25717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EF4444"/>
                          </a:solidFill>
                          <a:latin typeface="Inter"/>
                        </a:rPr>
                        <a:t>No</a:t>
                      </a:r>
                    </a:p>
                  </a:txBody>
                  <a:tcPr marL="25717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Proposed System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734" y="2771774"/>
            <a:ext cx="283919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405928" y="2771774"/>
            <a:ext cx="213970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545630" y="2771774"/>
            <a:ext cx="135195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97585" y="2771774"/>
            <a:ext cx="137546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73054" y="2771774"/>
            <a:ext cx="139898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672039" y="2771774"/>
            <a:ext cx="19341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734" y="3428999"/>
            <a:ext cx="283919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05928" y="3428999"/>
            <a:ext cx="213970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545630" y="3428999"/>
            <a:ext cx="135195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897585" y="3428999"/>
            <a:ext cx="137546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73054" y="3428999"/>
            <a:ext cx="139898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672039" y="3428999"/>
            <a:ext cx="19341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734" y="4086224"/>
            <a:ext cx="283919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405928" y="4086224"/>
            <a:ext cx="213970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545630" y="4086224"/>
            <a:ext cx="135195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97585" y="4086224"/>
            <a:ext cx="137546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73054" y="4086224"/>
            <a:ext cx="139898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672039" y="4086224"/>
            <a:ext cx="19341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66734" y="4743449"/>
            <a:ext cx="283919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405928" y="4743449"/>
            <a:ext cx="213970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545630" y="4743449"/>
            <a:ext cx="135195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897585" y="4743449"/>
            <a:ext cx="137546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73054" y="4743449"/>
            <a:ext cx="139898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672039" y="4743449"/>
            <a:ext cx="19341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71500" y="57150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 dirty="0">
                <a:solidFill>
                  <a:srgbClr val="0F172A"/>
                </a:solidFill>
                <a:latin typeface="Inter"/>
              </a:rPr>
              <a:t>Identifying the 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Gap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657350"/>
            <a:ext cx="5334000" cy="46291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1657350"/>
            <a:ext cx="5334000" cy="4629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2025" y="2047875"/>
            <a:ext cx="4780597" cy="295275"/>
          </a:xfrm>
          <a:prstGeom prst="rect">
            <a:avLst/>
          </a:prstGeom>
          <a:noFill/>
        </p:spPr>
        <p:txBody>
          <a:bodyPr wrap="square" lIns="309413" tIns="0" rIns="0" bIns="0" anchor="t">
            <a:spAutoFit/>
          </a:bodyPr>
          <a:lstStyle/>
          <a:p>
            <a:pPr algn="l"/>
            <a:r>
              <a:rPr sz="1950" b="0" i="0" u="none">
                <a:solidFill>
                  <a:srgbClr val="EF4444"/>
                </a:solidFill>
                <a:latin typeface="Inter SemiBold"/>
              </a:rPr>
              <a:t>Traditional: Fixed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025" y="2486025"/>
            <a:ext cx="455295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Inter"/>
              </a:rPr>
              <a:t>Standard agentic systems rely on rigid, hardcoded workflows (e.g., always Planner → Developer → Tester).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7025" y="2047875"/>
            <a:ext cx="4780597" cy="295275"/>
          </a:xfrm>
          <a:prstGeom prst="rect">
            <a:avLst/>
          </a:prstGeom>
          <a:noFill/>
        </p:spPr>
        <p:txBody>
          <a:bodyPr wrap="square" lIns="309413" tIns="0" rIns="0" bIns="0" anchor="t">
            <a:spAutoFit/>
          </a:bodyPr>
          <a:lstStyle/>
          <a:p>
            <a:pPr algn="l"/>
            <a:r>
              <a:rPr sz="1950" b="0" i="0" u="none">
                <a:solidFill>
                  <a:srgbClr val="16A34A"/>
                </a:solidFill>
                <a:latin typeface="Inter SemiBold"/>
              </a:rPr>
              <a:t>Proposed: Dynamic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7025" y="2486025"/>
            <a:ext cx="455295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Inter"/>
              </a:rPr>
              <a:t>The Orchestrator analyzes project complexity, risk, and size before execution to spawn agents on-the-fly.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7775" y="3543300"/>
            <a:ext cx="42672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Inter"/>
              </a:rPr>
              <a:t>Inefficient for small tasks (over-engineered).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7775" y="4019550"/>
            <a:ext cx="42672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Inter"/>
              </a:rPr>
              <a:t>Lacks specialized roles (Security, DevOps) for complex enterprise apps.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2775" y="3543300"/>
            <a:ext cx="42672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334155"/>
                </a:solidFill>
                <a:latin typeface="Inter"/>
              </a:rPr>
              <a:t>Small Script:</a:t>
            </a:r>
            <a:r>
              <a:rPr sz="1500" b="0" i="0" u="none">
                <a:solidFill>
                  <a:srgbClr val="334155"/>
                </a:solidFill>
                <a:latin typeface="Inter"/>
              </a:rPr>
              <a:t> Spawns Planner + Developer.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62775" y="4019550"/>
            <a:ext cx="42672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334155"/>
                </a:solidFill>
                <a:latin typeface="Inter"/>
              </a:rPr>
              <a:t>Enterprise App:</a:t>
            </a:r>
            <a:r>
              <a:rPr sz="1500" b="0" i="0" u="none">
                <a:solidFill>
                  <a:srgbClr val="334155"/>
                </a:solidFill>
                <a:latin typeface="Inter"/>
              </a:rPr>
              <a:t> Spawns Architect, Backend, Frontend, Security, QA, DevOps.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2775" y="4800600"/>
            <a:ext cx="42672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Inter"/>
              </a:rPr>
              <a:t>Agents are retired when tasks complete, saving compute.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025" y="3600450"/>
            <a:ext cx="762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0" i="0" u="none">
                <a:solidFill>
                  <a:srgbClr val="2563EB"/>
                </a:solidFill>
                <a:latin typeface="Inter"/>
              </a:rPr>
              <a:t>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2025" y="4076700"/>
            <a:ext cx="762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0" i="0" u="none">
                <a:solidFill>
                  <a:srgbClr val="2563EB"/>
                </a:solidFill>
                <a:latin typeface="Inter"/>
              </a:rPr>
              <a:t>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7025" y="3600450"/>
            <a:ext cx="762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0" i="0" u="none">
                <a:solidFill>
                  <a:srgbClr val="2563EB"/>
                </a:solidFill>
                <a:latin typeface="Inter"/>
              </a:rPr>
              <a:t>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7025" y="4076700"/>
            <a:ext cx="762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0" i="0" u="none">
                <a:solidFill>
                  <a:srgbClr val="2563EB"/>
                </a:solidFill>
                <a:latin typeface="Inter"/>
              </a:rPr>
              <a:t>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7025" y="4857750"/>
            <a:ext cx="762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0" i="0" u="none">
                <a:solidFill>
                  <a:srgbClr val="2563EB"/>
                </a:solidFill>
                <a:latin typeface="Inter"/>
              </a:rPr>
              <a:t>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" y="57150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>
                <a:solidFill>
                  <a:srgbClr val="0F172A"/>
                </a:solidFill>
                <a:latin typeface="Inter"/>
              </a:rPr>
              <a:t>Core Innovation: </a:t>
            </a:r>
            <a:r>
              <a:rPr sz="3300" b="1" i="0" u="none">
                <a:solidFill>
                  <a:srgbClr val="2563EB"/>
                </a:solidFill>
                <a:latin typeface="Inter"/>
              </a:rPr>
              <a:t>Adaptive Team Generation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1025" y="374970"/>
            <a:ext cx="1000125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Inter"/>
              </a:rPr>
              <a:t>Core Innovation:</a:t>
            </a:r>
            <a:r>
              <a:rPr lang="en-IN" sz="3200" dirty="0">
                <a:solidFill>
                  <a:prstClr val="black"/>
                </a:solidFill>
                <a:latin typeface="Inter"/>
              </a:rPr>
              <a:t> 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Inter"/>
              </a:rPr>
              <a:t>Hierarchical Software Knowledge Graph (HSKG)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1025" y="1690379"/>
            <a:ext cx="336545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Inter Medium"/>
                <a:ea typeface="+mn-ea"/>
                <a:cs typeface="+mn-cs"/>
              </a:rPr>
              <a:t>Beyond Traditional Memory:</a:t>
            </a:r>
            <a:endParaRPr kumimoji="0" lang="en-IN" b="0" i="0" u="none" strike="noStrike" kern="1200" cap="none" spc="0" normalizeH="0" baseline="0" noProof="0" dirty="0">
              <a:ln>
                <a:noFill/>
              </a:ln>
              <a:solidFill>
                <a:srgbClr val="475569"/>
              </a:solidFill>
              <a:effectLst/>
              <a:uLnTx/>
              <a:uFillTx/>
              <a:latin typeface="Inter Medium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Inter Medium"/>
                <a:ea typeface="+mn-ea"/>
                <a:cs typeface="+mn-cs"/>
              </a:rPr>
              <a:t>A Context-Aware Project 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8371" y="3188730"/>
            <a:ext cx="4141834" cy="8971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The Problem: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 Current AI agents retrieve entire repositories or large documents, resulting in high token consumption and irrelevant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025" y="4335808"/>
            <a:ext cx="3884104" cy="12049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Our Solution: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 Our proposed HSKG stores the software project as a hierarchical graph, enabling agents to retrieve only the smallest relevant subgraph required for a task.</a:t>
            </a:r>
          </a:p>
        </p:txBody>
      </p:sp>
      <p:pic>
        <p:nvPicPr>
          <p:cNvPr id="8" name="Picture 7" descr="image.png">
            <a:extLst>
              <a:ext uri="{FF2B5EF4-FFF2-40B4-BE49-F238E27FC236}">
                <a16:creationId xmlns:a16="http://schemas.microsoft.com/office/drawing/2014/main" id="{C8894353-4957-A2E0-39B0-543F843E4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0205" y="922135"/>
            <a:ext cx="3365450" cy="5418667"/>
          </a:xfrm>
          <a:prstGeom prst="rect">
            <a:avLst/>
          </a:prstGeom>
        </p:spPr>
      </p:pic>
      <p:pic>
        <p:nvPicPr>
          <p:cNvPr id="10" name="Picture 9" descr="image.png">
            <a:extLst>
              <a:ext uri="{FF2B5EF4-FFF2-40B4-BE49-F238E27FC236}">
                <a16:creationId xmlns:a16="http://schemas.microsoft.com/office/drawing/2014/main" id="{CECFA41D-13C9-DCB9-66E2-F0072055D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731" y="962373"/>
            <a:ext cx="3365599" cy="5418667"/>
          </a:xfrm>
          <a:prstGeom prst="rect">
            <a:avLst/>
          </a:prstGeom>
        </p:spPr>
      </p:pic>
      <p:pic>
        <p:nvPicPr>
          <p:cNvPr id="12" name="Picture 11" descr="image.png">
            <a:extLst>
              <a:ext uri="{FF2B5EF4-FFF2-40B4-BE49-F238E27FC236}">
                <a16:creationId xmlns:a16="http://schemas.microsoft.com/office/drawing/2014/main" id="{A9C44036-61A8-EAFF-080D-463D5EB47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9641" y="2157653"/>
            <a:ext cx="2774900" cy="1905000"/>
          </a:xfrm>
          <a:prstGeom prst="rect">
            <a:avLst/>
          </a:prstGeom>
        </p:spPr>
      </p:pic>
      <p:pic>
        <p:nvPicPr>
          <p:cNvPr id="14" name="Picture 13" descr="image.png">
            <a:extLst>
              <a:ext uri="{FF2B5EF4-FFF2-40B4-BE49-F238E27FC236}">
                <a16:creationId xmlns:a16="http://schemas.microsoft.com/office/drawing/2014/main" id="{F43C9D70-D90B-24BB-82BB-1FE1034C86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2189" y="2059766"/>
            <a:ext cx="2775049" cy="6953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12D879C-E449-8EE8-C292-2DEF48407B4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658223" y="2953129"/>
            <a:ext cx="2775049" cy="867202"/>
          </a:xfrm>
          <a:prstGeom prst="rect">
            <a:avLst/>
          </a:prstGeom>
        </p:spPr>
      </p:pic>
      <p:pic>
        <p:nvPicPr>
          <p:cNvPr id="18" name="Picture 17" descr="image.png">
            <a:extLst>
              <a:ext uri="{FF2B5EF4-FFF2-40B4-BE49-F238E27FC236}">
                <a16:creationId xmlns:a16="http://schemas.microsoft.com/office/drawing/2014/main" id="{3450BF5F-ACC6-1481-77A0-89F91D2119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09641" y="1281353"/>
            <a:ext cx="476250" cy="4762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2BC2538-76AC-5EA5-9CD1-0F4C45DCC710}"/>
              </a:ext>
            </a:extLst>
          </p:cNvPr>
          <p:cNvSpPr txBox="1"/>
          <p:nvPr/>
        </p:nvSpPr>
        <p:spPr>
          <a:xfrm>
            <a:off x="5728766" y="1352790"/>
            <a:ext cx="160890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 dirty="0">
                <a:solidFill>
                  <a:srgbClr val="0F172A"/>
                </a:solidFill>
                <a:latin typeface="Poppins SemiBold"/>
              </a:rPr>
              <a:t>Project Graph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81CDCC-DDC8-74B1-835F-DEF5155317C5}"/>
              </a:ext>
            </a:extLst>
          </p:cNvPr>
          <p:cNvSpPr txBox="1"/>
          <p:nvPr/>
        </p:nvSpPr>
        <p:spPr>
          <a:xfrm>
            <a:off x="5262041" y="2329103"/>
            <a:ext cx="605872" cy="21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2563EB"/>
                </a:solidFill>
                <a:latin typeface="monospace"/>
              </a:rPr>
              <a:t>Project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13F7FD-E8AF-B22C-71D4-B2B1E68640E6}"/>
              </a:ext>
            </a:extLst>
          </p:cNvPr>
          <p:cNvSpPr txBox="1"/>
          <p:nvPr/>
        </p:nvSpPr>
        <p:spPr>
          <a:xfrm>
            <a:off x="5452541" y="2538653"/>
            <a:ext cx="21571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0F172A"/>
                </a:solidFill>
                <a:latin typeface="monospace"/>
              </a:rPr>
              <a:t>Authentication</a:t>
            </a:r>
            <a:r>
              <a:rPr dirty="0"/>
              <a:t>
</a:t>
            </a:r>
            <a:r>
              <a:rPr sz="1200" b="0" i="0" u="none" dirty="0">
                <a:solidFill>
                  <a:srgbClr val="0F172A"/>
                </a:solidFill>
                <a:latin typeface="monospace"/>
              </a:rPr>
              <a:t>    Login, Register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B79403-EE1D-2590-3964-5B017F6ECAA7}"/>
              </a:ext>
            </a:extLst>
          </p:cNvPr>
          <p:cNvSpPr txBox="1"/>
          <p:nvPr/>
        </p:nvSpPr>
        <p:spPr>
          <a:xfrm>
            <a:off x="5452541" y="2995853"/>
            <a:ext cx="21571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0F172A"/>
                </a:solidFill>
                <a:latin typeface="monospace"/>
              </a:rPr>
              <a:t>Inventory</a:t>
            </a:r>
            <a:r>
              <a:t>
</a:t>
            </a:r>
            <a:r>
              <a:rPr sz="1200" b="0" i="0" u="none">
                <a:solidFill>
                  <a:srgbClr val="0F172A"/>
                </a:solidFill>
                <a:latin typeface="monospace"/>
              </a:rPr>
              <a:t>    Product, Stock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3AFB7E-1C71-262A-88A1-0636E38B5FF1}"/>
              </a:ext>
            </a:extLst>
          </p:cNvPr>
          <p:cNvSpPr txBox="1"/>
          <p:nvPr/>
        </p:nvSpPr>
        <p:spPr>
          <a:xfrm>
            <a:off x="5563098" y="3453053"/>
            <a:ext cx="21571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0F172A"/>
                </a:solidFill>
                <a:latin typeface="monospace"/>
              </a:rPr>
              <a:t>Invoice</a:t>
            </a:r>
            <a:r>
              <a:rPr dirty="0"/>
              <a:t>
</a:t>
            </a:r>
            <a:r>
              <a:rPr sz="1200" b="0" i="0" u="none" dirty="0">
                <a:solidFill>
                  <a:srgbClr val="0F172A"/>
                </a:solidFill>
                <a:latin typeface="monospace"/>
              </a:rPr>
              <a:t>    Create, Payment</a:t>
            </a:r>
          </a:p>
        </p:txBody>
      </p:sp>
      <p:pic>
        <p:nvPicPr>
          <p:cNvPr id="30" name="Picture 29" descr="image.png">
            <a:extLst>
              <a:ext uri="{FF2B5EF4-FFF2-40B4-BE49-F238E27FC236}">
                <a16:creationId xmlns:a16="http://schemas.microsoft.com/office/drawing/2014/main" id="{61E5B721-F27F-9A91-2215-100B6E6A7F3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32189" y="1183466"/>
            <a:ext cx="476250" cy="47625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2D2E74F-B994-818F-03DF-284A4E268508}"/>
              </a:ext>
            </a:extLst>
          </p:cNvPr>
          <p:cNvSpPr txBox="1"/>
          <p:nvPr/>
        </p:nvSpPr>
        <p:spPr>
          <a:xfrm>
            <a:off x="9269076" y="1321591"/>
            <a:ext cx="215592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 dirty="0">
                <a:solidFill>
                  <a:srgbClr val="0F172A"/>
                </a:solidFill>
                <a:latin typeface="Poppins SemiBold"/>
              </a:rPr>
              <a:t>Context</a:t>
            </a:r>
            <a:r>
              <a:rPr lang="en-IN" sz="1800" b="0" i="0" u="none" dirty="0">
                <a:solidFill>
                  <a:srgbClr val="0F172A"/>
                </a:solidFill>
                <a:latin typeface="Poppins SemiBold"/>
              </a:rPr>
              <a:t>-</a:t>
            </a:r>
            <a:r>
              <a:rPr sz="1800" b="0" i="0" u="none" dirty="0">
                <a:solidFill>
                  <a:srgbClr val="0F172A"/>
                </a:solidFill>
                <a:latin typeface="Poppins SemiBold"/>
              </a:rPr>
              <a:t>Aware</a:t>
            </a:r>
          </a:p>
        </p:txBody>
      </p:sp>
      <p:pic>
        <p:nvPicPr>
          <p:cNvPr id="34" name="Picture 33" descr="image.png">
            <a:extLst>
              <a:ext uri="{FF2B5EF4-FFF2-40B4-BE49-F238E27FC236}">
                <a16:creationId xmlns:a16="http://schemas.microsoft.com/office/drawing/2014/main" id="{882A0E9C-DFF4-A7E1-CF68-679BD979160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9178" y="1405178"/>
            <a:ext cx="257175" cy="22860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43E909B9-3386-C9EC-DD9B-F9AD6805D318}"/>
              </a:ext>
            </a:extLst>
          </p:cNvPr>
          <p:cNvSpPr txBox="1"/>
          <p:nvPr/>
        </p:nvSpPr>
        <p:spPr>
          <a:xfrm>
            <a:off x="5262041" y="2538653"/>
            <a:ext cx="466725" cy="2107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94A3B8"/>
                </a:solidFill>
                <a:latin typeface="monospace"/>
              </a:rPr>
              <a:t>├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98F0DB-254F-2D40-2AD9-A970CA668489}"/>
              </a:ext>
            </a:extLst>
          </p:cNvPr>
          <p:cNvSpPr txBox="1"/>
          <p:nvPr/>
        </p:nvSpPr>
        <p:spPr>
          <a:xfrm>
            <a:off x="5262041" y="2995853"/>
            <a:ext cx="306597" cy="2107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94A3B8"/>
                </a:solidFill>
                <a:latin typeface="monospace"/>
              </a:rPr>
              <a:t>├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BD22A3C-922F-6B77-4B7C-BBEDDC1C654D}"/>
              </a:ext>
            </a:extLst>
          </p:cNvPr>
          <p:cNvSpPr txBox="1"/>
          <p:nvPr/>
        </p:nvSpPr>
        <p:spPr>
          <a:xfrm>
            <a:off x="5262041" y="3453053"/>
            <a:ext cx="306597" cy="21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94A3B8"/>
                </a:solidFill>
                <a:latin typeface="monospace"/>
              </a:rPr>
              <a:t>└── </a:t>
            </a:r>
          </a:p>
        </p:txBody>
      </p:sp>
      <p:pic>
        <p:nvPicPr>
          <p:cNvPr id="42" name="Picture 41" descr="image.png">
            <a:extLst>
              <a:ext uri="{FF2B5EF4-FFF2-40B4-BE49-F238E27FC236}">
                <a16:creationId xmlns:a16="http://schemas.microsoft.com/office/drawing/2014/main" id="{1D2CA2AD-8227-4D6B-04FF-8A120F7E02C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56014" y="1307291"/>
            <a:ext cx="228600" cy="228600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AFE40426-94BF-0EC7-C272-59D3C5005D5D}"/>
              </a:ext>
            </a:extLst>
          </p:cNvPr>
          <p:cNvSpPr txBox="1"/>
          <p:nvPr/>
        </p:nvSpPr>
        <p:spPr>
          <a:xfrm>
            <a:off x="9653002" y="2240741"/>
            <a:ext cx="694036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334155"/>
                </a:solidFill>
                <a:latin typeface="Inter"/>
              </a:rPr>
              <a:t>Instead of: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C0AE494-88C7-BA10-3B01-D4B27A084DF8}"/>
              </a:ext>
            </a:extLst>
          </p:cNvPr>
          <p:cNvSpPr txBox="1"/>
          <p:nvPr/>
        </p:nvSpPr>
        <p:spPr>
          <a:xfrm>
            <a:off x="5003950" y="4209758"/>
            <a:ext cx="28379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Purpose</a:t>
            </a:r>
            <a:endParaRPr lang="en-IN" sz="16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Represents the complete SDLC structure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Maintains hierarchy between project components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Enables modular navigation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2D4B858-718C-3FEB-4BCC-04D8417C0C8D}"/>
              </a:ext>
            </a:extLst>
          </p:cNvPr>
          <p:cNvSpPr txBox="1"/>
          <p:nvPr/>
        </p:nvSpPr>
        <p:spPr>
          <a:xfrm>
            <a:off x="8632189" y="4433948"/>
            <a:ext cx="279281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Benefits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Minimal context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Lower token usage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Faster reasoning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Better accuracy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Reduced hallucination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1325909"/>
            <a:ext cx="11049000" cy="589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 dirty="0">
                <a:solidFill>
                  <a:srgbClr val="334155"/>
                </a:solidFill>
                <a:latin typeface="Inter"/>
              </a:rPr>
              <a:t>Deploying via offline models ensures data privacy. Model selection is based on VRAM footprint</a:t>
            </a:r>
            <a:r>
              <a:rPr lang="en-IN" sz="1500" dirty="0">
                <a:solidFill>
                  <a:srgbClr val="334155"/>
                </a:solidFill>
                <a:latin typeface="Inter"/>
              </a:rPr>
              <a:t>, T</a:t>
            </a:r>
            <a:r>
              <a:rPr sz="1500" b="0" i="0" u="none" dirty="0">
                <a:solidFill>
                  <a:srgbClr val="334155"/>
                </a:solidFill>
                <a:latin typeface="Inter"/>
              </a:rPr>
              <a:t>raining data freshness</a:t>
            </a:r>
            <a:r>
              <a:rPr lang="en-IN" sz="1500" b="0" i="0" u="none" dirty="0">
                <a:solidFill>
                  <a:srgbClr val="334155"/>
                </a:solidFill>
                <a:latin typeface="Inter"/>
              </a:rPr>
              <a:t>, Suitable for Agentic Operations</a:t>
            </a:r>
            <a:r>
              <a:rPr sz="1500" b="0" i="0" u="none" dirty="0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" y="571498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 dirty="0">
                <a:solidFill>
                  <a:srgbClr val="0F172A"/>
                </a:solidFill>
                <a:latin typeface="Inter"/>
              </a:rPr>
              <a:t>Local Offline 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Execution Strategy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AA6FC51-8DBD-43A2-56EB-F2C2A62376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890308"/>
              </p:ext>
            </p:extLst>
          </p:nvPr>
        </p:nvGraphicFramePr>
        <p:xfrm>
          <a:off x="571501" y="2175571"/>
          <a:ext cx="11049000" cy="40343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09800">
                  <a:extLst>
                    <a:ext uri="{9D8B030D-6E8A-4147-A177-3AD203B41FA5}">
                      <a16:colId xmlns:a16="http://schemas.microsoft.com/office/drawing/2014/main" val="1348557304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3070456705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601088068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3846660940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311613139"/>
                    </a:ext>
                  </a:extLst>
                </a:gridCol>
              </a:tblGrid>
              <a:tr h="498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Model (4-bit Quant)</a:t>
                      </a:r>
                      <a:endParaRPr lang="en-IN" sz="1400"/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Recommended Hardware (VRAM)</a:t>
                      </a:r>
                      <a:endParaRPr lang="en-IN" sz="1400" dirty="0"/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Knowledge Cutoff</a:t>
                      </a:r>
                      <a:endParaRPr lang="en-IN" sz="1400" dirty="0"/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/>
                        <a:t>Agent Capability</a:t>
                      </a:r>
                      <a:endParaRPr lang="en-IN" sz="1400"/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Best Use Case</a:t>
                      </a:r>
                      <a:endParaRPr lang="en-IN" sz="1400" dirty="0"/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8253585"/>
                  </a:ext>
                </a:extLst>
              </a:tr>
              <a:tr h="647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Gemma 4 4B</a:t>
                      </a:r>
                      <a:endParaRPr lang="en-IN" sz="1400"/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Laptop / iGPU (~5 GB)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Early 2026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/>
                        <a:t>⭐⭐⭐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Basic assistants, RAG, lightweight offline agents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4273148"/>
                  </a:ext>
                </a:extLst>
              </a:tr>
              <a:tr h="7969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Gemma 4 12B</a:t>
                      </a:r>
                      <a:endParaRPr lang="en-IN" sz="1400"/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RTX 4070 (8–10 GB)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Mid 2026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⭐⭐⭐⭐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General-purpose AI agents with good reasoning &amp; tool use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2028612"/>
                  </a:ext>
                </a:extLst>
              </a:tr>
              <a:tr h="647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Mistral Small 3.2 (24B)</a:t>
                      </a:r>
                      <a:endParaRPr lang="en-IN" sz="1400" dirty="0"/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RTX 4090 (16 GB)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Mid 2025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/>
                        <a:t>⭐⭐⭐⭐⭐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Enterprise agents, multi-tool workflows, planning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7034541"/>
                  </a:ext>
                </a:extLst>
              </a:tr>
              <a:tr h="647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Qwen3-Coder 32B</a:t>
                      </a:r>
                      <a:endParaRPr lang="en-IN" sz="1400" dirty="0"/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Workstation / Mac M-Series (20–22 GB)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Mid 2025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/>
                        <a:t>⭐⭐⭐⭐⭐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Coding agents, debugging, software engineering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5683234"/>
                  </a:ext>
                </a:extLst>
              </a:tr>
              <a:tr h="7969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Llama 3.3 70B</a:t>
                      </a:r>
                      <a:endParaRPr lang="en-IN" sz="1400" dirty="0"/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Multi-GPU / High-End Server (48+ GB)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Late 2023*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/>
                        <a:t>⭐⭐⭐⭐⭐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Research, complex planning, multi-agent orchestration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121639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209675" y="1815554"/>
            <a:ext cx="451693" cy="1095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0"/>
              </a:lnSpc>
            </a:pPr>
            <a:r>
              <a:rPr sz="7500" b="0" i="0" u="none">
                <a:solidFill>
                  <a:srgbClr val="CBD5E1"/>
                </a:solidFill>
                <a:latin typeface="Arial SemiBold"/>
              </a:rPr>
              <a:t>"</a:t>
            </a:r>
          </a:p>
        </p:txBody>
      </p:sp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7000" y="-20320"/>
            <a:ext cx="12446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89E271-73A2-A27E-5A7A-195F2FB1D8C6}"/>
              </a:ext>
            </a:extLst>
          </p:cNvPr>
          <p:cNvSpPr txBox="1"/>
          <p:nvPr/>
        </p:nvSpPr>
        <p:spPr>
          <a:xfrm>
            <a:off x="701370" y="607695"/>
            <a:ext cx="210025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300" b="1" dirty="0">
                <a:latin typeface="Inter"/>
              </a:rPr>
              <a:t>Conclusion</a:t>
            </a:r>
            <a:endParaRPr lang="en-IN" sz="3300" b="1" dirty="0">
              <a:solidFill>
                <a:srgbClr val="2563EB"/>
              </a:solidFill>
              <a:latin typeface="Inte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FFAFDB-284E-FABD-EC24-FB53EBFFF922}"/>
              </a:ext>
            </a:extLst>
          </p:cNvPr>
          <p:cNvSpPr txBox="1"/>
          <p:nvPr/>
        </p:nvSpPr>
        <p:spPr>
          <a:xfrm>
            <a:off x="701370" y="1564640"/>
            <a:ext cx="10982631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sz="1500" dirty="0">
                <a:latin typeface="Inter"/>
              </a:rPr>
              <a:t>We are proposing an </a:t>
            </a:r>
            <a:r>
              <a:rPr lang="en-IN" sz="1500" b="1" dirty="0">
                <a:latin typeface="Inter"/>
              </a:rPr>
              <a:t>Autonomous Software Development Lifecycle (A-SDLC)</a:t>
            </a:r>
            <a:r>
              <a:rPr lang="en-IN" sz="1500" dirty="0">
                <a:latin typeface="Inter"/>
              </a:rPr>
              <a:t> framework that transforms traditional software engineering into an </a:t>
            </a:r>
            <a:r>
              <a:rPr lang="en-IN" sz="1500" b="1" dirty="0">
                <a:latin typeface="Inter"/>
              </a:rPr>
              <a:t>AI-Orchestrated Software Engineering Organization</a:t>
            </a:r>
            <a:r>
              <a:rPr lang="en-IN" sz="1500" dirty="0">
                <a:latin typeface="Inter"/>
              </a:rPr>
              <a:t>.</a:t>
            </a:r>
          </a:p>
          <a:p>
            <a:pPr algn="just"/>
            <a:endParaRPr lang="en-IN" sz="1500" dirty="0">
              <a:latin typeface="Inter"/>
            </a:endParaRPr>
          </a:p>
          <a:p>
            <a:pPr algn="just"/>
            <a:r>
              <a:rPr lang="en-IN" sz="1500" dirty="0">
                <a:latin typeface="Inter"/>
              </a:rPr>
              <a:t>Instead of isolated coding assistants, the system coordinates multiple specialized AI agents across the complete SDLC—from </a:t>
            </a:r>
            <a:r>
              <a:rPr lang="en-IN" sz="1500" b="1" dirty="0">
                <a:latin typeface="Inter"/>
              </a:rPr>
              <a:t>requirements engineering</a:t>
            </a:r>
            <a:r>
              <a:rPr lang="en-IN" sz="1500" dirty="0">
                <a:latin typeface="Inter"/>
              </a:rPr>
              <a:t> to </a:t>
            </a:r>
            <a:r>
              <a:rPr lang="en-IN" sz="1500" b="1" dirty="0">
                <a:latin typeface="Inter"/>
              </a:rPr>
              <a:t>continuous monitoring and learning</a:t>
            </a:r>
            <a:r>
              <a:rPr lang="en-IN" sz="1500" dirty="0">
                <a:latin typeface="Inter"/>
              </a:rPr>
              <a:t>.</a:t>
            </a:r>
          </a:p>
          <a:p>
            <a:pPr algn="just"/>
            <a:endParaRPr lang="en-IN" sz="1500" dirty="0">
              <a:latin typeface="Inter"/>
            </a:endParaRPr>
          </a:p>
          <a:p>
            <a:pPr algn="just"/>
            <a:endParaRPr lang="en-IN" sz="1500" dirty="0">
              <a:latin typeface="Inter"/>
            </a:endParaRPr>
          </a:p>
          <a:p>
            <a:pPr algn="just"/>
            <a:endParaRPr lang="en-IN" sz="1500" dirty="0">
              <a:latin typeface="Inter"/>
            </a:endParaRPr>
          </a:p>
          <a:p>
            <a:pPr algn="just"/>
            <a:endParaRPr lang="en-IN" sz="1500" dirty="0">
              <a:latin typeface="Inter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0B5A693-1607-FD0D-DBB0-E8445D6CC513}"/>
              </a:ext>
            </a:extLst>
          </p:cNvPr>
          <p:cNvSpPr txBox="1"/>
          <p:nvPr/>
        </p:nvSpPr>
        <p:spPr>
          <a:xfrm>
            <a:off x="835865" y="3271837"/>
            <a:ext cx="5550693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oppins"/>
              </a:rPr>
              <a:t>Expected Outcomes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4E7DDFE-768C-D219-C521-13495D1F11A9}"/>
              </a:ext>
            </a:extLst>
          </p:cNvPr>
          <p:cNvSpPr txBox="1"/>
          <p:nvPr/>
        </p:nvSpPr>
        <p:spPr>
          <a:xfrm>
            <a:off x="1188290" y="3776662"/>
            <a:ext cx="49339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Lato Medium"/>
              </a:rPr>
              <a:t>Reduced context size and token consumption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D7F4456A-FFC2-F6BB-C366-047FB4A94C0D}"/>
              </a:ext>
            </a:extLst>
          </p:cNvPr>
          <p:cNvSpPr txBox="1"/>
          <p:nvPr/>
        </p:nvSpPr>
        <p:spPr>
          <a:xfrm>
            <a:off x="1188290" y="4138612"/>
            <a:ext cx="49339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Lato Medium"/>
              </a:rPr>
              <a:t>Faster and more accurate software development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1FD3D4B-2D8D-1398-75A5-5798D9FC8104}"/>
              </a:ext>
            </a:extLst>
          </p:cNvPr>
          <p:cNvSpPr txBox="1"/>
          <p:nvPr/>
        </p:nvSpPr>
        <p:spPr>
          <a:xfrm>
            <a:off x="1188290" y="4500562"/>
            <a:ext cx="49339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Lato Medium"/>
              </a:rPr>
              <a:t>Improved traceability across the SDLC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73D4014-86D0-0F9F-27DA-28FF06974CC3}"/>
              </a:ext>
            </a:extLst>
          </p:cNvPr>
          <p:cNvSpPr txBox="1"/>
          <p:nvPr/>
        </p:nvSpPr>
        <p:spPr>
          <a:xfrm>
            <a:off x="1188290" y="4862512"/>
            <a:ext cx="49339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Lato Medium"/>
              </a:rPr>
              <a:t>Persistent engineering knowledge</a:t>
            </a:r>
          </a:p>
        </p:txBody>
      </p:sp>
      <p:pic>
        <p:nvPicPr>
          <p:cNvPr id="128" name="Picture 127" descr="image.png">
            <a:extLst>
              <a:ext uri="{FF2B5EF4-FFF2-40B4-BE49-F238E27FC236}">
                <a16:creationId xmlns:a16="http://schemas.microsoft.com/office/drawing/2014/main" id="{B60B6D2B-5DE3-7090-DD1B-1B02FDFE2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65" y="3771900"/>
            <a:ext cx="209550" cy="219075"/>
          </a:xfrm>
          <a:prstGeom prst="rect">
            <a:avLst/>
          </a:prstGeom>
        </p:spPr>
      </p:pic>
      <p:pic>
        <p:nvPicPr>
          <p:cNvPr id="130" name="Picture 129" descr="image.png">
            <a:extLst>
              <a:ext uri="{FF2B5EF4-FFF2-40B4-BE49-F238E27FC236}">
                <a16:creationId xmlns:a16="http://schemas.microsoft.com/office/drawing/2014/main" id="{56190B3E-1981-C098-5E90-E0BEE0580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65" y="4133850"/>
            <a:ext cx="209550" cy="219075"/>
          </a:xfrm>
          <a:prstGeom prst="rect">
            <a:avLst/>
          </a:prstGeom>
        </p:spPr>
      </p:pic>
      <p:pic>
        <p:nvPicPr>
          <p:cNvPr id="132" name="Picture 131" descr="image.png">
            <a:extLst>
              <a:ext uri="{FF2B5EF4-FFF2-40B4-BE49-F238E27FC236}">
                <a16:creationId xmlns:a16="http://schemas.microsoft.com/office/drawing/2014/main" id="{A4CC8115-3F4C-33B4-77DA-E981D8E779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65" y="4495800"/>
            <a:ext cx="209550" cy="219075"/>
          </a:xfrm>
          <a:prstGeom prst="rect">
            <a:avLst/>
          </a:prstGeom>
        </p:spPr>
      </p:pic>
      <p:pic>
        <p:nvPicPr>
          <p:cNvPr id="134" name="Picture 133" descr="image.png">
            <a:extLst>
              <a:ext uri="{FF2B5EF4-FFF2-40B4-BE49-F238E27FC236}">
                <a16:creationId xmlns:a16="http://schemas.microsoft.com/office/drawing/2014/main" id="{4D4651EE-C88D-E6BA-38F1-E14847DEF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65" y="4857750"/>
            <a:ext cx="209550" cy="21907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4B636A-EEAD-78BB-9121-0D9E5F137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F30942B-D517-8939-2F9F-FFB3488A77E3}"/>
              </a:ext>
            </a:extLst>
          </p:cNvPr>
          <p:cNvSpPr txBox="1"/>
          <p:nvPr/>
        </p:nvSpPr>
        <p:spPr>
          <a:xfrm>
            <a:off x="1209675" y="1815554"/>
            <a:ext cx="451693" cy="1095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0"/>
              </a:lnSpc>
            </a:pPr>
            <a:r>
              <a:rPr sz="7500" b="0" i="0" u="none">
                <a:solidFill>
                  <a:srgbClr val="CBD5E1"/>
                </a:solidFill>
                <a:latin typeface="Arial SemiBold"/>
              </a:rPr>
              <a:t>"</a:t>
            </a:r>
          </a:p>
        </p:txBody>
      </p:sp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D3B9FC-D4F5-728A-3BC6-14807CFC7D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4F4D3A6-0717-E18B-22C6-D0EBDD70B4CF}"/>
              </a:ext>
            </a:extLst>
          </p:cNvPr>
          <p:cNvSpPr txBox="1"/>
          <p:nvPr/>
        </p:nvSpPr>
        <p:spPr>
          <a:xfrm>
            <a:off x="4521530" y="2967335"/>
            <a:ext cx="31489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5400" b="1" dirty="0">
                <a:solidFill>
                  <a:srgbClr val="2563EB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111202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</TotalTime>
  <Words>1595</Words>
  <Application>Microsoft Office PowerPoint</Application>
  <PresentationFormat>Widescreen</PresentationFormat>
  <Paragraphs>288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8" baseType="lpstr">
      <vt:lpstr>Arial</vt:lpstr>
      <vt:lpstr>Arial SemiBold</vt:lpstr>
      <vt:lpstr>Calibri</vt:lpstr>
      <vt:lpstr>Fira Code</vt:lpstr>
      <vt:lpstr>Inter</vt:lpstr>
      <vt:lpstr>Inter Medium</vt:lpstr>
      <vt:lpstr>Inter SemiBold</vt:lpstr>
      <vt:lpstr>Lato Medium</vt:lpstr>
      <vt:lpstr>monospace</vt:lpstr>
      <vt:lpstr>Poppins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Abhishek Raj</cp:lastModifiedBy>
  <cp:revision>7</cp:revision>
  <dcterms:created xsi:type="dcterms:W3CDTF">2013-01-27T09:14:16Z</dcterms:created>
  <dcterms:modified xsi:type="dcterms:W3CDTF">2026-08-07T10:41:07Z</dcterms:modified>
  <cp:category/>
</cp:coreProperties>
</file>