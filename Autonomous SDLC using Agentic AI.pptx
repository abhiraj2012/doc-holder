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3"/>
    <p:sldId id="273" r:id="rId4"/>
    <p:sldId id="278" r:id="rId5"/>
    <p:sldId id="279" r:id="rId6"/>
    <p:sldId id="274" r:id="rId7"/>
    <p:sldId id="275" r:id="rId8"/>
    <p:sldId id="280" r:id="rId9"/>
    <p:sldId id="257" r:id="rId10"/>
    <p:sldId id="258" r:id="rId11"/>
    <p:sldId id="259" r:id="rId12"/>
    <p:sldId id="261" r:id="rId13"/>
    <p:sldId id="276" r:id="rId14"/>
    <p:sldId id="260" r:id="rId15"/>
    <p:sldId id="262" r:id="rId16"/>
    <p:sldId id="267" r:id="rId17"/>
    <p:sldId id="264" r:id="rId18"/>
    <p:sldId id="265" r:id="rId19"/>
    <p:sldId id="277" r:id="rId20"/>
    <p:sldId id="268"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F2FE"/>
    <a:srgbClr val="2563E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94660"/>
  </p:normalViewPr>
  <p:slideViewPr>
    <p:cSldViewPr snapToGrid="0" snapToObjects="1">
      <p:cViewPr varScale="1">
        <p:scale>
          <a:sx n="78" d="100"/>
          <a:sy n="78" d="100"/>
        </p:scale>
        <p:origin x="605"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microsoft.com/office/2007/relationships/hdphoto" Target="../media/hdphoto3.wdp"/><Relationship Id="rId13" Type="http://schemas.openxmlformats.org/officeDocument/2006/relationships/image" Target="../media/image10.jpeg"/><Relationship Id="rId3" Type="http://schemas.openxmlformats.org/officeDocument/2006/relationships/image" Target="../media/image4.png"/><Relationship Id="rId7" Type="http://schemas.openxmlformats.org/officeDocument/2006/relationships/image" Target="../media/image6.png"/><Relationship Id="rId12" Type="http://schemas.openxmlformats.org/officeDocument/2006/relationships/image" Target="../media/image9.png"/><Relationship Id="rId2" Type="http://schemas.openxmlformats.org/officeDocument/2006/relationships/image" Target="../media/image1.png"/><Relationship Id="rId1" Type="http://schemas.openxmlformats.org/officeDocument/2006/relationships/slideLayout" Target="../slideLayouts/slideLayout7.xml"/><Relationship Id="rId6" Type="http://schemas.microsoft.com/office/2007/relationships/hdphoto" Target="../media/hdphoto2.wdp"/><Relationship Id="rId11" Type="http://schemas.openxmlformats.org/officeDocument/2006/relationships/hyperlink" Target="https://www.ibm.com/think/topics/ai-agent-perception" TargetMode="External"/><Relationship Id="rId5" Type="http://schemas.openxmlformats.org/officeDocument/2006/relationships/image" Target="../media/image5.png"/><Relationship Id="rId10" Type="http://schemas.openxmlformats.org/officeDocument/2006/relationships/image" Target="../media/image8.png"/><Relationship Id="rId4" Type="http://schemas.microsoft.com/office/2007/relationships/hdphoto" Target="../media/hdphoto1.wdp"/><Relationship Id="rId9" Type="http://schemas.openxmlformats.org/officeDocument/2006/relationships/image" Target="../media/image7.png"/></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1.png"/><Relationship Id="rId7" Type="http://schemas.openxmlformats.org/officeDocument/2006/relationships/image" Target="../media/image13.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12.png"/><Relationship Id="rId10" Type="http://schemas.openxmlformats.org/officeDocument/2006/relationships/image" Target="../media/image15.jpeg"/><Relationship Id="rId4" Type="http://schemas.microsoft.com/office/2007/relationships/hdphoto" Target="../media/hdphoto4.wdp"/><Relationship Id="rId9" Type="http://schemas.microsoft.com/office/2007/relationships/hdphoto" Target="../media/hdphoto5.wdp"/></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7" Type="http://schemas.openxmlformats.org/officeDocument/2006/relationships/image" Target="../media/image18.jpe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17.png"/><Relationship Id="rId4" Type="http://schemas.microsoft.com/office/2007/relationships/hdphoto" Target="../media/hdphoto6.wdp"/></Relationships>
</file>

<file path=ppt/slides/_rels/slide6.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9.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image" Target="../media/image1.png"/><Relationship Id="rId16" Type="http://schemas.openxmlformats.org/officeDocument/2006/relationships/image" Target="../media/image30.png"/><Relationship Id="rId1" Type="http://schemas.openxmlformats.org/officeDocument/2006/relationships/slideLayout" Target="../slideLayouts/slideLayout7.xml"/><Relationship Id="rId6" Type="http://schemas.microsoft.com/office/2007/relationships/hdphoto" Target="../media/hdphoto8.wdp"/><Relationship Id="rId11" Type="http://schemas.openxmlformats.org/officeDocument/2006/relationships/image" Target="../media/image25.png"/><Relationship Id="rId5" Type="http://schemas.openxmlformats.org/officeDocument/2006/relationships/image" Target="../media/image20.png"/><Relationship Id="rId15" Type="http://schemas.openxmlformats.org/officeDocument/2006/relationships/image" Target="../media/image29.png"/><Relationship Id="rId10" Type="http://schemas.openxmlformats.org/officeDocument/2006/relationships/image" Target="../media/image24.png"/><Relationship Id="rId4" Type="http://schemas.microsoft.com/office/2007/relationships/hdphoto" Target="../media/hdphoto7.wdp"/><Relationship Id="rId9" Type="http://schemas.openxmlformats.org/officeDocument/2006/relationships/image" Target="../media/image23.png"/><Relationship Id="rId14" Type="http://schemas.openxmlformats.org/officeDocument/2006/relationships/image" Target="../media/image28.png"/></Relationships>
</file>

<file path=ppt/slides/_rels/slide7.xml.rels><?xml version="1.0" encoding="UTF-8" standalone="yes"?>
<Relationships xmlns="http://schemas.openxmlformats.org/package/2006/relationships"><Relationship Id="rId8" Type="http://schemas.openxmlformats.org/officeDocument/2006/relationships/image" Target="../media/image35.pn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32.png"/><Relationship Id="rId7" Type="http://schemas.openxmlformats.org/officeDocument/2006/relationships/image" Target="../media/image34.png"/><Relationship Id="rId12" Type="http://schemas.openxmlformats.org/officeDocument/2006/relationships/image" Target="../media/image37.png"/><Relationship Id="rId17" Type="http://schemas.openxmlformats.org/officeDocument/2006/relationships/image" Target="../media/image42.png"/><Relationship Id="rId2" Type="http://schemas.openxmlformats.org/officeDocument/2006/relationships/image" Target="../media/image1.pn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7.xml"/><Relationship Id="rId6" Type="http://schemas.microsoft.com/office/2007/relationships/hdphoto" Target="../media/hdphoto10.wdp"/><Relationship Id="rId11" Type="http://schemas.openxmlformats.org/officeDocument/2006/relationships/image" Target="../media/image36.png"/><Relationship Id="rId5" Type="http://schemas.openxmlformats.org/officeDocument/2006/relationships/image" Target="../media/image33.png"/><Relationship Id="rId15" Type="http://schemas.openxmlformats.org/officeDocument/2006/relationships/image" Target="../media/image40.png"/><Relationship Id="rId10" Type="http://schemas.openxmlformats.org/officeDocument/2006/relationships/image" Target="../media/image22.png"/><Relationship Id="rId19" Type="http://schemas.openxmlformats.org/officeDocument/2006/relationships/image" Target="../media/image44.png"/><Relationship Id="rId4" Type="http://schemas.microsoft.com/office/2007/relationships/hdphoto" Target="../media/hdphoto9.wdp"/><Relationship Id="rId9" Type="http://schemas.openxmlformats.org/officeDocument/2006/relationships/image" Target="../media/image23.png"/><Relationship Id="rId14" Type="http://schemas.openxmlformats.org/officeDocument/2006/relationships/image" Target="../media/image39.png"/></Relationships>
</file>

<file path=ppt/slides/_rels/slide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1.wdp"/></Relationships>
</file>

<file path=ppt/slides/_rels/slide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53.png"/><Relationship Id="rId3" Type="http://schemas.openxmlformats.org/officeDocument/2006/relationships/image" Target="../media/image48.png"/><Relationship Id="rId7" Type="http://schemas.openxmlformats.org/officeDocument/2006/relationships/image" Target="../media/image5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1.png"/><Relationship Id="rId5" Type="http://schemas.openxmlformats.org/officeDocument/2006/relationships/image" Target="../media/image50.png"/><Relationship Id="rId10" Type="http://schemas.openxmlformats.org/officeDocument/2006/relationships/image" Target="../media/image55.png"/><Relationship Id="rId4" Type="http://schemas.openxmlformats.org/officeDocument/2006/relationships/image" Target="../media/image49.png"/><Relationship Id="rId9" Type="http://schemas.openxmlformats.org/officeDocument/2006/relationships/image" Target="../media/image54.png"/></Relationships>
</file>

<file path=ppt/slides/_rels/slide1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16.xml.rels><?xml version="1.0" encoding="UTF-8" standalone="yes"?>
<Relationships xmlns="http://schemas.openxmlformats.org/package/2006/relationships"><Relationship Id="rId8" Type="http://schemas.openxmlformats.org/officeDocument/2006/relationships/image" Target="../media/image64.png"/><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62.png"/><Relationship Id="rId11" Type="http://schemas.openxmlformats.org/officeDocument/2006/relationships/image" Target="../media/image67.png"/><Relationship Id="rId5" Type="http://schemas.openxmlformats.org/officeDocument/2006/relationships/image" Target="../media/image61.png"/><Relationship Id="rId10" Type="http://schemas.openxmlformats.org/officeDocument/2006/relationships/image" Target="../media/image66.png"/><Relationship Id="rId4" Type="http://schemas.openxmlformats.org/officeDocument/2006/relationships/image" Target="../media/image60.png"/><Relationship Id="rId9" Type="http://schemas.openxmlformats.org/officeDocument/2006/relationships/image" Target="../media/image65.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48550/arxiv.2210.03629"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216617" y="2476429"/>
            <a:ext cx="11601450" cy="705321"/>
          </a:xfrm>
          <a:prstGeom prst="rect">
            <a:avLst/>
          </a:prstGeom>
          <a:noFill/>
        </p:spPr>
        <p:txBody>
          <a:bodyPr wrap="square" lIns="0" tIns="0" rIns="0" bIns="0" anchor="t">
            <a:spAutoFit/>
          </a:bodyPr>
          <a:lstStyle/>
          <a:p>
            <a:pPr algn="ctr">
              <a:lnSpc>
                <a:spcPts val="5520"/>
              </a:lnSpc>
            </a:pPr>
            <a:r>
              <a:rPr sz="4800" b="1" i="0" u="none" dirty="0">
                <a:solidFill>
                  <a:srgbClr val="0F172A"/>
                </a:solidFill>
                <a:latin typeface="Inter"/>
              </a:rPr>
              <a:t>SDLC</a:t>
            </a:r>
            <a:r>
              <a:rPr lang="en-IN" sz="4800" b="1" i="0" u="none" dirty="0">
                <a:solidFill>
                  <a:srgbClr val="0F172A"/>
                </a:solidFill>
                <a:latin typeface="Inter"/>
              </a:rPr>
              <a:t> </a:t>
            </a:r>
            <a:r>
              <a:rPr lang="en-IN" sz="4800" b="1" dirty="0">
                <a:solidFill>
                  <a:srgbClr val="0F172A"/>
                </a:solidFill>
                <a:latin typeface="Inter"/>
              </a:rPr>
              <a:t>U</a:t>
            </a:r>
            <a:r>
              <a:rPr sz="4800" b="1" i="0" u="none" dirty="0">
                <a:solidFill>
                  <a:srgbClr val="0F172A"/>
                </a:solidFill>
                <a:latin typeface="Inter"/>
              </a:rPr>
              <a:t>sing </a:t>
            </a:r>
            <a:r>
              <a:rPr sz="4800" b="1" i="0" u="none" dirty="0">
                <a:solidFill>
                  <a:srgbClr val="2563EB"/>
                </a:solidFill>
                <a:latin typeface="Inter"/>
              </a:rPr>
              <a:t>Agentic AI</a:t>
            </a:r>
          </a:p>
        </p:txBody>
      </p:sp>
      <p:sp>
        <p:nvSpPr>
          <p:cNvPr id="4" name="TextBox 3"/>
          <p:cNvSpPr txBox="1"/>
          <p:nvPr/>
        </p:nvSpPr>
        <p:spPr>
          <a:xfrm>
            <a:off x="571500" y="3230910"/>
            <a:ext cx="11049000" cy="396180"/>
          </a:xfrm>
          <a:prstGeom prst="rect">
            <a:avLst/>
          </a:prstGeom>
          <a:noFill/>
        </p:spPr>
        <p:txBody>
          <a:bodyPr wrap="square" lIns="0" tIns="0" rIns="0" bIns="0" anchor="t">
            <a:spAutoFit/>
          </a:bodyPr>
          <a:lstStyle/>
          <a:p>
            <a:pPr algn="ctr">
              <a:lnSpc>
                <a:spcPts val="3120"/>
              </a:lnSpc>
            </a:pPr>
            <a:r>
              <a:rPr sz="1950" b="0" i="0" u="none" dirty="0">
                <a:solidFill>
                  <a:srgbClr val="64748B"/>
                </a:solidFill>
                <a:latin typeface="Inter Medium"/>
              </a:rPr>
              <a:t>Building an Adaptive AI Software Engineering Organization</a:t>
            </a:r>
          </a:p>
        </p:txBody>
      </p:sp>
      <p:sp>
        <p:nvSpPr>
          <p:cNvPr id="6" name="TextBox 5">
            <a:extLst>
              <a:ext uri="{FF2B5EF4-FFF2-40B4-BE49-F238E27FC236}">
                <a16:creationId xmlns:a16="http://schemas.microsoft.com/office/drawing/2014/main" id="{10BC449C-DBD9-236B-C1B9-FEF4B80F7E53}"/>
              </a:ext>
            </a:extLst>
          </p:cNvPr>
          <p:cNvSpPr txBox="1"/>
          <p:nvPr/>
        </p:nvSpPr>
        <p:spPr>
          <a:xfrm>
            <a:off x="989371" y="5455177"/>
            <a:ext cx="3936590" cy="761683"/>
          </a:xfrm>
          <a:prstGeom prst="rect">
            <a:avLst/>
          </a:prstGeom>
          <a:noFill/>
        </p:spPr>
        <p:txBody>
          <a:bodyPr wrap="square" lIns="0" tIns="0" rIns="0" bIns="0" anchor="t">
            <a:spAutoFit/>
          </a:bodyPr>
          <a:lstStyle/>
          <a:p>
            <a:pPr>
              <a:lnSpc>
                <a:spcPts val="3120"/>
              </a:lnSpc>
            </a:pPr>
            <a:r>
              <a:rPr lang="en-IN" sz="1950" b="1" i="0" u="none" dirty="0">
                <a:solidFill>
                  <a:srgbClr val="64748B"/>
                </a:solidFill>
                <a:latin typeface="Inter Medium"/>
              </a:rPr>
              <a:t>Presented By:</a:t>
            </a:r>
          </a:p>
          <a:p>
            <a:pPr>
              <a:lnSpc>
                <a:spcPts val="3120"/>
              </a:lnSpc>
            </a:pPr>
            <a:r>
              <a:rPr lang="en-IN" sz="1950" dirty="0">
                <a:latin typeface="Inter Medium"/>
              </a:rPr>
              <a:t>Abhishek Raj (</a:t>
            </a:r>
            <a:r>
              <a:rPr lang="en-IN" sz="1950" dirty="0" err="1">
                <a:latin typeface="Inter Medium"/>
              </a:rPr>
              <a:t>M.Tech</a:t>
            </a:r>
            <a:r>
              <a:rPr lang="en-IN" sz="1950" dirty="0">
                <a:latin typeface="Inter Medium"/>
              </a:rPr>
              <a:t> Intern)</a:t>
            </a:r>
            <a:endParaRPr sz="1950" b="0" i="0" u="none" dirty="0">
              <a:latin typeface="Inter Medium"/>
            </a:endParaRPr>
          </a:p>
        </p:txBody>
      </p:sp>
      <p:sp>
        <p:nvSpPr>
          <p:cNvPr id="8" name="TextBox 7">
            <a:extLst>
              <a:ext uri="{FF2B5EF4-FFF2-40B4-BE49-F238E27FC236}">
                <a16:creationId xmlns:a16="http://schemas.microsoft.com/office/drawing/2014/main" id="{AC8C9C62-C2EA-FF0A-565F-413C1CE45600}"/>
              </a:ext>
            </a:extLst>
          </p:cNvPr>
          <p:cNvSpPr txBox="1"/>
          <p:nvPr/>
        </p:nvSpPr>
        <p:spPr>
          <a:xfrm>
            <a:off x="8407810" y="5455176"/>
            <a:ext cx="3936590" cy="761683"/>
          </a:xfrm>
          <a:prstGeom prst="rect">
            <a:avLst/>
          </a:prstGeom>
          <a:noFill/>
        </p:spPr>
        <p:txBody>
          <a:bodyPr wrap="square" lIns="0" tIns="0" rIns="0" bIns="0" anchor="t">
            <a:spAutoFit/>
          </a:bodyPr>
          <a:lstStyle/>
          <a:p>
            <a:pPr>
              <a:lnSpc>
                <a:spcPts val="3120"/>
              </a:lnSpc>
            </a:pPr>
            <a:r>
              <a:rPr lang="en-IN" sz="1950" b="1" dirty="0">
                <a:solidFill>
                  <a:srgbClr val="64748B"/>
                </a:solidFill>
                <a:latin typeface="Inter Medium"/>
              </a:rPr>
              <a:t>Guide</a:t>
            </a:r>
            <a:r>
              <a:rPr lang="en-IN" sz="1950" b="1" i="0" u="none" dirty="0">
                <a:solidFill>
                  <a:srgbClr val="64748B"/>
                </a:solidFill>
                <a:latin typeface="Inter Medium"/>
              </a:rPr>
              <a:t>:</a:t>
            </a:r>
          </a:p>
          <a:p>
            <a:pPr>
              <a:lnSpc>
                <a:spcPts val="3120"/>
              </a:lnSpc>
            </a:pPr>
            <a:r>
              <a:rPr lang="en-IN" sz="1950" dirty="0">
                <a:latin typeface="Inter Medium"/>
              </a:rPr>
              <a:t>M.B. Sai Charan (Scientist C)</a:t>
            </a:r>
            <a:endParaRPr sz="1950" b="0" i="0" u="none" dirty="0">
              <a:latin typeface="Inter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descr="image.png">
            <a:extLst>
              <a:ext uri="{FF2B5EF4-FFF2-40B4-BE49-F238E27FC236}">
                <a16:creationId xmlns:a16="http://schemas.microsoft.com/office/drawing/2014/main" id="{CCB9C80C-55A6-57DA-D61D-7FFC77EE37F9}"/>
              </a:ext>
            </a:extLst>
          </p:cNvPr>
          <p:cNvPicPr>
            <a:picLocks noChangeAspect="1"/>
          </p:cNvPicPr>
          <p:nvPr/>
        </p:nvPicPr>
        <p:blipFill>
          <a:blip r:embed="rId2"/>
          <a:stretch>
            <a:fillRect/>
          </a:stretch>
        </p:blipFill>
        <p:spPr>
          <a:xfrm>
            <a:off x="19050" y="0"/>
            <a:ext cx="12192000" cy="6858000"/>
          </a:xfrm>
          <a:prstGeom prst="rect">
            <a:avLst/>
          </a:prstGeom>
        </p:spPr>
      </p:pic>
      <p:pic>
        <p:nvPicPr>
          <p:cNvPr id="2" name="Picture 1" descr="image.png"/>
          <p:cNvPicPr>
            <a:picLocks noChangeAspect="1"/>
          </p:cNvPicPr>
          <p:nvPr/>
        </p:nvPicPr>
        <p:blipFill>
          <a:blip r:embed="rId3"/>
          <a:stretch>
            <a:fillRect/>
          </a:stretch>
        </p:blipFill>
        <p:spPr>
          <a:xfrm>
            <a:off x="551531" y="5122144"/>
            <a:ext cx="5524500" cy="789310"/>
          </a:xfrm>
          <a:prstGeom prst="rect">
            <a:avLst/>
          </a:prstGeom>
        </p:spPr>
      </p:pic>
      <p:sp>
        <p:nvSpPr>
          <p:cNvPr id="7" name="TextBox 6"/>
          <p:cNvSpPr txBox="1"/>
          <p:nvPr/>
        </p:nvSpPr>
        <p:spPr>
          <a:xfrm>
            <a:off x="571500" y="728816"/>
            <a:ext cx="11601450" cy="484748"/>
          </a:xfrm>
          <a:prstGeom prst="rect">
            <a:avLst/>
          </a:prstGeom>
          <a:noFill/>
        </p:spPr>
        <p:txBody>
          <a:bodyPr wrap="square" lIns="0" tIns="0" rIns="0" bIns="0" anchor="t">
            <a:spAutoFit/>
          </a:bodyPr>
          <a:lstStyle/>
          <a:p>
            <a:pPr algn="l"/>
            <a:r>
              <a:rPr sz="3150" b="1" i="0" u="none" dirty="0">
                <a:solidFill>
                  <a:srgbClr val="0F172A"/>
                </a:solidFill>
                <a:latin typeface="Inter"/>
              </a:rPr>
              <a:t>What is an </a:t>
            </a:r>
            <a:r>
              <a:rPr sz="3150" b="1" i="0" u="none" dirty="0">
                <a:solidFill>
                  <a:schemeClr val="tx2"/>
                </a:solidFill>
                <a:latin typeface="Inter"/>
              </a:rPr>
              <a:t>AI Agent</a:t>
            </a:r>
            <a:r>
              <a:rPr sz="3150" b="1" i="0" u="none" dirty="0">
                <a:solidFill>
                  <a:srgbClr val="0F172A"/>
                </a:solidFill>
                <a:latin typeface="Inter"/>
              </a:rPr>
              <a:t>?</a:t>
            </a:r>
          </a:p>
        </p:txBody>
      </p:sp>
      <p:sp>
        <p:nvSpPr>
          <p:cNvPr id="8" name="Rectangle 7"/>
          <p:cNvSpPr/>
          <p:nvPr/>
        </p:nvSpPr>
        <p:spPr>
          <a:xfrm>
            <a:off x="571500" y="1357466"/>
            <a:ext cx="11049000" cy="2857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1562" y="1921557"/>
            <a:ext cx="5524500" cy="2954655"/>
          </a:xfrm>
          <a:prstGeom prst="rect">
            <a:avLst/>
          </a:prstGeom>
          <a:noFill/>
        </p:spPr>
        <p:txBody>
          <a:bodyPr wrap="square" lIns="0" tIns="0" rIns="0" bIns="0" anchor="t">
            <a:spAutoFit/>
          </a:bodyPr>
          <a:lstStyle/>
          <a:p>
            <a:pPr algn="just" fontAlgn="base"/>
            <a:r>
              <a:rPr lang="en-IN" sz="1600" dirty="0">
                <a:latin typeface="Inter"/>
              </a:rPr>
              <a:t>AI agents can encompass a wide range of functions beyond natural language processing including decision-making, problem-solving, interacting with external environments and performing actions.</a:t>
            </a:r>
          </a:p>
          <a:p>
            <a:pPr algn="just" fontAlgn="base"/>
            <a:endParaRPr lang="en-IN" sz="1600" dirty="0">
              <a:latin typeface="Inter"/>
            </a:endParaRPr>
          </a:p>
          <a:p>
            <a:pPr algn="just" fontAlgn="base"/>
            <a:r>
              <a:rPr lang="en-IN" sz="1600" dirty="0">
                <a:latin typeface="Inter"/>
              </a:rPr>
              <a:t>AI agents solve complex tasks across enterprise applications, including software design, IT automation, code generation and conversational assistance.</a:t>
            </a:r>
          </a:p>
          <a:p>
            <a:pPr algn="just" fontAlgn="base"/>
            <a:endParaRPr lang="en-IN" sz="1600" dirty="0">
              <a:latin typeface="Inter"/>
            </a:endParaRPr>
          </a:p>
          <a:p>
            <a:pPr algn="just" fontAlgn="base"/>
            <a:r>
              <a:rPr lang="en-IN" sz="1600" dirty="0">
                <a:latin typeface="Inter"/>
              </a:rPr>
              <a:t>They use the advanced natural language processing techniques of large language models (LLMs) to comprehend and respond to user inputs step-by-step and determine when to call on external tools. [17]</a:t>
            </a:r>
          </a:p>
        </p:txBody>
      </p:sp>
      <p:sp>
        <p:nvSpPr>
          <p:cNvPr id="12" name="TextBox 11"/>
          <p:cNvSpPr txBox="1"/>
          <p:nvPr/>
        </p:nvSpPr>
        <p:spPr>
          <a:xfrm>
            <a:off x="881837" y="5432989"/>
            <a:ext cx="4912874" cy="215444"/>
          </a:xfrm>
          <a:prstGeom prst="rect">
            <a:avLst/>
          </a:prstGeom>
          <a:noFill/>
        </p:spPr>
        <p:txBody>
          <a:bodyPr wrap="square" lIns="0" tIns="0" rIns="0" bIns="0" anchor="t">
            <a:spAutoFit/>
          </a:bodyPr>
          <a:lstStyle/>
          <a:p>
            <a:pPr algn="l"/>
            <a:r>
              <a:rPr sz="1400" b="0" i="0" u="none" dirty="0">
                <a:solidFill>
                  <a:srgbClr val="4F46E5"/>
                </a:solidFill>
                <a:latin typeface="Fira Code"/>
              </a:rPr>
              <a:t>Agent = LLM + Memory + </a:t>
            </a:r>
            <a:r>
              <a:rPr lang="en-IN" sz="1400" dirty="0">
                <a:solidFill>
                  <a:srgbClr val="4F46E5"/>
                </a:solidFill>
                <a:latin typeface="Fira Code"/>
              </a:rPr>
              <a:t>P</a:t>
            </a:r>
            <a:r>
              <a:rPr lang="en-IN" sz="1400" b="0" i="0" u="none" dirty="0">
                <a:solidFill>
                  <a:srgbClr val="4F46E5"/>
                </a:solidFill>
                <a:latin typeface="Fira Code"/>
              </a:rPr>
              <a:t>rompt Template</a:t>
            </a:r>
            <a:r>
              <a:rPr sz="1400" b="0" i="0" u="none" dirty="0">
                <a:solidFill>
                  <a:srgbClr val="4F46E5"/>
                </a:solidFill>
                <a:latin typeface="Fira Code"/>
              </a:rPr>
              <a:t> + Tools</a:t>
            </a:r>
          </a:p>
        </p:txBody>
      </p:sp>
      <p:pic>
        <p:nvPicPr>
          <p:cNvPr id="24" name="Picture 23">
            <a:extLst>
              <a:ext uri="{FF2B5EF4-FFF2-40B4-BE49-F238E27FC236}">
                <a16:creationId xmlns:a16="http://schemas.microsoft.com/office/drawing/2014/main" id="{5F2BCF82-A88A-4CD9-F6B6-B3742FDED85C}"/>
              </a:ext>
            </a:extLst>
          </p:cNvPr>
          <p:cNvPicPr>
            <a:picLocks noChangeAspect="1"/>
          </p:cNvPicPr>
          <p:nvPr/>
        </p:nvPicPr>
        <p:blipFill>
          <a:blip r:embed="rId4">
            <a:duotone>
              <a:schemeClr val="accent5">
                <a:shade val="45000"/>
                <a:satMod val="135000"/>
              </a:schemeClr>
              <a:prstClr val="white"/>
            </a:duotone>
          </a:blip>
          <a:stretch>
            <a:fillRect/>
          </a:stretch>
        </p:blipFill>
        <p:spPr>
          <a:xfrm>
            <a:off x="6314158" y="2176253"/>
            <a:ext cx="5306342" cy="33443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070330A2-AAA6-779F-BF61-96A06E62452B}"/>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493795" y="1746152"/>
            <a:ext cx="5367037" cy="4487500"/>
          </a:xfrm>
          <a:prstGeom prst="rect">
            <a:avLst/>
          </a:prstGeom>
        </p:spPr>
      </p:pic>
      <p:pic>
        <p:nvPicPr>
          <p:cNvPr id="16" name="Picture 15">
            <a:extLst>
              <a:ext uri="{FF2B5EF4-FFF2-40B4-BE49-F238E27FC236}">
                <a16:creationId xmlns:a16="http://schemas.microsoft.com/office/drawing/2014/main" id="{B9FFB3F4-8DEB-623D-B7CB-8EF29A7FF5D3}"/>
              </a:ext>
            </a:extLst>
          </p:cNvPr>
          <p:cNvPicPr>
            <a:picLocks noChangeAspect="1"/>
          </p:cNvPicPr>
          <p:nvPr/>
        </p:nvPicPr>
        <p:blipFill>
          <a:blip r:embed="rId5">
            <a:extLst>
              <a:ext uri="{BEBA8EAE-BF5A-486C-A8C5-ECC9F3942E4B}">
                <a14:imgProps xmlns:a14="http://schemas.microsoft.com/office/drawing/2010/main">
                  <a14:imgLayer r:embed="rId6">
                    <a14:imgEffect>
                      <a14:saturation sat="400000"/>
                    </a14:imgEffect>
                  </a14:imgLayer>
                </a14:imgProps>
              </a:ext>
            </a:extLst>
          </a:blip>
          <a:srcRect t="11028" b="13377"/>
          <a:stretch>
            <a:fillRect/>
          </a:stretch>
        </p:blipFill>
        <p:spPr>
          <a:xfrm>
            <a:off x="731921" y="3047892"/>
            <a:ext cx="4882323" cy="2076062"/>
          </a:xfrm>
          <a:prstGeom prst="rect">
            <a:avLst/>
          </a:prstGeom>
        </p:spPr>
      </p:pic>
      <p:pic>
        <p:nvPicPr>
          <p:cNvPr id="3" name="Picture 2" descr="image.png"/>
          <p:cNvPicPr>
            <a:picLocks noChangeAspect="1"/>
          </p:cNvPicPr>
          <p:nvPr/>
        </p:nvPicPr>
        <p:blipFill>
          <a:blip r:embed="rId7">
            <a:extLst>
              <a:ext uri="{BEBA8EAE-BF5A-486C-A8C5-ECC9F3942E4B}">
                <a14:imgProps xmlns:a14="http://schemas.microsoft.com/office/drawing/2010/main">
                  <a14:imgLayer r:embed="rId8">
                    <a14:imgEffect>
                      <a14:saturation sat="0"/>
                    </a14:imgEffect>
                  </a14:imgLayer>
                </a14:imgProps>
              </a:ext>
            </a:extLst>
          </a:blip>
          <a:stretch>
            <a:fillRect/>
          </a:stretch>
        </p:blipFill>
        <p:spPr>
          <a:xfrm>
            <a:off x="6095999" y="871082"/>
            <a:ext cx="5521395" cy="5362570"/>
          </a:xfrm>
          <a:prstGeom prst="rect">
            <a:avLst/>
          </a:prstGeom>
        </p:spPr>
      </p:pic>
      <p:pic>
        <p:nvPicPr>
          <p:cNvPr id="7" name="Picture 6" descr="image.png"/>
          <p:cNvPicPr>
            <a:picLocks noChangeAspect="1"/>
          </p:cNvPicPr>
          <p:nvPr/>
        </p:nvPicPr>
        <p:blipFill>
          <a:blip r:embed="rId9"/>
          <a:stretch>
            <a:fillRect/>
          </a:stretch>
        </p:blipFill>
        <p:spPr>
          <a:xfrm>
            <a:off x="2559994" y="5616050"/>
            <a:ext cx="3054250" cy="377130"/>
          </a:xfrm>
          <a:prstGeom prst="rect">
            <a:avLst/>
          </a:prstGeom>
        </p:spPr>
      </p:pic>
      <p:pic>
        <p:nvPicPr>
          <p:cNvPr id="8" name="Picture 7" descr="image.png"/>
          <p:cNvPicPr>
            <a:picLocks noChangeAspect="1"/>
          </p:cNvPicPr>
          <p:nvPr/>
        </p:nvPicPr>
        <p:blipFill>
          <a:blip r:embed="rId10"/>
          <a:stretch>
            <a:fillRect/>
          </a:stretch>
        </p:blipFill>
        <p:spPr>
          <a:xfrm>
            <a:off x="8563144" y="5632773"/>
            <a:ext cx="2875693" cy="377130"/>
          </a:xfrm>
          <a:prstGeom prst="rect">
            <a:avLst/>
          </a:prstGeom>
        </p:spPr>
      </p:pic>
      <p:sp>
        <p:nvSpPr>
          <p:cNvPr id="12" name="TextBox 11"/>
          <p:cNvSpPr txBox="1"/>
          <p:nvPr/>
        </p:nvSpPr>
        <p:spPr>
          <a:xfrm>
            <a:off x="574606" y="778958"/>
            <a:ext cx="4097870"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p>
        </p:txBody>
      </p:sp>
      <p:sp>
        <p:nvSpPr>
          <p:cNvPr id="14" name="TextBox 13"/>
          <p:cNvSpPr txBox="1"/>
          <p:nvPr/>
        </p:nvSpPr>
        <p:spPr>
          <a:xfrm>
            <a:off x="752816" y="1944742"/>
            <a:ext cx="2926928" cy="246221"/>
          </a:xfrm>
          <a:prstGeom prst="rect">
            <a:avLst/>
          </a:prstGeom>
          <a:noFill/>
        </p:spPr>
        <p:txBody>
          <a:bodyPr wrap="square" lIns="0" tIns="0" rIns="0" bIns="0" anchor="ctr">
            <a:spAutoFit/>
          </a:bodyPr>
          <a:lstStyle/>
          <a:p>
            <a:pPr algn="l"/>
            <a:r>
              <a:rPr sz="1600" b="1" i="0" u="none" dirty="0">
                <a:latin typeface="Inter"/>
              </a:rPr>
              <a:t>Simple Reflex</a:t>
            </a:r>
            <a:r>
              <a:rPr lang="en-IN" sz="1600" b="1" i="0" u="none" dirty="0">
                <a:latin typeface="Inter"/>
              </a:rPr>
              <a:t> Agents</a:t>
            </a:r>
            <a:endParaRPr sz="1600" b="1" i="0" u="none" dirty="0">
              <a:latin typeface="Inter"/>
            </a:endParaRPr>
          </a:p>
        </p:txBody>
      </p:sp>
      <p:sp>
        <p:nvSpPr>
          <p:cNvPr id="15" name="TextBox 14"/>
          <p:cNvSpPr txBox="1"/>
          <p:nvPr/>
        </p:nvSpPr>
        <p:spPr>
          <a:xfrm>
            <a:off x="731921" y="2296452"/>
            <a:ext cx="4882323" cy="646908"/>
          </a:xfrm>
          <a:prstGeom prst="rect">
            <a:avLst/>
          </a:prstGeom>
          <a:noFill/>
        </p:spPr>
        <p:txBody>
          <a:bodyPr wrap="square" lIns="0" tIns="0" rIns="0" bIns="0" anchor="t">
            <a:spAutoFit/>
          </a:bodyPr>
          <a:lstStyle/>
          <a:p>
            <a:pPr algn="just">
              <a:lnSpc>
                <a:spcPts val="1687"/>
              </a:lnSpc>
            </a:pPr>
            <a:r>
              <a:rPr lang="en-IN" sz="1200" dirty="0">
                <a:latin typeface="Inter"/>
              </a:rPr>
              <a:t>Simple reflex agents are the simplest agent form that grounds actions on </a:t>
            </a:r>
            <a:r>
              <a:rPr lang="en-IN" sz="1200" dirty="0">
                <a:latin typeface="Inter"/>
                <a:hlinkClick r:id="rId11"/>
              </a:rPr>
              <a:t>perception</a:t>
            </a:r>
            <a:r>
              <a:rPr lang="en-IN" sz="1200" dirty="0">
                <a:latin typeface="Inter"/>
              </a:rPr>
              <a:t>. This agent does not hold any memory, nor does it interact with other agents if it is missing information. </a:t>
            </a:r>
            <a:r>
              <a:rPr lang="en-IN" sz="1200" b="1" dirty="0">
                <a:latin typeface="Inter"/>
              </a:rPr>
              <a:t>[4]</a:t>
            </a:r>
            <a:endParaRPr sz="1200" b="1" i="0" u="none" dirty="0">
              <a:solidFill>
                <a:srgbClr val="475569"/>
              </a:solidFill>
              <a:latin typeface="Inter"/>
            </a:endParaRPr>
          </a:p>
        </p:txBody>
      </p:sp>
      <p:sp>
        <p:nvSpPr>
          <p:cNvPr id="17" name="TextBox 16"/>
          <p:cNvSpPr txBox="1"/>
          <p:nvPr/>
        </p:nvSpPr>
        <p:spPr>
          <a:xfrm>
            <a:off x="2559994" y="5396975"/>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18" name="TextBox 17"/>
          <p:cNvSpPr txBox="1"/>
          <p:nvPr/>
        </p:nvSpPr>
        <p:spPr>
          <a:xfrm>
            <a:off x="6334737" y="1117720"/>
            <a:ext cx="2906925" cy="246221"/>
          </a:xfrm>
          <a:prstGeom prst="rect">
            <a:avLst/>
          </a:prstGeom>
          <a:noFill/>
        </p:spPr>
        <p:txBody>
          <a:bodyPr wrap="square" lIns="0" tIns="0" rIns="0" bIns="0" anchor="ctr">
            <a:spAutoFit/>
          </a:bodyPr>
          <a:lstStyle/>
          <a:p>
            <a:pPr algn="l"/>
            <a:r>
              <a:rPr sz="1600" b="1" i="0" u="none" dirty="0">
                <a:latin typeface="Inter"/>
              </a:rPr>
              <a:t>Model-Based</a:t>
            </a:r>
            <a:r>
              <a:rPr lang="en-IN" sz="1600" b="1" i="0" u="none" dirty="0">
                <a:latin typeface="Inter"/>
              </a:rPr>
              <a:t> Agents</a:t>
            </a:r>
            <a:endParaRPr sz="1600" b="1" i="0" u="none" dirty="0">
              <a:latin typeface="Inter"/>
            </a:endParaRPr>
          </a:p>
        </p:txBody>
      </p:sp>
      <p:sp>
        <p:nvSpPr>
          <p:cNvPr id="19" name="TextBox 18"/>
          <p:cNvSpPr txBox="1"/>
          <p:nvPr/>
        </p:nvSpPr>
        <p:spPr>
          <a:xfrm>
            <a:off x="6334125" y="1421383"/>
            <a:ext cx="5048102" cy="858184"/>
          </a:xfrm>
          <a:prstGeom prst="rect">
            <a:avLst/>
          </a:prstGeom>
          <a:noFill/>
        </p:spPr>
        <p:txBody>
          <a:bodyPr wrap="square" lIns="0" tIns="0" rIns="0" bIns="0" anchor="t">
            <a:spAutoFit/>
          </a:bodyPr>
          <a:lstStyle/>
          <a:p>
            <a:pPr algn="just">
              <a:lnSpc>
                <a:spcPts val="1687"/>
              </a:lnSpc>
            </a:pPr>
            <a:r>
              <a:rPr lang="en-IN" sz="1200" dirty="0">
                <a:latin typeface="Inter"/>
              </a:rPr>
              <a:t>Model-based reflex agents use both their current perception and memory to maintain an internal model of the world. As the agent continues to receive new information, the model is updated. The agent’s actions depend on its model, reflexes, previous precepts and current state. </a:t>
            </a:r>
            <a:r>
              <a:rPr lang="en-IN" sz="1200" b="1" dirty="0">
                <a:latin typeface="Inter"/>
              </a:rPr>
              <a:t>[4]</a:t>
            </a:r>
            <a:endParaRPr sz="1200" b="0" i="0" u="none" dirty="0">
              <a:solidFill>
                <a:srgbClr val="475569"/>
              </a:solidFill>
              <a:latin typeface="Inter"/>
            </a:endParaRPr>
          </a:p>
        </p:txBody>
      </p:sp>
      <p:sp>
        <p:nvSpPr>
          <p:cNvPr id="21" name="TextBox 20"/>
          <p:cNvSpPr txBox="1"/>
          <p:nvPr/>
        </p:nvSpPr>
        <p:spPr>
          <a:xfrm>
            <a:off x="8563144" y="5413698"/>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35" name="TextBox 34"/>
          <p:cNvSpPr txBox="1"/>
          <p:nvPr/>
        </p:nvSpPr>
        <p:spPr>
          <a:xfrm>
            <a:off x="886166" y="5305000"/>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No memory capacity</a:t>
            </a:r>
          </a:p>
        </p:txBody>
      </p:sp>
      <p:sp>
        <p:nvSpPr>
          <p:cNvPr id="36" name="TextBox 35"/>
          <p:cNvSpPr txBox="1"/>
          <p:nvPr/>
        </p:nvSpPr>
        <p:spPr>
          <a:xfrm>
            <a:off x="886166" y="5548780"/>
            <a:ext cx="2863750"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Rule-based decisions</a:t>
            </a:r>
          </a:p>
        </p:txBody>
      </p:sp>
      <p:sp>
        <p:nvSpPr>
          <p:cNvPr id="37" name="TextBox 36"/>
          <p:cNvSpPr txBox="1"/>
          <p:nvPr/>
        </p:nvSpPr>
        <p:spPr>
          <a:xfrm>
            <a:off x="886166" y="5792561"/>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Fast but inflexible</a:t>
            </a:r>
          </a:p>
        </p:txBody>
      </p:sp>
      <p:sp>
        <p:nvSpPr>
          <p:cNvPr id="39" name="TextBox 38"/>
          <p:cNvSpPr txBox="1"/>
          <p:nvPr/>
        </p:nvSpPr>
        <p:spPr>
          <a:xfrm>
            <a:off x="6530686" y="5343302"/>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Maintains internal state</a:t>
            </a:r>
          </a:p>
        </p:txBody>
      </p:sp>
      <p:sp>
        <p:nvSpPr>
          <p:cNvPr id="40" name="TextBox 39"/>
          <p:cNvSpPr txBox="1"/>
          <p:nvPr/>
        </p:nvSpPr>
        <p:spPr>
          <a:xfrm>
            <a:off x="6530686" y="5587082"/>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Handles partial observability</a:t>
            </a:r>
          </a:p>
        </p:txBody>
      </p:sp>
      <p:sp>
        <p:nvSpPr>
          <p:cNvPr id="41" name="TextBox 40"/>
          <p:cNvSpPr txBox="1"/>
          <p:nvPr/>
        </p:nvSpPr>
        <p:spPr>
          <a:xfrm>
            <a:off x="6530686" y="5830863"/>
            <a:ext cx="2863750"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Updates knowledge continuously</a:t>
            </a:r>
          </a:p>
        </p:txBody>
      </p:sp>
      <p:pic>
        <p:nvPicPr>
          <p:cNvPr id="54" name="Picture 53" descr="image.png"/>
          <p:cNvPicPr>
            <a:picLocks noChangeAspect="1"/>
          </p:cNvPicPr>
          <p:nvPr/>
        </p:nvPicPr>
        <p:blipFill>
          <a:blip r:embed="rId12"/>
          <a:stretch>
            <a:fillRect/>
          </a:stretch>
        </p:blipFill>
        <p:spPr>
          <a:xfrm>
            <a:off x="695666" y="5314525"/>
            <a:ext cx="133350" cy="142875"/>
          </a:xfrm>
          <a:prstGeom prst="rect">
            <a:avLst/>
          </a:prstGeom>
        </p:spPr>
      </p:pic>
      <p:pic>
        <p:nvPicPr>
          <p:cNvPr id="55" name="Picture 54" descr="image.png"/>
          <p:cNvPicPr>
            <a:picLocks noChangeAspect="1"/>
          </p:cNvPicPr>
          <p:nvPr/>
        </p:nvPicPr>
        <p:blipFill>
          <a:blip r:embed="rId12"/>
          <a:stretch>
            <a:fillRect/>
          </a:stretch>
        </p:blipFill>
        <p:spPr>
          <a:xfrm>
            <a:off x="695666" y="5558305"/>
            <a:ext cx="133350" cy="142875"/>
          </a:xfrm>
          <a:prstGeom prst="rect">
            <a:avLst/>
          </a:prstGeom>
        </p:spPr>
      </p:pic>
      <p:pic>
        <p:nvPicPr>
          <p:cNvPr id="56" name="Picture 55" descr="image.png"/>
          <p:cNvPicPr>
            <a:picLocks noChangeAspect="1"/>
          </p:cNvPicPr>
          <p:nvPr/>
        </p:nvPicPr>
        <p:blipFill>
          <a:blip r:embed="rId12"/>
          <a:stretch>
            <a:fillRect/>
          </a:stretch>
        </p:blipFill>
        <p:spPr>
          <a:xfrm>
            <a:off x="695666" y="5802086"/>
            <a:ext cx="133350" cy="142875"/>
          </a:xfrm>
          <a:prstGeom prst="rect">
            <a:avLst/>
          </a:prstGeom>
        </p:spPr>
      </p:pic>
      <p:pic>
        <p:nvPicPr>
          <p:cNvPr id="57" name="Picture 56" descr="image.png"/>
          <p:cNvPicPr>
            <a:picLocks noChangeAspect="1"/>
          </p:cNvPicPr>
          <p:nvPr/>
        </p:nvPicPr>
        <p:blipFill>
          <a:blip r:embed="rId12"/>
          <a:stretch>
            <a:fillRect/>
          </a:stretch>
        </p:blipFill>
        <p:spPr>
          <a:xfrm>
            <a:off x="6340186" y="5352827"/>
            <a:ext cx="133350" cy="142875"/>
          </a:xfrm>
          <a:prstGeom prst="rect">
            <a:avLst/>
          </a:prstGeom>
        </p:spPr>
      </p:pic>
      <p:pic>
        <p:nvPicPr>
          <p:cNvPr id="58" name="Picture 57" descr="image.png"/>
          <p:cNvPicPr>
            <a:picLocks noChangeAspect="1"/>
          </p:cNvPicPr>
          <p:nvPr/>
        </p:nvPicPr>
        <p:blipFill>
          <a:blip r:embed="rId12"/>
          <a:stretch>
            <a:fillRect/>
          </a:stretch>
        </p:blipFill>
        <p:spPr>
          <a:xfrm>
            <a:off x="6340186" y="5596607"/>
            <a:ext cx="133350" cy="142875"/>
          </a:xfrm>
          <a:prstGeom prst="rect">
            <a:avLst/>
          </a:prstGeom>
        </p:spPr>
      </p:pic>
      <p:pic>
        <p:nvPicPr>
          <p:cNvPr id="59" name="Picture 58" descr="image.png"/>
          <p:cNvPicPr>
            <a:picLocks noChangeAspect="1"/>
          </p:cNvPicPr>
          <p:nvPr/>
        </p:nvPicPr>
        <p:blipFill>
          <a:blip r:embed="rId12"/>
          <a:stretch>
            <a:fillRect/>
          </a:stretch>
        </p:blipFill>
        <p:spPr>
          <a:xfrm>
            <a:off x="6340186" y="5840388"/>
            <a:ext cx="133350" cy="142875"/>
          </a:xfrm>
          <a:prstGeom prst="rect">
            <a:avLst/>
          </a:prstGeom>
        </p:spPr>
      </p:pic>
      <p:pic>
        <p:nvPicPr>
          <p:cNvPr id="24" name="Picture 23">
            <a:extLst>
              <a:ext uri="{FF2B5EF4-FFF2-40B4-BE49-F238E27FC236}">
                <a16:creationId xmlns:a16="http://schemas.microsoft.com/office/drawing/2014/main" id="{AAD32A5F-62A2-80A6-C0E4-023676A2D02C}"/>
              </a:ext>
            </a:extLst>
          </p:cNvPr>
          <p:cNvPicPr>
            <a:picLocks noChangeAspect="1"/>
          </p:cNvPicPr>
          <p:nvPr/>
        </p:nvPicPr>
        <p:blipFill>
          <a:blip r:embed="rId13"/>
          <a:stretch>
            <a:fillRect/>
          </a:stretch>
        </p:blipFill>
        <p:spPr>
          <a:xfrm>
            <a:off x="6334737" y="2380472"/>
            <a:ext cx="5048102" cy="28395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FC9E8-80F2-1283-DEDB-9791A966ACCD}"/>
            </a:ext>
          </a:extLst>
        </p:cNvPr>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57AA48F1-2E89-0F85-41BC-9889415227D3}"/>
              </a:ext>
            </a:extLst>
          </p:cNvPr>
          <p:cNvPicPr>
            <a:picLocks noChangeAspect="1"/>
          </p:cNvPicPr>
          <p:nvPr/>
        </p:nvPicPr>
        <p:blipFill>
          <a:blip r:embed="rId2"/>
          <a:stretch>
            <a:fillRect/>
          </a:stretch>
        </p:blipFill>
        <p:spPr>
          <a:xfrm>
            <a:off x="0" y="0"/>
            <a:ext cx="12192000" cy="6858000"/>
          </a:xfrm>
          <a:prstGeom prst="rect">
            <a:avLst/>
          </a:prstGeom>
        </p:spPr>
      </p:pic>
      <p:pic>
        <p:nvPicPr>
          <p:cNvPr id="4" name="Picture 3" descr="image.png">
            <a:extLst>
              <a:ext uri="{FF2B5EF4-FFF2-40B4-BE49-F238E27FC236}">
                <a16:creationId xmlns:a16="http://schemas.microsoft.com/office/drawing/2014/main" id="{5B81551E-BD6A-C880-6F60-39D6CE32F26B}"/>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61491" y="1124272"/>
            <a:ext cx="5534510" cy="5340960"/>
          </a:xfrm>
          <a:prstGeom prst="rect">
            <a:avLst/>
          </a:prstGeom>
        </p:spPr>
      </p:pic>
      <p:pic>
        <p:nvPicPr>
          <p:cNvPr id="9" name="Picture 8" descr="image.png">
            <a:extLst>
              <a:ext uri="{FF2B5EF4-FFF2-40B4-BE49-F238E27FC236}">
                <a16:creationId xmlns:a16="http://schemas.microsoft.com/office/drawing/2014/main" id="{6BBAEB25-518D-9436-AB54-23CAFDF6B0E5}"/>
              </a:ext>
            </a:extLst>
          </p:cNvPr>
          <p:cNvPicPr>
            <a:picLocks noChangeAspect="1"/>
          </p:cNvPicPr>
          <p:nvPr/>
        </p:nvPicPr>
        <p:blipFill>
          <a:blip r:embed="rId5"/>
          <a:stretch>
            <a:fillRect/>
          </a:stretch>
        </p:blipFill>
        <p:spPr>
          <a:xfrm>
            <a:off x="3041135" y="5885427"/>
            <a:ext cx="2710120" cy="377130"/>
          </a:xfrm>
          <a:prstGeom prst="rect">
            <a:avLst/>
          </a:prstGeom>
        </p:spPr>
      </p:pic>
      <p:sp>
        <p:nvSpPr>
          <p:cNvPr id="12" name="TextBox 11">
            <a:extLst>
              <a:ext uri="{FF2B5EF4-FFF2-40B4-BE49-F238E27FC236}">
                <a16:creationId xmlns:a16="http://schemas.microsoft.com/office/drawing/2014/main" id="{4F3CCC50-99AF-B79F-1A1B-6217FE6CFD52}"/>
              </a:ext>
            </a:extLst>
          </p:cNvPr>
          <p:cNvSpPr txBox="1"/>
          <p:nvPr/>
        </p:nvSpPr>
        <p:spPr>
          <a:xfrm>
            <a:off x="624014" y="345078"/>
            <a:ext cx="4708754"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r>
              <a:rPr lang="en-IN" sz="3150" b="1" i="0" u="none" dirty="0">
                <a:solidFill>
                  <a:schemeClr val="tx2"/>
                </a:solidFill>
                <a:latin typeface="Inter"/>
              </a:rPr>
              <a:t> (Cont.)</a:t>
            </a:r>
            <a:endParaRPr sz="3150" b="1" i="0" u="none" dirty="0">
              <a:solidFill>
                <a:schemeClr val="tx2"/>
              </a:solidFill>
              <a:latin typeface="Inter"/>
            </a:endParaRPr>
          </a:p>
        </p:txBody>
      </p:sp>
      <p:sp>
        <p:nvSpPr>
          <p:cNvPr id="22" name="TextBox 21">
            <a:extLst>
              <a:ext uri="{FF2B5EF4-FFF2-40B4-BE49-F238E27FC236}">
                <a16:creationId xmlns:a16="http://schemas.microsoft.com/office/drawing/2014/main" id="{6507A606-5176-5ABA-00B6-CEB12F40DCBA}"/>
              </a:ext>
            </a:extLst>
          </p:cNvPr>
          <p:cNvSpPr txBox="1"/>
          <p:nvPr/>
        </p:nvSpPr>
        <p:spPr>
          <a:xfrm>
            <a:off x="799614" y="1373752"/>
            <a:ext cx="2906925" cy="246221"/>
          </a:xfrm>
          <a:prstGeom prst="rect">
            <a:avLst/>
          </a:prstGeom>
          <a:noFill/>
        </p:spPr>
        <p:txBody>
          <a:bodyPr wrap="square" lIns="0" tIns="0" rIns="0" bIns="0" anchor="ctr">
            <a:spAutoFit/>
          </a:bodyPr>
          <a:lstStyle/>
          <a:p>
            <a:pPr algn="l"/>
            <a:r>
              <a:rPr sz="1600" b="1" i="0" u="none" dirty="0">
                <a:latin typeface="Inter"/>
              </a:rPr>
              <a:t>Goal-Based</a:t>
            </a:r>
            <a:r>
              <a:rPr lang="en-IN" sz="1600" b="1" i="0" u="none" dirty="0">
                <a:latin typeface="Inter"/>
              </a:rPr>
              <a:t> Agents</a:t>
            </a:r>
            <a:endParaRPr sz="1600" b="1" i="0" u="none" dirty="0">
              <a:latin typeface="Inter"/>
            </a:endParaRPr>
          </a:p>
        </p:txBody>
      </p:sp>
      <p:sp>
        <p:nvSpPr>
          <p:cNvPr id="23" name="TextBox 22">
            <a:extLst>
              <a:ext uri="{FF2B5EF4-FFF2-40B4-BE49-F238E27FC236}">
                <a16:creationId xmlns:a16="http://schemas.microsoft.com/office/drawing/2014/main" id="{77F08D2E-03BE-BF37-F431-3FE95A0CB73E}"/>
              </a:ext>
            </a:extLst>
          </p:cNvPr>
          <p:cNvSpPr txBox="1"/>
          <p:nvPr/>
        </p:nvSpPr>
        <p:spPr>
          <a:xfrm>
            <a:off x="799000" y="1725462"/>
            <a:ext cx="4952255" cy="858184"/>
          </a:xfrm>
          <a:prstGeom prst="rect">
            <a:avLst/>
          </a:prstGeom>
          <a:noFill/>
        </p:spPr>
        <p:txBody>
          <a:bodyPr wrap="square" lIns="0" tIns="0" rIns="0" bIns="0" anchor="t">
            <a:spAutoFit/>
          </a:bodyPr>
          <a:lstStyle/>
          <a:p>
            <a:pPr algn="just">
              <a:lnSpc>
                <a:spcPts val="1687"/>
              </a:lnSpc>
            </a:pPr>
            <a:r>
              <a:rPr lang="en-IN" sz="1200" dirty="0">
                <a:latin typeface="Inter"/>
              </a:rPr>
              <a:t>Goal-based agents have an internal model of the world and also a goal or set of goals. These agents search for action sequences that reach their goal and plan these actions before acting on them. This search and planning improve their effectiveness when compared to simple and model-based reflex agents. </a:t>
            </a:r>
            <a:r>
              <a:rPr lang="en-IN" sz="1200" b="1" dirty="0">
                <a:latin typeface="Inter"/>
              </a:rPr>
              <a:t>[4]</a:t>
            </a:r>
            <a:endParaRPr sz="1200" b="0" i="0" u="none" dirty="0">
              <a:solidFill>
                <a:srgbClr val="475569"/>
              </a:solidFill>
              <a:latin typeface="Inter"/>
            </a:endParaRPr>
          </a:p>
        </p:txBody>
      </p:sp>
      <p:sp>
        <p:nvSpPr>
          <p:cNvPr id="25" name="TextBox 24">
            <a:extLst>
              <a:ext uri="{FF2B5EF4-FFF2-40B4-BE49-F238E27FC236}">
                <a16:creationId xmlns:a16="http://schemas.microsoft.com/office/drawing/2014/main" id="{010A4F64-0A71-730E-C456-FD9FC28B9B52}"/>
              </a:ext>
            </a:extLst>
          </p:cNvPr>
          <p:cNvSpPr txBox="1"/>
          <p:nvPr/>
        </p:nvSpPr>
        <p:spPr>
          <a:xfrm>
            <a:off x="3041135" y="5666352"/>
            <a:ext cx="3054250" cy="142875"/>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43" name="TextBox 42">
            <a:extLst>
              <a:ext uri="{FF2B5EF4-FFF2-40B4-BE49-F238E27FC236}">
                <a16:creationId xmlns:a16="http://schemas.microsoft.com/office/drawing/2014/main" id="{88B44504-739C-1900-B0E1-422FA1194F0B}"/>
              </a:ext>
            </a:extLst>
          </p:cNvPr>
          <p:cNvSpPr txBox="1"/>
          <p:nvPr/>
        </p:nvSpPr>
        <p:spPr>
          <a:xfrm>
            <a:off x="990114" y="5577206"/>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Goal-oriented approach</a:t>
            </a:r>
          </a:p>
        </p:txBody>
      </p:sp>
      <p:sp>
        <p:nvSpPr>
          <p:cNvPr id="44" name="TextBox 43">
            <a:extLst>
              <a:ext uri="{FF2B5EF4-FFF2-40B4-BE49-F238E27FC236}">
                <a16:creationId xmlns:a16="http://schemas.microsoft.com/office/drawing/2014/main" id="{1300AF29-A009-0E20-7B4A-9AD37042D68C}"/>
              </a:ext>
            </a:extLst>
          </p:cNvPr>
          <p:cNvSpPr txBox="1"/>
          <p:nvPr/>
        </p:nvSpPr>
        <p:spPr>
          <a:xfrm>
            <a:off x="990114" y="5820986"/>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Planning &amp; search capabilities</a:t>
            </a:r>
          </a:p>
        </p:txBody>
      </p:sp>
      <p:sp>
        <p:nvSpPr>
          <p:cNvPr id="45" name="TextBox 44">
            <a:extLst>
              <a:ext uri="{FF2B5EF4-FFF2-40B4-BE49-F238E27FC236}">
                <a16:creationId xmlns:a16="http://schemas.microsoft.com/office/drawing/2014/main" id="{9C0DFECF-A083-F07A-A252-0D1E93AFD394}"/>
              </a:ext>
            </a:extLst>
          </p:cNvPr>
          <p:cNvSpPr txBox="1"/>
          <p:nvPr/>
        </p:nvSpPr>
        <p:spPr>
          <a:xfrm>
            <a:off x="990114" y="6064767"/>
            <a:ext cx="286375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Evaluates possible actions</a:t>
            </a:r>
          </a:p>
        </p:txBody>
      </p:sp>
      <p:pic>
        <p:nvPicPr>
          <p:cNvPr id="60" name="Picture 59" descr="image.png">
            <a:extLst>
              <a:ext uri="{FF2B5EF4-FFF2-40B4-BE49-F238E27FC236}">
                <a16:creationId xmlns:a16="http://schemas.microsoft.com/office/drawing/2014/main" id="{438F6F38-478D-6C5B-D839-3FB1F274B1A1}"/>
              </a:ext>
            </a:extLst>
          </p:cNvPr>
          <p:cNvPicPr>
            <a:picLocks noChangeAspect="1"/>
          </p:cNvPicPr>
          <p:nvPr/>
        </p:nvPicPr>
        <p:blipFill>
          <a:blip r:embed="rId6"/>
          <a:stretch>
            <a:fillRect/>
          </a:stretch>
        </p:blipFill>
        <p:spPr>
          <a:xfrm>
            <a:off x="799614" y="5586731"/>
            <a:ext cx="133350" cy="142875"/>
          </a:xfrm>
          <a:prstGeom prst="rect">
            <a:avLst/>
          </a:prstGeom>
        </p:spPr>
      </p:pic>
      <p:pic>
        <p:nvPicPr>
          <p:cNvPr id="61" name="Picture 60" descr="image.png">
            <a:extLst>
              <a:ext uri="{FF2B5EF4-FFF2-40B4-BE49-F238E27FC236}">
                <a16:creationId xmlns:a16="http://schemas.microsoft.com/office/drawing/2014/main" id="{DBC8B645-48B3-D9E7-21D9-7453E7E1EC44}"/>
              </a:ext>
            </a:extLst>
          </p:cNvPr>
          <p:cNvPicPr>
            <a:picLocks noChangeAspect="1"/>
          </p:cNvPicPr>
          <p:nvPr/>
        </p:nvPicPr>
        <p:blipFill>
          <a:blip r:embed="rId6"/>
          <a:stretch>
            <a:fillRect/>
          </a:stretch>
        </p:blipFill>
        <p:spPr>
          <a:xfrm>
            <a:off x="799614" y="5830511"/>
            <a:ext cx="133350" cy="142875"/>
          </a:xfrm>
          <a:prstGeom prst="rect">
            <a:avLst/>
          </a:prstGeom>
        </p:spPr>
      </p:pic>
      <p:pic>
        <p:nvPicPr>
          <p:cNvPr id="62" name="Picture 61" descr="image.png">
            <a:extLst>
              <a:ext uri="{FF2B5EF4-FFF2-40B4-BE49-F238E27FC236}">
                <a16:creationId xmlns:a16="http://schemas.microsoft.com/office/drawing/2014/main" id="{C50F33F1-4F34-4D5B-1C4A-3394A8504C33}"/>
              </a:ext>
            </a:extLst>
          </p:cNvPr>
          <p:cNvPicPr>
            <a:picLocks noChangeAspect="1"/>
          </p:cNvPicPr>
          <p:nvPr/>
        </p:nvPicPr>
        <p:blipFill>
          <a:blip r:embed="rId6"/>
          <a:stretch>
            <a:fillRect/>
          </a:stretch>
        </p:blipFill>
        <p:spPr>
          <a:xfrm>
            <a:off x="799614" y="6074292"/>
            <a:ext cx="133350" cy="142875"/>
          </a:xfrm>
          <a:prstGeom prst="rect">
            <a:avLst/>
          </a:prstGeom>
        </p:spPr>
      </p:pic>
      <p:pic>
        <p:nvPicPr>
          <p:cNvPr id="16" name="Picture 15">
            <a:extLst>
              <a:ext uri="{FF2B5EF4-FFF2-40B4-BE49-F238E27FC236}">
                <a16:creationId xmlns:a16="http://schemas.microsoft.com/office/drawing/2014/main" id="{90FF5C2C-CEA7-BA32-95F0-46D626E9022D}"/>
              </a:ext>
            </a:extLst>
          </p:cNvPr>
          <p:cNvPicPr>
            <a:picLocks noChangeAspect="1"/>
          </p:cNvPicPr>
          <p:nvPr/>
        </p:nvPicPr>
        <p:blipFill>
          <a:blip r:embed="rId7"/>
          <a:stretch>
            <a:fillRect/>
          </a:stretch>
        </p:blipFill>
        <p:spPr>
          <a:xfrm>
            <a:off x="798999" y="2684551"/>
            <a:ext cx="4952255" cy="2785643"/>
          </a:xfrm>
          <a:prstGeom prst="rect">
            <a:avLst/>
          </a:prstGeom>
        </p:spPr>
      </p:pic>
      <p:pic>
        <p:nvPicPr>
          <p:cNvPr id="24" name="Picture 23" descr="image.png">
            <a:extLst>
              <a:ext uri="{FF2B5EF4-FFF2-40B4-BE49-F238E27FC236}">
                <a16:creationId xmlns:a16="http://schemas.microsoft.com/office/drawing/2014/main" id="{66579386-F36D-FCD7-0EA6-7ED7CC0159A4}"/>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Lst>
          </a:blip>
          <a:stretch>
            <a:fillRect/>
          </a:stretch>
        </p:blipFill>
        <p:spPr>
          <a:xfrm>
            <a:off x="6333509" y="1124272"/>
            <a:ext cx="4857750" cy="5340960"/>
          </a:xfrm>
          <a:prstGeom prst="rect">
            <a:avLst/>
          </a:prstGeom>
        </p:spPr>
      </p:pic>
      <p:sp>
        <p:nvSpPr>
          <p:cNvPr id="38" name="TextBox 37">
            <a:extLst>
              <a:ext uri="{FF2B5EF4-FFF2-40B4-BE49-F238E27FC236}">
                <a16:creationId xmlns:a16="http://schemas.microsoft.com/office/drawing/2014/main" id="{6C7C612B-4F70-6105-6D98-49AF96FB9D88}"/>
              </a:ext>
            </a:extLst>
          </p:cNvPr>
          <p:cNvSpPr txBox="1"/>
          <p:nvPr/>
        </p:nvSpPr>
        <p:spPr>
          <a:xfrm>
            <a:off x="6634087" y="1432933"/>
            <a:ext cx="4300537" cy="246221"/>
          </a:xfrm>
          <a:prstGeom prst="rect">
            <a:avLst/>
          </a:prstGeom>
          <a:noFill/>
        </p:spPr>
        <p:txBody>
          <a:bodyPr wrap="square" lIns="0" tIns="0" rIns="0" bIns="0" anchor="ctr">
            <a:spAutoFit/>
          </a:bodyPr>
          <a:lstStyle/>
          <a:p>
            <a:pPr algn="l"/>
            <a:r>
              <a:rPr sz="1600" b="1" i="0" u="none" dirty="0">
                <a:latin typeface="Inter"/>
              </a:rPr>
              <a:t>Utility-Based</a:t>
            </a:r>
            <a:r>
              <a:rPr lang="en-IN" sz="1600" b="1" i="0" u="none" dirty="0">
                <a:latin typeface="Inter"/>
              </a:rPr>
              <a:t> Agents</a:t>
            </a:r>
            <a:endParaRPr sz="1600" b="1" i="0" u="none" dirty="0">
              <a:latin typeface="Inter"/>
            </a:endParaRPr>
          </a:p>
        </p:txBody>
      </p:sp>
      <p:sp>
        <p:nvSpPr>
          <p:cNvPr id="46" name="TextBox 45">
            <a:extLst>
              <a:ext uri="{FF2B5EF4-FFF2-40B4-BE49-F238E27FC236}">
                <a16:creationId xmlns:a16="http://schemas.microsoft.com/office/drawing/2014/main" id="{A9FE0457-9650-0B0F-772B-FE90C88BD6E6}"/>
              </a:ext>
            </a:extLst>
          </p:cNvPr>
          <p:cNvSpPr txBox="1"/>
          <p:nvPr/>
        </p:nvSpPr>
        <p:spPr>
          <a:xfrm>
            <a:off x="6615859" y="1833085"/>
            <a:ext cx="4286674" cy="642937"/>
          </a:xfrm>
          <a:prstGeom prst="rect">
            <a:avLst/>
          </a:prstGeom>
          <a:noFill/>
        </p:spPr>
        <p:txBody>
          <a:bodyPr wrap="square" lIns="0" tIns="0" rIns="0" bIns="0" anchor="t">
            <a:spAutoFit/>
          </a:bodyPr>
          <a:lstStyle/>
          <a:p>
            <a:pPr algn="just">
              <a:lnSpc>
                <a:spcPts val="1687"/>
              </a:lnSpc>
            </a:pPr>
            <a:r>
              <a:rPr lang="en-IN" sz="1200" b="0" i="0" u="none" dirty="0">
                <a:latin typeface="Inter"/>
              </a:rPr>
              <a:t>Utility-Based Agents </a:t>
            </a:r>
            <a:r>
              <a:rPr lang="en-IN" sz="1200" dirty="0">
                <a:latin typeface="Inter"/>
              </a:rPr>
              <a:t>e</a:t>
            </a:r>
            <a:r>
              <a:rPr sz="1200" b="0" i="0" u="none" dirty="0">
                <a:latin typeface="Inter"/>
              </a:rPr>
              <a:t>valuate multiple possible actions using a utility function, selecting the option that maximizes overall performance and handles trade-offs efficiently.</a:t>
            </a:r>
            <a:r>
              <a:rPr lang="en-IN" sz="1200" b="0" i="0" u="none" dirty="0">
                <a:latin typeface="Inter"/>
              </a:rPr>
              <a:t> </a:t>
            </a:r>
            <a:r>
              <a:rPr lang="en-IN" sz="1200" b="1" dirty="0">
                <a:latin typeface="Inter"/>
              </a:rPr>
              <a:t>[4]</a:t>
            </a:r>
            <a:endParaRPr sz="1200" b="0" i="0" u="none" dirty="0">
              <a:latin typeface="Inter"/>
            </a:endParaRPr>
          </a:p>
        </p:txBody>
      </p:sp>
      <p:sp>
        <p:nvSpPr>
          <p:cNvPr id="69" name="TextBox 68">
            <a:extLst>
              <a:ext uri="{FF2B5EF4-FFF2-40B4-BE49-F238E27FC236}">
                <a16:creationId xmlns:a16="http://schemas.microsoft.com/office/drawing/2014/main" id="{E414D7DB-310D-4CA6-059A-8508377DCFAC}"/>
              </a:ext>
            </a:extLst>
          </p:cNvPr>
          <p:cNvSpPr txBox="1"/>
          <p:nvPr/>
        </p:nvSpPr>
        <p:spPr>
          <a:xfrm>
            <a:off x="8772524" y="5643270"/>
            <a:ext cx="4381500" cy="0"/>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72" name="TextBox 71">
            <a:extLst>
              <a:ext uri="{FF2B5EF4-FFF2-40B4-BE49-F238E27FC236}">
                <a16:creationId xmlns:a16="http://schemas.microsoft.com/office/drawing/2014/main" id="{6CC5A279-DA5B-B31F-25A6-65243B4E6FD2}"/>
              </a:ext>
            </a:extLst>
          </p:cNvPr>
          <p:cNvSpPr txBox="1"/>
          <p:nvPr/>
        </p:nvSpPr>
        <p:spPr>
          <a:xfrm>
            <a:off x="6715124" y="5599514"/>
            <a:ext cx="4191000" cy="18663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Decision optimization</a:t>
            </a:r>
          </a:p>
        </p:txBody>
      </p:sp>
      <p:sp>
        <p:nvSpPr>
          <p:cNvPr id="74" name="TextBox 73">
            <a:extLst>
              <a:ext uri="{FF2B5EF4-FFF2-40B4-BE49-F238E27FC236}">
                <a16:creationId xmlns:a16="http://schemas.microsoft.com/office/drawing/2014/main" id="{79A4A032-9435-8E5E-A56F-8F4BA3A4B3F9}"/>
              </a:ext>
            </a:extLst>
          </p:cNvPr>
          <p:cNvSpPr txBox="1"/>
          <p:nvPr/>
        </p:nvSpPr>
        <p:spPr>
          <a:xfrm>
            <a:off x="6715124" y="5843295"/>
            <a:ext cx="4191000" cy="86022"/>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Handles complex trade-offs</a:t>
            </a:r>
          </a:p>
        </p:txBody>
      </p:sp>
      <p:sp>
        <p:nvSpPr>
          <p:cNvPr id="76" name="TextBox 75">
            <a:extLst>
              <a:ext uri="{FF2B5EF4-FFF2-40B4-BE49-F238E27FC236}">
                <a16:creationId xmlns:a16="http://schemas.microsoft.com/office/drawing/2014/main" id="{368721AF-DA16-5501-253E-04CB98C23CBF}"/>
              </a:ext>
            </a:extLst>
          </p:cNvPr>
          <p:cNvSpPr txBox="1"/>
          <p:nvPr/>
        </p:nvSpPr>
        <p:spPr>
          <a:xfrm>
            <a:off x="6715124" y="6087075"/>
            <a:ext cx="4191000" cy="0"/>
          </a:xfrm>
          <a:prstGeom prst="rect">
            <a:avLst/>
          </a:prstGeom>
          <a:noFill/>
        </p:spPr>
        <p:txBody>
          <a:bodyPr wrap="square" lIns="0" tIns="0" rIns="0" bIns="0" anchor="t">
            <a:spAutoFit/>
          </a:bodyPr>
          <a:lstStyle/>
          <a:p>
            <a:pPr algn="l">
              <a:lnSpc>
                <a:spcPts val="1470"/>
              </a:lnSpc>
            </a:pPr>
            <a:r>
              <a:rPr sz="1050" b="0" i="0" u="none">
                <a:solidFill>
                  <a:srgbClr val="334155"/>
                </a:solidFill>
                <a:latin typeface="Inter"/>
              </a:rPr>
              <a:t>Maximizes expected reward/utility</a:t>
            </a:r>
          </a:p>
        </p:txBody>
      </p:sp>
      <p:pic>
        <p:nvPicPr>
          <p:cNvPr id="78" name="Picture 77" descr="image.png">
            <a:extLst>
              <a:ext uri="{FF2B5EF4-FFF2-40B4-BE49-F238E27FC236}">
                <a16:creationId xmlns:a16="http://schemas.microsoft.com/office/drawing/2014/main" id="{2391C7A2-387E-8AEE-A9C8-0BF00DB2A1AB}"/>
              </a:ext>
            </a:extLst>
          </p:cNvPr>
          <p:cNvPicPr>
            <a:picLocks noChangeAspect="1"/>
          </p:cNvPicPr>
          <p:nvPr/>
        </p:nvPicPr>
        <p:blipFill>
          <a:blip r:embed="rId6"/>
          <a:stretch>
            <a:fillRect/>
          </a:stretch>
        </p:blipFill>
        <p:spPr>
          <a:xfrm>
            <a:off x="6524624" y="5609039"/>
            <a:ext cx="133350" cy="142875"/>
          </a:xfrm>
          <a:prstGeom prst="rect">
            <a:avLst/>
          </a:prstGeom>
        </p:spPr>
      </p:pic>
      <p:pic>
        <p:nvPicPr>
          <p:cNvPr id="80" name="Picture 79" descr="image.png">
            <a:extLst>
              <a:ext uri="{FF2B5EF4-FFF2-40B4-BE49-F238E27FC236}">
                <a16:creationId xmlns:a16="http://schemas.microsoft.com/office/drawing/2014/main" id="{9F78775A-B476-5ED6-780C-BEC0816A008A}"/>
              </a:ext>
            </a:extLst>
          </p:cNvPr>
          <p:cNvPicPr>
            <a:picLocks noChangeAspect="1"/>
          </p:cNvPicPr>
          <p:nvPr/>
        </p:nvPicPr>
        <p:blipFill>
          <a:blip r:embed="rId6"/>
          <a:stretch>
            <a:fillRect/>
          </a:stretch>
        </p:blipFill>
        <p:spPr>
          <a:xfrm>
            <a:off x="6524624" y="5852820"/>
            <a:ext cx="133350" cy="142875"/>
          </a:xfrm>
          <a:prstGeom prst="rect">
            <a:avLst/>
          </a:prstGeom>
        </p:spPr>
      </p:pic>
      <p:pic>
        <p:nvPicPr>
          <p:cNvPr id="82" name="Picture 81" descr="image.png">
            <a:extLst>
              <a:ext uri="{FF2B5EF4-FFF2-40B4-BE49-F238E27FC236}">
                <a16:creationId xmlns:a16="http://schemas.microsoft.com/office/drawing/2014/main" id="{473A50F5-C244-7603-9B9D-0F7654F8694C}"/>
              </a:ext>
            </a:extLst>
          </p:cNvPr>
          <p:cNvPicPr>
            <a:picLocks noChangeAspect="1"/>
          </p:cNvPicPr>
          <p:nvPr/>
        </p:nvPicPr>
        <p:blipFill>
          <a:blip r:embed="rId6"/>
          <a:stretch>
            <a:fillRect/>
          </a:stretch>
        </p:blipFill>
        <p:spPr>
          <a:xfrm>
            <a:off x="6524624" y="6096600"/>
            <a:ext cx="133350" cy="142875"/>
          </a:xfrm>
          <a:prstGeom prst="rect">
            <a:avLst/>
          </a:prstGeom>
        </p:spPr>
      </p:pic>
      <p:sp>
        <p:nvSpPr>
          <p:cNvPr id="83" name="Rectangle 82">
            <a:extLst>
              <a:ext uri="{FF2B5EF4-FFF2-40B4-BE49-F238E27FC236}">
                <a16:creationId xmlns:a16="http://schemas.microsoft.com/office/drawing/2014/main" id="{2D7CCDE5-47FB-3C08-B12B-49C725B90D3D}"/>
              </a:ext>
            </a:extLst>
          </p:cNvPr>
          <p:cNvSpPr/>
          <p:nvPr/>
        </p:nvSpPr>
        <p:spPr>
          <a:xfrm>
            <a:off x="8759196" y="5852820"/>
            <a:ext cx="2255774" cy="398577"/>
          </a:xfrm>
          <a:prstGeom prst="rect">
            <a:avLst/>
          </a:prstGeom>
          <a:solidFill>
            <a:srgbClr val="E0F2FE"/>
          </a:solidFill>
          <a:ln>
            <a:noFill/>
          </a:ln>
        </p:spPr>
        <p:style>
          <a:lnRef idx="0">
            <a:scrgbClr r="0" g="0" b="0"/>
          </a:lnRef>
          <a:fillRef idx="0">
            <a:scrgbClr r="0" g="0" b="0"/>
          </a:fillRef>
          <a:effectRef idx="0">
            <a:scrgbClr r="0" g="0" b="0"/>
          </a:effectRef>
          <a:fontRef idx="minor">
            <a:schemeClr val="lt1"/>
          </a:fontRef>
        </p:style>
        <p:txBody>
          <a:bodyPr rtlCol="0" anchor="ctr"/>
          <a:lstStyle/>
          <a:p>
            <a:r>
              <a:rPr lang="en-IN" sz="1200" dirty="0">
                <a:solidFill>
                  <a:schemeClr val="tx2"/>
                </a:solidFill>
                <a:latin typeface="Inter"/>
              </a:rPr>
              <a:t>Navigation Systems</a:t>
            </a:r>
          </a:p>
        </p:txBody>
      </p:sp>
      <p:pic>
        <p:nvPicPr>
          <p:cNvPr id="86" name="Picture 85">
            <a:extLst>
              <a:ext uri="{FF2B5EF4-FFF2-40B4-BE49-F238E27FC236}">
                <a16:creationId xmlns:a16="http://schemas.microsoft.com/office/drawing/2014/main" id="{59DE6E33-59AE-7BA1-4390-2DE2BF5F5E29}"/>
              </a:ext>
            </a:extLst>
          </p:cNvPr>
          <p:cNvPicPr>
            <a:picLocks noChangeAspect="1"/>
          </p:cNvPicPr>
          <p:nvPr/>
        </p:nvPicPr>
        <p:blipFill>
          <a:blip r:embed="rId10"/>
          <a:srcRect l="3153" r="2485"/>
          <a:stretch>
            <a:fillRect/>
          </a:stretch>
        </p:blipFill>
        <p:spPr>
          <a:xfrm>
            <a:off x="6522417" y="2705103"/>
            <a:ext cx="4440857" cy="2647237"/>
          </a:xfrm>
          <a:prstGeom prst="rect">
            <a:avLst/>
          </a:prstGeom>
        </p:spPr>
      </p:pic>
    </p:spTree>
    <p:extLst>
      <p:ext uri="{BB962C8B-B14F-4D97-AF65-F5344CB8AC3E}">
        <p14:creationId xmlns:p14="http://schemas.microsoft.com/office/powerpoint/2010/main" val="15784823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7B23C-6A5A-D849-E695-B092FEF2BB67}"/>
            </a:ext>
          </a:extLst>
        </p:cNvPr>
        <p:cNvGrpSpPr/>
        <p:nvPr/>
      </p:nvGrpSpPr>
      <p:grpSpPr>
        <a:xfrm>
          <a:off x="0" y="0"/>
          <a:ext cx="0" cy="0"/>
          <a:chOff x="0" y="0"/>
          <a:chExt cx="0" cy="0"/>
        </a:xfrm>
      </p:grpSpPr>
      <p:pic>
        <p:nvPicPr>
          <p:cNvPr id="70" name="Picture 69" descr="image.png">
            <a:extLst>
              <a:ext uri="{FF2B5EF4-FFF2-40B4-BE49-F238E27FC236}">
                <a16:creationId xmlns:a16="http://schemas.microsoft.com/office/drawing/2014/main" id="{451DAB84-4CA5-1D66-4F95-FBC086AF9EB2}"/>
              </a:ext>
            </a:extLst>
          </p:cNvPr>
          <p:cNvPicPr>
            <a:picLocks noChangeAspect="1"/>
          </p:cNvPicPr>
          <p:nvPr/>
        </p:nvPicPr>
        <p:blipFill>
          <a:blip r:embed="rId2"/>
          <a:stretch>
            <a:fillRect/>
          </a:stretch>
        </p:blipFill>
        <p:spPr>
          <a:xfrm>
            <a:off x="0" y="0"/>
            <a:ext cx="12192000" cy="6858000"/>
          </a:xfrm>
          <a:prstGeom prst="rect">
            <a:avLst/>
          </a:prstGeom>
        </p:spPr>
      </p:pic>
      <p:pic>
        <p:nvPicPr>
          <p:cNvPr id="6" name="Picture 5" descr="image.png">
            <a:extLst>
              <a:ext uri="{FF2B5EF4-FFF2-40B4-BE49-F238E27FC236}">
                <a16:creationId xmlns:a16="http://schemas.microsoft.com/office/drawing/2014/main" id="{BAFFB3C3-A0ED-B735-68E2-9300CE16BA99}"/>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1400761" y="1050785"/>
            <a:ext cx="9162403" cy="5369680"/>
          </a:xfrm>
          <a:prstGeom prst="rect">
            <a:avLst/>
          </a:prstGeom>
        </p:spPr>
      </p:pic>
      <p:pic>
        <p:nvPicPr>
          <p:cNvPr id="11" name="Picture 10" descr="image.png">
            <a:extLst>
              <a:ext uri="{FF2B5EF4-FFF2-40B4-BE49-F238E27FC236}">
                <a16:creationId xmlns:a16="http://schemas.microsoft.com/office/drawing/2014/main" id="{2876600E-A93B-9ADF-3B8C-BFFC14F873ED}"/>
              </a:ext>
            </a:extLst>
          </p:cNvPr>
          <p:cNvPicPr>
            <a:picLocks noChangeAspect="1"/>
          </p:cNvPicPr>
          <p:nvPr/>
        </p:nvPicPr>
        <p:blipFill>
          <a:blip r:embed="rId5"/>
          <a:stretch>
            <a:fillRect/>
          </a:stretch>
        </p:blipFill>
        <p:spPr>
          <a:xfrm>
            <a:off x="5706396" y="5758392"/>
            <a:ext cx="4381500" cy="377130"/>
          </a:xfrm>
          <a:prstGeom prst="rect">
            <a:avLst/>
          </a:prstGeom>
        </p:spPr>
      </p:pic>
      <p:sp>
        <p:nvSpPr>
          <p:cNvPr id="12" name="TextBox 11">
            <a:extLst>
              <a:ext uri="{FF2B5EF4-FFF2-40B4-BE49-F238E27FC236}">
                <a16:creationId xmlns:a16="http://schemas.microsoft.com/office/drawing/2014/main" id="{5BB99A19-A7D4-45FB-CF52-C0DB0034E39C}"/>
              </a:ext>
            </a:extLst>
          </p:cNvPr>
          <p:cNvSpPr txBox="1"/>
          <p:nvPr/>
        </p:nvSpPr>
        <p:spPr>
          <a:xfrm>
            <a:off x="624013" y="333246"/>
            <a:ext cx="4744399" cy="484748"/>
          </a:xfrm>
          <a:prstGeom prst="rect">
            <a:avLst/>
          </a:prstGeom>
          <a:noFill/>
        </p:spPr>
        <p:txBody>
          <a:bodyPr wrap="square" lIns="0" tIns="0" rIns="0" bIns="0" anchor="t">
            <a:spAutoFit/>
          </a:bodyPr>
          <a:lstStyle/>
          <a:p>
            <a:pPr algn="l"/>
            <a:r>
              <a:rPr sz="3150" b="1" i="0" u="none" dirty="0">
                <a:latin typeface="Inter"/>
              </a:rPr>
              <a:t>Types of </a:t>
            </a:r>
            <a:r>
              <a:rPr sz="3150" b="1" i="0" u="none" dirty="0">
                <a:solidFill>
                  <a:schemeClr val="tx2"/>
                </a:solidFill>
                <a:latin typeface="Inter"/>
              </a:rPr>
              <a:t>AI Agents</a:t>
            </a:r>
            <a:r>
              <a:rPr lang="en-IN" sz="3150" b="1" i="0" u="none" dirty="0">
                <a:solidFill>
                  <a:schemeClr val="tx2"/>
                </a:solidFill>
                <a:latin typeface="Inter"/>
              </a:rPr>
              <a:t> (Cont.)</a:t>
            </a:r>
            <a:endParaRPr sz="3150" b="1" i="0" u="none" dirty="0">
              <a:solidFill>
                <a:schemeClr val="tx2"/>
              </a:solidFill>
              <a:latin typeface="Inter"/>
            </a:endParaRPr>
          </a:p>
        </p:txBody>
      </p:sp>
      <p:sp>
        <p:nvSpPr>
          <p:cNvPr id="30" name="TextBox 29">
            <a:extLst>
              <a:ext uri="{FF2B5EF4-FFF2-40B4-BE49-F238E27FC236}">
                <a16:creationId xmlns:a16="http://schemas.microsoft.com/office/drawing/2014/main" id="{98139156-5FC0-AF6A-8529-63D7970CE92A}"/>
              </a:ext>
            </a:extLst>
          </p:cNvPr>
          <p:cNvSpPr txBox="1"/>
          <p:nvPr/>
        </p:nvSpPr>
        <p:spPr>
          <a:xfrm>
            <a:off x="1678163" y="1261123"/>
            <a:ext cx="4300537" cy="246221"/>
          </a:xfrm>
          <a:prstGeom prst="rect">
            <a:avLst/>
          </a:prstGeom>
          <a:noFill/>
        </p:spPr>
        <p:txBody>
          <a:bodyPr wrap="square" lIns="0" tIns="0" rIns="0" bIns="0" anchor="ctr">
            <a:spAutoFit/>
          </a:bodyPr>
          <a:lstStyle/>
          <a:p>
            <a:pPr algn="l"/>
            <a:r>
              <a:rPr sz="1600" b="1" i="0" u="none" dirty="0">
                <a:latin typeface="Inter"/>
              </a:rPr>
              <a:t>Learning Agents</a:t>
            </a:r>
          </a:p>
        </p:txBody>
      </p:sp>
      <p:sp>
        <p:nvSpPr>
          <p:cNvPr id="31" name="TextBox 30">
            <a:extLst>
              <a:ext uri="{FF2B5EF4-FFF2-40B4-BE49-F238E27FC236}">
                <a16:creationId xmlns:a16="http://schemas.microsoft.com/office/drawing/2014/main" id="{91209890-DF50-C759-7BC5-EC17B0A3393C}"/>
              </a:ext>
            </a:extLst>
          </p:cNvPr>
          <p:cNvSpPr txBox="1"/>
          <p:nvPr/>
        </p:nvSpPr>
        <p:spPr>
          <a:xfrm>
            <a:off x="1657886" y="1612833"/>
            <a:ext cx="8430010" cy="553998"/>
          </a:xfrm>
          <a:prstGeom prst="rect">
            <a:avLst/>
          </a:prstGeom>
          <a:noFill/>
        </p:spPr>
        <p:txBody>
          <a:bodyPr wrap="square" lIns="0" tIns="0" rIns="0" bIns="0" anchor="t">
            <a:spAutoFit/>
          </a:bodyPr>
          <a:lstStyle/>
          <a:p>
            <a:pPr algn="just" fontAlgn="base"/>
            <a:r>
              <a:rPr lang="en-IN" sz="1200" dirty="0">
                <a:latin typeface="Inter"/>
              </a:rPr>
              <a:t>Learning agents hold the same capabilities as the other agent types but are unique in their ability to learn. New experiences are added to their initial knowledge base, which occurs autonomously. This learning enhances the agent’s ability to operate in unfamiliar environments. Learning agents might be utility or goal-based in their reasoning and are composed of four main elements: </a:t>
            </a:r>
          </a:p>
        </p:txBody>
      </p:sp>
      <p:sp>
        <p:nvSpPr>
          <p:cNvPr id="33" name="TextBox 32">
            <a:extLst>
              <a:ext uri="{FF2B5EF4-FFF2-40B4-BE49-F238E27FC236}">
                <a16:creationId xmlns:a16="http://schemas.microsoft.com/office/drawing/2014/main" id="{CCC526FB-F4FE-F48E-6287-857F5EB08F7E}"/>
              </a:ext>
            </a:extLst>
          </p:cNvPr>
          <p:cNvSpPr txBox="1"/>
          <p:nvPr/>
        </p:nvSpPr>
        <p:spPr>
          <a:xfrm>
            <a:off x="5706396" y="5539317"/>
            <a:ext cx="4381500" cy="0"/>
          </a:xfrm>
          <a:prstGeom prst="rect">
            <a:avLst/>
          </a:prstGeom>
          <a:noFill/>
        </p:spPr>
        <p:txBody>
          <a:bodyPr wrap="square" lIns="0" tIns="0" rIns="0" bIns="0" anchor="t">
            <a:spAutoFit/>
          </a:bodyPr>
          <a:lstStyle/>
          <a:p>
            <a:pPr algn="l"/>
            <a:r>
              <a:rPr sz="900" b="1" i="0" u="none">
                <a:solidFill>
                  <a:srgbClr val="94A3B8"/>
                </a:solidFill>
                <a:latin typeface="Inter"/>
              </a:rPr>
              <a:t>EXAMPLES</a:t>
            </a:r>
          </a:p>
        </p:txBody>
      </p:sp>
      <p:sp>
        <p:nvSpPr>
          <p:cNvPr id="51" name="TextBox 50">
            <a:extLst>
              <a:ext uri="{FF2B5EF4-FFF2-40B4-BE49-F238E27FC236}">
                <a16:creationId xmlns:a16="http://schemas.microsoft.com/office/drawing/2014/main" id="{EED899BA-5631-C42E-9B76-2EFF1416519C}"/>
              </a:ext>
            </a:extLst>
          </p:cNvPr>
          <p:cNvSpPr txBox="1"/>
          <p:nvPr/>
        </p:nvSpPr>
        <p:spPr>
          <a:xfrm>
            <a:off x="1868663" y="5458990"/>
            <a:ext cx="4191000" cy="186630"/>
          </a:xfrm>
          <a:prstGeom prst="rect">
            <a:avLst/>
          </a:prstGeom>
          <a:noFill/>
        </p:spPr>
        <p:txBody>
          <a:bodyPr wrap="square" lIns="0" tIns="0" rIns="0" bIns="0" anchor="t">
            <a:spAutoFit/>
          </a:bodyPr>
          <a:lstStyle/>
          <a:p>
            <a:pPr algn="l">
              <a:lnSpc>
                <a:spcPts val="1470"/>
              </a:lnSpc>
            </a:pPr>
            <a:r>
              <a:rPr sz="1200" b="0" i="0" u="none" dirty="0">
                <a:solidFill>
                  <a:srgbClr val="334155"/>
                </a:solidFill>
                <a:latin typeface="Inter"/>
              </a:rPr>
              <a:t>Self-improving over time</a:t>
            </a:r>
          </a:p>
        </p:txBody>
      </p:sp>
      <p:sp>
        <p:nvSpPr>
          <p:cNvPr id="52" name="TextBox 51">
            <a:extLst>
              <a:ext uri="{FF2B5EF4-FFF2-40B4-BE49-F238E27FC236}">
                <a16:creationId xmlns:a16="http://schemas.microsoft.com/office/drawing/2014/main" id="{D6CC7FF0-E79C-0B8F-15B8-8D941E530388}"/>
              </a:ext>
            </a:extLst>
          </p:cNvPr>
          <p:cNvSpPr txBox="1"/>
          <p:nvPr/>
        </p:nvSpPr>
        <p:spPr>
          <a:xfrm>
            <a:off x="1868663" y="5702771"/>
            <a:ext cx="4191000" cy="184922"/>
          </a:xfrm>
          <a:prstGeom prst="rect">
            <a:avLst/>
          </a:prstGeom>
          <a:noFill/>
        </p:spPr>
        <p:txBody>
          <a:bodyPr wrap="square" lIns="0" tIns="0" rIns="0" bIns="0" anchor="t">
            <a:spAutoFit/>
          </a:bodyPr>
          <a:lstStyle/>
          <a:p>
            <a:pPr algn="l">
              <a:lnSpc>
                <a:spcPts val="1470"/>
              </a:lnSpc>
            </a:pPr>
            <a:r>
              <a:rPr sz="1200" b="0" i="0" u="none" dirty="0">
                <a:solidFill>
                  <a:srgbClr val="334155"/>
                </a:solidFill>
                <a:latin typeface="Inter"/>
              </a:rPr>
              <a:t>Learns directly from experience</a:t>
            </a:r>
          </a:p>
        </p:txBody>
      </p:sp>
      <p:sp>
        <p:nvSpPr>
          <p:cNvPr id="53" name="TextBox 52">
            <a:extLst>
              <a:ext uri="{FF2B5EF4-FFF2-40B4-BE49-F238E27FC236}">
                <a16:creationId xmlns:a16="http://schemas.microsoft.com/office/drawing/2014/main" id="{B086F7C2-7166-61F1-59DB-05F263CE6C3C}"/>
              </a:ext>
            </a:extLst>
          </p:cNvPr>
          <p:cNvSpPr txBox="1"/>
          <p:nvPr/>
        </p:nvSpPr>
        <p:spPr>
          <a:xfrm>
            <a:off x="1868663" y="5946551"/>
            <a:ext cx="4191000" cy="184922"/>
          </a:xfrm>
          <a:prstGeom prst="rect">
            <a:avLst/>
          </a:prstGeom>
          <a:noFill/>
        </p:spPr>
        <p:txBody>
          <a:bodyPr wrap="square" lIns="0" tIns="0" rIns="0" bIns="0" anchor="t">
            <a:spAutoFit/>
          </a:bodyPr>
          <a:lstStyle/>
          <a:p>
            <a:pPr algn="l">
              <a:lnSpc>
                <a:spcPts val="1470"/>
              </a:lnSpc>
            </a:pPr>
            <a:r>
              <a:rPr sz="1200" b="0" i="0" u="none">
                <a:solidFill>
                  <a:srgbClr val="334155"/>
                </a:solidFill>
                <a:latin typeface="Inter"/>
              </a:rPr>
              <a:t>Adapts to changing environments</a:t>
            </a:r>
          </a:p>
        </p:txBody>
      </p:sp>
      <p:pic>
        <p:nvPicPr>
          <p:cNvPr id="66" name="Picture 65" descr="image.png">
            <a:extLst>
              <a:ext uri="{FF2B5EF4-FFF2-40B4-BE49-F238E27FC236}">
                <a16:creationId xmlns:a16="http://schemas.microsoft.com/office/drawing/2014/main" id="{A4F3D5E8-A23D-98ED-9497-2EFA88D6688A}"/>
              </a:ext>
            </a:extLst>
          </p:cNvPr>
          <p:cNvPicPr>
            <a:picLocks noChangeAspect="1"/>
          </p:cNvPicPr>
          <p:nvPr/>
        </p:nvPicPr>
        <p:blipFill>
          <a:blip r:embed="rId6"/>
          <a:stretch>
            <a:fillRect/>
          </a:stretch>
        </p:blipFill>
        <p:spPr>
          <a:xfrm>
            <a:off x="1678163" y="5468515"/>
            <a:ext cx="133350" cy="142875"/>
          </a:xfrm>
          <a:prstGeom prst="rect">
            <a:avLst/>
          </a:prstGeom>
        </p:spPr>
      </p:pic>
      <p:pic>
        <p:nvPicPr>
          <p:cNvPr id="67" name="Picture 66" descr="image.png">
            <a:extLst>
              <a:ext uri="{FF2B5EF4-FFF2-40B4-BE49-F238E27FC236}">
                <a16:creationId xmlns:a16="http://schemas.microsoft.com/office/drawing/2014/main" id="{F2458915-632D-AD5B-E4D6-65D4F24E7A58}"/>
              </a:ext>
            </a:extLst>
          </p:cNvPr>
          <p:cNvPicPr>
            <a:picLocks noChangeAspect="1"/>
          </p:cNvPicPr>
          <p:nvPr/>
        </p:nvPicPr>
        <p:blipFill>
          <a:blip r:embed="rId6"/>
          <a:stretch>
            <a:fillRect/>
          </a:stretch>
        </p:blipFill>
        <p:spPr>
          <a:xfrm>
            <a:off x="1678163" y="5712296"/>
            <a:ext cx="133350" cy="142875"/>
          </a:xfrm>
          <a:prstGeom prst="rect">
            <a:avLst/>
          </a:prstGeom>
        </p:spPr>
      </p:pic>
      <p:pic>
        <p:nvPicPr>
          <p:cNvPr id="68" name="Picture 67" descr="image.png">
            <a:extLst>
              <a:ext uri="{FF2B5EF4-FFF2-40B4-BE49-F238E27FC236}">
                <a16:creationId xmlns:a16="http://schemas.microsoft.com/office/drawing/2014/main" id="{186F6872-D0DE-7F12-1B5E-4243BAF14169}"/>
              </a:ext>
            </a:extLst>
          </p:cNvPr>
          <p:cNvPicPr>
            <a:picLocks noChangeAspect="1"/>
          </p:cNvPicPr>
          <p:nvPr/>
        </p:nvPicPr>
        <p:blipFill>
          <a:blip r:embed="rId6"/>
          <a:stretch>
            <a:fillRect/>
          </a:stretch>
        </p:blipFill>
        <p:spPr>
          <a:xfrm>
            <a:off x="1678163" y="5956076"/>
            <a:ext cx="133350" cy="142875"/>
          </a:xfrm>
          <a:prstGeom prst="rect">
            <a:avLst/>
          </a:prstGeom>
        </p:spPr>
      </p:pic>
      <p:pic>
        <p:nvPicPr>
          <p:cNvPr id="16" name="Picture 15">
            <a:extLst>
              <a:ext uri="{FF2B5EF4-FFF2-40B4-BE49-F238E27FC236}">
                <a16:creationId xmlns:a16="http://schemas.microsoft.com/office/drawing/2014/main" id="{7981F3FC-BF35-6F60-4476-55611C76AAF3}"/>
              </a:ext>
            </a:extLst>
          </p:cNvPr>
          <p:cNvPicPr>
            <a:picLocks noChangeAspect="1"/>
          </p:cNvPicPr>
          <p:nvPr/>
        </p:nvPicPr>
        <p:blipFill>
          <a:blip r:embed="rId7"/>
          <a:srcRect t="4257" b="3221"/>
          <a:stretch>
            <a:fillRect/>
          </a:stretch>
        </p:blipFill>
        <p:spPr>
          <a:xfrm>
            <a:off x="4273826" y="2259886"/>
            <a:ext cx="5814070" cy="3106049"/>
          </a:xfrm>
          <a:prstGeom prst="rect">
            <a:avLst/>
          </a:prstGeom>
        </p:spPr>
      </p:pic>
      <p:sp>
        <p:nvSpPr>
          <p:cNvPr id="24" name="TextBox 23">
            <a:extLst>
              <a:ext uri="{FF2B5EF4-FFF2-40B4-BE49-F238E27FC236}">
                <a16:creationId xmlns:a16="http://schemas.microsoft.com/office/drawing/2014/main" id="{7E7C0C00-3D96-02D0-6F7C-AD13D011D2A8}"/>
              </a:ext>
            </a:extLst>
          </p:cNvPr>
          <p:cNvSpPr txBox="1"/>
          <p:nvPr/>
        </p:nvSpPr>
        <p:spPr>
          <a:xfrm>
            <a:off x="1554871" y="2308834"/>
            <a:ext cx="2564845" cy="2785378"/>
          </a:xfrm>
          <a:prstGeom prst="rect">
            <a:avLst/>
          </a:prstGeom>
          <a:noFill/>
        </p:spPr>
        <p:txBody>
          <a:bodyPr wrap="square">
            <a:spAutoFit/>
          </a:bodyPr>
          <a:lstStyle/>
          <a:p>
            <a:pPr marL="171450" lvl="0" indent="-171450" algn="just" fontAlgn="base">
              <a:buFont typeface="Arial" panose="020B0604020202020204" pitchFamily="34" charset="0"/>
              <a:buChar char="•"/>
            </a:pPr>
            <a:r>
              <a:rPr lang="en-IN" sz="1250" b="1" dirty="0">
                <a:latin typeface="Inter"/>
              </a:rPr>
              <a:t>Learning:</a:t>
            </a:r>
            <a:r>
              <a:rPr lang="en-IN" sz="1250" dirty="0">
                <a:latin typeface="Inter"/>
              </a:rPr>
              <a:t> This process improves the agent’s knowledge by learning from the environment through its precepts and sensors.</a:t>
            </a:r>
          </a:p>
          <a:p>
            <a:pPr marL="171450" lvl="0" indent="-171450" algn="just" fontAlgn="base">
              <a:buFont typeface="Arial" panose="020B0604020202020204" pitchFamily="34" charset="0"/>
              <a:buChar char="•"/>
            </a:pPr>
            <a:r>
              <a:rPr lang="en-IN" sz="1250" b="1" dirty="0">
                <a:latin typeface="Inter"/>
              </a:rPr>
              <a:t>Critic:</a:t>
            </a:r>
            <a:r>
              <a:rPr lang="en-IN" sz="1250" dirty="0">
                <a:latin typeface="Inter"/>
              </a:rPr>
              <a:t> This component provides feedback to the agent on whether the quality of its responses meets the performance standard.</a:t>
            </a:r>
          </a:p>
          <a:p>
            <a:pPr marL="171450" lvl="0" indent="-171450" algn="just" fontAlgn="base">
              <a:buFont typeface="Arial" panose="020B0604020202020204" pitchFamily="34" charset="0"/>
              <a:buChar char="•"/>
            </a:pPr>
            <a:r>
              <a:rPr lang="en-IN" sz="1250" b="1" dirty="0">
                <a:latin typeface="Inter"/>
              </a:rPr>
              <a:t>Performance:</a:t>
            </a:r>
            <a:r>
              <a:rPr lang="en-IN" sz="1250" dirty="0">
                <a:latin typeface="Inter"/>
              </a:rPr>
              <a:t> This element is responsible for selecting actions upon learning.</a:t>
            </a:r>
          </a:p>
          <a:p>
            <a:pPr marL="171450" lvl="0" indent="-171450" algn="just" fontAlgn="base">
              <a:buFont typeface="Arial" panose="020B0604020202020204" pitchFamily="34" charset="0"/>
              <a:buChar char="•"/>
            </a:pPr>
            <a:r>
              <a:rPr lang="en-IN" sz="1250" b="1" dirty="0">
                <a:latin typeface="Inter"/>
              </a:rPr>
              <a:t>Problem generator:</a:t>
            </a:r>
            <a:r>
              <a:rPr lang="en-IN" sz="1250" dirty="0">
                <a:latin typeface="Inter"/>
              </a:rPr>
              <a:t> This module creates various proposals for actions to be taken. </a:t>
            </a:r>
            <a:r>
              <a:rPr lang="en-IN" sz="1400" b="1" dirty="0">
                <a:latin typeface="Inter"/>
              </a:rPr>
              <a:t>[4]</a:t>
            </a:r>
            <a:endParaRPr lang="en-IN" sz="1250" dirty="0">
              <a:latin typeface="Inter"/>
            </a:endParaRPr>
          </a:p>
        </p:txBody>
      </p:sp>
    </p:spTree>
    <p:extLst>
      <p:ext uri="{BB962C8B-B14F-4D97-AF65-F5344CB8AC3E}">
        <p14:creationId xmlns:p14="http://schemas.microsoft.com/office/powerpoint/2010/main" val="25207614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image.png">
            <a:extLst>
              <a:ext uri="{FF2B5EF4-FFF2-40B4-BE49-F238E27FC236}">
                <a16:creationId xmlns:a16="http://schemas.microsoft.com/office/drawing/2014/main" id="{74364B87-57FD-92D9-238E-F5AA79144D9E}"/>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46200" y="2143293"/>
            <a:ext cx="5381625" cy="4121546"/>
          </a:xfrm>
          <a:prstGeom prst="rect">
            <a:avLst/>
          </a:prstGeom>
        </p:spPr>
      </p:pic>
      <p:pic>
        <p:nvPicPr>
          <p:cNvPr id="3" name="Picture 2" descr="image.png"/>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38875" y="2143294"/>
            <a:ext cx="5381625" cy="4121546"/>
          </a:xfrm>
          <a:prstGeom prst="rect">
            <a:avLst/>
          </a:prstGeom>
        </p:spPr>
      </p:pic>
      <p:pic>
        <p:nvPicPr>
          <p:cNvPr id="4" name="Picture 3" descr="image.png"/>
          <p:cNvPicPr>
            <a:picLocks noChangeAspect="1"/>
          </p:cNvPicPr>
          <p:nvPr/>
        </p:nvPicPr>
        <p:blipFill>
          <a:blip r:embed="rId7"/>
          <a:stretch>
            <a:fillRect/>
          </a:stretch>
        </p:blipFill>
        <p:spPr>
          <a:xfrm>
            <a:off x="812626" y="4599436"/>
            <a:ext cx="4791075" cy="944760"/>
          </a:xfrm>
          <a:prstGeom prst="rect">
            <a:avLst/>
          </a:prstGeom>
        </p:spPr>
      </p:pic>
      <p:pic>
        <p:nvPicPr>
          <p:cNvPr id="5" name="Picture 4" descr="image.png"/>
          <p:cNvPicPr>
            <a:picLocks noChangeAspect="1"/>
          </p:cNvPicPr>
          <p:nvPr/>
        </p:nvPicPr>
        <p:blipFill>
          <a:blip r:embed="rId7"/>
          <a:stretch>
            <a:fillRect/>
          </a:stretch>
        </p:blipFill>
        <p:spPr>
          <a:xfrm>
            <a:off x="6438322" y="4610675"/>
            <a:ext cx="4791075" cy="944760"/>
          </a:xfrm>
          <a:prstGeom prst="rect">
            <a:avLst/>
          </a:prstGeom>
        </p:spPr>
      </p:pic>
      <p:sp>
        <p:nvSpPr>
          <p:cNvPr id="6" name="TextBox 5"/>
          <p:cNvSpPr txBox="1"/>
          <p:nvPr/>
        </p:nvSpPr>
        <p:spPr>
          <a:xfrm>
            <a:off x="590550" y="823931"/>
            <a:ext cx="11601450" cy="514350"/>
          </a:xfrm>
          <a:prstGeom prst="rect">
            <a:avLst/>
          </a:prstGeom>
          <a:noFill/>
        </p:spPr>
        <p:txBody>
          <a:bodyPr wrap="square" lIns="0" tIns="0" rIns="0" bIns="0" anchor="t">
            <a:spAutoFit/>
          </a:bodyPr>
          <a:lstStyle/>
          <a:p>
            <a:pPr algn="l"/>
            <a:r>
              <a:rPr sz="3300" b="1" i="0" u="none" dirty="0">
                <a:solidFill>
                  <a:srgbClr val="2563EB"/>
                </a:solidFill>
                <a:latin typeface="Inter"/>
              </a:rPr>
              <a:t>AI Agent</a:t>
            </a:r>
            <a:r>
              <a:rPr sz="3300" b="1" i="0" u="none" dirty="0">
                <a:solidFill>
                  <a:srgbClr val="0F172A"/>
                </a:solidFill>
                <a:latin typeface="Inter"/>
              </a:rPr>
              <a:t> Architectures</a:t>
            </a:r>
          </a:p>
        </p:txBody>
      </p:sp>
      <p:sp>
        <p:nvSpPr>
          <p:cNvPr id="7" name="TextBox 6"/>
          <p:cNvSpPr txBox="1"/>
          <p:nvPr/>
        </p:nvSpPr>
        <p:spPr>
          <a:xfrm>
            <a:off x="590550" y="1414481"/>
            <a:ext cx="11049000" cy="228600"/>
          </a:xfrm>
          <a:prstGeom prst="rect">
            <a:avLst/>
          </a:prstGeom>
          <a:noFill/>
        </p:spPr>
        <p:txBody>
          <a:bodyPr wrap="square" lIns="0" tIns="0" rIns="0" bIns="0" anchor="t">
            <a:spAutoFit/>
          </a:bodyPr>
          <a:lstStyle/>
          <a:p>
            <a:pPr algn="l"/>
            <a:r>
              <a:rPr sz="1500" b="0" i="0" u="none" dirty="0">
                <a:solidFill>
                  <a:srgbClr val="64748B"/>
                </a:solidFill>
                <a:latin typeface="Inter"/>
              </a:rPr>
              <a:t>Different patterns for designing agents based on how they reason, act, and collaborate.</a:t>
            </a:r>
          </a:p>
        </p:txBody>
      </p:sp>
      <p:sp>
        <p:nvSpPr>
          <p:cNvPr id="9" name="TextBox 8"/>
          <p:cNvSpPr txBox="1"/>
          <p:nvPr/>
        </p:nvSpPr>
        <p:spPr>
          <a:xfrm>
            <a:off x="866476" y="2934540"/>
            <a:ext cx="4791075" cy="1367939"/>
          </a:xfrm>
          <a:prstGeom prst="rect">
            <a:avLst/>
          </a:prstGeom>
          <a:noFill/>
        </p:spPr>
        <p:txBody>
          <a:bodyPr wrap="square" lIns="0" tIns="0" rIns="0" bIns="0" anchor="t">
            <a:spAutoFit/>
          </a:bodyPr>
          <a:lstStyle/>
          <a:p>
            <a:pPr algn="just">
              <a:lnSpc>
                <a:spcPts val="1800"/>
              </a:lnSpc>
            </a:pPr>
            <a:r>
              <a:rPr lang="en-IN" sz="1200" dirty="0"/>
              <a:t>It combines reasoning and action in a dynamic, iterative loop where a single agent observes the environment, formulates a plan, executes an action using available tools or APIs, and evaluates the resulting feedback to decide the next step. By constantly re-evaluating its context, the model can course-correct on the fly, retry failed tool calls, or adjust its strategy based on intermediate outputs. </a:t>
            </a:r>
            <a:r>
              <a:rPr lang="en-IN" sz="1200" b="0" i="0" u="none" dirty="0">
                <a:solidFill>
                  <a:srgbClr val="475569"/>
                </a:solidFill>
                <a:latin typeface="Inter"/>
              </a:rPr>
              <a:t>[6]</a:t>
            </a:r>
            <a:endParaRPr sz="1200" b="0" i="0" u="none" dirty="0">
              <a:solidFill>
                <a:srgbClr val="475569"/>
              </a:solidFill>
              <a:latin typeface="Inter"/>
            </a:endParaRPr>
          </a:p>
        </p:txBody>
      </p:sp>
      <p:sp>
        <p:nvSpPr>
          <p:cNvPr id="11" name="TextBox 10"/>
          <p:cNvSpPr txBox="1"/>
          <p:nvPr/>
        </p:nvSpPr>
        <p:spPr>
          <a:xfrm>
            <a:off x="6534150" y="2871498"/>
            <a:ext cx="4791075" cy="1598771"/>
          </a:xfrm>
          <a:prstGeom prst="rect">
            <a:avLst/>
          </a:prstGeom>
          <a:noFill/>
        </p:spPr>
        <p:txBody>
          <a:bodyPr wrap="square" lIns="0" tIns="0" rIns="0" bIns="0" anchor="t">
            <a:spAutoFit/>
          </a:bodyPr>
          <a:lstStyle/>
          <a:p>
            <a:pPr algn="just">
              <a:lnSpc>
                <a:spcPts val="1800"/>
              </a:lnSpc>
            </a:pPr>
            <a:r>
              <a:rPr lang="en-IN" sz="1200" dirty="0"/>
              <a:t>It arranges processing steps into a strict, deterministic assembly line where the structured output of one module directly feeds as the input to the next. Typical execution flows linearly through discrete stages: extracting raw data from a source, transforming and cleaning it into a structured schema, analysing key metrics, and generating a polished output. Because each phase has bounded boundaries, this architecture reduces latency and non-deterministic behaviour, making it ideal for standardized, step-by-step tasks</a:t>
            </a:r>
            <a:endParaRPr sz="1200" b="0" i="0" u="none" dirty="0">
              <a:solidFill>
                <a:srgbClr val="475569"/>
              </a:solidFill>
              <a:latin typeface="Inter"/>
            </a:endParaRPr>
          </a:p>
        </p:txBody>
      </p:sp>
      <p:sp>
        <p:nvSpPr>
          <p:cNvPr id="13" name="TextBox 12"/>
          <p:cNvSpPr txBox="1"/>
          <p:nvPr/>
        </p:nvSpPr>
        <p:spPr>
          <a:xfrm>
            <a:off x="873174" y="2444467"/>
            <a:ext cx="2910363" cy="295275"/>
          </a:xfrm>
          <a:prstGeom prst="rect">
            <a:avLst/>
          </a:prstGeom>
          <a:noFill/>
        </p:spPr>
        <p:txBody>
          <a:bodyPr wrap="square" lIns="0" tIns="0" rIns="0" bIns="0" anchor="t">
            <a:spAutoFit/>
          </a:bodyPr>
          <a:lstStyle/>
          <a:p>
            <a:pPr algn="l"/>
            <a:r>
              <a:rPr sz="1950" b="1" i="0" u="none" dirty="0">
                <a:solidFill>
                  <a:srgbClr val="1E3A8A"/>
                </a:solidFill>
                <a:latin typeface="Inter"/>
              </a:rPr>
              <a:t>1. </a:t>
            </a:r>
            <a:r>
              <a:rPr sz="1950" b="1" i="0" u="none" dirty="0" err="1">
                <a:solidFill>
                  <a:srgbClr val="1E3A8A"/>
                </a:solidFill>
                <a:latin typeface="Inter"/>
              </a:rPr>
              <a:t>ReAct</a:t>
            </a:r>
            <a:r>
              <a:rPr sz="1950" b="1" i="0" u="none" dirty="0">
                <a:solidFill>
                  <a:srgbClr val="1E3A8A"/>
                </a:solidFill>
                <a:latin typeface="Inter"/>
              </a:rPr>
              <a:t> (Reason &amp; Act)</a:t>
            </a:r>
          </a:p>
        </p:txBody>
      </p:sp>
      <p:pic>
        <p:nvPicPr>
          <p:cNvPr id="14" name="Picture 13" descr="image.png"/>
          <p:cNvPicPr>
            <a:picLocks noChangeAspect="1"/>
          </p:cNvPicPr>
          <p:nvPr/>
        </p:nvPicPr>
        <p:blipFill>
          <a:blip r:embed="rId8">
            <a:duotone>
              <a:prstClr val="black"/>
              <a:schemeClr val="accent1">
                <a:tint val="45000"/>
                <a:satMod val="400000"/>
              </a:schemeClr>
            </a:duotone>
          </a:blip>
          <a:stretch>
            <a:fillRect/>
          </a:stretch>
        </p:blipFill>
        <p:spPr>
          <a:xfrm>
            <a:off x="1861864" y="5005141"/>
            <a:ext cx="114300" cy="133350"/>
          </a:xfrm>
          <a:prstGeom prst="rect">
            <a:avLst/>
          </a:prstGeom>
        </p:spPr>
      </p:pic>
      <p:pic>
        <p:nvPicPr>
          <p:cNvPr id="15" name="Picture 14" descr="image.png"/>
          <p:cNvPicPr>
            <a:picLocks noChangeAspect="1"/>
          </p:cNvPicPr>
          <p:nvPr/>
        </p:nvPicPr>
        <p:blipFill>
          <a:blip r:embed="rId9">
            <a:duotone>
              <a:prstClr val="black"/>
              <a:schemeClr val="accent1">
                <a:tint val="45000"/>
                <a:satMod val="400000"/>
              </a:schemeClr>
            </a:duotone>
          </a:blip>
          <a:stretch>
            <a:fillRect/>
          </a:stretch>
        </p:blipFill>
        <p:spPr>
          <a:xfrm>
            <a:off x="3150715" y="5005141"/>
            <a:ext cx="114300" cy="133350"/>
          </a:xfrm>
          <a:prstGeom prst="rect">
            <a:avLst/>
          </a:prstGeom>
        </p:spPr>
      </p:pic>
      <p:pic>
        <p:nvPicPr>
          <p:cNvPr id="16" name="Picture 15" descr="image.png"/>
          <p:cNvPicPr>
            <a:picLocks noChangeAspect="1"/>
          </p:cNvPicPr>
          <p:nvPr/>
        </p:nvPicPr>
        <p:blipFill>
          <a:blip r:embed="rId9">
            <a:duotone>
              <a:prstClr val="black"/>
              <a:schemeClr val="accent1">
                <a:tint val="45000"/>
                <a:satMod val="400000"/>
              </a:schemeClr>
            </a:duotone>
          </a:blip>
          <a:stretch>
            <a:fillRect/>
          </a:stretch>
        </p:blipFill>
        <p:spPr>
          <a:xfrm>
            <a:off x="4439567" y="5005141"/>
            <a:ext cx="114300" cy="133350"/>
          </a:xfrm>
          <a:prstGeom prst="rect">
            <a:avLst/>
          </a:prstGeom>
        </p:spPr>
      </p:pic>
      <p:sp>
        <p:nvSpPr>
          <p:cNvPr id="18" name="TextBox 17"/>
          <p:cNvSpPr txBox="1"/>
          <p:nvPr/>
        </p:nvSpPr>
        <p:spPr>
          <a:xfrm>
            <a:off x="6534150" y="2474067"/>
            <a:ext cx="2930366" cy="300082"/>
          </a:xfrm>
          <a:prstGeom prst="rect">
            <a:avLst/>
          </a:prstGeom>
          <a:noFill/>
        </p:spPr>
        <p:txBody>
          <a:bodyPr wrap="square" lIns="0" tIns="0" rIns="0" bIns="0" anchor="t">
            <a:spAutoFit/>
          </a:bodyPr>
          <a:lstStyle/>
          <a:p>
            <a:pPr algn="l"/>
            <a:r>
              <a:rPr sz="1950" b="1" i="0" u="none" dirty="0">
                <a:solidFill>
                  <a:schemeClr val="tx2"/>
                </a:solidFill>
                <a:latin typeface="Inter"/>
              </a:rPr>
              <a:t>2. Sequential Workflow</a:t>
            </a:r>
          </a:p>
        </p:txBody>
      </p:sp>
      <p:pic>
        <p:nvPicPr>
          <p:cNvPr id="19" name="Picture 18" descr="image.png"/>
          <p:cNvPicPr>
            <a:picLocks noChangeAspect="1"/>
          </p:cNvPicPr>
          <p:nvPr/>
        </p:nvPicPr>
        <p:blipFill>
          <a:blip r:embed="rId8">
            <a:duotone>
              <a:prstClr val="black"/>
              <a:schemeClr val="accent1">
                <a:tint val="45000"/>
                <a:satMod val="400000"/>
              </a:schemeClr>
            </a:duotone>
          </a:blip>
          <a:stretch>
            <a:fillRect/>
          </a:stretch>
        </p:blipFill>
        <p:spPr>
          <a:xfrm>
            <a:off x="7487560" y="5016380"/>
            <a:ext cx="114300" cy="133350"/>
          </a:xfrm>
          <a:prstGeom prst="rect">
            <a:avLst/>
          </a:prstGeom>
        </p:spPr>
      </p:pic>
      <p:pic>
        <p:nvPicPr>
          <p:cNvPr id="20" name="Picture 19" descr="image.png"/>
          <p:cNvPicPr>
            <a:picLocks noChangeAspect="1"/>
          </p:cNvPicPr>
          <p:nvPr/>
        </p:nvPicPr>
        <p:blipFill>
          <a:blip r:embed="rId9">
            <a:duotone>
              <a:prstClr val="black"/>
              <a:schemeClr val="accent1">
                <a:tint val="45000"/>
                <a:satMod val="400000"/>
              </a:schemeClr>
            </a:duotone>
          </a:blip>
          <a:stretch>
            <a:fillRect/>
          </a:stretch>
        </p:blipFill>
        <p:spPr>
          <a:xfrm>
            <a:off x="8776411" y="5016380"/>
            <a:ext cx="114300" cy="133350"/>
          </a:xfrm>
          <a:prstGeom prst="rect">
            <a:avLst/>
          </a:prstGeom>
        </p:spPr>
      </p:pic>
      <p:pic>
        <p:nvPicPr>
          <p:cNvPr id="21" name="Picture 20" descr="image.png"/>
          <p:cNvPicPr>
            <a:picLocks noChangeAspect="1"/>
          </p:cNvPicPr>
          <p:nvPr/>
        </p:nvPicPr>
        <p:blipFill>
          <a:blip r:embed="rId9">
            <a:duotone>
              <a:prstClr val="black"/>
              <a:schemeClr val="accent1">
                <a:tint val="45000"/>
                <a:satMod val="400000"/>
              </a:schemeClr>
            </a:duotone>
          </a:blip>
          <a:stretch>
            <a:fillRect/>
          </a:stretch>
        </p:blipFill>
        <p:spPr>
          <a:xfrm>
            <a:off x="10065263" y="5016380"/>
            <a:ext cx="114300" cy="133350"/>
          </a:xfrm>
          <a:prstGeom prst="rect">
            <a:avLst/>
          </a:prstGeom>
        </p:spPr>
      </p:pic>
      <p:sp>
        <p:nvSpPr>
          <p:cNvPr id="24" name="TextBox 23"/>
          <p:cNvSpPr txBox="1"/>
          <p:nvPr/>
        </p:nvSpPr>
        <p:spPr>
          <a:xfrm>
            <a:off x="1584151" y="5724719"/>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25" name="Picture 24" descr="image.png"/>
          <p:cNvPicPr>
            <a:picLocks noChangeAspect="1"/>
          </p:cNvPicPr>
          <p:nvPr/>
        </p:nvPicPr>
        <p:blipFill>
          <a:blip r:embed="rId10">
            <a:duotone>
              <a:prstClr val="black"/>
              <a:schemeClr val="accent1">
                <a:tint val="45000"/>
                <a:satMod val="400000"/>
              </a:schemeClr>
            </a:duotone>
          </a:blip>
          <a:stretch>
            <a:fillRect/>
          </a:stretch>
        </p:blipFill>
        <p:spPr>
          <a:xfrm>
            <a:off x="1165051" y="4751836"/>
            <a:ext cx="219075" cy="190500"/>
          </a:xfrm>
          <a:prstGeom prst="rect">
            <a:avLst/>
          </a:prstGeom>
        </p:spPr>
      </p:pic>
      <p:sp>
        <p:nvSpPr>
          <p:cNvPr id="26" name="TextBox 25"/>
          <p:cNvSpPr txBox="1"/>
          <p:nvPr/>
        </p:nvSpPr>
        <p:spPr>
          <a:xfrm>
            <a:off x="1060276" y="4999486"/>
            <a:ext cx="4286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Observe</a:t>
            </a:r>
          </a:p>
        </p:txBody>
      </p:sp>
      <p:sp>
        <p:nvSpPr>
          <p:cNvPr id="27" name="TextBox 26"/>
          <p:cNvSpPr txBox="1"/>
          <p:nvPr/>
        </p:nvSpPr>
        <p:spPr>
          <a:xfrm>
            <a:off x="965026"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Perceive the environment</a:t>
            </a:r>
          </a:p>
        </p:txBody>
      </p:sp>
      <p:pic>
        <p:nvPicPr>
          <p:cNvPr id="28" name="Picture 27" descr="image.png"/>
          <p:cNvPicPr>
            <a:picLocks noChangeAspect="1"/>
          </p:cNvPicPr>
          <p:nvPr/>
        </p:nvPicPr>
        <p:blipFill>
          <a:blip r:embed="rId11">
            <a:duotone>
              <a:prstClr val="black"/>
              <a:schemeClr val="accent1">
                <a:tint val="45000"/>
                <a:satMod val="400000"/>
              </a:schemeClr>
            </a:duotone>
          </a:blip>
          <a:stretch>
            <a:fillRect/>
          </a:stretch>
        </p:blipFill>
        <p:spPr>
          <a:xfrm>
            <a:off x="2468190" y="4751836"/>
            <a:ext cx="190500" cy="190500"/>
          </a:xfrm>
          <a:prstGeom prst="rect">
            <a:avLst/>
          </a:prstGeom>
        </p:spPr>
      </p:pic>
      <p:sp>
        <p:nvSpPr>
          <p:cNvPr id="29" name="TextBox 28"/>
          <p:cNvSpPr txBox="1"/>
          <p:nvPr/>
        </p:nvSpPr>
        <p:spPr>
          <a:xfrm>
            <a:off x="2372940" y="4999486"/>
            <a:ext cx="3810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Reason</a:t>
            </a:r>
          </a:p>
        </p:txBody>
      </p:sp>
      <p:sp>
        <p:nvSpPr>
          <p:cNvPr id="30" name="TextBox 29"/>
          <p:cNvSpPr txBox="1"/>
          <p:nvPr/>
        </p:nvSpPr>
        <p:spPr>
          <a:xfrm>
            <a:off x="2253877"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Decide what to do next</a:t>
            </a:r>
          </a:p>
        </p:txBody>
      </p:sp>
      <p:pic>
        <p:nvPicPr>
          <p:cNvPr id="31" name="Picture 30" descr="image.png"/>
          <p:cNvPicPr>
            <a:picLocks noChangeAspect="1"/>
          </p:cNvPicPr>
          <p:nvPr/>
        </p:nvPicPr>
        <p:blipFill>
          <a:blip r:embed="rId12">
            <a:duotone>
              <a:prstClr val="black"/>
              <a:schemeClr val="accent1">
                <a:tint val="45000"/>
                <a:satMod val="400000"/>
              </a:schemeClr>
            </a:duotone>
          </a:blip>
          <a:stretch>
            <a:fillRect/>
          </a:stretch>
        </p:blipFill>
        <p:spPr>
          <a:xfrm>
            <a:off x="3757041" y="4751836"/>
            <a:ext cx="190500" cy="190500"/>
          </a:xfrm>
          <a:prstGeom prst="rect">
            <a:avLst/>
          </a:prstGeom>
        </p:spPr>
      </p:pic>
      <p:sp>
        <p:nvSpPr>
          <p:cNvPr id="32" name="TextBox 31"/>
          <p:cNvSpPr txBox="1"/>
          <p:nvPr/>
        </p:nvSpPr>
        <p:spPr>
          <a:xfrm>
            <a:off x="3591060" y="5024771"/>
            <a:ext cx="528638" cy="124137"/>
          </a:xfrm>
          <a:prstGeom prst="rect">
            <a:avLst/>
          </a:prstGeom>
          <a:noFill/>
        </p:spPr>
        <p:txBody>
          <a:bodyPr wrap="square" lIns="0" tIns="0" rIns="0" bIns="0" anchor="t">
            <a:spAutoFit/>
          </a:bodyPr>
          <a:lstStyle/>
          <a:p>
            <a:pPr algn="ctr">
              <a:lnSpc>
                <a:spcPts val="989"/>
              </a:lnSpc>
            </a:pPr>
            <a:r>
              <a:rPr lang="en-IN" sz="825" dirty="0">
                <a:solidFill>
                  <a:srgbClr val="475569"/>
                </a:solidFill>
                <a:latin typeface="Inter SemiBold"/>
              </a:rPr>
              <a:t>Take Action</a:t>
            </a:r>
            <a:endParaRPr sz="825" b="0" i="0" u="none" dirty="0">
              <a:solidFill>
                <a:srgbClr val="475569"/>
              </a:solidFill>
              <a:latin typeface="Inter SemiBold"/>
            </a:endParaRPr>
          </a:p>
        </p:txBody>
      </p:sp>
      <p:sp>
        <p:nvSpPr>
          <p:cNvPr id="33" name="TextBox 32"/>
          <p:cNvSpPr txBox="1"/>
          <p:nvPr/>
        </p:nvSpPr>
        <p:spPr>
          <a:xfrm>
            <a:off x="3542729"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Use tools or APIs</a:t>
            </a:r>
          </a:p>
        </p:txBody>
      </p:sp>
      <p:pic>
        <p:nvPicPr>
          <p:cNvPr id="34" name="Picture 33" descr="image.png"/>
          <p:cNvPicPr>
            <a:picLocks noChangeAspect="1"/>
          </p:cNvPicPr>
          <p:nvPr/>
        </p:nvPicPr>
        <p:blipFill>
          <a:blip r:embed="rId13">
            <a:duotone>
              <a:prstClr val="black"/>
              <a:schemeClr val="accent1">
                <a:tint val="45000"/>
                <a:satMod val="400000"/>
              </a:schemeClr>
            </a:duotone>
          </a:blip>
          <a:stretch>
            <a:fillRect/>
          </a:stretch>
        </p:blipFill>
        <p:spPr>
          <a:xfrm>
            <a:off x="5069705" y="4751836"/>
            <a:ext cx="142875" cy="190500"/>
          </a:xfrm>
          <a:prstGeom prst="rect">
            <a:avLst/>
          </a:prstGeom>
        </p:spPr>
      </p:pic>
      <p:sp>
        <p:nvSpPr>
          <p:cNvPr id="35" name="TextBox 34"/>
          <p:cNvSpPr txBox="1"/>
          <p:nvPr/>
        </p:nvSpPr>
        <p:spPr>
          <a:xfrm>
            <a:off x="4922068" y="4999486"/>
            <a:ext cx="4381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Evaluate</a:t>
            </a:r>
          </a:p>
        </p:txBody>
      </p:sp>
      <p:sp>
        <p:nvSpPr>
          <p:cNvPr id="36" name="TextBox 35"/>
          <p:cNvSpPr txBox="1"/>
          <p:nvPr/>
        </p:nvSpPr>
        <p:spPr>
          <a:xfrm>
            <a:off x="4831580" y="5182247"/>
            <a:ext cx="619125" cy="209550"/>
          </a:xfrm>
          <a:prstGeom prst="rect">
            <a:avLst/>
          </a:prstGeom>
          <a:noFill/>
        </p:spPr>
        <p:txBody>
          <a:bodyPr wrap="square" lIns="0" tIns="0" rIns="0" bIns="0" anchor="t">
            <a:spAutoFit/>
          </a:bodyPr>
          <a:lstStyle/>
          <a:p>
            <a:pPr algn="ctr"/>
            <a:r>
              <a:rPr sz="675" b="0" i="0" u="none">
                <a:solidFill>
                  <a:srgbClr val="64748B"/>
                </a:solidFill>
                <a:latin typeface="Inter"/>
              </a:rPr>
              <a:t>Review result &amp; feedback</a:t>
            </a:r>
          </a:p>
        </p:txBody>
      </p:sp>
      <p:sp>
        <p:nvSpPr>
          <p:cNvPr id="39" name="TextBox 38"/>
          <p:cNvSpPr txBox="1"/>
          <p:nvPr/>
        </p:nvSpPr>
        <p:spPr>
          <a:xfrm>
            <a:off x="6873047" y="5743697"/>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40" name="Picture 39" descr="image.png"/>
          <p:cNvPicPr>
            <a:picLocks noChangeAspect="1"/>
          </p:cNvPicPr>
          <p:nvPr/>
        </p:nvPicPr>
        <p:blipFill>
          <a:blip r:embed="rId14">
            <a:duotone>
              <a:prstClr val="black"/>
              <a:schemeClr val="accent1">
                <a:tint val="45000"/>
                <a:satMod val="400000"/>
              </a:schemeClr>
            </a:duotone>
          </a:blip>
          <a:stretch>
            <a:fillRect/>
          </a:stretch>
        </p:blipFill>
        <p:spPr>
          <a:xfrm>
            <a:off x="6828847" y="4763075"/>
            <a:ext cx="142875" cy="190500"/>
          </a:xfrm>
          <a:prstGeom prst="rect">
            <a:avLst/>
          </a:prstGeom>
        </p:spPr>
      </p:pic>
      <p:sp>
        <p:nvSpPr>
          <p:cNvPr id="41" name="TextBox 40"/>
          <p:cNvSpPr txBox="1"/>
          <p:nvPr/>
        </p:nvSpPr>
        <p:spPr>
          <a:xfrm>
            <a:off x="6724072" y="5010725"/>
            <a:ext cx="3524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Extract</a:t>
            </a:r>
          </a:p>
        </p:txBody>
      </p:sp>
      <p:sp>
        <p:nvSpPr>
          <p:cNvPr id="42" name="TextBox 41"/>
          <p:cNvSpPr txBox="1"/>
          <p:nvPr/>
        </p:nvSpPr>
        <p:spPr>
          <a:xfrm>
            <a:off x="6590722" y="5193486"/>
            <a:ext cx="619125" cy="209550"/>
          </a:xfrm>
          <a:prstGeom prst="rect">
            <a:avLst/>
          </a:prstGeom>
          <a:noFill/>
        </p:spPr>
        <p:txBody>
          <a:bodyPr wrap="square" lIns="0" tIns="0" rIns="0" bIns="0" anchor="t">
            <a:spAutoFit/>
          </a:bodyPr>
          <a:lstStyle/>
          <a:p>
            <a:pPr algn="ctr"/>
            <a:r>
              <a:rPr sz="675" b="0" i="0" u="none">
                <a:solidFill>
                  <a:srgbClr val="64748B"/>
                </a:solidFill>
                <a:latin typeface="Inter"/>
              </a:rPr>
              <a:t>Get data from source</a:t>
            </a:r>
          </a:p>
        </p:txBody>
      </p:sp>
      <p:pic>
        <p:nvPicPr>
          <p:cNvPr id="43" name="Picture 42" descr="image.png"/>
          <p:cNvPicPr>
            <a:picLocks noChangeAspect="1"/>
          </p:cNvPicPr>
          <p:nvPr/>
        </p:nvPicPr>
        <p:blipFill>
          <a:blip r:embed="rId15">
            <a:duotone>
              <a:prstClr val="black"/>
              <a:schemeClr val="accent1">
                <a:tint val="45000"/>
                <a:satMod val="400000"/>
              </a:schemeClr>
            </a:duotone>
          </a:blip>
          <a:stretch>
            <a:fillRect/>
          </a:stretch>
        </p:blipFill>
        <p:spPr>
          <a:xfrm>
            <a:off x="8093886" y="4763075"/>
            <a:ext cx="190500" cy="190500"/>
          </a:xfrm>
          <a:prstGeom prst="rect">
            <a:avLst/>
          </a:prstGeom>
        </p:spPr>
      </p:pic>
      <p:sp>
        <p:nvSpPr>
          <p:cNvPr id="44" name="TextBox 43"/>
          <p:cNvSpPr txBox="1"/>
          <p:nvPr/>
        </p:nvSpPr>
        <p:spPr>
          <a:xfrm>
            <a:off x="7931961" y="5010725"/>
            <a:ext cx="5143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Transform</a:t>
            </a:r>
          </a:p>
        </p:txBody>
      </p:sp>
      <p:sp>
        <p:nvSpPr>
          <p:cNvPr id="45" name="TextBox 44"/>
          <p:cNvSpPr txBox="1"/>
          <p:nvPr/>
        </p:nvSpPr>
        <p:spPr>
          <a:xfrm>
            <a:off x="7879573" y="5193486"/>
            <a:ext cx="619125" cy="209550"/>
          </a:xfrm>
          <a:prstGeom prst="rect">
            <a:avLst/>
          </a:prstGeom>
          <a:noFill/>
        </p:spPr>
        <p:txBody>
          <a:bodyPr wrap="square" lIns="0" tIns="0" rIns="0" bIns="0" anchor="t">
            <a:spAutoFit/>
          </a:bodyPr>
          <a:lstStyle/>
          <a:p>
            <a:pPr algn="ctr"/>
            <a:r>
              <a:rPr sz="675" b="0" i="0" u="none">
                <a:solidFill>
                  <a:srgbClr val="64748B"/>
                </a:solidFill>
                <a:latin typeface="Inter"/>
              </a:rPr>
              <a:t>Clean, format &amp; structure</a:t>
            </a:r>
          </a:p>
        </p:txBody>
      </p:sp>
      <p:pic>
        <p:nvPicPr>
          <p:cNvPr id="46" name="Picture 45" descr="image.png"/>
          <p:cNvPicPr>
            <a:picLocks noChangeAspect="1"/>
          </p:cNvPicPr>
          <p:nvPr/>
        </p:nvPicPr>
        <p:blipFill>
          <a:blip r:embed="rId16">
            <a:duotone>
              <a:prstClr val="black"/>
              <a:schemeClr val="accent1">
                <a:tint val="45000"/>
                <a:satMod val="400000"/>
              </a:schemeClr>
            </a:duotone>
          </a:blip>
          <a:stretch>
            <a:fillRect/>
          </a:stretch>
        </p:blipFill>
        <p:spPr>
          <a:xfrm>
            <a:off x="9382737" y="4763075"/>
            <a:ext cx="190500" cy="190500"/>
          </a:xfrm>
          <a:prstGeom prst="rect">
            <a:avLst/>
          </a:prstGeom>
        </p:spPr>
      </p:pic>
      <p:sp>
        <p:nvSpPr>
          <p:cNvPr id="47" name="TextBox 46"/>
          <p:cNvSpPr txBox="1"/>
          <p:nvPr/>
        </p:nvSpPr>
        <p:spPr>
          <a:xfrm>
            <a:off x="9273200" y="5010725"/>
            <a:ext cx="40957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Analyze</a:t>
            </a:r>
          </a:p>
        </p:txBody>
      </p:sp>
      <p:sp>
        <p:nvSpPr>
          <p:cNvPr id="48" name="TextBox 47"/>
          <p:cNvSpPr txBox="1"/>
          <p:nvPr/>
        </p:nvSpPr>
        <p:spPr>
          <a:xfrm>
            <a:off x="9168425" y="5193486"/>
            <a:ext cx="619125" cy="209550"/>
          </a:xfrm>
          <a:prstGeom prst="rect">
            <a:avLst/>
          </a:prstGeom>
          <a:noFill/>
        </p:spPr>
        <p:txBody>
          <a:bodyPr wrap="square" lIns="0" tIns="0" rIns="0" bIns="0" anchor="t">
            <a:spAutoFit/>
          </a:bodyPr>
          <a:lstStyle/>
          <a:p>
            <a:pPr algn="ctr"/>
            <a:r>
              <a:rPr sz="675" b="0" i="0" u="none">
                <a:solidFill>
                  <a:srgbClr val="64748B"/>
                </a:solidFill>
                <a:latin typeface="Inter"/>
              </a:rPr>
              <a:t>Compute insights</a:t>
            </a:r>
          </a:p>
        </p:txBody>
      </p:sp>
      <p:pic>
        <p:nvPicPr>
          <p:cNvPr id="49" name="Picture 48" descr="image.png"/>
          <p:cNvPicPr>
            <a:picLocks noChangeAspect="1"/>
          </p:cNvPicPr>
          <p:nvPr/>
        </p:nvPicPr>
        <p:blipFill>
          <a:blip r:embed="rId17">
            <a:duotone>
              <a:prstClr val="black"/>
              <a:schemeClr val="accent1">
                <a:tint val="45000"/>
                <a:satMod val="400000"/>
              </a:schemeClr>
            </a:duotone>
          </a:blip>
          <a:stretch>
            <a:fillRect/>
          </a:stretch>
        </p:blipFill>
        <p:spPr>
          <a:xfrm>
            <a:off x="10657301" y="4763075"/>
            <a:ext cx="219075" cy="190500"/>
          </a:xfrm>
          <a:prstGeom prst="rect">
            <a:avLst/>
          </a:prstGeom>
        </p:spPr>
      </p:pic>
      <p:sp>
        <p:nvSpPr>
          <p:cNvPr id="50" name="TextBox 49"/>
          <p:cNvSpPr txBox="1"/>
          <p:nvPr/>
        </p:nvSpPr>
        <p:spPr>
          <a:xfrm>
            <a:off x="10528714" y="5010725"/>
            <a:ext cx="4762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Generate</a:t>
            </a:r>
          </a:p>
        </p:txBody>
      </p:sp>
      <p:sp>
        <p:nvSpPr>
          <p:cNvPr id="51" name="TextBox 50"/>
          <p:cNvSpPr txBox="1"/>
          <p:nvPr/>
        </p:nvSpPr>
        <p:spPr>
          <a:xfrm>
            <a:off x="10457276" y="5193486"/>
            <a:ext cx="619125" cy="209550"/>
          </a:xfrm>
          <a:prstGeom prst="rect">
            <a:avLst/>
          </a:prstGeom>
          <a:noFill/>
        </p:spPr>
        <p:txBody>
          <a:bodyPr wrap="square" lIns="0" tIns="0" rIns="0" bIns="0" anchor="t">
            <a:spAutoFit/>
          </a:bodyPr>
          <a:lstStyle/>
          <a:p>
            <a:pPr algn="ctr"/>
            <a:r>
              <a:rPr sz="675" b="0" i="0" u="none">
                <a:solidFill>
                  <a:srgbClr val="64748B"/>
                </a:solidFill>
                <a:latin typeface="Inter"/>
              </a:rPr>
              <a:t>Create final output</a:t>
            </a:r>
          </a:p>
        </p:txBody>
      </p:sp>
      <p:sp>
        <p:nvSpPr>
          <p:cNvPr id="56" name="TextBox 55"/>
          <p:cNvSpPr txBox="1"/>
          <p:nvPr/>
        </p:nvSpPr>
        <p:spPr>
          <a:xfrm>
            <a:off x="2985070" y="5713748"/>
            <a:ext cx="2090737" cy="17979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Q&amp;A</a:t>
            </a:r>
            <a:r>
              <a:rPr lang="en-IN" sz="1050" dirty="0">
                <a:solidFill>
                  <a:srgbClr val="334155"/>
                </a:solidFill>
                <a:latin typeface="Inter"/>
              </a:rPr>
              <a:t>, Code generation &amp; debugging</a:t>
            </a:r>
          </a:p>
        </p:txBody>
      </p:sp>
      <p:sp>
        <p:nvSpPr>
          <p:cNvPr id="63" name="TextBox 62"/>
          <p:cNvSpPr txBox="1"/>
          <p:nvPr/>
        </p:nvSpPr>
        <p:spPr>
          <a:xfrm>
            <a:off x="8142006" y="5725541"/>
            <a:ext cx="3431109"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Document processing pipeline</a:t>
            </a:r>
            <a:r>
              <a:rPr lang="en-IN" sz="1050" dirty="0">
                <a:solidFill>
                  <a:srgbClr val="334155"/>
                </a:solidFill>
                <a:latin typeface="Inter"/>
              </a:rPr>
              <a:t>, Report generation</a:t>
            </a:r>
          </a:p>
          <a:p>
            <a:pPr algn="l">
              <a:lnSpc>
                <a:spcPts val="1470"/>
              </a:lnSpc>
            </a:pPr>
            <a:endParaRPr sz="1050" b="0" i="0" u="none" dirty="0">
              <a:solidFill>
                <a:srgbClr val="334155"/>
              </a:solidFill>
              <a:latin typeface="Inte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9138DB2E-103A-B6F8-7A56-44914CD16862}"/>
              </a:ext>
            </a:extLst>
          </p:cNvPr>
          <p:cNvPicPr>
            <a:picLocks noChangeAspect="1"/>
          </p:cNvPicPr>
          <p:nvPr/>
        </p:nvPicPr>
        <p:blipFill>
          <a:blip r:embed="rId2"/>
          <a:stretch>
            <a:fillRect/>
          </a:stretch>
        </p:blipFill>
        <p:spPr>
          <a:xfrm>
            <a:off x="0" y="0"/>
            <a:ext cx="12192000" cy="6858000"/>
          </a:xfrm>
          <a:prstGeom prst="rect">
            <a:avLst/>
          </a:prstGeom>
        </p:spPr>
      </p:pic>
      <p:pic>
        <p:nvPicPr>
          <p:cNvPr id="2" name="Picture 1" descr="image.png"/>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Lst>
          </a:blip>
          <a:stretch>
            <a:fillRect/>
          </a:stretch>
        </p:blipFill>
        <p:spPr>
          <a:xfrm>
            <a:off x="590550" y="1984352"/>
            <a:ext cx="5381625" cy="4416449"/>
          </a:xfrm>
          <a:prstGeom prst="rect">
            <a:avLst/>
          </a:prstGeom>
        </p:spPr>
      </p:pic>
      <p:pic>
        <p:nvPicPr>
          <p:cNvPr id="3" name="Picture 2" descr="image.png"/>
          <p:cNvPicPr>
            <a:picLocks noChangeAspect="1"/>
          </p:cNvPicPr>
          <p:nvPr/>
        </p:nvPicPr>
        <p:blipFill>
          <a:blip r:embed="rId5">
            <a:extLst>
              <a:ext uri="{BEBA8EAE-BF5A-486C-A8C5-ECC9F3942E4B}">
                <a14:imgProps xmlns:a14="http://schemas.microsoft.com/office/drawing/2010/main">
                  <a14:imgLayer r:embed="rId6">
                    <a14:imgEffect>
                      <a14:saturation sat="0"/>
                    </a14:imgEffect>
                  </a14:imgLayer>
                </a14:imgProps>
              </a:ext>
            </a:extLst>
          </a:blip>
          <a:stretch>
            <a:fillRect/>
          </a:stretch>
        </p:blipFill>
        <p:spPr>
          <a:xfrm>
            <a:off x="6257925" y="1984352"/>
            <a:ext cx="5381625" cy="4416449"/>
          </a:xfrm>
          <a:prstGeom prst="rect">
            <a:avLst/>
          </a:prstGeom>
        </p:spPr>
      </p:pic>
      <p:pic>
        <p:nvPicPr>
          <p:cNvPr id="4" name="Picture 3" descr="image.png"/>
          <p:cNvPicPr>
            <a:picLocks noChangeAspect="1"/>
          </p:cNvPicPr>
          <p:nvPr/>
        </p:nvPicPr>
        <p:blipFill>
          <a:blip r:embed="rId7"/>
          <a:stretch>
            <a:fillRect/>
          </a:stretch>
        </p:blipFill>
        <p:spPr>
          <a:xfrm>
            <a:off x="913075" y="4806542"/>
            <a:ext cx="4791075" cy="944760"/>
          </a:xfrm>
          <a:prstGeom prst="rect">
            <a:avLst/>
          </a:prstGeom>
        </p:spPr>
      </p:pic>
      <p:pic>
        <p:nvPicPr>
          <p:cNvPr id="5" name="Picture 4" descr="image.png"/>
          <p:cNvPicPr>
            <a:picLocks noChangeAspect="1"/>
          </p:cNvPicPr>
          <p:nvPr/>
        </p:nvPicPr>
        <p:blipFill>
          <a:blip r:embed="rId7"/>
          <a:stretch>
            <a:fillRect/>
          </a:stretch>
        </p:blipFill>
        <p:spPr>
          <a:xfrm>
            <a:off x="6553200" y="4789027"/>
            <a:ext cx="4791075" cy="944760"/>
          </a:xfrm>
          <a:prstGeom prst="rect">
            <a:avLst/>
          </a:prstGeom>
        </p:spPr>
      </p:pic>
      <p:pic>
        <p:nvPicPr>
          <p:cNvPr id="6" name="Picture 5" descr="image.png"/>
          <p:cNvPicPr>
            <a:picLocks noChangeAspect="1"/>
          </p:cNvPicPr>
          <p:nvPr/>
        </p:nvPicPr>
        <p:blipFill>
          <a:blip r:embed="rId8">
            <a:duotone>
              <a:prstClr val="black"/>
              <a:schemeClr val="accent1">
                <a:tint val="45000"/>
                <a:satMod val="400000"/>
              </a:schemeClr>
            </a:duotone>
          </a:blip>
          <a:stretch>
            <a:fillRect/>
          </a:stretch>
        </p:blipFill>
        <p:spPr>
          <a:xfrm>
            <a:off x="8404026" y="4989052"/>
            <a:ext cx="1905000" cy="544710"/>
          </a:xfrm>
          <a:prstGeom prst="rect">
            <a:avLst/>
          </a:prstGeom>
        </p:spPr>
      </p:pic>
      <p:sp>
        <p:nvSpPr>
          <p:cNvPr id="10" name="TextBox 9"/>
          <p:cNvSpPr txBox="1"/>
          <p:nvPr/>
        </p:nvSpPr>
        <p:spPr>
          <a:xfrm>
            <a:off x="885825" y="2879702"/>
            <a:ext cx="4791075" cy="1829603"/>
          </a:xfrm>
          <a:prstGeom prst="rect">
            <a:avLst/>
          </a:prstGeom>
          <a:noFill/>
        </p:spPr>
        <p:txBody>
          <a:bodyPr wrap="square" lIns="0" tIns="0" rIns="0" bIns="0" anchor="t">
            <a:spAutoFit/>
          </a:bodyPr>
          <a:lstStyle/>
          <a:p>
            <a:pPr>
              <a:lnSpc>
                <a:spcPts val="1800"/>
              </a:lnSpc>
            </a:pPr>
            <a:r>
              <a:rPr lang="en-IN" sz="1200" dirty="0"/>
              <a:t>The </a:t>
            </a:r>
            <a:r>
              <a:rPr lang="en-IN" sz="1200" b="1" dirty="0"/>
              <a:t>Routing Architecture</a:t>
            </a:r>
            <a:r>
              <a:rPr lang="en-IN" sz="1200" dirty="0"/>
              <a:t> acts as an intelligent traffic controller that uses a centralized supervisor or classification node to interpret user intent before delegating execution. Once the router identifies the nature of the input query, it dynamically dispatches the request to a dedicated specialized sub-agent.</a:t>
            </a:r>
          </a:p>
          <a:p>
            <a:pPr>
              <a:lnSpc>
                <a:spcPts val="1800"/>
              </a:lnSpc>
            </a:pPr>
            <a:r>
              <a:rPr lang="en-IN" sz="1200" dirty="0"/>
              <a:t>This separation keeps individual agent prompts lightweight, context windows focused, and token costs optimized, making it a natural fit for multi-domain customer support systems and triage-heavy enterprise applications.</a:t>
            </a:r>
            <a:endParaRPr sz="1200" b="0" i="0" u="none" dirty="0">
              <a:solidFill>
                <a:srgbClr val="475569"/>
              </a:solidFill>
              <a:latin typeface="Inter"/>
            </a:endParaRPr>
          </a:p>
        </p:txBody>
      </p:sp>
      <p:sp>
        <p:nvSpPr>
          <p:cNvPr id="12" name="TextBox 11"/>
          <p:cNvSpPr txBox="1"/>
          <p:nvPr/>
        </p:nvSpPr>
        <p:spPr>
          <a:xfrm>
            <a:off x="6553200" y="2879702"/>
            <a:ext cx="4791075" cy="1829603"/>
          </a:xfrm>
          <a:prstGeom prst="rect">
            <a:avLst/>
          </a:prstGeom>
          <a:noFill/>
        </p:spPr>
        <p:txBody>
          <a:bodyPr wrap="square" lIns="0" tIns="0" rIns="0" bIns="0" anchor="t">
            <a:spAutoFit/>
          </a:bodyPr>
          <a:lstStyle/>
          <a:p>
            <a:pPr>
              <a:lnSpc>
                <a:spcPts val="1800"/>
              </a:lnSpc>
            </a:pPr>
            <a:r>
              <a:rPr lang="en-IN" sz="1200" dirty="0"/>
              <a:t>A </a:t>
            </a:r>
            <a:r>
              <a:rPr lang="en-IN" sz="1200" b="1" dirty="0"/>
              <a:t>Multi-Agent Swarm</a:t>
            </a:r>
            <a:r>
              <a:rPr lang="en-IN" sz="1200" dirty="0"/>
              <a:t> relies on a manager agent to orchestrate a ecosystem of domain-expert sub-agents working together toward a high-level goal. The manager breaks down complex user objectives into specific tasks and assigns them to specialized roles—such as a Coder for implementation, a Researcher for context gathering, and a Reviewer for quality assurance—who can debate, review each other's work, and iteratively refine deliverables. By enabling peer-level verification and specialized division of labour, swarms excel at tackling high-complexity, multi-layered domains</a:t>
            </a:r>
            <a:endParaRPr sz="1200" b="0" i="0" u="none" dirty="0">
              <a:solidFill>
                <a:srgbClr val="475569"/>
              </a:solidFill>
              <a:latin typeface="Inter"/>
            </a:endParaRPr>
          </a:p>
        </p:txBody>
      </p:sp>
      <p:sp>
        <p:nvSpPr>
          <p:cNvPr id="14" name="TextBox 13"/>
          <p:cNvSpPr txBox="1"/>
          <p:nvPr/>
        </p:nvSpPr>
        <p:spPr>
          <a:xfrm>
            <a:off x="885825" y="2403836"/>
            <a:ext cx="2920365" cy="300082"/>
          </a:xfrm>
          <a:prstGeom prst="rect">
            <a:avLst/>
          </a:prstGeom>
          <a:noFill/>
        </p:spPr>
        <p:txBody>
          <a:bodyPr wrap="square" lIns="0" tIns="0" rIns="0" bIns="0" anchor="t">
            <a:spAutoFit/>
          </a:bodyPr>
          <a:lstStyle/>
          <a:p>
            <a:pPr algn="l"/>
            <a:r>
              <a:rPr sz="1950" b="1" i="0" u="none" dirty="0">
                <a:solidFill>
                  <a:schemeClr val="tx2"/>
                </a:solidFill>
                <a:latin typeface="Inter"/>
              </a:rPr>
              <a:t>3. Routing Architecture</a:t>
            </a:r>
          </a:p>
        </p:txBody>
      </p:sp>
      <p:pic>
        <p:nvPicPr>
          <p:cNvPr id="15" name="Picture 14" descr="image.png"/>
          <p:cNvPicPr>
            <a:picLocks noChangeAspect="1"/>
          </p:cNvPicPr>
          <p:nvPr/>
        </p:nvPicPr>
        <p:blipFill>
          <a:blip r:embed="rId9"/>
          <a:stretch>
            <a:fillRect/>
          </a:stretch>
        </p:blipFill>
        <p:spPr>
          <a:xfrm>
            <a:off x="1900400" y="5212247"/>
            <a:ext cx="114300" cy="133350"/>
          </a:xfrm>
          <a:prstGeom prst="rect">
            <a:avLst/>
          </a:prstGeom>
        </p:spPr>
      </p:pic>
      <p:pic>
        <p:nvPicPr>
          <p:cNvPr id="16" name="Picture 15" descr="image.png"/>
          <p:cNvPicPr>
            <a:picLocks noChangeAspect="1"/>
          </p:cNvPicPr>
          <p:nvPr/>
        </p:nvPicPr>
        <p:blipFill>
          <a:blip r:embed="rId10"/>
          <a:stretch>
            <a:fillRect/>
          </a:stretch>
        </p:blipFill>
        <p:spPr>
          <a:xfrm>
            <a:off x="3065427" y="5212247"/>
            <a:ext cx="114300" cy="133350"/>
          </a:xfrm>
          <a:prstGeom prst="rect">
            <a:avLst/>
          </a:prstGeom>
        </p:spPr>
      </p:pic>
      <p:pic>
        <p:nvPicPr>
          <p:cNvPr id="17" name="Picture 16" descr="image.png"/>
          <p:cNvPicPr>
            <a:picLocks noChangeAspect="1"/>
          </p:cNvPicPr>
          <p:nvPr/>
        </p:nvPicPr>
        <p:blipFill>
          <a:blip r:embed="rId10"/>
          <a:stretch>
            <a:fillRect/>
          </a:stretch>
        </p:blipFill>
        <p:spPr>
          <a:xfrm>
            <a:off x="4601928" y="5212247"/>
            <a:ext cx="114300" cy="133350"/>
          </a:xfrm>
          <a:prstGeom prst="rect">
            <a:avLst/>
          </a:prstGeom>
        </p:spPr>
      </p:pic>
      <p:sp>
        <p:nvSpPr>
          <p:cNvPr id="19" name="TextBox 18"/>
          <p:cNvSpPr txBox="1"/>
          <p:nvPr/>
        </p:nvSpPr>
        <p:spPr>
          <a:xfrm>
            <a:off x="6524729" y="2394878"/>
            <a:ext cx="2760345" cy="300082"/>
          </a:xfrm>
          <a:prstGeom prst="rect">
            <a:avLst/>
          </a:prstGeom>
          <a:noFill/>
        </p:spPr>
        <p:txBody>
          <a:bodyPr wrap="square" lIns="0" tIns="0" rIns="0" bIns="0" anchor="t">
            <a:spAutoFit/>
          </a:bodyPr>
          <a:lstStyle/>
          <a:p>
            <a:pPr algn="l"/>
            <a:r>
              <a:rPr sz="1950" b="1" i="0" u="none" dirty="0">
                <a:solidFill>
                  <a:schemeClr val="tx2"/>
                </a:solidFill>
                <a:latin typeface="Inter"/>
              </a:rPr>
              <a:t>4. Multi-Agent Swarm</a:t>
            </a:r>
          </a:p>
        </p:txBody>
      </p:sp>
      <p:pic>
        <p:nvPicPr>
          <p:cNvPr id="20" name="Picture 19" descr="image.png"/>
          <p:cNvPicPr>
            <a:picLocks noChangeAspect="1"/>
          </p:cNvPicPr>
          <p:nvPr/>
        </p:nvPicPr>
        <p:blipFill>
          <a:blip r:embed="rId10">
            <a:duotone>
              <a:prstClr val="black"/>
              <a:schemeClr val="accent1">
                <a:tint val="45000"/>
                <a:satMod val="400000"/>
              </a:schemeClr>
            </a:duotone>
          </a:blip>
          <a:stretch>
            <a:fillRect/>
          </a:stretch>
        </p:blipFill>
        <p:spPr>
          <a:xfrm>
            <a:off x="7399287" y="5194732"/>
            <a:ext cx="114300" cy="133350"/>
          </a:xfrm>
          <a:prstGeom prst="rect">
            <a:avLst/>
          </a:prstGeom>
        </p:spPr>
      </p:pic>
      <p:pic>
        <p:nvPicPr>
          <p:cNvPr id="21" name="Picture 20" descr="image.png"/>
          <p:cNvPicPr>
            <a:picLocks noChangeAspect="1"/>
          </p:cNvPicPr>
          <p:nvPr/>
        </p:nvPicPr>
        <p:blipFill>
          <a:blip r:embed="rId10">
            <a:duotone>
              <a:prstClr val="black"/>
              <a:schemeClr val="accent1">
                <a:tint val="45000"/>
                <a:satMod val="400000"/>
              </a:schemeClr>
            </a:duotone>
          </a:blip>
          <a:stretch>
            <a:fillRect/>
          </a:stretch>
        </p:blipFill>
        <p:spPr>
          <a:xfrm>
            <a:off x="8215163" y="5194732"/>
            <a:ext cx="114300" cy="133350"/>
          </a:xfrm>
          <a:prstGeom prst="rect">
            <a:avLst/>
          </a:prstGeom>
        </p:spPr>
      </p:pic>
      <p:pic>
        <p:nvPicPr>
          <p:cNvPr id="22" name="Picture 21" descr="image.png"/>
          <p:cNvPicPr>
            <a:picLocks noChangeAspect="1"/>
          </p:cNvPicPr>
          <p:nvPr/>
        </p:nvPicPr>
        <p:blipFill>
          <a:blip r:embed="rId10">
            <a:duotone>
              <a:prstClr val="black"/>
              <a:schemeClr val="accent1">
                <a:tint val="45000"/>
                <a:satMod val="400000"/>
              </a:schemeClr>
            </a:duotone>
          </a:blip>
          <a:stretch>
            <a:fillRect/>
          </a:stretch>
        </p:blipFill>
        <p:spPr>
          <a:xfrm>
            <a:off x="10383589" y="5194732"/>
            <a:ext cx="114300" cy="133350"/>
          </a:xfrm>
          <a:prstGeom prst="rect">
            <a:avLst/>
          </a:prstGeom>
        </p:spPr>
      </p:pic>
      <p:sp>
        <p:nvSpPr>
          <p:cNvPr id="25" name="TextBox 24"/>
          <p:cNvSpPr txBox="1"/>
          <p:nvPr/>
        </p:nvSpPr>
        <p:spPr>
          <a:xfrm>
            <a:off x="1783259" y="5916172"/>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26" name="Picture 25" descr="image.png"/>
          <p:cNvPicPr>
            <a:picLocks noChangeAspect="1"/>
          </p:cNvPicPr>
          <p:nvPr/>
        </p:nvPicPr>
        <p:blipFill>
          <a:blip r:embed="rId11">
            <a:duotone>
              <a:prstClr val="black"/>
              <a:schemeClr val="accent1">
                <a:tint val="45000"/>
                <a:satMod val="400000"/>
              </a:schemeClr>
            </a:duotone>
          </a:blip>
          <a:stretch>
            <a:fillRect/>
          </a:stretch>
        </p:blipFill>
        <p:spPr>
          <a:xfrm>
            <a:off x="1289312" y="5011329"/>
            <a:ext cx="171450" cy="190500"/>
          </a:xfrm>
          <a:prstGeom prst="rect">
            <a:avLst/>
          </a:prstGeom>
        </p:spPr>
      </p:pic>
      <p:sp>
        <p:nvSpPr>
          <p:cNvPr id="27" name="TextBox 26"/>
          <p:cNvSpPr txBox="1"/>
          <p:nvPr/>
        </p:nvSpPr>
        <p:spPr>
          <a:xfrm>
            <a:off x="1084525" y="5258979"/>
            <a:ext cx="5810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User Query</a:t>
            </a:r>
          </a:p>
        </p:txBody>
      </p:sp>
      <p:sp>
        <p:nvSpPr>
          <p:cNvPr id="28" name="TextBox 27"/>
          <p:cNvSpPr txBox="1"/>
          <p:nvPr/>
        </p:nvSpPr>
        <p:spPr>
          <a:xfrm>
            <a:off x="1065475" y="5441740"/>
            <a:ext cx="619125" cy="104775"/>
          </a:xfrm>
          <a:prstGeom prst="rect">
            <a:avLst/>
          </a:prstGeom>
          <a:noFill/>
        </p:spPr>
        <p:txBody>
          <a:bodyPr wrap="square" lIns="0" tIns="0" rIns="0" bIns="0" anchor="t">
            <a:spAutoFit/>
          </a:bodyPr>
          <a:lstStyle/>
          <a:p>
            <a:pPr algn="ctr"/>
            <a:r>
              <a:rPr sz="675" b="0" i="0" u="none">
                <a:solidFill>
                  <a:srgbClr val="64748B"/>
                </a:solidFill>
                <a:latin typeface="Inter"/>
              </a:rPr>
              <a:t>Input / Request</a:t>
            </a:r>
          </a:p>
        </p:txBody>
      </p:sp>
      <p:pic>
        <p:nvPicPr>
          <p:cNvPr id="29" name="Picture 28" descr="image.png"/>
          <p:cNvPicPr>
            <a:picLocks noChangeAspect="1"/>
          </p:cNvPicPr>
          <p:nvPr/>
        </p:nvPicPr>
        <p:blipFill>
          <a:blip r:embed="rId12">
            <a:duotone>
              <a:prstClr val="black"/>
              <a:schemeClr val="accent1">
                <a:tint val="45000"/>
                <a:satMod val="400000"/>
              </a:schemeClr>
            </a:duotone>
          </a:blip>
          <a:stretch>
            <a:fillRect/>
          </a:stretch>
        </p:blipFill>
        <p:spPr>
          <a:xfrm>
            <a:off x="2421001" y="4958942"/>
            <a:ext cx="238125" cy="190500"/>
          </a:xfrm>
          <a:prstGeom prst="rect">
            <a:avLst/>
          </a:prstGeom>
        </p:spPr>
      </p:pic>
      <p:sp>
        <p:nvSpPr>
          <p:cNvPr id="30" name="TextBox 29"/>
          <p:cNvSpPr txBox="1"/>
          <p:nvPr/>
        </p:nvSpPr>
        <p:spPr>
          <a:xfrm>
            <a:off x="2368614" y="5206592"/>
            <a:ext cx="3429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Router</a:t>
            </a:r>
          </a:p>
        </p:txBody>
      </p:sp>
      <p:sp>
        <p:nvSpPr>
          <p:cNvPr id="31" name="TextBox 30"/>
          <p:cNvSpPr txBox="1"/>
          <p:nvPr/>
        </p:nvSpPr>
        <p:spPr>
          <a:xfrm>
            <a:off x="2230501" y="5389353"/>
            <a:ext cx="619125" cy="209550"/>
          </a:xfrm>
          <a:prstGeom prst="rect">
            <a:avLst/>
          </a:prstGeom>
          <a:noFill/>
        </p:spPr>
        <p:txBody>
          <a:bodyPr wrap="square" lIns="0" tIns="0" rIns="0" bIns="0" anchor="t">
            <a:spAutoFit/>
          </a:bodyPr>
          <a:lstStyle/>
          <a:p>
            <a:pPr algn="ctr"/>
            <a:r>
              <a:rPr sz="675" b="0" i="0" u="none">
                <a:solidFill>
                  <a:srgbClr val="64748B"/>
                </a:solidFill>
                <a:latin typeface="Inter"/>
              </a:rPr>
              <a:t>Understand intent</a:t>
            </a:r>
          </a:p>
        </p:txBody>
      </p:sp>
      <p:pic>
        <p:nvPicPr>
          <p:cNvPr id="32" name="Picture 31" descr="image.png"/>
          <p:cNvPicPr>
            <a:picLocks noChangeAspect="1"/>
          </p:cNvPicPr>
          <p:nvPr/>
        </p:nvPicPr>
        <p:blipFill>
          <a:blip r:embed="rId13">
            <a:duotone>
              <a:prstClr val="black"/>
              <a:schemeClr val="accent1">
                <a:tint val="45000"/>
                <a:satMod val="400000"/>
              </a:schemeClr>
            </a:duotone>
          </a:blip>
          <a:stretch>
            <a:fillRect/>
          </a:stretch>
        </p:blipFill>
        <p:spPr>
          <a:xfrm>
            <a:off x="3771765" y="4958942"/>
            <a:ext cx="238125" cy="190500"/>
          </a:xfrm>
          <a:prstGeom prst="rect">
            <a:avLst/>
          </a:prstGeom>
        </p:spPr>
      </p:pic>
      <p:sp>
        <p:nvSpPr>
          <p:cNvPr id="33" name="TextBox 32"/>
          <p:cNvSpPr txBox="1"/>
          <p:nvPr/>
        </p:nvSpPr>
        <p:spPr>
          <a:xfrm>
            <a:off x="3395528" y="5206592"/>
            <a:ext cx="9906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Specialized Agents</a:t>
            </a:r>
          </a:p>
        </p:txBody>
      </p:sp>
      <p:sp>
        <p:nvSpPr>
          <p:cNvPr id="34" name="TextBox 33"/>
          <p:cNvSpPr txBox="1"/>
          <p:nvPr/>
        </p:nvSpPr>
        <p:spPr>
          <a:xfrm>
            <a:off x="3581265" y="5389353"/>
            <a:ext cx="619125" cy="209550"/>
          </a:xfrm>
          <a:prstGeom prst="rect">
            <a:avLst/>
          </a:prstGeom>
          <a:noFill/>
        </p:spPr>
        <p:txBody>
          <a:bodyPr wrap="square" lIns="0" tIns="0" rIns="0" bIns="0" anchor="t">
            <a:spAutoFit/>
          </a:bodyPr>
          <a:lstStyle/>
          <a:p>
            <a:pPr algn="ctr"/>
            <a:r>
              <a:rPr sz="675" b="0" i="0" u="none">
                <a:solidFill>
                  <a:srgbClr val="64748B"/>
                </a:solidFill>
                <a:latin typeface="Inter"/>
              </a:rPr>
              <a:t>Tech Support | Billing</a:t>
            </a:r>
          </a:p>
        </p:txBody>
      </p:sp>
      <p:pic>
        <p:nvPicPr>
          <p:cNvPr id="35" name="Picture 34" descr="image.png"/>
          <p:cNvPicPr>
            <a:picLocks noChangeAspect="1"/>
          </p:cNvPicPr>
          <p:nvPr/>
        </p:nvPicPr>
        <p:blipFill>
          <a:blip r:embed="rId14">
            <a:duotone>
              <a:prstClr val="black"/>
              <a:schemeClr val="accent1">
                <a:tint val="45000"/>
                <a:satMod val="400000"/>
              </a:schemeClr>
            </a:duotone>
          </a:blip>
          <a:stretch>
            <a:fillRect/>
          </a:stretch>
        </p:blipFill>
        <p:spPr>
          <a:xfrm>
            <a:off x="5146342" y="4958942"/>
            <a:ext cx="190500" cy="190500"/>
          </a:xfrm>
          <a:prstGeom prst="rect">
            <a:avLst/>
          </a:prstGeom>
        </p:spPr>
      </p:pic>
      <p:sp>
        <p:nvSpPr>
          <p:cNvPr id="36" name="TextBox 35"/>
          <p:cNvSpPr txBox="1"/>
          <p:nvPr/>
        </p:nvSpPr>
        <p:spPr>
          <a:xfrm>
            <a:off x="4984417" y="5206592"/>
            <a:ext cx="5143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Response</a:t>
            </a:r>
          </a:p>
        </p:txBody>
      </p:sp>
      <p:sp>
        <p:nvSpPr>
          <p:cNvPr id="37" name="TextBox 36"/>
          <p:cNvSpPr txBox="1"/>
          <p:nvPr/>
        </p:nvSpPr>
        <p:spPr>
          <a:xfrm>
            <a:off x="4932029" y="5389353"/>
            <a:ext cx="619125" cy="209550"/>
          </a:xfrm>
          <a:prstGeom prst="rect">
            <a:avLst/>
          </a:prstGeom>
          <a:noFill/>
        </p:spPr>
        <p:txBody>
          <a:bodyPr wrap="square" lIns="0" tIns="0" rIns="0" bIns="0" anchor="t">
            <a:spAutoFit/>
          </a:bodyPr>
          <a:lstStyle/>
          <a:p>
            <a:pPr algn="ctr"/>
            <a:r>
              <a:rPr sz="675" b="0" i="0" u="none">
                <a:solidFill>
                  <a:srgbClr val="64748B"/>
                </a:solidFill>
                <a:latin typeface="Inter"/>
              </a:rPr>
              <a:t>Return best answer</a:t>
            </a:r>
          </a:p>
        </p:txBody>
      </p:sp>
      <p:sp>
        <p:nvSpPr>
          <p:cNvPr id="40" name="TextBox 39"/>
          <p:cNvSpPr txBox="1"/>
          <p:nvPr/>
        </p:nvSpPr>
        <p:spPr>
          <a:xfrm>
            <a:off x="6905505" y="5951826"/>
            <a:ext cx="2415301" cy="173124"/>
          </a:xfrm>
          <a:prstGeom prst="rect">
            <a:avLst/>
          </a:prstGeom>
          <a:noFill/>
        </p:spPr>
        <p:txBody>
          <a:bodyPr wrap="square" lIns="0" tIns="0" rIns="0" bIns="0" anchor="t">
            <a:spAutoFit/>
          </a:bodyPr>
          <a:lstStyle/>
          <a:p>
            <a:pPr algn="l"/>
            <a:r>
              <a:rPr sz="1125" b="0" i="0" u="none" dirty="0">
                <a:solidFill>
                  <a:schemeClr val="tx2"/>
                </a:solidFill>
                <a:latin typeface="Inter SemiBold"/>
              </a:rPr>
              <a:t>Example Use Cases</a:t>
            </a:r>
            <a:r>
              <a:rPr lang="en-IN" sz="1125" b="0" i="0" u="none" dirty="0">
                <a:solidFill>
                  <a:schemeClr val="tx2"/>
                </a:solidFill>
                <a:latin typeface="Inter SemiBold"/>
              </a:rPr>
              <a:t>:</a:t>
            </a:r>
            <a:endParaRPr sz="1125" b="0" i="0" u="none" dirty="0">
              <a:solidFill>
                <a:schemeClr val="tx2"/>
              </a:solidFill>
              <a:latin typeface="Inter SemiBold"/>
            </a:endParaRPr>
          </a:p>
        </p:txBody>
      </p:sp>
      <p:pic>
        <p:nvPicPr>
          <p:cNvPr id="41" name="Picture 40" descr="image.png"/>
          <p:cNvPicPr>
            <a:picLocks noChangeAspect="1"/>
          </p:cNvPicPr>
          <p:nvPr/>
        </p:nvPicPr>
        <p:blipFill>
          <a:blip r:embed="rId15">
            <a:duotone>
              <a:prstClr val="black"/>
              <a:schemeClr val="accent1">
                <a:tint val="45000"/>
                <a:satMod val="400000"/>
              </a:schemeClr>
            </a:duotone>
          </a:blip>
          <a:stretch>
            <a:fillRect/>
          </a:stretch>
        </p:blipFill>
        <p:spPr>
          <a:xfrm>
            <a:off x="6919912" y="4941427"/>
            <a:ext cx="190500" cy="190500"/>
          </a:xfrm>
          <a:prstGeom prst="rect">
            <a:avLst/>
          </a:prstGeom>
        </p:spPr>
      </p:pic>
      <p:sp>
        <p:nvSpPr>
          <p:cNvPr id="42" name="TextBox 41"/>
          <p:cNvSpPr txBox="1"/>
          <p:nvPr/>
        </p:nvSpPr>
        <p:spPr>
          <a:xfrm>
            <a:off x="6767512" y="5189077"/>
            <a:ext cx="49530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User Goal</a:t>
            </a:r>
          </a:p>
        </p:txBody>
      </p:sp>
      <p:sp>
        <p:nvSpPr>
          <p:cNvPr id="43" name="TextBox 42"/>
          <p:cNvSpPr txBox="1"/>
          <p:nvPr/>
        </p:nvSpPr>
        <p:spPr>
          <a:xfrm>
            <a:off x="6705600" y="5371838"/>
            <a:ext cx="619125" cy="209550"/>
          </a:xfrm>
          <a:prstGeom prst="rect">
            <a:avLst/>
          </a:prstGeom>
          <a:noFill/>
        </p:spPr>
        <p:txBody>
          <a:bodyPr wrap="square" lIns="0" tIns="0" rIns="0" bIns="0" anchor="t">
            <a:spAutoFit/>
          </a:bodyPr>
          <a:lstStyle/>
          <a:p>
            <a:pPr algn="ctr"/>
            <a:r>
              <a:rPr sz="675" b="0" i="0" u="none">
                <a:solidFill>
                  <a:srgbClr val="64748B"/>
                </a:solidFill>
                <a:latin typeface="Inter"/>
              </a:rPr>
              <a:t>Define objective</a:t>
            </a:r>
          </a:p>
        </p:txBody>
      </p:sp>
      <p:pic>
        <p:nvPicPr>
          <p:cNvPr id="44" name="Picture 43" descr="image.png"/>
          <p:cNvPicPr>
            <a:picLocks noChangeAspect="1"/>
          </p:cNvPicPr>
          <p:nvPr/>
        </p:nvPicPr>
        <p:blipFill>
          <a:blip r:embed="rId16">
            <a:duotone>
              <a:prstClr val="black"/>
              <a:schemeClr val="accent1">
                <a:tint val="45000"/>
                <a:satMod val="400000"/>
              </a:schemeClr>
            </a:duotone>
          </a:blip>
          <a:stretch>
            <a:fillRect/>
          </a:stretch>
        </p:blipFill>
        <p:spPr>
          <a:xfrm>
            <a:off x="7778650" y="4993814"/>
            <a:ext cx="171450" cy="190500"/>
          </a:xfrm>
          <a:prstGeom prst="rect">
            <a:avLst/>
          </a:prstGeom>
        </p:spPr>
      </p:pic>
      <p:sp>
        <p:nvSpPr>
          <p:cNvPr id="45" name="TextBox 44"/>
          <p:cNvSpPr txBox="1"/>
          <p:nvPr/>
        </p:nvSpPr>
        <p:spPr>
          <a:xfrm>
            <a:off x="7640538" y="5241464"/>
            <a:ext cx="447675" cy="125610"/>
          </a:xfrm>
          <a:prstGeom prst="rect">
            <a:avLst/>
          </a:prstGeom>
          <a:noFill/>
        </p:spPr>
        <p:txBody>
          <a:bodyPr wrap="square" lIns="0" tIns="0" rIns="0" bIns="0" anchor="t">
            <a:spAutoFit/>
          </a:bodyPr>
          <a:lstStyle/>
          <a:p>
            <a:pPr algn="ctr">
              <a:lnSpc>
                <a:spcPts val="989"/>
              </a:lnSpc>
            </a:pPr>
            <a:r>
              <a:rPr sz="825" b="0" i="0" u="none" dirty="0">
                <a:solidFill>
                  <a:srgbClr val="475569"/>
                </a:solidFill>
                <a:latin typeface="Inter SemiBold"/>
              </a:rPr>
              <a:t>Manager</a:t>
            </a:r>
          </a:p>
        </p:txBody>
      </p:sp>
      <p:sp>
        <p:nvSpPr>
          <p:cNvPr id="46" name="TextBox 45"/>
          <p:cNvSpPr txBox="1"/>
          <p:nvPr/>
        </p:nvSpPr>
        <p:spPr>
          <a:xfrm>
            <a:off x="7588150" y="5424225"/>
            <a:ext cx="552450" cy="104775"/>
          </a:xfrm>
          <a:prstGeom prst="rect">
            <a:avLst/>
          </a:prstGeom>
          <a:noFill/>
        </p:spPr>
        <p:txBody>
          <a:bodyPr wrap="square" lIns="0" tIns="0" rIns="0" bIns="0" anchor="t">
            <a:spAutoFit/>
          </a:bodyPr>
          <a:lstStyle/>
          <a:p>
            <a:pPr algn="ctr"/>
            <a:r>
              <a:rPr sz="675" b="0" i="0" u="none">
                <a:solidFill>
                  <a:srgbClr val="64748B"/>
                </a:solidFill>
                <a:latin typeface="Inter"/>
              </a:rPr>
              <a:t>Plan &amp; assign</a:t>
            </a:r>
          </a:p>
        </p:txBody>
      </p:sp>
      <p:pic>
        <p:nvPicPr>
          <p:cNvPr id="48" name="Picture 47" descr="image.png"/>
          <p:cNvPicPr>
            <a:picLocks noChangeAspect="1"/>
          </p:cNvPicPr>
          <p:nvPr/>
        </p:nvPicPr>
        <p:blipFill>
          <a:blip r:embed="rId17">
            <a:duotone>
              <a:prstClr val="black"/>
              <a:schemeClr val="accent1">
                <a:tint val="45000"/>
                <a:satMod val="400000"/>
              </a:schemeClr>
            </a:duotone>
          </a:blip>
          <a:stretch>
            <a:fillRect/>
          </a:stretch>
        </p:blipFill>
        <p:spPr>
          <a:xfrm>
            <a:off x="10762952" y="4941427"/>
            <a:ext cx="238125" cy="190500"/>
          </a:xfrm>
          <a:prstGeom prst="rect">
            <a:avLst/>
          </a:prstGeom>
        </p:spPr>
      </p:pic>
      <p:sp>
        <p:nvSpPr>
          <p:cNvPr id="49" name="TextBox 48"/>
          <p:cNvSpPr txBox="1"/>
          <p:nvPr/>
        </p:nvSpPr>
        <p:spPr>
          <a:xfrm>
            <a:off x="10572452" y="5189077"/>
            <a:ext cx="6191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Final Output</a:t>
            </a:r>
          </a:p>
        </p:txBody>
      </p:sp>
      <p:sp>
        <p:nvSpPr>
          <p:cNvPr id="50" name="TextBox 49"/>
          <p:cNvSpPr txBox="1"/>
          <p:nvPr/>
        </p:nvSpPr>
        <p:spPr>
          <a:xfrm>
            <a:off x="10572452" y="5371838"/>
            <a:ext cx="619125" cy="209550"/>
          </a:xfrm>
          <a:prstGeom prst="rect">
            <a:avLst/>
          </a:prstGeom>
          <a:noFill/>
        </p:spPr>
        <p:txBody>
          <a:bodyPr wrap="square" lIns="0" tIns="0" rIns="0" bIns="0" anchor="t">
            <a:spAutoFit/>
          </a:bodyPr>
          <a:lstStyle/>
          <a:p>
            <a:pPr algn="ctr"/>
            <a:r>
              <a:rPr sz="675" b="0" i="0" u="none">
                <a:solidFill>
                  <a:srgbClr val="64748B"/>
                </a:solidFill>
                <a:latin typeface="Inter"/>
              </a:rPr>
              <a:t>Integrated result</a:t>
            </a:r>
          </a:p>
        </p:txBody>
      </p:sp>
      <p:sp>
        <p:nvSpPr>
          <p:cNvPr id="55" name="TextBox 54"/>
          <p:cNvSpPr txBox="1"/>
          <p:nvPr/>
        </p:nvSpPr>
        <p:spPr>
          <a:xfrm>
            <a:off x="3038177" y="5902666"/>
            <a:ext cx="2090737" cy="186630"/>
          </a:xfrm>
          <a:prstGeom prst="rect">
            <a:avLst/>
          </a:prstGeom>
          <a:noFill/>
        </p:spPr>
        <p:txBody>
          <a:bodyPr wrap="square" lIns="0" tIns="0" rIns="0" bIns="0" anchor="t">
            <a:spAutoFit/>
          </a:bodyPr>
          <a:lstStyle/>
          <a:p>
            <a:pPr algn="l">
              <a:lnSpc>
                <a:spcPts val="1470"/>
              </a:lnSpc>
            </a:pPr>
            <a:r>
              <a:rPr sz="1050" b="0" i="0" u="none" dirty="0">
                <a:solidFill>
                  <a:srgbClr val="334155"/>
                </a:solidFill>
                <a:latin typeface="Inter"/>
              </a:rPr>
              <a:t>Customer support automation</a:t>
            </a:r>
          </a:p>
        </p:txBody>
      </p:sp>
      <p:sp>
        <p:nvSpPr>
          <p:cNvPr id="63" name="TextBox 62"/>
          <p:cNvSpPr txBox="1"/>
          <p:nvPr/>
        </p:nvSpPr>
        <p:spPr>
          <a:xfrm>
            <a:off x="8159299" y="5937539"/>
            <a:ext cx="3184976" cy="372153"/>
          </a:xfrm>
          <a:prstGeom prst="rect">
            <a:avLst/>
          </a:prstGeom>
          <a:noFill/>
        </p:spPr>
        <p:txBody>
          <a:bodyPr wrap="square" lIns="0" tIns="0" rIns="0" bIns="0" anchor="t">
            <a:spAutoFit/>
          </a:bodyPr>
          <a:lstStyle/>
          <a:p>
            <a:pPr>
              <a:lnSpc>
                <a:spcPts val="1470"/>
              </a:lnSpc>
            </a:pPr>
            <a:r>
              <a:rPr sz="1050" b="0" i="0" u="none" dirty="0">
                <a:solidFill>
                  <a:srgbClr val="334155"/>
                </a:solidFill>
                <a:latin typeface="Inter"/>
              </a:rPr>
              <a:t>Software development teams</a:t>
            </a:r>
            <a:r>
              <a:rPr lang="en-IN" sz="1050" dirty="0">
                <a:solidFill>
                  <a:srgbClr val="334155"/>
                </a:solidFill>
                <a:latin typeface="Inter"/>
              </a:rPr>
              <a:t>, Threat analysis &amp; support</a:t>
            </a:r>
          </a:p>
          <a:p>
            <a:pPr algn="l">
              <a:lnSpc>
                <a:spcPts val="1470"/>
              </a:lnSpc>
            </a:pPr>
            <a:endParaRPr sz="1050" b="0" i="0" u="none" dirty="0">
              <a:solidFill>
                <a:srgbClr val="334155"/>
              </a:solidFill>
              <a:latin typeface="Inter"/>
            </a:endParaRPr>
          </a:p>
        </p:txBody>
      </p:sp>
      <p:pic>
        <p:nvPicPr>
          <p:cNvPr id="65" name="Picture 64" descr="image.png"/>
          <p:cNvPicPr>
            <a:picLocks noChangeAspect="1"/>
          </p:cNvPicPr>
          <p:nvPr/>
        </p:nvPicPr>
        <p:blipFill>
          <a:blip r:embed="rId18">
            <a:duotone>
              <a:prstClr val="black"/>
              <a:schemeClr val="accent1">
                <a:tint val="45000"/>
                <a:satMod val="400000"/>
              </a:schemeClr>
            </a:duotone>
          </a:blip>
          <a:stretch>
            <a:fillRect/>
          </a:stretch>
        </p:blipFill>
        <p:spPr>
          <a:xfrm>
            <a:off x="8565951" y="5074777"/>
            <a:ext cx="238125" cy="190500"/>
          </a:xfrm>
          <a:prstGeom prst="rect">
            <a:avLst/>
          </a:prstGeom>
        </p:spPr>
      </p:pic>
      <p:sp>
        <p:nvSpPr>
          <p:cNvPr id="66" name="TextBox 65"/>
          <p:cNvSpPr txBox="1"/>
          <p:nvPr/>
        </p:nvSpPr>
        <p:spPr>
          <a:xfrm>
            <a:off x="8527851" y="5322427"/>
            <a:ext cx="3143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Coder</a:t>
            </a:r>
          </a:p>
        </p:txBody>
      </p:sp>
      <p:pic>
        <p:nvPicPr>
          <p:cNvPr id="67" name="Picture 66" descr="image.png"/>
          <p:cNvPicPr>
            <a:picLocks noChangeAspect="1"/>
          </p:cNvPicPr>
          <p:nvPr/>
        </p:nvPicPr>
        <p:blipFill>
          <a:blip r:embed="rId19">
            <a:duotone>
              <a:prstClr val="black"/>
              <a:schemeClr val="accent1">
                <a:tint val="45000"/>
                <a:satMod val="400000"/>
              </a:schemeClr>
            </a:duotone>
          </a:blip>
          <a:stretch>
            <a:fillRect/>
          </a:stretch>
        </p:blipFill>
        <p:spPr>
          <a:xfrm>
            <a:off x="9180314" y="5074777"/>
            <a:ext cx="190500" cy="190500"/>
          </a:xfrm>
          <a:prstGeom prst="rect">
            <a:avLst/>
          </a:prstGeom>
        </p:spPr>
      </p:pic>
      <p:sp>
        <p:nvSpPr>
          <p:cNvPr id="68" name="TextBox 67"/>
          <p:cNvSpPr txBox="1"/>
          <p:nvPr/>
        </p:nvSpPr>
        <p:spPr>
          <a:xfrm>
            <a:off x="8985051" y="5322427"/>
            <a:ext cx="581025"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Researcher</a:t>
            </a:r>
          </a:p>
        </p:txBody>
      </p:sp>
      <p:pic>
        <p:nvPicPr>
          <p:cNvPr id="69" name="Picture 68" descr="image.png"/>
          <p:cNvPicPr>
            <a:picLocks noChangeAspect="1"/>
          </p:cNvPicPr>
          <p:nvPr/>
        </p:nvPicPr>
        <p:blipFill>
          <a:blip r:embed="rId20">
            <a:duotone>
              <a:prstClr val="black"/>
              <a:schemeClr val="accent1">
                <a:tint val="45000"/>
                <a:satMod val="400000"/>
              </a:schemeClr>
            </a:duotone>
          </a:blip>
          <a:stretch>
            <a:fillRect/>
          </a:stretch>
        </p:blipFill>
        <p:spPr>
          <a:xfrm>
            <a:off x="9875639" y="5074777"/>
            <a:ext cx="142875" cy="190500"/>
          </a:xfrm>
          <a:prstGeom prst="rect">
            <a:avLst/>
          </a:prstGeom>
        </p:spPr>
      </p:pic>
      <p:sp>
        <p:nvSpPr>
          <p:cNvPr id="70" name="TextBox 69"/>
          <p:cNvSpPr txBox="1"/>
          <p:nvPr/>
        </p:nvSpPr>
        <p:spPr>
          <a:xfrm>
            <a:off x="9708951" y="5322427"/>
            <a:ext cx="476250" cy="125610"/>
          </a:xfrm>
          <a:prstGeom prst="rect">
            <a:avLst/>
          </a:prstGeom>
          <a:noFill/>
        </p:spPr>
        <p:txBody>
          <a:bodyPr wrap="square" lIns="0" tIns="0" rIns="0" bIns="0" anchor="t">
            <a:spAutoFit/>
          </a:bodyPr>
          <a:lstStyle/>
          <a:p>
            <a:pPr algn="ctr">
              <a:lnSpc>
                <a:spcPts val="989"/>
              </a:lnSpc>
            </a:pPr>
            <a:r>
              <a:rPr sz="825" b="0" i="0" u="none">
                <a:solidFill>
                  <a:srgbClr val="475569"/>
                </a:solidFill>
                <a:latin typeface="Inter SemiBold"/>
              </a:rPr>
              <a:t>Reviewer</a:t>
            </a:r>
          </a:p>
        </p:txBody>
      </p:sp>
      <p:sp>
        <p:nvSpPr>
          <p:cNvPr id="9" name="Rectangle 8">
            <a:extLst>
              <a:ext uri="{FF2B5EF4-FFF2-40B4-BE49-F238E27FC236}">
                <a16:creationId xmlns:a16="http://schemas.microsoft.com/office/drawing/2014/main" id="{CA3517DB-AEFF-E33D-E286-BF5C7AB743C1}"/>
              </a:ext>
            </a:extLst>
          </p:cNvPr>
          <p:cNvSpPr/>
          <p:nvPr/>
        </p:nvSpPr>
        <p:spPr>
          <a:xfrm>
            <a:off x="8913227" y="4898565"/>
            <a:ext cx="832425" cy="133350"/>
          </a:xfrm>
          <a:prstGeom prst="rect">
            <a:avLst/>
          </a:prstGeom>
          <a:solidFill>
            <a:schemeClr val="bg1"/>
          </a:solidFill>
          <a:ln>
            <a:solidFill>
              <a:schemeClr val="bg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47" name="TextBox 46"/>
          <p:cNvSpPr txBox="1"/>
          <p:nvPr/>
        </p:nvSpPr>
        <p:spPr>
          <a:xfrm>
            <a:off x="9030324" y="4910857"/>
            <a:ext cx="876300" cy="92333"/>
          </a:xfrm>
          <a:prstGeom prst="rect">
            <a:avLst/>
          </a:prstGeom>
          <a:noFill/>
        </p:spPr>
        <p:txBody>
          <a:bodyPr wrap="square" lIns="0" tIns="0" rIns="0" bIns="0" anchor="t">
            <a:spAutoFit/>
          </a:bodyPr>
          <a:lstStyle/>
          <a:p>
            <a:pPr algn="l"/>
            <a:r>
              <a:rPr sz="600" b="0" i="0" u="none" dirty="0">
                <a:solidFill>
                  <a:srgbClr val="64748B"/>
                </a:solidFill>
                <a:latin typeface="Inter"/>
              </a:rPr>
              <a:t>Specialized Agents</a:t>
            </a:r>
          </a:p>
        </p:txBody>
      </p:sp>
      <p:sp>
        <p:nvSpPr>
          <p:cNvPr id="91" name="TextBox 90">
            <a:extLst>
              <a:ext uri="{FF2B5EF4-FFF2-40B4-BE49-F238E27FC236}">
                <a16:creationId xmlns:a16="http://schemas.microsoft.com/office/drawing/2014/main" id="{1255A733-BA81-94FA-1448-17A55E69EA2A}"/>
              </a:ext>
            </a:extLst>
          </p:cNvPr>
          <p:cNvSpPr txBox="1"/>
          <p:nvPr/>
        </p:nvSpPr>
        <p:spPr>
          <a:xfrm>
            <a:off x="590550" y="823931"/>
            <a:ext cx="11601450" cy="514350"/>
          </a:xfrm>
          <a:prstGeom prst="rect">
            <a:avLst/>
          </a:prstGeom>
          <a:noFill/>
        </p:spPr>
        <p:txBody>
          <a:bodyPr wrap="square" lIns="0" tIns="0" rIns="0" bIns="0" anchor="t">
            <a:spAutoFit/>
          </a:bodyPr>
          <a:lstStyle/>
          <a:p>
            <a:pPr algn="l"/>
            <a:r>
              <a:rPr sz="3300" b="1" i="0" u="none" dirty="0">
                <a:solidFill>
                  <a:srgbClr val="2563EB"/>
                </a:solidFill>
                <a:latin typeface="Inter"/>
              </a:rPr>
              <a:t>AI Agent</a:t>
            </a:r>
            <a:r>
              <a:rPr sz="3300" b="1" i="0" u="none" dirty="0">
                <a:solidFill>
                  <a:srgbClr val="0F172A"/>
                </a:solidFill>
                <a:latin typeface="Inter"/>
              </a:rPr>
              <a:t> Architectures</a:t>
            </a:r>
            <a:r>
              <a:rPr lang="en-IN" sz="3300" b="1" i="0" u="none" dirty="0">
                <a:solidFill>
                  <a:srgbClr val="0F172A"/>
                </a:solidFill>
                <a:latin typeface="Inter"/>
              </a:rPr>
              <a:t> (Cont.)</a:t>
            </a:r>
            <a:endParaRPr sz="3300" b="1" i="0" u="none" dirty="0">
              <a:solidFill>
                <a:srgbClr val="0F172A"/>
              </a:solidFill>
              <a:latin typeface="Inter"/>
            </a:endParaRPr>
          </a:p>
        </p:txBody>
      </p:sp>
      <p:sp>
        <p:nvSpPr>
          <p:cNvPr id="93" name="TextBox 92">
            <a:extLst>
              <a:ext uri="{FF2B5EF4-FFF2-40B4-BE49-F238E27FC236}">
                <a16:creationId xmlns:a16="http://schemas.microsoft.com/office/drawing/2014/main" id="{AD54F9D0-DC63-F4AC-87A5-525C869D9E61}"/>
              </a:ext>
            </a:extLst>
          </p:cNvPr>
          <p:cNvSpPr txBox="1"/>
          <p:nvPr/>
        </p:nvSpPr>
        <p:spPr>
          <a:xfrm>
            <a:off x="590550" y="1414481"/>
            <a:ext cx="11049000" cy="228600"/>
          </a:xfrm>
          <a:prstGeom prst="rect">
            <a:avLst/>
          </a:prstGeom>
          <a:noFill/>
        </p:spPr>
        <p:txBody>
          <a:bodyPr wrap="square" lIns="0" tIns="0" rIns="0" bIns="0" anchor="t">
            <a:spAutoFit/>
          </a:bodyPr>
          <a:lstStyle/>
          <a:p>
            <a:pPr algn="l"/>
            <a:r>
              <a:rPr sz="1500" b="0" i="0" u="none" dirty="0">
                <a:solidFill>
                  <a:srgbClr val="64748B"/>
                </a:solidFill>
                <a:latin typeface="Inter"/>
              </a:rPr>
              <a:t>Different patterns for designing agents based on how they reason, act, and collaborate.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C38CB1-F2DC-C3FF-8546-5F2D0ABDBC9B}"/>
            </a:ext>
          </a:extLst>
        </p:cNvPr>
        <p:cNvGrpSpPr/>
        <p:nvPr/>
      </p:nvGrpSpPr>
      <p:grpSpPr>
        <a:xfrm>
          <a:off x="0" y="0"/>
          <a:ext cx="0" cy="0"/>
          <a:chOff x="0" y="0"/>
          <a:chExt cx="0" cy="0"/>
        </a:xfrm>
      </p:grpSpPr>
      <p:pic>
        <p:nvPicPr>
          <p:cNvPr id="95" name="Picture 94" descr="image.png">
            <a:extLst>
              <a:ext uri="{FF2B5EF4-FFF2-40B4-BE49-F238E27FC236}">
                <a16:creationId xmlns:a16="http://schemas.microsoft.com/office/drawing/2014/main" id="{AF866FC8-C03B-B0C0-8C69-333EE42E6659}"/>
              </a:ext>
            </a:extLst>
          </p:cNvPr>
          <p:cNvPicPr>
            <a:picLocks noChangeAspect="1"/>
          </p:cNvPicPr>
          <p:nvPr/>
        </p:nvPicPr>
        <p:blipFill>
          <a:blip r:embed="rId2"/>
          <a:stretch>
            <a:fillRect/>
          </a:stretch>
        </p:blipFill>
        <p:spPr>
          <a:xfrm>
            <a:off x="0" y="0"/>
            <a:ext cx="12192000" cy="6858000"/>
          </a:xfrm>
          <a:prstGeom prst="rect">
            <a:avLst/>
          </a:prstGeom>
        </p:spPr>
      </p:pic>
      <p:sp>
        <p:nvSpPr>
          <p:cNvPr id="91" name="TextBox 90">
            <a:extLst>
              <a:ext uri="{FF2B5EF4-FFF2-40B4-BE49-F238E27FC236}">
                <a16:creationId xmlns:a16="http://schemas.microsoft.com/office/drawing/2014/main" id="{2DCE5F83-2CB1-45A5-111E-D0EAC2575EC7}"/>
              </a:ext>
            </a:extLst>
          </p:cNvPr>
          <p:cNvSpPr txBox="1"/>
          <p:nvPr/>
        </p:nvSpPr>
        <p:spPr>
          <a:xfrm>
            <a:off x="590550" y="823931"/>
            <a:ext cx="11601450" cy="492443"/>
          </a:xfrm>
          <a:prstGeom prst="rect">
            <a:avLst/>
          </a:prstGeom>
          <a:noFill/>
        </p:spPr>
        <p:txBody>
          <a:bodyPr wrap="square" lIns="0" tIns="0" rIns="0" bIns="0" anchor="t">
            <a:spAutoFit/>
          </a:bodyPr>
          <a:lstStyle/>
          <a:p>
            <a:r>
              <a:rPr lang="en-IN" sz="3200" b="1" dirty="0">
                <a:latin typeface="Inter"/>
              </a:rPr>
              <a:t>What is </a:t>
            </a:r>
            <a:r>
              <a:rPr lang="en-IN" sz="3200" b="1" dirty="0">
                <a:solidFill>
                  <a:schemeClr val="tx2"/>
                </a:solidFill>
                <a:latin typeface="Inter"/>
              </a:rPr>
              <a:t>MCP</a:t>
            </a:r>
            <a:r>
              <a:rPr lang="en-IN" sz="3200" b="1" dirty="0">
                <a:latin typeface="Inter"/>
              </a:rPr>
              <a:t> &amp; Why Do We Need It?</a:t>
            </a:r>
            <a:endParaRPr sz="3200" b="1" i="0" u="none" dirty="0">
              <a:solidFill>
                <a:srgbClr val="0F172A"/>
              </a:solidFill>
              <a:latin typeface="Inter"/>
            </a:endParaRPr>
          </a:p>
        </p:txBody>
      </p:sp>
      <p:sp>
        <p:nvSpPr>
          <p:cNvPr id="8" name="TextBox 7">
            <a:extLst>
              <a:ext uri="{FF2B5EF4-FFF2-40B4-BE49-F238E27FC236}">
                <a16:creationId xmlns:a16="http://schemas.microsoft.com/office/drawing/2014/main" id="{EDAC0DA3-50AF-3BEA-5875-3D8006D98DAD}"/>
              </a:ext>
            </a:extLst>
          </p:cNvPr>
          <p:cNvSpPr txBox="1"/>
          <p:nvPr/>
        </p:nvSpPr>
        <p:spPr>
          <a:xfrm>
            <a:off x="590549" y="1562762"/>
            <a:ext cx="10883695" cy="1569660"/>
          </a:xfrm>
          <a:prstGeom prst="rect">
            <a:avLst/>
          </a:prstGeom>
          <a:noFill/>
        </p:spPr>
        <p:txBody>
          <a:bodyPr wrap="square">
            <a:spAutoFit/>
          </a:bodyPr>
          <a:lstStyle/>
          <a:p>
            <a:pPr marL="342900" lvl="0" indent="-342900" algn="just">
              <a:buFont typeface="Arial" panose="020B0604020202020204" pitchFamily="34" charset="0"/>
              <a:buChar char="•"/>
            </a:pPr>
            <a:r>
              <a:rPr lang="en-IN" sz="1600" b="1" dirty="0">
                <a:latin typeface="Inter"/>
              </a:rPr>
              <a:t>The Core Problem: </a:t>
            </a:r>
            <a:r>
              <a:rPr lang="en-IN" sz="1600" dirty="0">
                <a:latin typeface="Inter"/>
              </a:rPr>
              <a:t>LLM knowledge is frozen at training time &amp; LLMs Agents cannot inherently interact with the outside world (real-time data, business systems, APIs).</a:t>
            </a:r>
          </a:p>
          <a:p>
            <a:pPr marL="742950" lvl="1" indent="-285750" algn="just">
              <a:buFont typeface="Arial" panose="020B0604020202020204" pitchFamily="34" charset="0"/>
              <a:buChar char="•"/>
            </a:pPr>
            <a:endParaRPr lang="en-IN" sz="1600" dirty="0">
              <a:latin typeface="Inter"/>
            </a:endParaRPr>
          </a:p>
          <a:p>
            <a:pPr marL="342900" lvl="0" indent="-342900" algn="just">
              <a:buFont typeface="Arial" panose="020B0604020202020204" pitchFamily="34" charset="0"/>
              <a:buChar char="•"/>
            </a:pPr>
            <a:r>
              <a:rPr lang="en-IN" sz="1600" b="1" dirty="0">
                <a:latin typeface="Inter"/>
              </a:rPr>
              <a:t>The Solution (MCP): </a:t>
            </a:r>
            <a:r>
              <a:rPr lang="en-IN" sz="1600" b="0" i="0" dirty="0">
                <a:solidFill>
                  <a:srgbClr val="141413"/>
                </a:solidFill>
                <a:effectLst/>
                <a:latin typeface="anthropicSerif"/>
              </a:rPr>
              <a:t>The Model Context Protocol is an open standard that enables developers to build secure, two-way connections between their data sources and AI-powered tools. The architecture is straightforward: developers can either expose their data through MCP servers or build AI applications (MCP clients) that connect to these servers [18]</a:t>
            </a:r>
            <a:endParaRPr lang="en-IN" sz="1600" dirty="0">
              <a:latin typeface="Inter"/>
            </a:endParaRPr>
          </a:p>
        </p:txBody>
      </p:sp>
      <p:pic>
        <p:nvPicPr>
          <p:cNvPr id="13" name="Picture 12">
            <a:extLst>
              <a:ext uri="{FF2B5EF4-FFF2-40B4-BE49-F238E27FC236}">
                <a16:creationId xmlns:a16="http://schemas.microsoft.com/office/drawing/2014/main" id="{999419FE-6B10-AC78-0010-489451A79B74}"/>
              </a:ext>
            </a:extLst>
          </p:cNvPr>
          <p:cNvPicPr>
            <a:picLocks noChangeAspect="1"/>
          </p:cNvPicPr>
          <p:nvPr/>
        </p:nvPicPr>
        <p:blipFill>
          <a:blip r:embed="rId3">
            <a:duotone>
              <a:schemeClr val="accent1">
                <a:shade val="45000"/>
                <a:satMod val="135000"/>
              </a:schemeClr>
              <a:prstClr val="white"/>
            </a:duotone>
            <a:extLst>
              <a:ext uri="{BEBA8EAE-BF5A-486C-A8C5-ECC9F3942E4B}">
                <a14:imgProps xmlns:a14="http://schemas.microsoft.com/office/drawing/2010/main">
                  <a14:imgLayer r:embed="rId4">
                    <a14:imgEffect>
                      <a14:saturation sat="0"/>
                    </a14:imgEffect>
                  </a14:imgLayer>
                </a14:imgProps>
              </a:ext>
            </a:extLst>
          </a:blip>
          <a:srcRect l="3553" t="11044" r="5608" b="6106"/>
          <a:stretch>
            <a:fillRect/>
          </a:stretch>
        </p:blipFill>
        <p:spPr>
          <a:xfrm>
            <a:off x="5820696" y="3244925"/>
            <a:ext cx="5653548" cy="2900517"/>
          </a:xfrm>
          <a:prstGeom prst="rect">
            <a:avLst/>
          </a:prstGeom>
        </p:spPr>
      </p:pic>
      <p:sp>
        <p:nvSpPr>
          <p:cNvPr id="23" name="TextBox 22">
            <a:extLst>
              <a:ext uri="{FF2B5EF4-FFF2-40B4-BE49-F238E27FC236}">
                <a16:creationId xmlns:a16="http://schemas.microsoft.com/office/drawing/2014/main" id="{0BC9DE60-7B50-BC23-D50B-C51A44B7737A}"/>
              </a:ext>
            </a:extLst>
          </p:cNvPr>
          <p:cNvSpPr txBox="1"/>
          <p:nvPr/>
        </p:nvSpPr>
        <p:spPr>
          <a:xfrm>
            <a:off x="518651" y="3351035"/>
            <a:ext cx="5085735" cy="2369880"/>
          </a:xfrm>
          <a:prstGeom prst="rect">
            <a:avLst/>
          </a:prstGeom>
          <a:noFill/>
        </p:spPr>
        <p:txBody>
          <a:bodyPr wrap="square">
            <a:spAutoFit/>
          </a:bodyPr>
          <a:lstStyle/>
          <a:p>
            <a:pPr lvl="0" algn="just">
              <a:spcAft>
                <a:spcPts val="600"/>
              </a:spcAft>
            </a:pPr>
            <a:r>
              <a:rPr lang="en-IN" sz="1600" dirty="0">
                <a:latin typeface="Inter"/>
              </a:rPr>
              <a:t>Here is a simplified look at how MCP would handle this:</a:t>
            </a:r>
          </a:p>
          <a:p>
            <a:pPr lvl="0" algn="just">
              <a:spcAft>
                <a:spcPts val="600"/>
              </a:spcAft>
            </a:pPr>
            <a:r>
              <a:rPr lang="en-IN" sz="1600" b="1" dirty="0"/>
              <a:t>1. Discover Tools:</a:t>
            </a:r>
            <a:r>
              <a:rPr lang="en-IN" sz="1600" dirty="0"/>
              <a:t> AI realizes it needs external help and finds the database and email tools registered on MCP.</a:t>
            </a:r>
          </a:p>
          <a:p>
            <a:pPr lvl="0" algn="just">
              <a:spcAft>
                <a:spcPts val="600"/>
              </a:spcAft>
            </a:pPr>
            <a:r>
              <a:rPr lang="en-IN" sz="1600" b="1" dirty="0"/>
              <a:t>2. Fetch Data:</a:t>
            </a:r>
            <a:r>
              <a:rPr lang="en-IN" sz="1600" dirty="0"/>
              <a:t> AI requests the sales report via MCP; the database server fetches and returns the report.</a:t>
            </a:r>
          </a:p>
          <a:p>
            <a:pPr lvl="0" algn="just">
              <a:spcAft>
                <a:spcPts val="600"/>
              </a:spcAft>
            </a:pPr>
            <a:r>
              <a:rPr lang="en-IN" sz="1600" b="1" dirty="0"/>
              <a:t>3. Send Email:</a:t>
            </a:r>
            <a:r>
              <a:rPr lang="en-IN" sz="1600" dirty="0"/>
              <a:t> AI hands the report to the email tool, which sends it to the manager.</a:t>
            </a:r>
          </a:p>
          <a:p>
            <a:pPr lvl="0" algn="just">
              <a:spcAft>
                <a:spcPts val="600"/>
              </a:spcAft>
            </a:pPr>
            <a:r>
              <a:rPr lang="en-IN" sz="1600" b="1" dirty="0"/>
              <a:t>4. Confirm:</a:t>
            </a:r>
            <a:r>
              <a:rPr lang="en-IN" sz="1600" dirty="0"/>
              <a:t> AI tells you the task is finished. [18]</a:t>
            </a:r>
          </a:p>
        </p:txBody>
      </p:sp>
    </p:spTree>
    <p:extLst>
      <p:ext uri="{BB962C8B-B14F-4D97-AF65-F5344CB8AC3E}">
        <p14:creationId xmlns:p14="http://schemas.microsoft.com/office/powerpoint/2010/main" val="26077854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5" name="Picture 4"/>
          <p:cNvPicPr>
            <a:picLocks noChangeAspect="1"/>
          </p:cNvPicPr>
          <p:nvPr/>
        </p:nvPicPr>
        <p:blipFill>
          <a:blip r:embed="rId3">
            <a:duotone>
              <a:schemeClr val="accent1">
                <a:shade val="45000"/>
                <a:satMod val="135000"/>
              </a:schemeClr>
              <a:prstClr val="white"/>
            </a:duotone>
          </a:blip>
          <a:srcRect/>
          <a:stretch/>
        </p:blipFill>
        <p:spPr>
          <a:xfrm>
            <a:off x="1190539" y="1710841"/>
            <a:ext cx="9013639" cy="2659025"/>
          </a:xfrm>
          <a:prstGeom prst="rect">
            <a:avLst/>
          </a:prstGeom>
        </p:spPr>
      </p:pic>
      <p:sp>
        <p:nvSpPr>
          <p:cNvPr id="3" name="TextBox 2"/>
          <p:cNvSpPr txBox="1"/>
          <p:nvPr/>
        </p:nvSpPr>
        <p:spPr>
          <a:xfrm>
            <a:off x="615591" y="1317946"/>
            <a:ext cx="10848822" cy="492443"/>
          </a:xfrm>
          <a:prstGeom prst="rect">
            <a:avLst/>
          </a:prstGeom>
          <a:noFill/>
        </p:spPr>
        <p:txBody>
          <a:bodyPr wrap="square" lIns="0" tIns="0" rIns="0" bIns="0" anchor="t">
            <a:spAutoFit/>
          </a:bodyPr>
          <a:lstStyle/>
          <a:p>
            <a:pPr algn="just">
              <a:defRPr sz="2000"/>
            </a:pPr>
            <a:r>
              <a:rPr lang="en-US" sz="1600" dirty="0">
                <a:latin typeface="Inter"/>
              </a:rPr>
              <a:t>The Traditional Software Development Life Cycle (SDLC) is the structured framework that engineering teams follow to plan, design, build, test, and deploy software applications from initial concept. </a:t>
            </a:r>
          </a:p>
        </p:txBody>
      </p:sp>
      <p:sp>
        <p:nvSpPr>
          <p:cNvPr id="14" name="TextBox 13"/>
          <p:cNvSpPr txBox="1"/>
          <p:nvPr/>
        </p:nvSpPr>
        <p:spPr>
          <a:xfrm>
            <a:off x="571500" y="542032"/>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The </a:t>
            </a:r>
            <a:r>
              <a:rPr sz="3300" b="1" i="0" u="none" dirty="0">
                <a:solidFill>
                  <a:srgbClr val="2563EB"/>
                </a:solidFill>
                <a:latin typeface="Inter"/>
              </a:rPr>
              <a:t>Traditional SDLC</a:t>
            </a:r>
          </a:p>
        </p:txBody>
      </p:sp>
      <p:sp>
        <p:nvSpPr>
          <p:cNvPr id="16" name="TextBox 15">
            <a:extLst>
              <a:ext uri="{FF2B5EF4-FFF2-40B4-BE49-F238E27FC236}">
                <a16:creationId xmlns:a16="http://schemas.microsoft.com/office/drawing/2014/main" id="{0F3CF981-F4E7-6250-EC53-D95CA12BD3A0}"/>
              </a:ext>
            </a:extLst>
          </p:cNvPr>
          <p:cNvSpPr txBox="1"/>
          <p:nvPr/>
        </p:nvSpPr>
        <p:spPr>
          <a:xfrm>
            <a:off x="671589" y="4270318"/>
            <a:ext cx="10848822" cy="1723549"/>
          </a:xfrm>
          <a:prstGeom prst="rect">
            <a:avLst/>
          </a:prstGeom>
          <a:noFill/>
        </p:spPr>
        <p:txBody>
          <a:bodyPr wrap="square" lIns="0" tIns="0" rIns="0" bIns="0" anchor="t">
            <a:spAutoFit/>
          </a:bodyPr>
          <a:lstStyle/>
          <a:p>
            <a:pPr algn="just">
              <a:defRPr sz="2000"/>
            </a:pPr>
            <a:r>
              <a:rPr lang="en-IN" sz="1600" dirty="0">
                <a:latin typeface="Inter"/>
              </a:rPr>
              <a:t>This Manual SDLC execution creates severe friction—engineers waste most of their time on administrative handoffs, environment setups, regression testing, and ticketing overhead instead of writing core logic.[5]</a:t>
            </a:r>
          </a:p>
          <a:p>
            <a:pPr algn="just">
              <a:defRPr sz="2000"/>
            </a:pPr>
            <a:endParaRPr lang="en-IN" sz="1600" b="1" dirty="0">
              <a:latin typeface="Inter"/>
            </a:endParaRPr>
          </a:p>
          <a:p>
            <a:pPr algn="just">
              <a:defRPr sz="2000"/>
            </a:pPr>
            <a:r>
              <a:rPr lang="en-US" sz="1600" b="1" dirty="0">
                <a:solidFill>
                  <a:schemeClr val="accent1">
                    <a:lumMod val="50000"/>
                  </a:schemeClr>
                </a:solidFill>
                <a:latin typeface="Inter"/>
              </a:rPr>
              <a:t>So, Our Aim is to automate the Traditional SDLC </a:t>
            </a:r>
            <a:r>
              <a:rPr lang="en-IN" sz="1600" b="1" dirty="0">
                <a:solidFill>
                  <a:schemeClr val="accent1">
                    <a:lumMod val="50000"/>
                  </a:schemeClr>
                </a:solidFill>
                <a:latin typeface="Inter"/>
              </a:rPr>
              <a:t>with Agentic AI, </a:t>
            </a:r>
            <a:r>
              <a:rPr lang="en-IN" sz="1600" dirty="0">
                <a:latin typeface="Inter"/>
              </a:rPr>
              <a:t>which will replaces these static bottlenecks with continuous, self-healing pipelines that autonomously execute tests, patch build failures, flag vulnerabilities, and manage releases. This </a:t>
            </a:r>
            <a:r>
              <a:rPr lang="en-IN" sz="1600" b="1" dirty="0">
                <a:latin typeface="Inter"/>
              </a:rPr>
              <a:t>eliminates human error, compresses cycle times from months to hours, and frees development teams to focus on high-value architecture and innovation.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71500" y="1345261"/>
            <a:ext cx="11049000" cy="246221"/>
          </a:xfrm>
          <a:prstGeom prst="rect">
            <a:avLst/>
          </a:prstGeom>
          <a:noFill/>
        </p:spPr>
        <p:txBody>
          <a:bodyPr wrap="square" lIns="0" tIns="0" rIns="0" bIns="0" anchor="t">
            <a:spAutoFit/>
          </a:bodyPr>
          <a:lstStyle/>
          <a:p>
            <a:r>
              <a:rPr lang="en-IN" sz="1600" dirty="0">
                <a:latin typeface="Inter"/>
              </a:rPr>
              <a:t>Strategic Comparison: Conversational AI vs. Agentic Systems. [16]</a:t>
            </a:r>
          </a:p>
        </p:txBody>
      </p:sp>
      <p:sp>
        <p:nvSpPr>
          <p:cNvPr id="18" name="TextBox 17"/>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Beyond Code Generation: </a:t>
            </a:r>
            <a:r>
              <a:rPr sz="3300" b="1" i="0" u="none">
                <a:solidFill>
                  <a:srgbClr val="2563EB"/>
                </a:solidFill>
                <a:latin typeface="Inter"/>
              </a:rPr>
              <a:t>Agentic AI</a:t>
            </a:r>
          </a:p>
        </p:txBody>
      </p:sp>
      <p:graphicFrame>
        <p:nvGraphicFramePr>
          <p:cNvPr id="19" name="Table 18">
            <a:extLst>
              <a:ext uri="{FF2B5EF4-FFF2-40B4-BE49-F238E27FC236}">
                <a16:creationId xmlns:a16="http://schemas.microsoft.com/office/drawing/2014/main" id="{226701E0-FE1F-0F22-1716-F170B9E7BAE6}"/>
              </a:ext>
            </a:extLst>
          </p:cNvPr>
          <p:cNvGraphicFramePr>
            <a:graphicFrameLocks noGrp="1"/>
          </p:cNvGraphicFramePr>
          <p:nvPr>
            <p:extLst>
              <p:ext uri="{D42A27DB-BD31-4B8C-83A1-F6EECF244321}">
                <p14:modId xmlns:p14="http://schemas.microsoft.com/office/powerpoint/2010/main" val="2548293458"/>
              </p:ext>
            </p:extLst>
          </p:nvPr>
        </p:nvGraphicFramePr>
        <p:xfrm>
          <a:off x="571500" y="1850893"/>
          <a:ext cx="10725765" cy="4389499"/>
        </p:xfrm>
        <a:graphic>
          <a:graphicData uri="http://schemas.openxmlformats.org/drawingml/2006/table">
            <a:tbl>
              <a:tblPr/>
              <a:tblGrid>
                <a:gridCol w="2206728">
                  <a:extLst>
                    <a:ext uri="{9D8B030D-6E8A-4147-A177-3AD203B41FA5}">
                      <a16:colId xmlns:a16="http://schemas.microsoft.com/office/drawing/2014/main" val="548054962"/>
                    </a:ext>
                  </a:extLst>
                </a:gridCol>
                <a:gridCol w="4159045">
                  <a:extLst>
                    <a:ext uri="{9D8B030D-6E8A-4147-A177-3AD203B41FA5}">
                      <a16:colId xmlns:a16="http://schemas.microsoft.com/office/drawing/2014/main" val="2835113304"/>
                    </a:ext>
                  </a:extLst>
                </a:gridCol>
                <a:gridCol w="4359992">
                  <a:extLst>
                    <a:ext uri="{9D8B030D-6E8A-4147-A177-3AD203B41FA5}">
                      <a16:colId xmlns:a16="http://schemas.microsoft.com/office/drawing/2014/main" val="3679024693"/>
                    </a:ext>
                  </a:extLst>
                </a:gridCol>
              </a:tblGrid>
              <a:tr h="681523">
                <a:tc>
                  <a:txBody>
                    <a:bodyPr/>
                    <a:lstStyle/>
                    <a:p>
                      <a:pPr marL="0" marR="0" rtl="0">
                        <a:spcAft>
                          <a:spcPts val="2400"/>
                        </a:spcAft>
                        <a:buNone/>
                      </a:pPr>
                      <a:r>
                        <a:rPr lang="en-IN" sz="1300" b="1">
                          <a:solidFill>
                            <a:srgbClr val="1F1F1F"/>
                          </a:solidFill>
                          <a:effectLst/>
                          <a:latin typeface="Google Sans Text"/>
                        </a:rPr>
                        <a:t>Feature / Aspect</a:t>
                      </a:r>
                      <a:endParaRPr lang="en-IN" sz="130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accent1">
                        <a:lumMod val="40000"/>
                        <a:lumOff val="60000"/>
                      </a:schemeClr>
                    </a:solidFill>
                  </a:tcPr>
                </a:tc>
                <a:tc>
                  <a:txBody>
                    <a:bodyPr/>
                    <a:lstStyle/>
                    <a:p>
                      <a:pPr marL="0" marR="0" rtl="0">
                        <a:spcAft>
                          <a:spcPts val="2400"/>
                        </a:spcAft>
                        <a:buNone/>
                      </a:pPr>
                      <a:r>
                        <a:rPr lang="en-IN" sz="1300" b="1" dirty="0">
                          <a:solidFill>
                            <a:srgbClr val="1F1F1F"/>
                          </a:solidFill>
                          <a:effectLst/>
                          <a:latin typeface="Google Sans Text"/>
                        </a:rPr>
                        <a:t>AI Chatbot</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accent1">
                        <a:lumMod val="40000"/>
                        <a:lumOff val="60000"/>
                      </a:schemeClr>
                    </a:solidFill>
                  </a:tcPr>
                </a:tc>
                <a:tc>
                  <a:txBody>
                    <a:bodyPr/>
                    <a:lstStyle/>
                    <a:p>
                      <a:pPr marL="0" marR="0" rtl="0">
                        <a:spcAft>
                          <a:spcPts val="2400"/>
                        </a:spcAft>
                        <a:buNone/>
                      </a:pPr>
                      <a:r>
                        <a:rPr lang="en-IN" sz="1300" b="1" dirty="0">
                          <a:solidFill>
                            <a:srgbClr val="1F1F1F"/>
                          </a:solidFill>
                          <a:effectLst/>
                          <a:latin typeface="Google Sans Text"/>
                        </a:rPr>
                        <a:t>AI Agent</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accent1">
                        <a:lumMod val="40000"/>
                        <a:lumOff val="60000"/>
                      </a:schemeClr>
                    </a:solidFill>
                  </a:tcPr>
                </a:tc>
                <a:extLst>
                  <a:ext uri="{0D108BD9-81ED-4DB2-BD59-A6C34878D82A}">
                    <a16:rowId xmlns:a16="http://schemas.microsoft.com/office/drawing/2014/main" val="3694589098"/>
                  </a:ext>
                </a:extLst>
              </a:tr>
              <a:tr h="759792">
                <a:tc>
                  <a:txBody>
                    <a:bodyPr/>
                    <a:lstStyle/>
                    <a:p>
                      <a:pPr marL="0" marR="0" rtl="0">
                        <a:spcAft>
                          <a:spcPts val="2400"/>
                        </a:spcAft>
                        <a:buNone/>
                      </a:pPr>
                      <a:r>
                        <a:rPr lang="en-IN" sz="1300" b="1" dirty="0">
                          <a:solidFill>
                            <a:srgbClr val="1F1F1F"/>
                          </a:solidFill>
                          <a:effectLst/>
                          <a:latin typeface="Google Sans Text"/>
                        </a:rPr>
                        <a:t>Primary Function</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Simulates conversation, often using rule-based or scripted responses to assist with simple Q&amp;A.</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a:solidFill>
                            <a:srgbClr val="1F1F1F"/>
                          </a:solidFill>
                          <a:effectLst/>
                          <a:latin typeface="Google Sans Text"/>
                        </a:rPr>
                        <a:t>Autonomous, goal-driven, and capable of reasoning to assist with multi-step tasks.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660938711"/>
                  </a:ext>
                </a:extLst>
              </a:tr>
              <a:tr h="588839">
                <a:tc>
                  <a:txBody>
                    <a:bodyPr/>
                    <a:lstStyle/>
                    <a:p>
                      <a:pPr marL="0" marR="0" rtl="0">
                        <a:spcAft>
                          <a:spcPts val="2400"/>
                        </a:spcAft>
                        <a:buNone/>
                      </a:pPr>
                      <a:r>
                        <a:rPr lang="en-IN" sz="1300" b="1" dirty="0">
                          <a:solidFill>
                            <a:srgbClr val="1F1F1F"/>
                          </a:solidFill>
                          <a:effectLst/>
                          <a:latin typeface="Google Sans Text"/>
                        </a:rPr>
                        <a:t>Personalization</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Minimal personalization.</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a:solidFill>
                            <a:srgbClr val="1F1F1F"/>
                          </a:solidFill>
                          <a:effectLst/>
                          <a:latin typeface="Google Sans Text"/>
                        </a:rPr>
                        <a:t>High personalization; adapts to user preferences over time.</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901382355"/>
                  </a:ext>
                </a:extLst>
              </a:tr>
              <a:tr h="421875">
                <a:tc>
                  <a:txBody>
                    <a:bodyPr/>
                    <a:lstStyle/>
                    <a:p>
                      <a:pPr marL="0" marR="0" rtl="0">
                        <a:spcAft>
                          <a:spcPts val="2400"/>
                        </a:spcAft>
                        <a:buNone/>
                      </a:pPr>
                      <a:r>
                        <a:rPr lang="en-IN" sz="1300" b="1" dirty="0">
                          <a:solidFill>
                            <a:srgbClr val="1F1F1F"/>
                          </a:solidFill>
                          <a:effectLst/>
                          <a:latin typeface="Google Sans Text"/>
                        </a:rPr>
                        <a:t>Learning Ability</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Limited learning ability.</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a:solidFill>
                            <a:srgbClr val="1F1F1F"/>
                          </a:solidFill>
                          <a:effectLst/>
                          <a:latin typeface="Google Sans Text"/>
                        </a:rPr>
                        <a:t>Learns from user behavior and ongoing interactions.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473730578"/>
                  </a:ext>
                </a:extLst>
              </a:tr>
              <a:tr h="588839">
                <a:tc>
                  <a:txBody>
                    <a:bodyPr/>
                    <a:lstStyle/>
                    <a:p>
                      <a:pPr marL="0" marR="0" rtl="0">
                        <a:spcAft>
                          <a:spcPts val="2400"/>
                        </a:spcAft>
                        <a:buNone/>
                      </a:pPr>
                      <a:r>
                        <a:rPr lang="en-IN" sz="1300" b="1" dirty="0">
                          <a:solidFill>
                            <a:srgbClr val="1F1F1F"/>
                          </a:solidFill>
                          <a:effectLst/>
                          <a:latin typeface="Google Sans Text"/>
                        </a:rPr>
                        <a:t>Context Awareness</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Low context awareness; struggles with complex tasks and context shifts.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a:solidFill>
                            <a:srgbClr val="1F1F1F"/>
                          </a:solidFill>
                          <a:effectLst/>
                          <a:latin typeface="Google Sans Text"/>
                        </a:rPr>
                        <a:t>High context awareness; handles complex, multi-step execution.</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71654783"/>
                  </a:ext>
                </a:extLst>
              </a:tr>
              <a:tr h="588839">
                <a:tc>
                  <a:txBody>
                    <a:bodyPr/>
                    <a:lstStyle/>
                    <a:p>
                      <a:pPr marL="0" marR="0" rtl="0">
                        <a:spcAft>
                          <a:spcPts val="2400"/>
                        </a:spcAft>
                        <a:buNone/>
                      </a:pPr>
                      <a:r>
                        <a:rPr lang="en-IN" sz="1300" b="1" dirty="0">
                          <a:solidFill>
                            <a:srgbClr val="1F1F1F"/>
                          </a:solidFill>
                          <a:effectLst/>
                          <a:latin typeface="Google Sans Text"/>
                        </a:rPr>
                        <a:t>Operation Style</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Provides passive, conversational assistance.</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a:solidFill>
                            <a:srgbClr val="1F1F1F"/>
                          </a:solidFill>
                          <a:effectLst/>
                          <a:latin typeface="Google Sans Text"/>
                        </a:rPr>
                        <a:t>Provides proactive support to plan, create, and execute tasks.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310428918"/>
                  </a:ext>
                </a:extLst>
              </a:tr>
              <a:tr h="759792">
                <a:tc>
                  <a:txBody>
                    <a:bodyPr/>
                    <a:lstStyle/>
                    <a:p>
                      <a:pPr marL="0" marR="0" rtl="0">
                        <a:spcAft>
                          <a:spcPts val="2400"/>
                        </a:spcAft>
                        <a:buNone/>
                      </a:pPr>
                      <a:r>
                        <a:rPr lang="en-IN" sz="1300" b="1" dirty="0">
                          <a:solidFill>
                            <a:srgbClr val="1F1F1F"/>
                          </a:solidFill>
                          <a:effectLst/>
                          <a:latin typeface="Google Sans Text"/>
                        </a:rPr>
                        <a:t>Best Used For</a:t>
                      </a:r>
                      <a:endParaRPr lang="en-IN" sz="1300" dirty="0">
                        <a:solidFill>
                          <a:srgbClr val="1F1F1F"/>
                        </a:solidFill>
                        <a:effectLst/>
                        <a:latin typeface="Google Sans Text"/>
                      </a:endParaRP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rtl="0">
                        <a:spcAft>
                          <a:spcPts val="2400"/>
                        </a:spcAft>
                        <a:buNone/>
                      </a:pPr>
                      <a:r>
                        <a:rPr lang="en-IN" sz="1300">
                          <a:solidFill>
                            <a:srgbClr val="1F1F1F"/>
                          </a:solidFill>
                          <a:effectLst/>
                          <a:latin typeface="Google Sans Text"/>
                        </a:rPr>
                        <a:t>Quick answers and basic customer service queries.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spcAft>
                          <a:spcPts val="2400"/>
                        </a:spcAft>
                        <a:buNone/>
                      </a:pPr>
                      <a:r>
                        <a:rPr lang="en-IN" sz="1300" dirty="0">
                          <a:solidFill>
                            <a:srgbClr val="1F1F1F"/>
                          </a:solidFill>
                          <a:effectLst/>
                          <a:latin typeface="Google Sans Text"/>
                        </a:rPr>
                        <a:t>Complex problem-solving, everyday planning, and managing continuous tasks.</a:t>
                      </a:r>
                    </a:p>
                  </a:txBody>
                  <a:tcPr marL="65278" marR="65278" marT="43519" marB="4351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784412648"/>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18" name="TextBox 17"/>
          <p:cNvSpPr txBox="1"/>
          <p:nvPr/>
        </p:nvSpPr>
        <p:spPr>
          <a:xfrm>
            <a:off x="571500" y="37572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Agentic </a:t>
            </a:r>
            <a:r>
              <a:rPr sz="3300" b="1" i="0" u="none" dirty="0">
                <a:solidFill>
                  <a:srgbClr val="2563EB"/>
                </a:solidFill>
                <a:latin typeface="Inter"/>
              </a:rPr>
              <a:t>Frameworks</a:t>
            </a:r>
          </a:p>
        </p:txBody>
      </p:sp>
      <p:graphicFrame>
        <p:nvGraphicFramePr>
          <p:cNvPr id="19" name="Table 18">
            <a:extLst>
              <a:ext uri="{FF2B5EF4-FFF2-40B4-BE49-F238E27FC236}">
                <a16:creationId xmlns:a16="http://schemas.microsoft.com/office/drawing/2014/main" id="{129F9555-D699-C3C4-1F84-8A79F8D652AC}"/>
              </a:ext>
            </a:extLst>
          </p:cNvPr>
          <p:cNvGraphicFramePr>
            <a:graphicFrameLocks noGrp="1"/>
          </p:cNvGraphicFramePr>
          <p:nvPr>
            <p:extLst>
              <p:ext uri="{D42A27DB-BD31-4B8C-83A1-F6EECF244321}">
                <p14:modId xmlns:p14="http://schemas.microsoft.com/office/powerpoint/2010/main" val="1088228415"/>
              </p:ext>
            </p:extLst>
          </p:nvPr>
        </p:nvGraphicFramePr>
        <p:xfrm>
          <a:off x="571500" y="1063176"/>
          <a:ext cx="10951908" cy="5419104"/>
        </p:xfrm>
        <a:graphic>
          <a:graphicData uri="http://schemas.openxmlformats.org/drawingml/2006/table">
            <a:tbl>
              <a:tblPr/>
              <a:tblGrid>
                <a:gridCol w="1825318">
                  <a:extLst>
                    <a:ext uri="{9D8B030D-6E8A-4147-A177-3AD203B41FA5}">
                      <a16:colId xmlns:a16="http://schemas.microsoft.com/office/drawing/2014/main" val="3296468212"/>
                    </a:ext>
                  </a:extLst>
                </a:gridCol>
                <a:gridCol w="1825318">
                  <a:extLst>
                    <a:ext uri="{9D8B030D-6E8A-4147-A177-3AD203B41FA5}">
                      <a16:colId xmlns:a16="http://schemas.microsoft.com/office/drawing/2014/main" val="2433383122"/>
                    </a:ext>
                  </a:extLst>
                </a:gridCol>
                <a:gridCol w="1825318">
                  <a:extLst>
                    <a:ext uri="{9D8B030D-6E8A-4147-A177-3AD203B41FA5}">
                      <a16:colId xmlns:a16="http://schemas.microsoft.com/office/drawing/2014/main" val="3440802060"/>
                    </a:ext>
                  </a:extLst>
                </a:gridCol>
                <a:gridCol w="1749527">
                  <a:extLst>
                    <a:ext uri="{9D8B030D-6E8A-4147-A177-3AD203B41FA5}">
                      <a16:colId xmlns:a16="http://schemas.microsoft.com/office/drawing/2014/main" val="313064993"/>
                    </a:ext>
                  </a:extLst>
                </a:gridCol>
                <a:gridCol w="1901109">
                  <a:extLst>
                    <a:ext uri="{9D8B030D-6E8A-4147-A177-3AD203B41FA5}">
                      <a16:colId xmlns:a16="http://schemas.microsoft.com/office/drawing/2014/main" val="1155137944"/>
                    </a:ext>
                  </a:extLst>
                </a:gridCol>
                <a:gridCol w="1825318">
                  <a:extLst>
                    <a:ext uri="{9D8B030D-6E8A-4147-A177-3AD203B41FA5}">
                      <a16:colId xmlns:a16="http://schemas.microsoft.com/office/drawing/2014/main" val="2842996800"/>
                    </a:ext>
                  </a:extLst>
                </a:gridCol>
              </a:tblGrid>
              <a:tr h="468216">
                <a:tc>
                  <a:txBody>
                    <a:bodyPr/>
                    <a:lstStyle/>
                    <a:p>
                      <a:pPr marL="0" marR="0" algn="ctr" rtl="0">
                        <a:spcAft>
                          <a:spcPts val="2400"/>
                        </a:spcAft>
                        <a:buNone/>
                      </a:pPr>
                      <a:r>
                        <a:rPr lang="en-IN" sz="1500" b="1" dirty="0">
                          <a:solidFill>
                            <a:srgbClr val="1F1F1F"/>
                          </a:solidFill>
                          <a:effectLst/>
                          <a:latin typeface="Inter"/>
                        </a:rPr>
                        <a:t>Framework</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Execution Model</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Core Strengths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Key Limitations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Ideal Use Cases</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spcAft>
                          <a:spcPts val="2400"/>
                        </a:spcAft>
                        <a:buNone/>
                      </a:pPr>
                      <a:r>
                        <a:rPr lang="en-IN" sz="1500" b="1" dirty="0">
                          <a:solidFill>
                            <a:srgbClr val="1F1F1F"/>
                          </a:solidFill>
                          <a:effectLst/>
                          <a:latin typeface="Inter"/>
                        </a:rPr>
                        <a:t>Offline / Local Capability</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936376244"/>
                  </a:ext>
                </a:extLst>
              </a:tr>
              <a:tr h="1123048">
                <a:tc>
                  <a:txBody>
                    <a:bodyPr/>
                    <a:lstStyle/>
                    <a:p>
                      <a:pPr marL="0" marR="0" algn="ctr" rtl="0">
                        <a:spcAft>
                          <a:spcPts val="2400"/>
                        </a:spcAft>
                        <a:buNone/>
                      </a:pPr>
                      <a:r>
                        <a:rPr lang="en-IN" sz="1500" b="1" dirty="0" err="1">
                          <a:solidFill>
                            <a:srgbClr val="1F1F1F"/>
                          </a:solidFill>
                          <a:effectLst/>
                          <a:latin typeface="Inter"/>
                        </a:rPr>
                        <a:t>LangChain</a:t>
                      </a:r>
                      <a:r>
                        <a:rPr lang="en-IN" sz="1500" b="1" dirty="0">
                          <a:solidFill>
                            <a:srgbClr val="1F1F1F"/>
                          </a:solidFill>
                          <a:effectLst/>
                          <a:latin typeface="Inter"/>
                        </a:rPr>
                        <a:t> [7]</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Chained Prompting &amp; Tools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Rich toolset, extensive RAG ecosystem, vast API integrations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Workflow complexity at scale, abstractions can hide errors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General LLM applications, retrieval-augmented generation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Excellent:</a:t>
                      </a:r>
                      <a:r>
                        <a:rPr lang="en-IN" sz="1400" dirty="0">
                          <a:solidFill>
                            <a:srgbClr val="1F1F1F"/>
                          </a:solidFill>
                          <a:effectLst/>
                          <a:latin typeface="Inter"/>
                        </a:rPr>
                        <a:t> Natively connects to local LLMs (</a:t>
                      </a:r>
                      <a:r>
                        <a:rPr lang="en-IN" sz="1400" dirty="0" err="1">
                          <a:solidFill>
                            <a:srgbClr val="1F1F1F"/>
                          </a:solidFill>
                          <a:effectLst/>
                          <a:latin typeface="Inter"/>
                        </a:rPr>
                        <a:t>Ollama</a:t>
                      </a:r>
                      <a:r>
                        <a:rPr lang="en-IN" sz="1400" dirty="0">
                          <a:solidFill>
                            <a:srgbClr val="1F1F1F"/>
                          </a:solidFill>
                          <a:effectLst/>
                          <a:latin typeface="Inter"/>
                        </a:rPr>
                        <a:t>, Llama.cpp) and local vector stores (Chroma).</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733084250"/>
                  </a:ext>
                </a:extLst>
              </a:tr>
              <a:tr h="1123048">
                <a:tc>
                  <a:txBody>
                    <a:bodyPr/>
                    <a:lstStyle/>
                    <a:p>
                      <a:pPr marL="0" marR="0" algn="ctr" rtl="0">
                        <a:spcAft>
                          <a:spcPts val="2400"/>
                        </a:spcAft>
                        <a:buNone/>
                      </a:pPr>
                      <a:r>
                        <a:rPr lang="en-IN" sz="1500" b="1" dirty="0" err="1">
                          <a:solidFill>
                            <a:srgbClr val="1F1F1F"/>
                          </a:solidFill>
                          <a:effectLst/>
                          <a:latin typeface="Inter"/>
                        </a:rPr>
                        <a:t>LangGraph</a:t>
                      </a:r>
                      <a:r>
                        <a:rPr lang="en-IN" sz="1500" b="1" dirty="0">
                          <a:solidFill>
                            <a:srgbClr val="1F1F1F"/>
                          </a:solidFill>
                          <a:effectLst/>
                          <a:latin typeface="Inter"/>
                        </a:rPr>
                        <a:t> [8]</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Stateful Graph Orchestration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Cycles and loops, robust state persistence, time-travel debugging</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Steeper learning curve, excessive setup for simple tasks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Production-grade multi-agent systems, human-in-the-loop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a:solidFill>
                            <a:srgbClr val="1F1F1F"/>
                          </a:solidFill>
                          <a:effectLst/>
                          <a:latin typeface="Inter"/>
                        </a:rPr>
                        <a:t>Excellent:</a:t>
                      </a:r>
                      <a:r>
                        <a:rPr lang="en-IN" sz="1400">
                          <a:solidFill>
                            <a:srgbClr val="1F1F1F"/>
                          </a:solidFill>
                          <a:effectLst/>
                          <a:latin typeface="Inter"/>
                        </a:rPr>
                        <a:t> Inherits LangChain's local capabilities; operates entirely offline with self-hosted models.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687860845"/>
                  </a:ext>
                </a:extLst>
              </a:tr>
              <a:tr h="1341325">
                <a:tc>
                  <a:txBody>
                    <a:bodyPr/>
                    <a:lstStyle/>
                    <a:p>
                      <a:pPr marL="0" marR="0" algn="ctr" rtl="0">
                        <a:spcAft>
                          <a:spcPts val="2400"/>
                        </a:spcAft>
                        <a:buNone/>
                      </a:pPr>
                      <a:r>
                        <a:rPr lang="en-IN" sz="1500" b="1" dirty="0" err="1">
                          <a:solidFill>
                            <a:srgbClr val="1F1F1F"/>
                          </a:solidFill>
                          <a:effectLst/>
                          <a:latin typeface="Inter"/>
                        </a:rPr>
                        <a:t>CrewAI</a:t>
                      </a:r>
                      <a:r>
                        <a:rPr lang="en-IN" sz="1500" b="1" dirty="0">
                          <a:solidFill>
                            <a:srgbClr val="1F1F1F"/>
                          </a:solidFill>
                          <a:effectLst/>
                          <a:latin typeface="Inter"/>
                        </a:rPr>
                        <a:t> [9]</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a:solidFill>
                            <a:srgbClr val="1F1F1F"/>
                          </a:solidFill>
                          <a:effectLst/>
                          <a:latin typeface="Inter"/>
                        </a:rPr>
                        <a:t>Role-based Team Collaboration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Easy setup, intuitive agent personas, automatic task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Limited dynamic branching and complex workflow flow control</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Autonomous research pipelines, content creation, structured teams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Strong:</a:t>
                      </a:r>
                      <a:r>
                        <a:rPr lang="en-IN" sz="1400" dirty="0">
                          <a:solidFill>
                            <a:srgbClr val="1F1F1F"/>
                          </a:solidFill>
                          <a:effectLst/>
                          <a:latin typeface="Inter"/>
                        </a:rPr>
                        <a:t> Explicitly supports local execution by binding agents to local endpoints via </a:t>
                      </a:r>
                      <a:r>
                        <a:rPr lang="en-IN" sz="1400" dirty="0" err="1">
                          <a:solidFill>
                            <a:srgbClr val="1F1F1F"/>
                          </a:solidFill>
                          <a:effectLst/>
                          <a:latin typeface="Inter"/>
                        </a:rPr>
                        <a:t>Ollama</a:t>
                      </a:r>
                      <a:r>
                        <a:rPr lang="en-IN" sz="1400" dirty="0">
                          <a:solidFill>
                            <a:srgbClr val="1F1F1F"/>
                          </a:solidFill>
                          <a:effectLst/>
                          <a:latin typeface="Inter"/>
                        </a:rPr>
                        <a:t> or </a:t>
                      </a:r>
                      <a:r>
                        <a:rPr lang="en-IN" sz="1400" dirty="0" err="1">
                          <a:solidFill>
                            <a:srgbClr val="1F1F1F"/>
                          </a:solidFill>
                          <a:effectLst/>
                          <a:latin typeface="Inter"/>
                        </a:rPr>
                        <a:t>LiteLLM</a:t>
                      </a:r>
                      <a:r>
                        <a:rPr lang="en-IN" sz="1400" dirty="0">
                          <a:solidFill>
                            <a:srgbClr val="1F1F1F"/>
                          </a:solidFill>
                          <a:effectLst/>
                          <a:latin typeface="Inter"/>
                        </a:rPr>
                        <a:t>.</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456865933"/>
                  </a:ext>
                </a:extLst>
              </a:tr>
              <a:tr h="1341325">
                <a:tc>
                  <a:txBody>
                    <a:bodyPr/>
                    <a:lstStyle/>
                    <a:p>
                      <a:pPr marL="0" marR="0" algn="ctr" rtl="0">
                        <a:spcAft>
                          <a:spcPts val="2400"/>
                        </a:spcAft>
                        <a:buNone/>
                      </a:pPr>
                      <a:r>
                        <a:rPr lang="en-IN" sz="1500" b="1" dirty="0">
                          <a:solidFill>
                            <a:srgbClr val="1F1F1F"/>
                          </a:solidFill>
                          <a:effectLst/>
                          <a:latin typeface="Inter"/>
                        </a:rPr>
                        <a:t>OpenAI Agents SDK [10]</a:t>
                      </a:r>
                      <a:endParaRPr lang="en-IN" sz="1500" dirty="0">
                        <a:solidFill>
                          <a:srgbClr val="1F1F1F"/>
                        </a:solidFill>
                        <a:effectLst/>
                        <a:latin typeface="Inter"/>
                      </a:endParaRP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95000"/>
                      </a:schemeClr>
                    </a:solidFill>
                  </a:tcPr>
                </a:tc>
                <a:tc>
                  <a:txBody>
                    <a:bodyPr/>
                    <a:lstStyle/>
                    <a:p>
                      <a:pPr marL="0" marR="0" algn="ctr" rtl="0">
                        <a:spcAft>
                          <a:spcPts val="2400"/>
                        </a:spcAft>
                        <a:buNone/>
                      </a:pPr>
                      <a:r>
                        <a:rPr lang="en-IN" sz="1400" dirty="0">
                          <a:solidFill>
                            <a:srgbClr val="1F1F1F"/>
                          </a:solidFill>
                          <a:effectLst/>
                          <a:latin typeface="Inter"/>
                        </a:rPr>
                        <a:t>Lightweight Handoffs &amp; Guardrails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a:solidFill>
                            <a:srgbClr val="1F1F1F"/>
                          </a:solidFill>
                          <a:effectLst/>
                          <a:latin typeface="Inter"/>
                        </a:rPr>
                        <a:t>Minimal abstractions, built-in tracing, standardized routing primitives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Lacks built-in persistent long-term memory or native graph structures</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dirty="0">
                          <a:solidFill>
                            <a:srgbClr val="1F1F1F"/>
                          </a:solidFill>
                          <a:effectLst/>
                          <a:latin typeface="Inter"/>
                        </a:rPr>
                        <a:t>Rapid deployment of production agents, voice pipelines, clear delegation</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spcAft>
                          <a:spcPts val="2400"/>
                        </a:spcAft>
                        <a:buNone/>
                      </a:pPr>
                      <a:r>
                        <a:rPr lang="en-IN" sz="1400" b="1" dirty="0">
                          <a:solidFill>
                            <a:srgbClr val="1F1F1F"/>
                          </a:solidFill>
                          <a:effectLst/>
                          <a:latin typeface="Inter"/>
                        </a:rPr>
                        <a:t>Very Good:</a:t>
                      </a:r>
                      <a:r>
                        <a:rPr lang="en-IN" sz="1400" dirty="0">
                          <a:solidFill>
                            <a:srgbClr val="1F1F1F"/>
                          </a:solidFill>
                          <a:effectLst/>
                          <a:latin typeface="Inter"/>
                        </a:rPr>
                        <a:t> Provider-agnostic design allows it to run offline by routing to local models via the Chat Completions API.</a:t>
                      </a:r>
                    </a:p>
                  </a:txBody>
                  <a:tcPr marL="24868" marR="24868" marT="16579" marB="16579"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3338199989"/>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71120" y="-12025"/>
            <a:ext cx="12301220" cy="6858000"/>
          </a:xfrm>
          <a:prstGeom prst="rect">
            <a:avLst/>
          </a:prstGeom>
        </p:spPr>
      </p:pic>
      <p:sp>
        <p:nvSpPr>
          <p:cNvPr id="37" name="Rectangle: Rounded Corners 36">
            <a:extLst>
              <a:ext uri="{FF2B5EF4-FFF2-40B4-BE49-F238E27FC236}">
                <a16:creationId xmlns:a16="http://schemas.microsoft.com/office/drawing/2014/main" id="{3140C37B-D52A-8E41-CE37-9FB27AC870E6}"/>
              </a:ext>
            </a:extLst>
          </p:cNvPr>
          <p:cNvSpPr/>
          <p:nvPr/>
        </p:nvSpPr>
        <p:spPr>
          <a:xfrm>
            <a:off x="762000" y="5419562"/>
            <a:ext cx="4502150" cy="595623"/>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5" name="Rectangle: Rounded Corners 34">
            <a:extLst>
              <a:ext uri="{FF2B5EF4-FFF2-40B4-BE49-F238E27FC236}">
                <a16:creationId xmlns:a16="http://schemas.microsoft.com/office/drawing/2014/main" id="{8EADB9D7-CABA-C15E-65E0-02CBC0788E5D}"/>
              </a:ext>
            </a:extLst>
          </p:cNvPr>
          <p:cNvSpPr/>
          <p:nvPr/>
        </p:nvSpPr>
        <p:spPr>
          <a:xfrm>
            <a:off x="762000" y="4000743"/>
            <a:ext cx="4502150" cy="1233999"/>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3" name="Rectangle: Rounded Corners 32">
            <a:extLst>
              <a:ext uri="{FF2B5EF4-FFF2-40B4-BE49-F238E27FC236}">
                <a16:creationId xmlns:a16="http://schemas.microsoft.com/office/drawing/2014/main" id="{CE2CCB64-612D-62FF-FD45-08A7D393C5E6}"/>
              </a:ext>
            </a:extLst>
          </p:cNvPr>
          <p:cNvSpPr/>
          <p:nvPr/>
        </p:nvSpPr>
        <p:spPr>
          <a:xfrm>
            <a:off x="762000" y="3263846"/>
            <a:ext cx="4502150" cy="568436"/>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sp>
        <p:nvSpPr>
          <p:cNvPr id="31" name="Rectangle: Rounded Corners 30">
            <a:extLst>
              <a:ext uri="{FF2B5EF4-FFF2-40B4-BE49-F238E27FC236}">
                <a16:creationId xmlns:a16="http://schemas.microsoft.com/office/drawing/2014/main" id="{A36B0AC3-D7D0-B89C-6F21-AAB4BB83F14C}"/>
              </a:ext>
            </a:extLst>
          </p:cNvPr>
          <p:cNvSpPr/>
          <p:nvPr/>
        </p:nvSpPr>
        <p:spPr>
          <a:xfrm>
            <a:off x="762000" y="1890340"/>
            <a:ext cx="4502150" cy="1219272"/>
          </a:xfrm>
          <a:prstGeom prst="roundRect">
            <a:avLst/>
          </a:prstGeom>
          <a:solidFill>
            <a:schemeClr val="bg1">
              <a:lumMod val="9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just"/>
            <a:endParaRPr lang="en-IN" dirty="0"/>
          </a:p>
        </p:txBody>
      </p:sp>
      <p:pic>
        <p:nvPicPr>
          <p:cNvPr id="3" name="Picture 2" descr="image.png"/>
          <p:cNvPicPr>
            <a:picLocks noChangeAspect="1"/>
          </p:cNvPicPr>
          <p:nvPr/>
        </p:nvPicPr>
        <p:blipFill>
          <a:blip r:embed="rId3"/>
          <a:stretch>
            <a:fillRect/>
          </a:stretch>
        </p:blipFill>
        <p:spPr>
          <a:xfrm>
            <a:off x="6334125" y="1890340"/>
            <a:ext cx="5286375" cy="4124845"/>
          </a:xfrm>
          <a:prstGeom prst="rect">
            <a:avLst/>
          </a:prstGeom>
        </p:spPr>
      </p:pic>
      <p:pic>
        <p:nvPicPr>
          <p:cNvPr id="4" name="Picture 3" descr="image.png"/>
          <p:cNvPicPr>
            <a:picLocks noChangeAspect="1"/>
          </p:cNvPicPr>
          <p:nvPr/>
        </p:nvPicPr>
        <p:blipFill>
          <a:blip r:embed="rId4"/>
          <a:stretch>
            <a:fillRect/>
          </a:stretch>
        </p:blipFill>
        <p:spPr>
          <a:xfrm>
            <a:off x="1089095" y="2060080"/>
            <a:ext cx="304800" cy="304800"/>
          </a:xfrm>
          <a:prstGeom prst="rect">
            <a:avLst/>
          </a:prstGeom>
        </p:spPr>
      </p:pic>
      <p:pic>
        <p:nvPicPr>
          <p:cNvPr id="5" name="Picture 4" descr="image.png"/>
          <p:cNvPicPr>
            <a:picLocks noChangeAspect="1"/>
          </p:cNvPicPr>
          <p:nvPr/>
        </p:nvPicPr>
        <p:blipFill>
          <a:blip r:embed="rId5"/>
          <a:stretch>
            <a:fillRect/>
          </a:stretch>
        </p:blipFill>
        <p:spPr>
          <a:xfrm>
            <a:off x="1108145" y="2615059"/>
            <a:ext cx="304800" cy="304800"/>
          </a:xfrm>
          <a:prstGeom prst="rect">
            <a:avLst/>
          </a:prstGeom>
        </p:spPr>
      </p:pic>
      <p:pic>
        <p:nvPicPr>
          <p:cNvPr id="6" name="Picture 5" descr="image.png"/>
          <p:cNvPicPr>
            <a:picLocks noChangeAspect="1"/>
          </p:cNvPicPr>
          <p:nvPr/>
        </p:nvPicPr>
        <p:blipFill>
          <a:blip r:embed="rId6"/>
          <a:stretch>
            <a:fillRect/>
          </a:stretch>
        </p:blipFill>
        <p:spPr>
          <a:xfrm>
            <a:off x="1089095" y="3385000"/>
            <a:ext cx="304800" cy="304800"/>
          </a:xfrm>
          <a:prstGeom prst="rect">
            <a:avLst/>
          </a:prstGeom>
        </p:spPr>
      </p:pic>
      <p:pic>
        <p:nvPicPr>
          <p:cNvPr id="7" name="Picture 6" descr="image.png"/>
          <p:cNvPicPr>
            <a:picLocks noChangeAspect="1"/>
          </p:cNvPicPr>
          <p:nvPr/>
        </p:nvPicPr>
        <p:blipFill>
          <a:blip r:embed="rId7"/>
          <a:stretch>
            <a:fillRect/>
          </a:stretch>
        </p:blipFill>
        <p:spPr>
          <a:xfrm>
            <a:off x="1089095" y="4162780"/>
            <a:ext cx="304800" cy="304800"/>
          </a:xfrm>
          <a:prstGeom prst="rect">
            <a:avLst/>
          </a:prstGeom>
        </p:spPr>
      </p:pic>
      <p:pic>
        <p:nvPicPr>
          <p:cNvPr id="8" name="Picture 7" descr="image.png"/>
          <p:cNvPicPr>
            <a:picLocks noChangeAspect="1"/>
          </p:cNvPicPr>
          <p:nvPr/>
        </p:nvPicPr>
        <p:blipFill>
          <a:blip r:embed="rId8"/>
          <a:stretch>
            <a:fillRect/>
          </a:stretch>
        </p:blipFill>
        <p:spPr>
          <a:xfrm>
            <a:off x="1089095" y="4651456"/>
            <a:ext cx="304800" cy="304800"/>
          </a:xfrm>
          <a:prstGeom prst="rect">
            <a:avLst/>
          </a:prstGeom>
        </p:spPr>
      </p:pic>
      <p:pic>
        <p:nvPicPr>
          <p:cNvPr id="9" name="Picture 8" descr="image.png"/>
          <p:cNvPicPr>
            <a:picLocks noChangeAspect="1"/>
          </p:cNvPicPr>
          <p:nvPr/>
        </p:nvPicPr>
        <p:blipFill>
          <a:blip r:embed="rId9"/>
          <a:stretch>
            <a:fillRect/>
          </a:stretch>
        </p:blipFill>
        <p:spPr>
          <a:xfrm>
            <a:off x="1089095" y="5543427"/>
            <a:ext cx="304800" cy="304800"/>
          </a:xfrm>
          <a:prstGeom prst="rect">
            <a:avLst/>
          </a:prstGeom>
        </p:spPr>
      </p:pic>
      <p:sp>
        <p:nvSpPr>
          <p:cNvPr id="10" name="TextBox 9"/>
          <p:cNvSpPr txBox="1"/>
          <p:nvPr/>
        </p:nvSpPr>
        <p:spPr>
          <a:xfrm>
            <a:off x="573037" y="1028700"/>
            <a:ext cx="5286375" cy="609600"/>
          </a:xfrm>
          <a:prstGeom prst="rect">
            <a:avLst/>
          </a:prstGeom>
          <a:noFill/>
        </p:spPr>
        <p:txBody>
          <a:bodyPr wrap="square" lIns="0" tIns="0" rIns="0" bIns="0" anchor="t">
            <a:spAutoFit/>
          </a:bodyPr>
          <a:lstStyle/>
          <a:p>
            <a:pPr algn="l">
              <a:lnSpc>
                <a:spcPts val="2400"/>
              </a:lnSpc>
            </a:pPr>
            <a:r>
              <a:rPr sz="1500" b="0" i="0" u="none" dirty="0">
                <a:solidFill>
                  <a:srgbClr val="475569"/>
                </a:solidFill>
                <a:latin typeface="Inter"/>
              </a:rPr>
              <a:t>A modular pipeline with integrated </a:t>
            </a:r>
            <a:r>
              <a:rPr sz="1500" b="1" i="0" u="none" dirty="0">
                <a:solidFill>
                  <a:srgbClr val="475569"/>
                </a:solidFill>
                <a:latin typeface="Inter"/>
              </a:rPr>
              <a:t>Human-in-the-Loop (HITL)</a:t>
            </a:r>
            <a:r>
              <a:rPr sz="1500" b="0" i="0" u="none" dirty="0">
                <a:solidFill>
                  <a:srgbClr val="475569"/>
                </a:solidFill>
                <a:latin typeface="Inter"/>
              </a:rPr>
              <a:t> governance gates to ensure enterprise safety.</a:t>
            </a:r>
          </a:p>
        </p:txBody>
      </p:sp>
      <p:sp>
        <p:nvSpPr>
          <p:cNvPr id="11" name="TextBox 10"/>
          <p:cNvSpPr txBox="1"/>
          <p:nvPr/>
        </p:nvSpPr>
        <p:spPr>
          <a:xfrm>
            <a:off x="6935978" y="2653159"/>
            <a:ext cx="4930616" cy="295275"/>
          </a:xfrm>
          <a:prstGeom prst="rect">
            <a:avLst/>
          </a:prstGeom>
          <a:noFill/>
        </p:spPr>
        <p:txBody>
          <a:bodyPr wrap="square" lIns="242738" tIns="0" rIns="0" bIns="0" anchor="t">
            <a:spAutoFit/>
          </a:bodyPr>
          <a:lstStyle/>
          <a:p>
            <a:pPr algn="l"/>
            <a:r>
              <a:rPr sz="1950" b="0" i="0" u="none" dirty="0">
                <a:solidFill>
                  <a:srgbClr val="2563EB"/>
                </a:solidFill>
                <a:latin typeface="Inter SemiBold"/>
              </a:rPr>
              <a:t>Continuous Loop</a:t>
            </a:r>
          </a:p>
        </p:txBody>
      </p:sp>
      <p:sp>
        <p:nvSpPr>
          <p:cNvPr id="12" name="TextBox 11"/>
          <p:cNvSpPr txBox="1"/>
          <p:nvPr/>
        </p:nvSpPr>
        <p:spPr>
          <a:xfrm>
            <a:off x="6784367" y="3148460"/>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7. Monitoring &amp; Learning:</a:t>
            </a:r>
            <a:r>
              <a:rPr sz="1500" b="0" i="0" u="none" dirty="0">
                <a:solidFill>
                  <a:srgbClr val="334155"/>
                </a:solidFill>
                <a:latin typeface="Inter"/>
              </a:rPr>
              <a:t> Consumes production logs, metrics, and user feedback to detect errors and optimize prompts.</a:t>
            </a:r>
          </a:p>
        </p:txBody>
      </p:sp>
      <p:sp>
        <p:nvSpPr>
          <p:cNvPr id="13" name="TextBox 12"/>
          <p:cNvSpPr txBox="1"/>
          <p:nvPr/>
        </p:nvSpPr>
        <p:spPr>
          <a:xfrm>
            <a:off x="6784367" y="4205735"/>
            <a:ext cx="4695825" cy="914400"/>
          </a:xfrm>
          <a:prstGeom prst="rect">
            <a:avLst/>
          </a:prstGeom>
          <a:noFill/>
        </p:spPr>
        <p:txBody>
          <a:bodyPr wrap="square" lIns="0" tIns="0" rIns="0" bIns="0" anchor="t">
            <a:spAutoFit/>
          </a:bodyPr>
          <a:lstStyle/>
          <a:p>
            <a:pPr algn="l">
              <a:lnSpc>
                <a:spcPts val="2400"/>
              </a:lnSpc>
            </a:pPr>
            <a:r>
              <a:rPr sz="1500" b="1" i="0" u="none" dirty="0">
                <a:solidFill>
                  <a:srgbClr val="334155"/>
                </a:solidFill>
                <a:latin typeface="Inter"/>
              </a:rPr>
              <a:t>8. Organizational Memory:</a:t>
            </a:r>
            <a:r>
              <a:rPr sz="1500" b="0" i="0" u="none" dirty="0">
                <a:solidFill>
                  <a:srgbClr val="334155"/>
                </a:solidFill>
                <a:latin typeface="Inter"/>
              </a:rPr>
              <a:t> Captures all requirements,</a:t>
            </a:r>
            <a:endParaRPr lang="en-IN" sz="1500" b="0" i="0" u="none" dirty="0">
              <a:solidFill>
                <a:srgbClr val="334155"/>
              </a:solidFill>
              <a:latin typeface="Inter"/>
            </a:endParaRPr>
          </a:p>
          <a:p>
            <a:pPr algn="l">
              <a:lnSpc>
                <a:spcPts val="2400"/>
              </a:lnSpc>
            </a:pPr>
            <a:r>
              <a:rPr sz="1500" b="0" i="0" u="none" dirty="0">
                <a:solidFill>
                  <a:srgbClr val="334155"/>
                </a:solidFill>
                <a:latin typeface="Inter"/>
              </a:rPr>
              <a:t>code, reviews, and bug fixes into a Knowledge Graph for cross-sprint learning.</a:t>
            </a:r>
          </a:p>
        </p:txBody>
      </p:sp>
      <p:sp>
        <p:nvSpPr>
          <p:cNvPr id="15" name="Rectangle 14"/>
          <p:cNvSpPr/>
          <p:nvPr/>
        </p:nvSpPr>
        <p:spPr>
          <a:xfrm>
            <a:off x="1231970" y="3123601"/>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231970" y="3838858"/>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231970" y="5257677"/>
            <a:ext cx="19050" cy="142875"/>
          </a:xfrm>
          <a:prstGeom prst="rect">
            <a:avLst/>
          </a:prstGeom>
          <a:solidFill>
            <a:srgbClr val="CB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image.png"/>
          <p:cNvPicPr>
            <a:picLocks noChangeAspect="1"/>
          </p:cNvPicPr>
          <p:nvPr/>
        </p:nvPicPr>
        <p:blipFill>
          <a:blip r:embed="rId10"/>
          <a:stretch>
            <a:fillRect/>
          </a:stretch>
        </p:blipFill>
        <p:spPr>
          <a:xfrm>
            <a:off x="6784367" y="2691260"/>
            <a:ext cx="242738" cy="247650"/>
          </a:xfrm>
          <a:prstGeom prst="rect">
            <a:avLst/>
          </a:prstGeom>
        </p:spPr>
      </p:pic>
      <p:sp>
        <p:nvSpPr>
          <p:cNvPr id="20" name="TextBox 19"/>
          <p:cNvSpPr txBox="1"/>
          <p:nvPr/>
        </p:nvSpPr>
        <p:spPr>
          <a:xfrm>
            <a:off x="1536770" y="2104324"/>
            <a:ext cx="2095500" cy="230832"/>
          </a:xfrm>
          <a:prstGeom prst="rect">
            <a:avLst/>
          </a:prstGeom>
          <a:noFill/>
        </p:spPr>
        <p:txBody>
          <a:bodyPr wrap="square" lIns="0" tIns="0" rIns="0" bIns="0" anchor="t">
            <a:spAutoFit/>
          </a:bodyPr>
          <a:lstStyle/>
          <a:p>
            <a:pPr algn="l"/>
            <a:r>
              <a:rPr sz="1500" b="0" i="0" u="none" dirty="0">
                <a:solidFill>
                  <a:srgbClr val="1E293B"/>
                </a:solidFill>
                <a:latin typeface="Inter Medium"/>
              </a:rPr>
              <a:t>Requirement Engineering</a:t>
            </a:r>
          </a:p>
        </p:txBody>
      </p:sp>
      <p:sp>
        <p:nvSpPr>
          <p:cNvPr id="22" name="TextBox 21"/>
          <p:cNvSpPr txBox="1"/>
          <p:nvPr/>
        </p:nvSpPr>
        <p:spPr>
          <a:xfrm>
            <a:off x="1555820" y="2653159"/>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Planning</a:t>
            </a:r>
          </a:p>
        </p:txBody>
      </p:sp>
      <p:sp>
        <p:nvSpPr>
          <p:cNvPr id="23" name="TextBox 22"/>
          <p:cNvSpPr txBox="1"/>
          <p:nvPr/>
        </p:nvSpPr>
        <p:spPr>
          <a:xfrm>
            <a:off x="3816980" y="2694674"/>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24" name="TextBox 23"/>
          <p:cNvSpPr txBox="1"/>
          <p:nvPr/>
        </p:nvSpPr>
        <p:spPr>
          <a:xfrm>
            <a:off x="1536770" y="342310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Architecture &amp; Design</a:t>
            </a:r>
          </a:p>
        </p:txBody>
      </p:sp>
      <p:sp>
        <p:nvSpPr>
          <p:cNvPr id="25" name="TextBox 24"/>
          <p:cNvSpPr txBox="1"/>
          <p:nvPr/>
        </p:nvSpPr>
        <p:spPr>
          <a:xfrm>
            <a:off x="3832295" y="3442150"/>
            <a:ext cx="1047750" cy="190500"/>
          </a:xfrm>
          <a:prstGeom prst="rect">
            <a:avLst/>
          </a:prstGeom>
          <a:noFill/>
        </p:spPr>
        <p:txBody>
          <a:bodyPr wrap="square" lIns="0" tIns="0" rIns="0" bIns="0" anchor="ctr">
            <a:spAutoFit/>
          </a:bodyPr>
          <a:lstStyle/>
          <a:p>
            <a:pPr algn="l"/>
            <a:r>
              <a:rPr sz="1200" b="0" i="0" u="none">
                <a:solidFill>
                  <a:srgbClr val="16A34A"/>
                </a:solidFill>
                <a:latin typeface="Inter SemiBold"/>
              </a:rPr>
              <a:t>HITL Approval</a:t>
            </a:r>
          </a:p>
        </p:txBody>
      </p:sp>
      <p:sp>
        <p:nvSpPr>
          <p:cNvPr id="26" name="TextBox 25"/>
          <p:cNvSpPr txBox="1"/>
          <p:nvPr/>
        </p:nvSpPr>
        <p:spPr>
          <a:xfrm>
            <a:off x="1536770" y="4200880"/>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Development</a:t>
            </a:r>
          </a:p>
        </p:txBody>
      </p:sp>
      <p:sp>
        <p:nvSpPr>
          <p:cNvPr id="27" name="TextBox 26"/>
          <p:cNvSpPr txBox="1"/>
          <p:nvPr/>
        </p:nvSpPr>
        <p:spPr>
          <a:xfrm>
            <a:off x="1509875" y="4650569"/>
            <a:ext cx="2550014" cy="461665"/>
          </a:xfrm>
          <a:prstGeom prst="rect">
            <a:avLst/>
          </a:prstGeom>
          <a:noFill/>
        </p:spPr>
        <p:txBody>
          <a:bodyPr wrap="square" lIns="0" tIns="0" rIns="0" bIns="0" anchor="t">
            <a:spAutoFit/>
          </a:bodyPr>
          <a:lstStyle/>
          <a:p>
            <a:r>
              <a:rPr sz="1500" b="0" i="0" u="none" dirty="0">
                <a:solidFill>
                  <a:srgbClr val="1E293B"/>
                </a:solidFill>
                <a:latin typeface="Inter Medium"/>
              </a:rPr>
              <a:t>Verification (</a:t>
            </a:r>
            <a:r>
              <a:rPr lang="en-IN" sz="1500" dirty="0"/>
              <a:t>Quality Assurance (Testing)</a:t>
            </a:r>
            <a:r>
              <a:rPr sz="1500" b="0" i="0" u="none" dirty="0">
                <a:solidFill>
                  <a:srgbClr val="1E293B"/>
                </a:solidFill>
                <a:latin typeface="Inter Medium"/>
              </a:rPr>
              <a:t>/Security)</a:t>
            </a:r>
          </a:p>
        </p:txBody>
      </p:sp>
      <p:sp>
        <p:nvSpPr>
          <p:cNvPr id="29" name="TextBox 28"/>
          <p:cNvSpPr txBox="1"/>
          <p:nvPr/>
        </p:nvSpPr>
        <p:spPr>
          <a:xfrm>
            <a:off x="1536770" y="5581527"/>
            <a:ext cx="2095500" cy="228600"/>
          </a:xfrm>
          <a:prstGeom prst="rect">
            <a:avLst/>
          </a:prstGeom>
          <a:noFill/>
        </p:spPr>
        <p:txBody>
          <a:bodyPr wrap="square" lIns="0" tIns="0" rIns="0" bIns="0" anchor="t">
            <a:spAutoFit/>
          </a:bodyPr>
          <a:lstStyle/>
          <a:p>
            <a:pPr algn="l"/>
            <a:r>
              <a:rPr sz="1500" b="0" i="0" u="none">
                <a:solidFill>
                  <a:srgbClr val="1E293B"/>
                </a:solidFill>
                <a:latin typeface="Inter Medium"/>
              </a:rPr>
              <a:t>Deployment</a:t>
            </a:r>
          </a:p>
        </p:txBody>
      </p:sp>
      <p:sp>
        <p:nvSpPr>
          <p:cNvPr id="30" name="TextBox 29"/>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sp>
        <p:nvSpPr>
          <p:cNvPr id="71" name="TextBox 70">
            <a:extLst>
              <a:ext uri="{FF2B5EF4-FFF2-40B4-BE49-F238E27FC236}">
                <a16:creationId xmlns:a16="http://schemas.microsoft.com/office/drawing/2014/main" id="{0D8EC028-5D16-CAD3-E5F3-8A9A85590BA4}"/>
              </a:ext>
            </a:extLst>
          </p:cNvPr>
          <p:cNvSpPr txBox="1"/>
          <p:nvPr/>
        </p:nvSpPr>
        <p:spPr>
          <a:xfrm>
            <a:off x="3895047" y="4923758"/>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
        <p:nvSpPr>
          <p:cNvPr id="73" name="TextBox 72">
            <a:extLst>
              <a:ext uri="{FF2B5EF4-FFF2-40B4-BE49-F238E27FC236}">
                <a16:creationId xmlns:a16="http://schemas.microsoft.com/office/drawing/2014/main" id="{B8EED8D0-6A02-FEF3-83D7-CFE4AC8EE770}"/>
              </a:ext>
            </a:extLst>
          </p:cNvPr>
          <p:cNvSpPr txBox="1"/>
          <p:nvPr/>
        </p:nvSpPr>
        <p:spPr>
          <a:xfrm>
            <a:off x="3832295" y="5686757"/>
            <a:ext cx="1047750" cy="190500"/>
          </a:xfrm>
          <a:prstGeom prst="rect">
            <a:avLst/>
          </a:prstGeom>
          <a:noFill/>
        </p:spPr>
        <p:txBody>
          <a:bodyPr wrap="square" lIns="0" tIns="0" rIns="0" bIns="0" anchor="ctr">
            <a:spAutoFit/>
          </a:bodyPr>
          <a:lstStyle/>
          <a:p>
            <a:pPr algn="l"/>
            <a:r>
              <a:rPr sz="1200" b="0" i="0" u="none" dirty="0">
                <a:solidFill>
                  <a:srgbClr val="16A34A"/>
                </a:solidFill>
                <a:latin typeface="Inter SemiBold"/>
              </a:rPr>
              <a:t>HITL Approval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9E3C082F-0A42-D7B8-A67F-ED7E627C39F9}"/>
            </a:ext>
          </a:extLst>
        </p:cNvPr>
        <p:cNvGrpSpPr/>
        <p:nvPr/>
      </p:nvGrpSpPr>
      <p:grpSpPr>
        <a:xfrm>
          <a:off x="0" y="0"/>
          <a:ext cx="0" cy="0"/>
          <a:chOff x="0" y="0"/>
          <a:chExt cx="0" cy="0"/>
        </a:xfrm>
      </p:grpSpPr>
      <p:pic>
        <p:nvPicPr>
          <p:cNvPr id="2" name="Picture 1" descr="image.png">
            <a:extLst>
              <a:ext uri="{FF2B5EF4-FFF2-40B4-BE49-F238E27FC236}">
                <a16:creationId xmlns:a16="http://schemas.microsoft.com/office/drawing/2014/main" id="{CDC49EFA-0EB5-3FCD-11F0-66179AEDD2F8}"/>
              </a:ext>
            </a:extLst>
          </p:cNvPr>
          <p:cNvPicPr>
            <a:picLocks noChangeAspect="1"/>
          </p:cNvPicPr>
          <p:nvPr/>
        </p:nvPicPr>
        <p:blipFill>
          <a:blip r:embed="rId2"/>
          <a:stretch>
            <a:fillRect/>
          </a:stretch>
        </p:blipFill>
        <p:spPr>
          <a:xfrm>
            <a:off x="-71120" y="-12025"/>
            <a:ext cx="12301220" cy="6955436"/>
          </a:xfrm>
          <a:prstGeom prst="rect">
            <a:avLst/>
          </a:prstGeom>
        </p:spPr>
      </p:pic>
      <p:sp>
        <p:nvSpPr>
          <p:cNvPr id="30" name="TextBox 29">
            <a:extLst>
              <a:ext uri="{FF2B5EF4-FFF2-40B4-BE49-F238E27FC236}">
                <a16:creationId xmlns:a16="http://schemas.microsoft.com/office/drawing/2014/main" id="{B7C9B56D-539F-ECA1-86D9-A377C11B350D}"/>
              </a:ext>
            </a:extLst>
          </p:cNvPr>
          <p:cNvSpPr txBox="1"/>
          <p:nvPr/>
        </p:nvSpPr>
        <p:spPr>
          <a:xfrm>
            <a:off x="571500" y="32385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Proposed Architecture: </a:t>
            </a:r>
            <a:r>
              <a:rPr sz="3300" b="1" i="0" u="none" dirty="0">
                <a:solidFill>
                  <a:srgbClr val="2563EB"/>
                </a:solidFill>
                <a:latin typeface="Inter"/>
              </a:rPr>
              <a:t>Modu</a:t>
            </a:r>
            <a:r>
              <a:rPr lang="en-IN" sz="3300" b="1" i="0" u="none" dirty="0">
                <a:solidFill>
                  <a:srgbClr val="2563EB"/>
                </a:solidFill>
                <a:latin typeface="Inter"/>
              </a:rPr>
              <a:t>lar</a:t>
            </a:r>
            <a:r>
              <a:rPr sz="3300" b="1" i="0" u="none" dirty="0">
                <a:solidFill>
                  <a:srgbClr val="2563EB"/>
                </a:solidFill>
                <a:latin typeface="Inter"/>
              </a:rPr>
              <a:t> Pipeline</a:t>
            </a:r>
          </a:p>
        </p:txBody>
      </p:sp>
      <p:pic>
        <p:nvPicPr>
          <p:cNvPr id="17" name="Picture 16">
            <a:extLst>
              <a:ext uri="{FF2B5EF4-FFF2-40B4-BE49-F238E27FC236}">
                <a16:creationId xmlns:a16="http://schemas.microsoft.com/office/drawing/2014/main" id="{B9733B2C-8C17-D677-B8A0-F33792DAA4E4}"/>
              </a:ext>
            </a:extLst>
          </p:cNvPr>
          <p:cNvPicPr>
            <a:picLocks noChangeAspect="1"/>
          </p:cNvPicPr>
          <p:nvPr/>
        </p:nvPicPr>
        <p:blipFill>
          <a:blip r:embed="rId3"/>
          <a:srcRect t="-483" b="10106"/>
          <a:stretch>
            <a:fillRect/>
          </a:stretch>
        </p:blipFill>
        <p:spPr>
          <a:xfrm>
            <a:off x="-16510" y="1054511"/>
            <a:ext cx="12192000" cy="5395452"/>
          </a:xfrm>
          <a:prstGeom prst="rect">
            <a:avLst/>
          </a:prstGeom>
        </p:spPr>
      </p:pic>
    </p:spTree>
    <p:extLst>
      <p:ext uri="{BB962C8B-B14F-4D97-AF65-F5344CB8AC3E}">
        <p14:creationId xmlns:p14="http://schemas.microsoft.com/office/powerpoint/2010/main" val="22553069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03242" y="1224731"/>
            <a:ext cx="110490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While highly capable, existing autonomous systems index heavily on code generation, lacking end-to-end SDLC orchestration and organizational memory.</a:t>
            </a:r>
          </a:p>
        </p:txBody>
      </p:sp>
      <p:sp>
        <p:nvSpPr>
          <p:cNvPr id="4" name="Rounded Rectangle 3"/>
          <p:cNvSpPr/>
          <p:nvPr/>
        </p:nvSpPr>
        <p:spPr>
          <a:xfrm>
            <a:off x="561972" y="2119312"/>
            <a:ext cx="11049000" cy="3295650"/>
          </a:xfrm>
          <a:prstGeom prst="roundRect">
            <a:avLst>
              <a:gd name="adj" fmla="val 0"/>
            </a:avLst>
          </a:prstGeom>
          <a:solidFill>
            <a:srgbClr val="FFFFFF"/>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5" name="Table 4"/>
          <p:cNvGraphicFramePr>
            <a:graphicFrameLocks noGrp="1"/>
          </p:cNvGraphicFramePr>
          <p:nvPr>
            <p:extLst>
              <p:ext uri="{D42A27DB-BD31-4B8C-83A1-F6EECF244321}">
                <p14:modId xmlns:p14="http://schemas.microsoft.com/office/powerpoint/2010/main" val="2734106552"/>
              </p:ext>
            </p:extLst>
          </p:nvPr>
        </p:nvGraphicFramePr>
        <p:xfrm>
          <a:off x="561972" y="2119312"/>
          <a:ext cx="11039472" cy="3295650"/>
        </p:xfrm>
        <a:graphic>
          <a:graphicData uri="http://schemas.openxmlformats.org/drawingml/2006/table">
            <a:tbl>
              <a:tblPr firstRow="1" bandRow="1">
                <a:tableStyleId>{5C22544A-7EE6-4342-B048-85BDC9FD1C3A}</a:tableStyleId>
              </a:tblPr>
              <a:tblGrid>
                <a:gridCol w="2839194">
                  <a:extLst>
                    <a:ext uri="{9D8B030D-6E8A-4147-A177-3AD203B41FA5}">
                      <a16:colId xmlns:a16="http://schemas.microsoft.com/office/drawing/2014/main" val="20000"/>
                    </a:ext>
                  </a:extLst>
                </a:gridCol>
                <a:gridCol w="2139701">
                  <a:extLst>
                    <a:ext uri="{9D8B030D-6E8A-4147-A177-3AD203B41FA5}">
                      <a16:colId xmlns:a16="http://schemas.microsoft.com/office/drawing/2014/main" val="20001"/>
                    </a:ext>
                  </a:extLst>
                </a:gridCol>
                <a:gridCol w="1351954">
                  <a:extLst>
                    <a:ext uri="{9D8B030D-6E8A-4147-A177-3AD203B41FA5}">
                      <a16:colId xmlns:a16="http://schemas.microsoft.com/office/drawing/2014/main" val="20002"/>
                    </a:ext>
                  </a:extLst>
                </a:gridCol>
                <a:gridCol w="1375469">
                  <a:extLst>
                    <a:ext uri="{9D8B030D-6E8A-4147-A177-3AD203B41FA5}">
                      <a16:colId xmlns:a16="http://schemas.microsoft.com/office/drawing/2014/main" val="20003"/>
                    </a:ext>
                  </a:extLst>
                </a:gridCol>
                <a:gridCol w="1398984">
                  <a:extLst>
                    <a:ext uri="{9D8B030D-6E8A-4147-A177-3AD203B41FA5}">
                      <a16:colId xmlns:a16="http://schemas.microsoft.com/office/drawing/2014/main" val="20004"/>
                    </a:ext>
                  </a:extLst>
                </a:gridCol>
                <a:gridCol w="1934170">
                  <a:extLst>
                    <a:ext uri="{9D8B030D-6E8A-4147-A177-3AD203B41FA5}">
                      <a16:colId xmlns:a16="http://schemas.microsoft.com/office/drawing/2014/main" val="20005"/>
                    </a:ext>
                  </a:extLst>
                </a:gridCol>
              </a:tblGrid>
              <a:tr h="659130">
                <a:tc>
                  <a:txBody>
                    <a:bodyPr/>
                    <a:lstStyle/>
                    <a:p>
                      <a:pPr algn="l"/>
                      <a:r>
                        <a:rPr sz="1500" b="0" i="0" u="none">
                          <a:solidFill>
                            <a:srgbClr val="0F172A"/>
                          </a:solidFill>
                          <a:latin typeface="Inter SemiBold"/>
                        </a:rPr>
                        <a:t>System</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Requirements</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Design</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Coding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Testing</a:t>
                      </a:r>
                    </a:p>
                  </a:txBody>
                  <a:tcPr marL="63500" marR="63500" marT="25400" marB="25400" anchor="ctr">
                    <a:lnL>
                      <a:noFill/>
                    </a:lnL>
                    <a:lnR>
                      <a:noFill/>
                    </a:lnR>
                    <a:lnT>
                      <a:noFill/>
                    </a:lnT>
                    <a:lnB>
                      <a:noFill/>
                    </a:lnB>
                    <a:solidFill>
                      <a:srgbClr val="F1F5F9"/>
                    </a:solidFill>
                  </a:tcPr>
                </a:tc>
                <a:tc>
                  <a:txBody>
                    <a:bodyPr/>
                    <a:lstStyle/>
                    <a:p>
                      <a:pPr algn="l"/>
                      <a:r>
                        <a:rPr sz="1500" b="0" i="0" u="none">
                          <a:solidFill>
                            <a:srgbClr val="0F172A"/>
                          </a:solidFill>
                          <a:latin typeface="Inter SemiBold"/>
                        </a:rPr>
                        <a:t>Deployment</a:t>
                      </a:r>
                    </a:p>
                  </a:txBody>
                  <a:tcPr marL="63500" marR="63500" marT="25400" marB="25400" anchor="ctr">
                    <a:lnL>
                      <a:noFill/>
                    </a:lnL>
                    <a:lnR>
                      <a:noFill/>
                    </a:lnR>
                    <a:lnT>
                      <a:noFill/>
                    </a:lnT>
                    <a:lnB>
                      <a:noFill/>
                    </a:lnB>
                    <a:solidFill>
                      <a:srgbClr val="F1F5F9"/>
                    </a:solidFill>
                  </a:tcPr>
                </a:tc>
                <a:extLst>
                  <a:ext uri="{0D108BD9-81ED-4DB2-BD59-A6C34878D82A}">
                    <a16:rowId xmlns:a16="http://schemas.microsoft.com/office/drawing/2014/main" val="10000"/>
                  </a:ext>
                </a:extLst>
              </a:tr>
              <a:tr h="659130">
                <a:tc>
                  <a:txBody>
                    <a:bodyPr/>
                    <a:lstStyle/>
                    <a:p>
                      <a:pPr algn="l"/>
                      <a:r>
                        <a:rPr sz="1500" b="1" i="0" u="none" dirty="0">
                          <a:solidFill>
                            <a:srgbClr val="334155"/>
                          </a:solidFill>
                          <a:latin typeface="Inter"/>
                        </a:rPr>
                        <a:t>Devin / </a:t>
                      </a:r>
                      <a:r>
                        <a:rPr sz="1500" b="1" i="0" u="none" dirty="0" err="1">
                          <a:solidFill>
                            <a:srgbClr val="334155"/>
                          </a:solidFill>
                          <a:latin typeface="Inter"/>
                        </a:rPr>
                        <a:t>OpenHands</a:t>
                      </a:r>
                      <a:r>
                        <a:rPr lang="en-IN" sz="1500" b="1" i="0" u="none" dirty="0">
                          <a:solidFill>
                            <a:srgbClr val="334155"/>
                          </a:solidFill>
                          <a:latin typeface="Inter"/>
                        </a:rPr>
                        <a:t> [14][15]</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F59E0B"/>
                          </a:solidFill>
                          <a:latin typeface="Inter"/>
                        </a:rPr>
                        <a:t>Partial</a:t>
                      </a: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659130">
                <a:tc>
                  <a:txBody>
                    <a:bodyPr/>
                    <a:lstStyle/>
                    <a:p>
                      <a:pPr algn="l"/>
                      <a:r>
                        <a:rPr sz="1500" b="1" i="0" u="none" dirty="0" err="1">
                          <a:solidFill>
                            <a:srgbClr val="334155"/>
                          </a:solidFill>
                          <a:latin typeface="Inter"/>
                        </a:rPr>
                        <a:t>MetaGPT</a:t>
                      </a:r>
                      <a:r>
                        <a:rPr sz="1500" b="1" i="0" u="none" dirty="0">
                          <a:solidFill>
                            <a:srgbClr val="334155"/>
                          </a:solidFill>
                          <a:latin typeface="Inter"/>
                        </a:rPr>
                        <a:t> / </a:t>
                      </a:r>
                      <a:r>
                        <a:rPr sz="1500" b="1" i="0" u="none" dirty="0" err="1">
                          <a:solidFill>
                            <a:srgbClr val="334155"/>
                          </a:solidFill>
                          <a:latin typeface="Inter"/>
                        </a:rPr>
                        <a:t>ChatDev</a:t>
                      </a:r>
                      <a:r>
                        <a:rPr lang="en-IN" sz="1500" b="1" i="0" u="none" dirty="0">
                          <a:solidFill>
                            <a:srgbClr val="334155"/>
                          </a:solidFill>
                          <a:latin typeface="Inter"/>
                        </a:rPr>
                        <a:t> [11][12]</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F59E0B"/>
                          </a:solidFill>
                          <a:latin typeface="Inter"/>
                        </a:rPr>
                        <a:t>Partial</a:t>
                      </a: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2"/>
                  </a:ext>
                </a:extLst>
              </a:tr>
              <a:tr h="659130">
                <a:tc>
                  <a:txBody>
                    <a:bodyPr/>
                    <a:lstStyle/>
                    <a:p>
                      <a:pPr algn="l"/>
                      <a:r>
                        <a:rPr sz="1500" b="1" i="0" u="none" dirty="0">
                          <a:solidFill>
                            <a:srgbClr val="334155"/>
                          </a:solidFill>
                          <a:latin typeface="Inter"/>
                        </a:rPr>
                        <a:t>SWE-Agent</a:t>
                      </a:r>
                      <a:r>
                        <a:rPr lang="en-IN" sz="1500" b="1" i="0" u="none" dirty="0">
                          <a:solidFill>
                            <a:srgbClr val="334155"/>
                          </a:solidFill>
                          <a:latin typeface="Inter"/>
                        </a:rPr>
                        <a:t> [13]</a:t>
                      </a:r>
                      <a:endParaRPr sz="1500" b="1" i="0" u="none" dirty="0">
                        <a:solidFill>
                          <a:srgbClr val="334155"/>
                        </a:solidFill>
                        <a:latin typeface="Inter"/>
                      </a:endParaRPr>
                    </a:p>
                  </a:txBody>
                  <a:tcPr marL="6350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EF4444"/>
                          </a:solidFill>
                          <a:latin typeface="Inter"/>
                        </a:rPr>
                        <a:t>No</a:t>
                      </a:r>
                    </a:p>
                  </a:txBody>
                  <a:tcPr marL="257175" marR="63500" marT="25400" marB="25400" anchor="ctr">
                    <a:lnL>
                      <a:noFill/>
                    </a:lnL>
                    <a:lnR>
                      <a:noFill/>
                    </a:lnR>
                    <a:lnT>
                      <a:noFill/>
                    </a:lnT>
                    <a:lnB>
                      <a:noFill/>
                    </a:lnB>
                    <a:noFill/>
                  </a:tcPr>
                </a:tc>
                <a:extLst>
                  <a:ext uri="{0D108BD9-81ED-4DB2-BD59-A6C34878D82A}">
                    <a16:rowId xmlns:a16="http://schemas.microsoft.com/office/drawing/2014/main" val="10003"/>
                  </a:ext>
                </a:extLst>
              </a:tr>
              <a:tr h="659130">
                <a:tc>
                  <a:txBody>
                    <a:bodyPr/>
                    <a:lstStyle/>
                    <a:p>
                      <a:pPr algn="l"/>
                      <a:r>
                        <a:rPr sz="1500" b="1" i="0" u="none">
                          <a:solidFill>
                            <a:srgbClr val="334155"/>
                          </a:solidFill>
                          <a:latin typeface="Inter"/>
                        </a:rPr>
                        <a:t>Proposed System</a:t>
                      </a:r>
                    </a:p>
                  </a:txBody>
                  <a:tcPr marL="6350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a:solidFill>
                            <a:srgbClr val="16A34A"/>
                          </a:solidFill>
                          <a:latin typeface="Inter"/>
                        </a:rPr>
                        <a:t>Yes</a:t>
                      </a:r>
                    </a:p>
                  </a:txBody>
                  <a:tcPr marL="285750" marR="63500" marT="25400" marB="25400" anchor="ctr">
                    <a:lnL>
                      <a:noFill/>
                    </a:lnL>
                    <a:lnR>
                      <a:noFill/>
                    </a:lnR>
                    <a:lnT>
                      <a:noFill/>
                    </a:lnT>
                    <a:lnB>
                      <a:noFill/>
                    </a:lnB>
                    <a:noFill/>
                  </a:tcPr>
                </a:tc>
                <a:tc>
                  <a:txBody>
                    <a:bodyPr/>
                    <a:lstStyle/>
                    <a:p>
                      <a:pPr algn="l"/>
                      <a:r>
                        <a:rPr sz="1500" b="0" i="0" u="none" dirty="0">
                          <a:solidFill>
                            <a:srgbClr val="16A34A"/>
                          </a:solidFill>
                          <a:latin typeface="Inter"/>
                        </a:rPr>
                        <a:t>Yes</a:t>
                      </a:r>
                    </a:p>
                  </a:txBody>
                  <a:tcPr marL="285750" marR="63500" marT="25400" marB="25400" anchor="ctr">
                    <a:lnL>
                      <a:noFill/>
                    </a:lnL>
                    <a:lnR>
                      <a:noFill/>
                    </a:lnR>
                    <a:lnT>
                      <a:noFill/>
                    </a:lnT>
                    <a:lnB>
                      <a:noFill/>
                    </a:lnB>
                    <a:noFill/>
                  </a:tcPr>
                </a:tc>
                <a:extLst>
                  <a:ext uri="{0D108BD9-81ED-4DB2-BD59-A6C34878D82A}">
                    <a16:rowId xmlns:a16="http://schemas.microsoft.com/office/drawing/2014/main" val="10004"/>
                  </a:ext>
                </a:extLst>
              </a:tr>
            </a:tbl>
          </a:graphicData>
        </a:graphic>
      </p:graphicFrame>
      <p:sp>
        <p:nvSpPr>
          <p:cNvPr id="6" name="Rectangle 5"/>
          <p:cNvSpPr/>
          <p:nvPr/>
        </p:nvSpPr>
        <p:spPr>
          <a:xfrm>
            <a:off x="566734" y="277177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05928" y="277177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5545630" y="277177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97585" y="277177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273054" y="277177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72039" y="277177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66734" y="342899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405928" y="342899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5545630" y="342899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897585" y="342899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3054" y="342899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72039" y="342899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566734" y="4086224"/>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3405928" y="4086224"/>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5545630" y="4086224"/>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897585" y="4086224"/>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73054" y="4086224"/>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9672039" y="4086224"/>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566734" y="4743449"/>
            <a:ext cx="283919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405928" y="4743449"/>
            <a:ext cx="213970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545630" y="4743449"/>
            <a:ext cx="135195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897585" y="4743449"/>
            <a:ext cx="1375469"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273054" y="4743449"/>
            <a:ext cx="1398984"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9672039" y="4743449"/>
            <a:ext cx="1934170"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71500" y="571500"/>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Identifying the </a:t>
            </a:r>
            <a:r>
              <a:rPr sz="3300" b="1" i="0" u="none" dirty="0">
                <a:solidFill>
                  <a:srgbClr val="2563EB"/>
                </a:solidFill>
                <a:latin typeface="Inter"/>
              </a:rPr>
              <a:t>Gap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pic>
        <p:nvPicPr>
          <p:cNvPr id="3" name="Picture 2" descr="image.png"/>
          <p:cNvPicPr>
            <a:picLocks noChangeAspect="1"/>
          </p:cNvPicPr>
          <p:nvPr/>
        </p:nvPicPr>
        <p:blipFill>
          <a:blip r:embed="rId3"/>
          <a:stretch>
            <a:fillRect/>
          </a:stretch>
        </p:blipFill>
        <p:spPr>
          <a:xfrm>
            <a:off x="571500" y="1657350"/>
            <a:ext cx="5334000" cy="4629150"/>
          </a:xfrm>
          <a:prstGeom prst="rect">
            <a:avLst/>
          </a:prstGeom>
        </p:spPr>
      </p:pic>
      <p:pic>
        <p:nvPicPr>
          <p:cNvPr id="4" name="Picture 3" descr="image.png"/>
          <p:cNvPicPr>
            <a:picLocks noChangeAspect="1"/>
          </p:cNvPicPr>
          <p:nvPr/>
        </p:nvPicPr>
        <p:blipFill>
          <a:blip r:embed="rId4"/>
          <a:stretch>
            <a:fillRect/>
          </a:stretch>
        </p:blipFill>
        <p:spPr>
          <a:xfrm>
            <a:off x="6286500" y="1657350"/>
            <a:ext cx="5334000" cy="4629150"/>
          </a:xfrm>
          <a:prstGeom prst="rect">
            <a:avLst/>
          </a:prstGeom>
        </p:spPr>
      </p:pic>
      <p:sp>
        <p:nvSpPr>
          <p:cNvPr id="5" name="TextBox 4"/>
          <p:cNvSpPr txBox="1"/>
          <p:nvPr/>
        </p:nvSpPr>
        <p:spPr>
          <a:xfrm>
            <a:off x="962025" y="2047875"/>
            <a:ext cx="4780597" cy="295275"/>
          </a:xfrm>
          <a:prstGeom prst="rect">
            <a:avLst/>
          </a:prstGeom>
          <a:noFill/>
        </p:spPr>
        <p:txBody>
          <a:bodyPr wrap="square" lIns="309413" tIns="0" rIns="0" bIns="0" anchor="t">
            <a:spAutoFit/>
          </a:bodyPr>
          <a:lstStyle/>
          <a:p>
            <a:pPr algn="l"/>
            <a:r>
              <a:rPr sz="1950" b="0" i="0" u="none">
                <a:solidFill>
                  <a:srgbClr val="EF4444"/>
                </a:solidFill>
                <a:latin typeface="Inter SemiBold"/>
              </a:rPr>
              <a:t>Traditional: Fixed Agents</a:t>
            </a:r>
          </a:p>
        </p:txBody>
      </p:sp>
      <p:sp>
        <p:nvSpPr>
          <p:cNvPr id="6" name="TextBox 5"/>
          <p:cNvSpPr txBox="1"/>
          <p:nvPr/>
        </p:nvSpPr>
        <p:spPr>
          <a:xfrm>
            <a:off x="962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Standard agentic systems rely on rigid, hardcoded workflows (e.g., always Planner → Developer → Tester).</a:t>
            </a:r>
          </a:p>
        </p:txBody>
      </p:sp>
      <p:sp>
        <p:nvSpPr>
          <p:cNvPr id="7" name="TextBox 6"/>
          <p:cNvSpPr txBox="1"/>
          <p:nvPr/>
        </p:nvSpPr>
        <p:spPr>
          <a:xfrm>
            <a:off x="6677025" y="2047875"/>
            <a:ext cx="4780597" cy="295275"/>
          </a:xfrm>
          <a:prstGeom prst="rect">
            <a:avLst/>
          </a:prstGeom>
          <a:noFill/>
        </p:spPr>
        <p:txBody>
          <a:bodyPr wrap="square" lIns="309413" tIns="0" rIns="0" bIns="0" anchor="t">
            <a:spAutoFit/>
          </a:bodyPr>
          <a:lstStyle/>
          <a:p>
            <a:pPr algn="l"/>
            <a:r>
              <a:rPr sz="1950" b="0" i="0" u="none">
                <a:solidFill>
                  <a:srgbClr val="16A34A"/>
                </a:solidFill>
                <a:latin typeface="Inter SemiBold"/>
              </a:rPr>
              <a:t>Proposed: Dynamic Generation</a:t>
            </a:r>
          </a:p>
        </p:txBody>
      </p:sp>
      <p:sp>
        <p:nvSpPr>
          <p:cNvPr id="8" name="TextBox 7"/>
          <p:cNvSpPr txBox="1"/>
          <p:nvPr/>
        </p:nvSpPr>
        <p:spPr>
          <a:xfrm>
            <a:off x="6677025" y="2486025"/>
            <a:ext cx="4552950" cy="9144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The Orchestrator analyzes project complexity, risk, and size before execution to spawn agents on-the-fly.</a:t>
            </a:r>
          </a:p>
        </p:txBody>
      </p:sp>
      <p:sp>
        <p:nvSpPr>
          <p:cNvPr id="10" name="TextBox 9"/>
          <p:cNvSpPr txBox="1"/>
          <p:nvPr/>
        </p:nvSpPr>
        <p:spPr>
          <a:xfrm>
            <a:off x="1247775" y="3543300"/>
            <a:ext cx="4267200" cy="3048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Inefficient for small tasks (over-engineered).</a:t>
            </a:r>
          </a:p>
        </p:txBody>
      </p:sp>
      <p:sp>
        <p:nvSpPr>
          <p:cNvPr id="11" name="TextBox 10"/>
          <p:cNvSpPr txBox="1"/>
          <p:nvPr/>
        </p:nvSpPr>
        <p:spPr>
          <a:xfrm>
            <a:off x="1247775" y="4019550"/>
            <a:ext cx="4267200" cy="609600"/>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Lacks specialized roles (Security, DevOps) for complex enterprise apps.</a:t>
            </a:r>
            <a:r>
              <a:rPr lang="en-IN" sz="1500" b="0" i="0" u="none" dirty="0">
                <a:solidFill>
                  <a:srgbClr val="334155"/>
                </a:solidFill>
                <a:latin typeface="Inter"/>
              </a:rPr>
              <a:t> [1]</a:t>
            </a:r>
            <a:endParaRPr sz="1500" b="0" i="0" u="none" dirty="0">
              <a:solidFill>
                <a:srgbClr val="334155"/>
              </a:solidFill>
              <a:latin typeface="Inter"/>
            </a:endParaRPr>
          </a:p>
        </p:txBody>
      </p:sp>
      <p:sp>
        <p:nvSpPr>
          <p:cNvPr id="13" name="TextBox 12"/>
          <p:cNvSpPr txBox="1"/>
          <p:nvPr/>
        </p:nvSpPr>
        <p:spPr>
          <a:xfrm>
            <a:off x="6962775" y="3543300"/>
            <a:ext cx="4267200" cy="3048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Small Script:</a:t>
            </a:r>
            <a:r>
              <a:rPr sz="1500" b="0" i="0" u="none">
                <a:solidFill>
                  <a:srgbClr val="334155"/>
                </a:solidFill>
                <a:latin typeface="Inter"/>
              </a:rPr>
              <a:t> Spawns Planner + Developer.</a:t>
            </a:r>
          </a:p>
        </p:txBody>
      </p:sp>
      <p:sp>
        <p:nvSpPr>
          <p:cNvPr id="14" name="TextBox 13"/>
          <p:cNvSpPr txBox="1"/>
          <p:nvPr/>
        </p:nvSpPr>
        <p:spPr>
          <a:xfrm>
            <a:off x="6962775" y="4019550"/>
            <a:ext cx="4267200" cy="609600"/>
          </a:xfrm>
          <a:prstGeom prst="rect">
            <a:avLst/>
          </a:prstGeom>
          <a:noFill/>
        </p:spPr>
        <p:txBody>
          <a:bodyPr wrap="square" lIns="0" tIns="0" rIns="0" bIns="0" anchor="t">
            <a:spAutoFit/>
          </a:bodyPr>
          <a:lstStyle/>
          <a:p>
            <a:pPr algn="l">
              <a:lnSpc>
                <a:spcPts val="2400"/>
              </a:lnSpc>
            </a:pPr>
            <a:r>
              <a:rPr sz="1500" b="1" i="0" u="none">
                <a:solidFill>
                  <a:srgbClr val="334155"/>
                </a:solidFill>
                <a:latin typeface="Inter"/>
              </a:rPr>
              <a:t>Enterprise App:</a:t>
            </a:r>
            <a:r>
              <a:rPr sz="1500" b="0" i="0" u="none">
                <a:solidFill>
                  <a:srgbClr val="334155"/>
                </a:solidFill>
                <a:latin typeface="Inter"/>
              </a:rPr>
              <a:t> Spawns Architect, Backend, Frontend, Security, QA, DevOps.</a:t>
            </a:r>
          </a:p>
        </p:txBody>
      </p:sp>
      <p:sp>
        <p:nvSpPr>
          <p:cNvPr id="15" name="TextBox 14"/>
          <p:cNvSpPr txBox="1"/>
          <p:nvPr/>
        </p:nvSpPr>
        <p:spPr>
          <a:xfrm>
            <a:off x="6962775" y="4800600"/>
            <a:ext cx="4267200" cy="609600"/>
          </a:xfrm>
          <a:prstGeom prst="rect">
            <a:avLst/>
          </a:prstGeom>
          <a:noFill/>
        </p:spPr>
        <p:txBody>
          <a:bodyPr wrap="square" lIns="0" tIns="0" rIns="0" bIns="0" anchor="t">
            <a:spAutoFit/>
          </a:bodyPr>
          <a:lstStyle/>
          <a:p>
            <a:pPr algn="l">
              <a:lnSpc>
                <a:spcPts val="2400"/>
              </a:lnSpc>
            </a:pPr>
            <a:r>
              <a:rPr sz="1500" b="0" i="0" u="none">
                <a:solidFill>
                  <a:srgbClr val="334155"/>
                </a:solidFill>
                <a:latin typeface="Inter"/>
              </a:rPr>
              <a:t>Agents are retired when tasks complete, saving compute.</a:t>
            </a:r>
          </a:p>
        </p:txBody>
      </p:sp>
      <p:sp>
        <p:nvSpPr>
          <p:cNvPr id="16" name="TextBox 15"/>
          <p:cNvSpPr txBox="1"/>
          <p:nvPr/>
        </p:nvSpPr>
        <p:spPr>
          <a:xfrm>
            <a:off x="962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7" name="TextBox 16"/>
          <p:cNvSpPr txBox="1"/>
          <p:nvPr/>
        </p:nvSpPr>
        <p:spPr>
          <a:xfrm>
            <a:off x="962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8" name="TextBox 17"/>
          <p:cNvSpPr txBox="1"/>
          <p:nvPr/>
        </p:nvSpPr>
        <p:spPr>
          <a:xfrm>
            <a:off x="6677025" y="36004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19" name="TextBox 18"/>
          <p:cNvSpPr txBox="1"/>
          <p:nvPr/>
        </p:nvSpPr>
        <p:spPr>
          <a:xfrm>
            <a:off x="6677025" y="407670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0" name="TextBox 19"/>
          <p:cNvSpPr txBox="1"/>
          <p:nvPr/>
        </p:nvSpPr>
        <p:spPr>
          <a:xfrm>
            <a:off x="6677025" y="4857750"/>
            <a:ext cx="76200" cy="209550"/>
          </a:xfrm>
          <a:prstGeom prst="rect">
            <a:avLst/>
          </a:prstGeom>
          <a:noFill/>
        </p:spPr>
        <p:txBody>
          <a:bodyPr wrap="square" lIns="0" tIns="0" rIns="0" bIns="0" anchor="t">
            <a:spAutoFit/>
          </a:bodyPr>
          <a:lstStyle/>
          <a:p>
            <a:pPr algn="l">
              <a:lnSpc>
                <a:spcPts val="1679"/>
              </a:lnSpc>
            </a:pPr>
            <a:r>
              <a:rPr sz="1050" b="0" i="0" u="none">
                <a:solidFill>
                  <a:srgbClr val="2563EB"/>
                </a:solidFill>
                <a:latin typeface="Inter"/>
              </a:rPr>
              <a:t>■</a:t>
            </a:r>
          </a:p>
        </p:txBody>
      </p:sp>
      <p:sp>
        <p:nvSpPr>
          <p:cNvPr id="21" name="TextBox 20"/>
          <p:cNvSpPr txBox="1"/>
          <p:nvPr/>
        </p:nvSpPr>
        <p:spPr>
          <a:xfrm>
            <a:off x="571500" y="571500"/>
            <a:ext cx="11601450" cy="514350"/>
          </a:xfrm>
          <a:prstGeom prst="rect">
            <a:avLst/>
          </a:prstGeom>
          <a:noFill/>
        </p:spPr>
        <p:txBody>
          <a:bodyPr wrap="square" lIns="0" tIns="0" rIns="0" bIns="0" anchor="t">
            <a:spAutoFit/>
          </a:bodyPr>
          <a:lstStyle/>
          <a:p>
            <a:pPr algn="l"/>
            <a:r>
              <a:rPr sz="3300" b="1" i="0" u="none">
                <a:solidFill>
                  <a:srgbClr val="0F172A"/>
                </a:solidFill>
                <a:latin typeface="Inter"/>
              </a:rPr>
              <a:t>Core Innovation: </a:t>
            </a:r>
            <a:r>
              <a:rPr sz="3300" b="1" i="0" u="none">
                <a:solidFill>
                  <a:srgbClr val="2563EB"/>
                </a:solidFill>
                <a:latin typeface="Inter"/>
              </a:rPr>
              <a:t>Adaptive Team Generation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7" name="Picture 6" descr="image.png">
            <a:extLst>
              <a:ext uri="{FF2B5EF4-FFF2-40B4-BE49-F238E27FC236}">
                <a16:creationId xmlns:a16="http://schemas.microsoft.com/office/drawing/2014/main" id="{C148C6CA-BA22-0BFD-A6EE-48E3BBF21684}"/>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651025" y="374970"/>
            <a:ext cx="10001250" cy="984885"/>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sz="3200" b="1" i="0" u="none" strike="noStrike" kern="1200" cap="none" spc="0" normalizeH="0" baseline="0" noProof="0" dirty="0">
                <a:ln>
                  <a:noFill/>
                </a:ln>
                <a:solidFill>
                  <a:srgbClr val="0F172A"/>
                </a:solidFill>
                <a:effectLst/>
                <a:uLnTx/>
                <a:uFillTx/>
                <a:latin typeface="Inter"/>
              </a:rPr>
              <a:t>Core Innovation:</a:t>
            </a:r>
            <a:r>
              <a:rPr lang="en-IN" sz="3200" dirty="0">
                <a:solidFill>
                  <a:prstClr val="black"/>
                </a:solidFill>
                <a:latin typeface="Inter"/>
              </a:rPr>
              <a:t> </a:t>
            </a:r>
            <a:r>
              <a:rPr kumimoji="0" sz="3200" b="1" i="0" u="none" strike="noStrike" kern="1200" cap="none" spc="0" normalizeH="0" baseline="0" noProof="0" dirty="0">
                <a:ln>
                  <a:noFill/>
                </a:ln>
                <a:solidFill>
                  <a:srgbClr val="2563EB"/>
                </a:solidFill>
                <a:effectLst/>
                <a:uLnTx/>
                <a:uFillTx/>
                <a:latin typeface="Inter"/>
              </a:rPr>
              <a:t>Hierarchical Software Knowledge Graph (HSKG)</a:t>
            </a:r>
          </a:p>
        </p:txBody>
      </p:sp>
      <p:sp>
        <p:nvSpPr>
          <p:cNvPr id="4" name="TextBox 3"/>
          <p:cNvSpPr txBox="1"/>
          <p:nvPr/>
        </p:nvSpPr>
        <p:spPr>
          <a:xfrm>
            <a:off x="651025" y="1690379"/>
            <a:ext cx="3365450" cy="553998"/>
          </a:xfrm>
          <a:prstGeom prst="rect">
            <a:avLst/>
          </a:prstGeom>
          <a:noFill/>
        </p:spPr>
        <p:txBody>
          <a:bodyPr wrap="square" lIns="0" tIns="0" rIns="0" bIns="0" anchor="t">
            <a:spAutoFit/>
          </a:bodyPr>
          <a:lstStyle/>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Beyond Traditional Memory:</a:t>
            </a:r>
            <a:endParaRPr kumimoji="0" lang="en-IN" b="0" i="0" u="none" strike="noStrike" kern="1200" cap="none" spc="0" normalizeH="0" baseline="0" noProof="0" dirty="0">
              <a:ln>
                <a:noFill/>
              </a:ln>
              <a:solidFill>
                <a:srgbClr val="475569"/>
              </a:solidFill>
              <a:effectLst/>
              <a:uLnTx/>
              <a:uFillTx/>
              <a:latin typeface="Inter Medium"/>
              <a:ea typeface="+mn-ea"/>
              <a:cs typeface="+mn-cs"/>
            </a:endParaRPr>
          </a:p>
          <a:p>
            <a:pPr marL="0" marR="0" lvl="0" indent="0" algn="l" defTabSz="457200" rtl="0" eaLnBrk="1" fontAlgn="auto" latinLnBrk="0" hangingPunct="1">
              <a:spcBef>
                <a:spcPts val="0"/>
              </a:spcBef>
              <a:spcAft>
                <a:spcPts val="0"/>
              </a:spcAft>
              <a:buClrTx/>
              <a:buSzTx/>
              <a:buFontTx/>
              <a:buNone/>
              <a:tabLst/>
              <a:defRPr/>
            </a:pPr>
            <a:r>
              <a:rPr kumimoji="0" b="0" i="0" u="none" strike="noStrike" kern="1200" cap="none" spc="0" normalizeH="0" baseline="0" noProof="0" dirty="0">
                <a:ln>
                  <a:noFill/>
                </a:ln>
                <a:solidFill>
                  <a:srgbClr val="475569"/>
                </a:solidFill>
                <a:effectLst/>
                <a:uLnTx/>
                <a:uFillTx/>
                <a:latin typeface="Inter Medium"/>
                <a:ea typeface="+mn-ea"/>
                <a:cs typeface="+mn-cs"/>
              </a:rPr>
              <a:t>A Context-Aware Project Memory</a:t>
            </a:r>
          </a:p>
        </p:txBody>
      </p:sp>
      <p:sp>
        <p:nvSpPr>
          <p:cNvPr id="5" name="TextBox 4"/>
          <p:cNvSpPr txBox="1"/>
          <p:nvPr/>
        </p:nvSpPr>
        <p:spPr>
          <a:xfrm>
            <a:off x="651025" y="2841508"/>
            <a:ext cx="4141834" cy="897169"/>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The Problem:</a:t>
            </a:r>
            <a:r>
              <a:rPr kumimoji="0" sz="1500" b="0" i="0" u="none" strike="noStrike" kern="1200" cap="none" spc="0" normalizeH="0" baseline="0" noProof="0" dirty="0">
                <a:ln>
                  <a:noFill/>
                </a:ln>
                <a:solidFill>
                  <a:srgbClr val="334155"/>
                </a:solidFill>
                <a:effectLst/>
                <a:uLnTx/>
                <a:uFillTx/>
                <a:latin typeface="Inter"/>
                <a:ea typeface="+mn-ea"/>
                <a:cs typeface="+mn-cs"/>
              </a:rPr>
              <a:t> Current AI agents retrieve entire repositories or large documents, resulting in high token consumption and irrelevant context.</a:t>
            </a:r>
            <a:r>
              <a:rPr kumimoji="0" lang="en-IN" sz="1500" b="0" i="0" u="none" strike="noStrike" kern="1200" cap="none" spc="0" normalizeH="0" baseline="0" noProof="0" dirty="0">
                <a:ln>
                  <a:noFill/>
                </a:ln>
                <a:solidFill>
                  <a:srgbClr val="334155"/>
                </a:solidFill>
                <a:effectLst/>
                <a:uLnTx/>
                <a:uFillTx/>
                <a:latin typeface="Inter"/>
                <a:ea typeface="+mn-ea"/>
                <a:cs typeface="+mn-cs"/>
              </a:rPr>
              <a:t> [1]</a:t>
            </a:r>
            <a:endParaRPr kumimoji="0" sz="1500" b="0" i="0" u="none" strike="noStrike" kern="1200" cap="none" spc="0" normalizeH="0" baseline="0" noProof="0" dirty="0">
              <a:ln>
                <a:noFill/>
              </a:ln>
              <a:solidFill>
                <a:srgbClr val="334155"/>
              </a:solidFill>
              <a:effectLst/>
              <a:uLnTx/>
              <a:uFillTx/>
              <a:latin typeface="Inter"/>
              <a:ea typeface="+mn-ea"/>
              <a:cs typeface="+mn-cs"/>
            </a:endParaRPr>
          </a:p>
        </p:txBody>
      </p:sp>
      <p:sp>
        <p:nvSpPr>
          <p:cNvPr id="6" name="TextBox 5"/>
          <p:cNvSpPr txBox="1"/>
          <p:nvPr/>
        </p:nvSpPr>
        <p:spPr>
          <a:xfrm>
            <a:off x="651025" y="4335808"/>
            <a:ext cx="3884104" cy="1204945"/>
          </a:xfrm>
          <a:prstGeom prst="rect">
            <a:avLst/>
          </a:prstGeom>
          <a:noFill/>
        </p:spPr>
        <p:txBody>
          <a:bodyPr wrap="square" lIns="0" tIns="0" rIns="0" bIns="0" anchor="t">
            <a:spAutoFit/>
          </a:bodyPr>
          <a:lstStyle/>
          <a:p>
            <a:pPr marL="0" marR="0" lvl="0" indent="0" algn="l" defTabSz="457200" rtl="0" eaLnBrk="1" fontAlgn="auto" latinLnBrk="0" hangingPunct="1">
              <a:lnSpc>
                <a:spcPts val="2400"/>
              </a:lnSpc>
              <a:spcBef>
                <a:spcPts val="0"/>
              </a:spcBef>
              <a:spcAft>
                <a:spcPts val="0"/>
              </a:spcAft>
              <a:buClrTx/>
              <a:buSzTx/>
              <a:buFontTx/>
              <a:buNone/>
              <a:tabLst/>
              <a:defRPr/>
            </a:pPr>
            <a:r>
              <a:rPr kumimoji="0" sz="1500" b="1" i="0" u="none" strike="noStrike" kern="1200" cap="none" spc="0" normalizeH="0" baseline="0" noProof="0" dirty="0">
                <a:ln>
                  <a:noFill/>
                </a:ln>
                <a:solidFill>
                  <a:srgbClr val="334155"/>
                </a:solidFill>
                <a:effectLst/>
                <a:uLnTx/>
                <a:uFillTx/>
                <a:latin typeface="Inter"/>
                <a:ea typeface="+mn-ea"/>
                <a:cs typeface="+mn-cs"/>
              </a:rPr>
              <a:t>Our Solution:</a:t>
            </a:r>
            <a:r>
              <a:rPr kumimoji="0" sz="1500" b="0" i="0" u="none" strike="noStrike" kern="1200" cap="none" spc="0" normalizeH="0" baseline="0" noProof="0" dirty="0">
                <a:ln>
                  <a:noFill/>
                </a:ln>
                <a:solidFill>
                  <a:srgbClr val="334155"/>
                </a:solidFill>
                <a:effectLst/>
                <a:uLnTx/>
                <a:uFillTx/>
                <a:latin typeface="Inter"/>
                <a:ea typeface="+mn-ea"/>
                <a:cs typeface="+mn-cs"/>
              </a:rPr>
              <a:t> Our proposed HSKG stores the software project as a hierarchical graph, enabling agents to retrieve only the smallest relevant subgraph required for a task.</a:t>
            </a:r>
          </a:p>
        </p:txBody>
      </p:sp>
      <p:pic>
        <p:nvPicPr>
          <p:cNvPr id="8" name="Picture 7" descr="image.png">
            <a:extLst>
              <a:ext uri="{FF2B5EF4-FFF2-40B4-BE49-F238E27FC236}">
                <a16:creationId xmlns:a16="http://schemas.microsoft.com/office/drawing/2014/main" id="{C8894353-4957-A2E0-39B0-543F843E4B23}"/>
              </a:ext>
            </a:extLst>
          </p:cNvPr>
          <p:cNvPicPr>
            <a:picLocks noChangeAspect="1"/>
          </p:cNvPicPr>
          <p:nvPr/>
        </p:nvPicPr>
        <p:blipFill>
          <a:blip r:embed="rId3"/>
          <a:stretch>
            <a:fillRect/>
          </a:stretch>
        </p:blipFill>
        <p:spPr>
          <a:xfrm>
            <a:off x="4740205" y="922135"/>
            <a:ext cx="3365450" cy="5418667"/>
          </a:xfrm>
          <a:prstGeom prst="rect">
            <a:avLst/>
          </a:prstGeom>
        </p:spPr>
      </p:pic>
      <p:pic>
        <p:nvPicPr>
          <p:cNvPr id="10" name="Picture 9" descr="image.png">
            <a:extLst>
              <a:ext uri="{FF2B5EF4-FFF2-40B4-BE49-F238E27FC236}">
                <a16:creationId xmlns:a16="http://schemas.microsoft.com/office/drawing/2014/main" id="{CECFA41D-13C9-DCB9-66E2-F0072055DA33}"/>
              </a:ext>
            </a:extLst>
          </p:cNvPr>
          <p:cNvPicPr>
            <a:picLocks noChangeAspect="1"/>
          </p:cNvPicPr>
          <p:nvPr/>
        </p:nvPicPr>
        <p:blipFill>
          <a:blip r:embed="rId4"/>
          <a:stretch>
            <a:fillRect/>
          </a:stretch>
        </p:blipFill>
        <p:spPr>
          <a:xfrm>
            <a:off x="8310731" y="962373"/>
            <a:ext cx="3365599" cy="5418667"/>
          </a:xfrm>
          <a:prstGeom prst="rect">
            <a:avLst/>
          </a:prstGeom>
        </p:spPr>
      </p:pic>
      <p:pic>
        <p:nvPicPr>
          <p:cNvPr id="12" name="Picture 11" descr="image.png">
            <a:extLst>
              <a:ext uri="{FF2B5EF4-FFF2-40B4-BE49-F238E27FC236}">
                <a16:creationId xmlns:a16="http://schemas.microsoft.com/office/drawing/2014/main" id="{A9C44036-61A8-EAFF-080D-463D5EB47DAE}"/>
              </a:ext>
            </a:extLst>
          </p:cNvPr>
          <p:cNvPicPr>
            <a:picLocks noChangeAspect="1"/>
          </p:cNvPicPr>
          <p:nvPr/>
        </p:nvPicPr>
        <p:blipFill>
          <a:blip r:embed="rId5"/>
          <a:stretch>
            <a:fillRect/>
          </a:stretch>
        </p:blipFill>
        <p:spPr>
          <a:xfrm>
            <a:off x="5109641" y="2157653"/>
            <a:ext cx="2774900" cy="1905000"/>
          </a:xfrm>
          <a:prstGeom prst="rect">
            <a:avLst/>
          </a:prstGeom>
        </p:spPr>
      </p:pic>
      <p:pic>
        <p:nvPicPr>
          <p:cNvPr id="14" name="Picture 13" descr="image.png">
            <a:extLst>
              <a:ext uri="{FF2B5EF4-FFF2-40B4-BE49-F238E27FC236}">
                <a16:creationId xmlns:a16="http://schemas.microsoft.com/office/drawing/2014/main" id="{F43C9D70-D90B-24BB-82BB-1FE1034C86B1}"/>
              </a:ext>
            </a:extLst>
          </p:cNvPr>
          <p:cNvPicPr>
            <a:picLocks noChangeAspect="1"/>
          </p:cNvPicPr>
          <p:nvPr/>
        </p:nvPicPr>
        <p:blipFill>
          <a:blip r:embed="rId6"/>
          <a:stretch>
            <a:fillRect/>
          </a:stretch>
        </p:blipFill>
        <p:spPr>
          <a:xfrm>
            <a:off x="8632189" y="2059766"/>
            <a:ext cx="2775049" cy="695325"/>
          </a:xfrm>
          <a:prstGeom prst="rect">
            <a:avLst/>
          </a:prstGeom>
        </p:spPr>
      </p:pic>
      <p:pic>
        <p:nvPicPr>
          <p:cNvPr id="16" name="Picture 15">
            <a:extLst>
              <a:ext uri="{FF2B5EF4-FFF2-40B4-BE49-F238E27FC236}">
                <a16:creationId xmlns:a16="http://schemas.microsoft.com/office/drawing/2014/main" id="{C12D879C-E449-8EE8-C292-2DEF48407B4B}"/>
              </a:ext>
            </a:extLst>
          </p:cNvPr>
          <p:cNvPicPr>
            <a:picLocks noChangeAspect="1"/>
          </p:cNvPicPr>
          <p:nvPr/>
        </p:nvPicPr>
        <p:blipFill>
          <a:blip r:embed="rId7"/>
          <a:srcRect/>
          <a:stretch/>
        </p:blipFill>
        <p:spPr>
          <a:xfrm>
            <a:off x="8658223" y="2953129"/>
            <a:ext cx="2775049" cy="867202"/>
          </a:xfrm>
          <a:prstGeom prst="rect">
            <a:avLst/>
          </a:prstGeom>
        </p:spPr>
      </p:pic>
      <p:pic>
        <p:nvPicPr>
          <p:cNvPr id="18" name="Picture 17" descr="image.png">
            <a:extLst>
              <a:ext uri="{FF2B5EF4-FFF2-40B4-BE49-F238E27FC236}">
                <a16:creationId xmlns:a16="http://schemas.microsoft.com/office/drawing/2014/main" id="{3450BF5F-ACC6-1481-77A0-89F91D2119A1}"/>
              </a:ext>
            </a:extLst>
          </p:cNvPr>
          <p:cNvPicPr>
            <a:picLocks noChangeAspect="1"/>
          </p:cNvPicPr>
          <p:nvPr/>
        </p:nvPicPr>
        <p:blipFill>
          <a:blip r:embed="rId8"/>
          <a:stretch>
            <a:fillRect/>
          </a:stretch>
        </p:blipFill>
        <p:spPr>
          <a:xfrm>
            <a:off x="5109641" y="1281353"/>
            <a:ext cx="476250" cy="476250"/>
          </a:xfrm>
          <a:prstGeom prst="rect">
            <a:avLst/>
          </a:prstGeom>
        </p:spPr>
      </p:pic>
      <p:sp>
        <p:nvSpPr>
          <p:cNvPr id="20" name="TextBox 19">
            <a:extLst>
              <a:ext uri="{FF2B5EF4-FFF2-40B4-BE49-F238E27FC236}">
                <a16:creationId xmlns:a16="http://schemas.microsoft.com/office/drawing/2014/main" id="{F2BC2538-76AC-5EA5-9CD1-0F4C45DCC710}"/>
              </a:ext>
            </a:extLst>
          </p:cNvPr>
          <p:cNvSpPr txBox="1"/>
          <p:nvPr/>
        </p:nvSpPr>
        <p:spPr>
          <a:xfrm>
            <a:off x="5728766" y="1352790"/>
            <a:ext cx="1608901"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Project Graph</a:t>
            </a:r>
          </a:p>
        </p:txBody>
      </p:sp>
      <p:sp>
        <p:nvSpPr>
          <p:cNvPr id="22" name="TextBox 21">
            <a:extLst>
              <a:ext uri="{FF2B5EF4-FFF2-40B4-BE49-F238E27FC236}">
                <a16:creationId xmlns:a16="http://schemas.microsoft.com/office/drawing/2014/main" id="{FF81CDCC-DDC8-74B1-835F-DEF5155317C5}"/>
              </a:ext>
            </a:extLst>
          </p:cNvPr>
          <p:cNvSpPr txBox="1"/>
          <p:nvPr/>
        </p:nvSpPr>
        <p:spPr>
          <a:xfrm>
            <a:off x="5262041" y="2329103"/>
            <a:ext cx="605872" cy="213776"/>
          </a:xfrm>
          <a:prstGeom prst="rect">
            <a:avLst/>
          </a:prstGeom>
          <a:noFill/>
        </p:spPr>
        <p:txBody>
          <a:bodyPr wrap="square" lIns="0" tIns="0" rIns="0" bIns="0" anchor="t">
            <a:spAutoFit/>
          </a:bodyPr>
          <a:lstStyle/>
          <a:p>
            <a:pPr algn="l">
              <a:lnSpc>
                <a:spcPts val="1800"/>
              </a:lnSpc>
            </a:pPr>
            <a:r>
              <a:rPr sz="1200" b="1" i="0" u="none">
                <a:solidFill>
                  <a:srgbClr val="2563EB"/>
                </a:solidFill>
                <a:latin typeface="monospace"/>
              </a:rPr>
              <a:t>Project</a:t>
            </a:r>
          </a:p>
        </p:txBody>
      </p:sp>
      <p:sp>
        <p:nvSpPr>
          <p:cNvPr id="24" name="TextBox 23">
            <a:extLst>
              <a:ext uri="{FF2B5EF4-FFF2-40B4-BE49-F238E27FC236}">
                <a16:creationId xmlns:a16="http://schemas.microsoft.com/office/drawing/2014/main" id="{AA13F7FD-E8AF-B22C-71D4-B2B1E68640E6}"/>
              </a:ext>
            </a:extLst>
          </p:cNvPr>
          <p:cNvSpPr txBox="1"/>
          <p:nvPr/>
        </p:nvSpPr>
        <p:spPr>
          <a:xfrm>
            <a:off x="5452541" y="2538653"/>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Authentication</a:t>
            </a:r>
            <a:r>
              <a:rPr dirty="0"/>
              <a:t>
</a:t>
            </a:r>
            <a:r>
              <a:rPr sz="1200" b="0" i="0" u="none" dirty="0">
                <a:solidFill>
                  <a:srgbClr val="0F172A"/>
                </a:solidFill>
                <a:latin typeface="monospace"/>
              </a:rPr>
              <a:t>    Login, Register</a:t>
            </a:r>
          </a:p>
        </p:txBody>
      </p:sp>
      <p:sp>
        <p:nvSpPr>
          <p:cNvPr id="26" name="TextBox 25">
            <a:extLst>
              <a:ext uri="{FF2B5EF4-FFF2-40B4-BE49-F238E27FC236}">
                <a16:creationId xmlns:a16="http://schemas.microsoft.com/office/drawing/2014/main" id="{87B79403-EE1D-2590-3964-5B017F6ECAA7}"/>
              </a:ext>
            </a:extLst>
          </p:cNvPr>
          <p:cNvSpPr txBox="1"/>
          <p:nvPr/>
        </p:nvSpPr>
        <p:spPr>
          <a:xfrm>
            <a:off x="5452541" y="2995853"/>
            <a:ext cx="2157172" cy="457200"/>
          </a:xfrm>
          <a:prstGeom prst="rect">
            <a:avLst/>
          </a:prstGeom>
          <a:noFill/>
        </p:spPr>
        <p:txBody>
          <a:bodyPr wrap="square" lIns="0" tIns="0" rIns="0" bIns="0" anchor="t">
            <a:spAutoFit/>
          </a:bodyPr>
          <a:lstStyle/>
          <a:p>
            <a:pPr algn="l">
              <a:lnSpc>
                <a:spcPts val="1800"/>
              </a:lnSpc>
            </a:pPr>
            <a:r>
              <a:rPr sz="1200" b="0" i="0" u="none">
                <a:solidFill>
                  <a:srgbClr val="0F172A"/>
                </a:solidFill>
                <a:latin typeface="monospace"/>
              </a:rPr>
              <a:t>Inventory</a:t>
            </a:r>
            <a:r>
              <a:t>
</a:t>
            </a:r>
            <a:r>
              <a:rPr sz="1200" b="0" i="0" u="none">
                <a:solidFill>
                  <a:srgbClr val="0F172A"/>
                </a:solidFill>
                <a:latin typeface="monospace"/>
              </a:rPr>
              <a:t>    Product, Stock</a:t>
            </a:r>
          </a:p>
        </p:txBody>
      </p:sp>
      <p:sp>
        <p:nvSpPr>
          <p:cNvPr id="28" name="TextBox 27">
            <a:extLst>
              <a:ext uri="{FF2B5EF4-FFF2-40B4-BE49-F238E27FC236}">
                <a16:creationId xmlns:a16="http://schemas.microsoft.com/office/drawing/2014/main" id="{FC3AFB7E-1C71-262A-88A1-0636E38B5FF1}"/>
              </a:ext>
            </a:extLst>
          </p:cNvPr>
          <p:cNvSpPr txBox="1"/>
          <p:nvPr/>
        </p:nvSpPr>
        <p:spPr>
          <a:xfrm>
            <a:off x="5563098" y="3453053"/>
            <a:ext cx="2157172" cy="457200"/>
          </a:xfrm>
          <a:prstGeom prst="rect">
            <a:avLst/>
          </a:prstGeom>
          <a:noFill/>
        </p:spPr>
        <p:txBody>
          <a:bodyPr wrap="square" lIns="0" tIns="0" rIns="0" bIns="0" anchor="t">
            <a:spAutoFit/>
          </a:bodyPr>
          <a:lstStyle/>
          <a:p>
            <a:pPr algn="l">
              <a:lnSpc>
                <a:spcPts val="1800"/>
              </a:lnSpc>
            </a:pPr>
            <a:r>
              <a:rPr sz="1200" b="0" i="0" u="none" dirty="0">
                <a:solidFill>
                  <a:srgbClr val="0F172A"/>
                </a:solidFill>
                <a:latin typeface="monospace"/>
              </a:rPr>
              <a:t>Invoice</a:t>
            </a:r>
            <a:r>
              <a:rPr dirty="0"/>
              <a:t>
</a:t>
            </a:r>
            <a:r>
              <a:rPr sz="1200" b="0" i="0" u="none" dirty="0">
                <a:solidFill>
                  <a:srgbClr val="0F172A"/>
                </a:solidFill>
                <a:latin typeface="monospace"/>
              </a:rPr>
              <a:t>    Create, Payment</a:t>
            </a:r>
          </a:p>
        </p:txBody>
      </p:sp>
      <p:pic>
        <p:nvPicPr>
          <p:cNvPr id="30" name="Picture 29" descr="image.png">
            <a:extLst>
              <a:ext uri="{FF2B5EF4-FFF2-40B4-BE49-F238E27FC236}">
                <a16:creationId xmlns:a16="http://schemas.microsoft.com/office/drawing/2014/main" id="{61E5B721-F27F-9A91-2215-100B6E6A7F34}"/>
              </a:ext>
            </a:extLst>
          </p:cNvPr>
          <p:cNvPicPr>
            <a:picLocks noChangeAspect="1"/>
          </p:cNvPicPr>
          <p:nvPr/>
        </p:nvPicPr>
        <p:blipFill>
          <a:blip r:embed="rId9"/>
          <a:stretch>
            <a:fillRect/>
          </a:stretch>
        </p:blipFill>
        <p:spPr>
          <a:xfrm>
            <a:off x="8632189" y="1183466"/>
            <a:ext cx="476250" cy="476250"/>
          </a:xfrm>
          <a:prstGeom prst="rect">
            <a:avLst/>
          </a:prstGeom>
        </p:spPr>
      </p:pic>
      <p:sp>
        <p:nvSpPr>
          <p:cNvPr id="32" name="TextBox 31">
            <a:extLst>
              <a:ext uri="{FF2B5EF4-FFF2-40B4-BE49-F238E27FC236}">
                <a16:creationId xmlns:a16="http://schemas.microsoft.com/office/drawing/2014/main" id="{92D2E74F-B994-818F-03DF-284A4E268508}"/>
              </a:ext>
            </a:extLst>
          </p:cNvPr>
          <p:cNvSpPr txBox="1"/>
          <p:nvPr/>
        </p:nvSpPr>
        <p:spPr>
          <a:xfrm>
            <a:off x="9269076" y="1321591"/>
            <a:ext cx="2155924" cy="276999"/>
          </a:xfrm>
          <a:prstGeom prst="rect">
            <a:avLst/>
          </a:prstGeom>
          <a:noFill/>
        </p:spPr>
        <p:txBody>
          <a:bodyPr wrap="square" lIns="0" tIns="0" rIns="0" bIns="0" anchor="t">
            <a:spAutoFit/>
          </a:bodyPr>
          <a:lstStyle/>
          <a:p>
            <a:pPr algn="l"/>
            <a:r>
              <a:rPr sz="1800" b="0" i="0" u="none" dirty="0">
                <a:solidFill>
                  <a:srgbClr val="0F172A"/>
                </a:solidFill>
                <a:latin typeface="Poppins SemiBold"/>
              </a:rPr>
              <a:t>Context</a:t>
            </a:r>
            <a:r>
              <a:rPr lang="en-IN" sz="1800" b="0" i="0" u="none" dirty="0">
                <a:solidFill>
                  <a:srgbClr val="0F172A"/>
                </a:solidFill>
                <a:latin typeface="Poppins SemiBold"/>
              </a:rPr>
              <a:t>-</a:t>
            </a:r>
            <a:r>
              <a:rPr sz="1800" b="0" i="0" u="none" dirty="0">
                <a:solidFill>
                  <a:srgbClr val="0F172A"/>
                </a:solidFill>
                <a:latin typeface="Poppins SemiBold"/>
              </a:rPr>
              <a:t>Aware</a:t>
            </a:r>
          </a:p>
        </p:txBody>
      </p:sp>
      <p:pic>
        <p:nvPicPr>
          <p:cNvPr id="34" name="Picture 33" descr="image.png">
            <a:extLst>
              <a:ext uri="{FF2B5EF4-FFF2-40B4-BE49-F238E27FC236}">
                <a16:creationId xmlns:a16="http://schemas.microsoft.com/office/drawing/2014/main" id="{882A0E9C-DFF4-A7E1-CF68-679BD9791604}"/>
              </a:ext>
            </a:extLst>
          </p:cNvPr>
          <p:cNvPicPr>
            <a:picLocks noChangeAspect="1"/>
          </p:cNvPicPr>
          <p:nvPr/>
        </p:nvPicPr>
        <p:blipFill>
          <a:blip r:embed="rId10"/>
          <a:stretch>
            <a:fillRect/>
          </a:stretch>
        </p:blipFill>
        <p:spPr>
          <a:xfrm>
            <a:off x="5219178" y="1405178"/>
            <a:ext cx="257175" cy="228600"/>
          </a:xfrm>
          <a:prstGeom prst="rect">
            <a:avLst/>
          </a:prstGeom>
        </p:spPr>
      </p:pic>
      <p:sp>
        <p:nvSpPr>
          <p:cNvPr id="36" name="TextBox 35">
            <a:extLst>
              <a:ext uri="{FF2B5EF4-FFF2-40B4-BE49-F238E27FC236}">
                <a16:creationId xmlns:a16="http://schemas.microsoft.com/office/drawing/2014/main" id="{43E909B9-3386-C9EC-DD9B-F9AD6805D318}"/>
              </a:ext>
            </a:extLst>
          </p:cNvPr>
          <p:cNvSpPr txBox="1"/>
          <p:nvPr/>
        </p:nvSpPr>
        <p:spPr>
          <a:xfrm>
            <a:off x="5262041" y="2538653"/>
            <a:ext cx="466725"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38" name="TextBox 37">
            <a:extLst>
              <a:ext uri="{FF2B5EF4-FFF2-40B4-BE49-F238E27FC236}">
                <a16:creationId xmlns:a16="http://schemas.microsoft.com/office/drawing/2014/main" id="{F698F0DB-254F-2D40-2AD9-A970CA668489}"/>
              </a:ext>
            </a:extLst>
          </p:cNvPr>
          <p:cNvSpPr txBox="1"/>
          <p:nvPr/>
        </p:nvSpPr>
        <p:spPr>
          <a:xfrm>
            <a:off x="5262041" y="2995853"/>
            <a:ext cx="306597" cy="210763"/>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a:t>
            </a:r>
          </a:p>
        </p:txBody>
      </p:sp>
      <p:sp>
        <p:nvSpPr>
          <p:cNvPr id="40" name="TextBox 39">
            <a:extLst>
              <a:ext uri="{FF2B5EF4-FFF2-40B4-BE49-F238E27FC236}">
                <a16:creationId xmlns:a16="http://schemas.microsoft.com/office/drawing/2014/main" id="{1BD22A3C-922F-6B77-4B7C-BBEDDC1C654D}"/>
              </a:ext>
            </a:extLst>
          </p:cNvPr>
          <p:cNvSpPr txBox="1"/>
          <p:nvPr/>
        </p:nvSpPr>
        <p:spPr>
          <a:xfrm>
            <a:off x="5262041" y="3453053"/>
            <a:ext cx="306597" cy="213776"/>
          </a:xfrm>
          <a:prstGeom prst="rect">
            <a:avLst/>
          </a:prstGeom>
          <a:noFill/>
        </p:spPr>
        <p:txBody>
          <a:bodyPr wrap="square" lIns="0" tIns="0" rIns="0" bIns="0" anchor="t">
            <a:spAutoFit/>
          </a:bodyPr>
          <a:lstStyle/>
          <a:p>
            <a:pPr algn="l">
              <a:lnSpc>
                <a:spcPts val="1800"/>
              </a:lnSpc>
            </a:pPr>
            <a:r>
              <a:rPr sz="1200" b="0" i="0" u="none" dirty="0">
                <a:solidFill>
                  <a:srgbClr val="94A3B8"/>
                </a:solidFill>
                <a:latin typeface="monospace"/>
              </a:rPr>
              <a:t>└── </a:t>
            </a:r>
          </a:p>
        </p:txBody>
      </p:sp>
      <p:pic>
        <p:nvPicPr>
          <p:cNvPr id="42" name="Picture 41" descr="image.png">
            <a:extLst>
              <a:ext uri="{FF2B5EF4-FFF2-40B4-BE49-F238E27FC236}">
                <a16:creationId xmlns:a16="http://schemas.microsoft.com/office/drawing/2014/main" id="{1D2CA2AD-8227-4D6B-04FF-8A120F7E02C9}"/>
              </a:ext>
            </a:extLst>
          </p:cNvPr>
          <p:cNvPicPr>
            <a:picLocks noChangeAspect="1"/>
          </p:cNvPicPr>
          <p:nvPr/>
        </p:nvPicPr>
        <p:blipFill>
          <a:blip r:embed="rId11"/>
          <a:stretch>
            <a:fillRect/>
          </a:stretch>
        </p:blipFill>
        <p:spPr>
          <a:xfrm>
            <a:off x="8756014" y="1307291"/>
            <a:ext cx="228600" cy="228600"/>
          </a:xfrm>
          <a:prstGeom prst="rect">
            <a:avLst/>
          </a:prstGeom>
        </p:spPr>
      </p:pic>
      <p:sp>
        <p:nvSpPr>
          <p:cNvPr id="44" name="TextBox 43">
            <a:extLst>
              <a:ext uri="{FF2B5EF4-FFF2-40B4-BE49-F238E27FC236}">
                <a16:creationId xmlns:a16="http://schemas.microsoft.com/office/drawing/2014/main" id="{AFE40426-94BF-0EC7-C272-59D3C5005D5D}"/>
              </a:ext>
            </a:extLst>
          </p:cNvPr>
          <p:cNvSpPr txBox="1"/>
          <p:nvPr/>
        </p:nvSpPr>
        <p:spPr>
          <a:xfrm>
            <a:off x="9653002" y="2240741"/>
            <a:ext cx="694036" cy="173124"/>
          </a:xfrm>
          <a:prstGeom prst="rect">
            <a:avLst/>
          </a:prstGeom>
          <a:noFill/>
        </p:spPr>
        <p:txBody>
          <a:bodyPr wrap="square" lIns="0" tIns="0" rIns="0" bIns="0" anchor="t">
            <a:spAutoFit/>
          </a:bodyPr>
          <a:lstStyle/>
          <a:p>
            <a:pPr algn="ctr"/>
            <a:r>
              <a:rPr sz="1125" b="1" i="0" u="none">
                <a:solidFill>
                  <a:srgbClr val="334155"/>
                </a:solidFill>
                <a:latin typeface="Inter"/>
              </a:rPr>
              <a:t>Instead of:</a:t>
            </a:r>
          </a:p>
        </p:txBody>
      </p:sp>
      <p:sp>
        <p:nvSpPr>
          <p:cNvPr id="46" name="TextBox 45">
            <a:extLst>
              <a:ext uri="{FF2B5EF4-FFF2-40B4-BE49-F238E27FC236}">
                <a16:creationId xmlns:a16="http://schemas.microsoft.com/office/drawing/2014/main" id="{6C0AE494-88C7-BA10-3B01-D4B27A084DF8}"/>
              </a:ext>
            </a:extLst>
          </p:cNvPr>
          <p:cNvSpPr txBox="1"/>
          <p:nvPr/>
        </p:nvSpPr>
        <p:spPr>
          <a:xfrm>
            <a:off x="5003950" y="4209758"/>
            <a:ext cx="2837960" cy="1815882"/>
          </a:xfrm>
          <a:prstGeom prst="rect">
            <a:avLst/>
          </a:prstGeom>
          <a:noFill/>
        </p:spPr>
        <p:txBody>
          <a:bodyPr wrap="square">
            <a:spAutoFit/>
          </a:bodyPr>
          <a:lstStyle/>
          <a:p>
            <a:pPr>
              <a:buNone/>
            </a:pPr>
            <a:r>
              <a:rPr lang="en-IN" sz="1600" b="1" dirty="0"/>
              <a:t>Purpose</a:t>
            </a:r>
            <a:endParaRPr lang="en-IN" sz="1600" dirty="0"/>
          </a:p>
          <a:p>
            <a:pPr marL="285750" lvl="0" indent="-285750">
              <a:buFont typeface="Arial" panose="020B0604020202020204" pitchFamily="34" charset="0"/>
              <a:buChar char="•"/>
            </a:pPr>
            <a:r>
              <a:rPr lang="en-IN" sz="1600" dirty="0"/>
              <a:t>Represents the complete SDLC structure </a:t>
            </a:r>
          </a:p>
          <a:p>
            <a:pPr marL="285750" lvl="0" indent="-285750">
              <a:buFont typeface="Arial" panose="020B0604020202020204" pitchFamily="34" charset="0"/>
              <a:buChar char="•"/>
            </a:pPr>
            <a:r>
              <a:rPr lang="en-IN" sz="1600" dirty="0"/>
              <a:t>Maintains hierarchy between project components </a:t>
            </a:r>
          </a:p>
          <a:p>
            <a:pPr marL="285750" lvl="0" indent="-285750">
              <a:buFont typeface="Arial" panose="020B0604020202020204" pitchFamily="34" charset="0"/>
              <a:buChar char="•"/>
            </a:pPr>
            <a:r>
              <a:rPr lang="en-IN" sz="1600" dirty="0"/>
              <a:t>Enables modular navigation </a:t>
            </a:r>
          </a:p>
        </p:txBody>
      </p:sp>
      <p:sp>
        <p:nvSpPr>
          <p:cNvPr id="48" name="TextBox 47">
            <a:extLst>
              <a:ext uri="{FF2B5EF4-FFF2-40B4-BE49-F238E27FC236}">
                <a16:creationId xmlns:a16="http://schemas.microsoft.com/office/drawing/2014/main" id="{12D4B858-718C-3FEB-4BCC-04D8417C0C8D}"/>
              </a:ext>
            </a:extLst>
          </p:cNvPr>
          <p:cNvSpPr txBox="1"/>
          <p:nvPr/>
        </p:nvSpPr>
        <p:spPr>
          <a:xfrm>
            <a:off x="8632189" y="4433948"/>
            <a:ext cx="2792811" cy="1569660"/>
          </a:xfrm>
          <a:prstGeom prst="rect">
            <a:avLst/>
          </a:prstGeom>
          <a:noFill/>
        </p:spPr>
        <p:txBody>
          <a:bodyPr wrap="square">
            <a:spAutoFit/>
          </a:bodyPr>
          <a:lstStyle/>
          <a:p>
            <a:pPr>
              <a:buNone/>
            </a:pPr>
            <a:r>
              <a:rPr lang="en-IN" sz="1600" b="1" dirty="0"/>
              <a:t>Benefits</a:t>
            </a:r>
          </a:p>
          <a:p>
            <a:pPr marL="342900" lvl="0" indent="-342900">
              <a:buFont typeface="Arial" panose="020B0604020202020204" pitchFamily="34" charset="0"/>
              <a:buChar char="•"/>
            </a:pPr>
            <a:r>
              <a:rPr lang="en-IN" sz="1600" dirty="0"/>
              <a:t>Minimal context </a:t>
            </a:r>
          </a:p>
          <a:p>
            <a:pPr marL="342900" lvl="0" indent="-342900">
              <a:buFont typeface="Arial" panose="020B0604020202020204" pitchFamily="34" charset="0"/>
              <a:buChar char="•"/>
            </a:pPr>
            <a:r>
              <a:rPr lang="en-IN" sz="1600" dirty="0"/>
              <a:t>Lower token usage </a:t>
            </a:r>
          </a:p>
          <a:p>
            <a:pPr marL="342900" lvl="0" indent="-342900">
              <a:buFont typeface="Arial" panose="020B0604020202020204" pitchFamily="34" charset="0"/>
              <a:buChar char="•"/>
            </a:pPr>
            <a:r>
              <a:rPr lang="en-IN" sz="1600" dirty="0"/>
              <a:t>Faster reasoning </a:t>
            </a:r>
          </a:p>
          <a:p>
            <a:pPr marL="342900" lvl="0" indent="-342900">
              <a:buFont typeface="Arial" panose="020B0604020202020204" pitchFamily="34" charset="0"/>
              <a:buChar char="•"/>
            </a:pPr>
            <a:r>
              <a:rPr lang="en-IN" sz="1600" dirty="0"/>
              <a:t>Better accuracy </a:t>
            </a:r>
          </a:p>
          <a:p>
            <a:pPr marL="342900" lvl="0" indent="-342900">
              <a:buFont typeface="Arial" panose="020B0604020202020204" pitchFamily="34" charset="0"/>
              <a:buChar char="•"/>
            </a:pPr>
            <a:r>
              <a:rPr lang="en-IN" sz="1600" dirty="0"/>
              <a:t>Reduced hallucination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571500" y="1325909"/>
            <a:ext cx="11049000" cy="589392"/>
          </a:xfrm>
          <a:prstGeom prst="rect">
            <a:avLst/>
          </a:prstGeom>
          <a:noFill/>
        </p:spPr>
        <p:txBody>
          <a:bodyPr wrap="square" lIns="0" tIns="0" rIns="0" bIns="0" anchor="t">
            <a:spAutoFit/>
          </a:bodyPr>
          <a:lstStyle/>
          <a:p>
            <a:pPr algn="l">
              <a:lnSpc>
                <a:spcPts val="2400"/>
              </a:lnSpc>
            </a:pPr>
            <a:r>
              <a:rPr sz="1500" b="0" i="0" u="none" dirty="0">
                <a:solidFill>
                  <a:srgbClr val="334155"/>
                </a:solidFill>
                <a:latin typeface="Inter"/>
              </a:rPr>
              <a:t>Deploying via offline models ensures data privacy. Model selection is based on VRAM footprint</a:t>
            </a:r>
            <a:r>
              <a:rPr lang="en-IN" sz="1500" dirty="0">
                <a:solidFill>
                  <a:srgbClr val="334155"/>
                </a:solidFill>
                <a:latin typeface="Inter"/>
              </a:rPr>
              <a:t>, T</a:t>
            </a:r>
            <a:r>
              <a:rPr sz="1500" b="0" i="0" u="none" dirty="0">
                <a:solidFill>
                  <a:srgbClr val="334155"/>
                </a:solidFill>
                <a:latin typeface="Inter"/>
              </a:rPr>
              <a:t>raining data freshness</a:t>
            </a:r>
            <a:r>
              <a:rPr lang="en-IN" sz="1500" b="0" i="0" u="none" dirty="0">
                <a:solidFill>
                  <a:srgbClr val="334155"/>
                </a:solidFill>
                <a:latin typeface="Inter"/>
              </a:rPr>
              <a:t>, Suitable for Agentic Operations</a:t>
            </a:r>
            <a:r>
              <a:rPr sz="1500" b="0" i="0" u="none" dirty="0">
                <a:solidFill>
                  <a:srgbClr val="334155"/>
                </a:solidFill>
                <a:latin typeface="Inter"/>
              </a:rPr>
              <a:t>.</a:t>
            </a:r>
          </a:p>
        </p:txBody>
      </p:sp>
      <p:sp>
        <p:nvSpPr>
          <p:cNvPr id="23" name="TextBox 22"/>
          <p:cNvSpPr txBox="1"/>
          <p:nvPr/>
        </p:nvSpPr>
        <p:spPr>
          <a:xfrm>
            <a:off x="571500" y="571498"/>
            <a:ext cx="11601450" cy="514350"/>
          </a:xfrm>
          <a:prstGeom prst="rect">
            <a:avLst/>
          </a:prstGeom>
          <a:noFill/>
        </p:spPr>
        <p:txBody>
          <a:bodyPr wrap="square" lIns="0" tIns="0" rIns="0" bIns="0" anchor="t">
            <a:spAutoFit/>
          </a:bodyPr>
          <a:lstStyle/>
          <a:p>
            <a:pPr algn="l"/>
            <a:r>
              <a:rPr sz="3300" b="1" i="0" u="none" dirty="0">
                <a:solidFill>
                  <a:srgbClr val="0F172A"/>
                </a:solidFill>
                <a:latin typeface="Inter"/>
              </a:rPr>
              <a:t>Local Offline </a:t>
            </a:r>
            <a:r>
              <a:rPr sz="3300" b="1" i="0" u="none" dirty="0">
                <a:solidFill>
                  <a:srgbClr val="2563EB"/>
                </a:solidFill>
                <a:latin typeface="Inter"/>
              </a:rPr>
              <a:t>Execution Strategy</a:t>
            </a:r>
          </a:p>
        </p:txBody>
      </p:sp>
      <p:graphicFrame>
        <p:nvGraphicFramePr>
          <p:cNvPr id="3" name="Table 2">
            <a:extLst>
              <a:ext uri="{FF2B5EF4-FFF2-40B4-BE49-F238E27FC236}">
                <a16:creationId xmlns:a16="http://schemas.microsoft.com/office/drawing/2014/main" id="{2AA6FC51-8DBD-43A2-56EB-F2C2A62376BA}"/>
              </a:ext>
            </a:extLst>
          </p:cNvPr>
          <p:cNvGraphicFramePr>
            <a:graphicFrameLocks noGrp="1"/>
          </p:cNvGraphicFramePr>
          <p:nvPr>
            <p:extLst>
              <p:ext uri="{D42A27DB-BD31-4B8C-83A1-F6EECF244321}">
                <p14:modId xmlns:p14="http://schemas.microsoft.com/office/powerpoint/2010/main" val="269185049"/>
              </p:ext>
            </p:extLst>
          </p:nvPr>
        </p:nvGraphicFramePr>
        <p:xfrm>
          <a:off x="571501" y="2093145"/>
          <a:ext cx="11049000" cy="4034312"/>
        </p:xfrm>
        <a:graphic>
          <a:graphicData uri="http://schemas.openxmlformats.org/drawingml/2006/table">
            <a:tbl>
              <a:tblPr>
                <a:tableStyleId>{2D5ABB26-0587-4C30-8999-92F81FD0307C}</a:tableStyleId>
              </a:tblPr>
              <a:tblGrid>
                <a:gridCol w="2209800">
                  <a:extLst>
                    <a:ext uri="{9D8B030D-6E8A-4147-A177-3AD203B41FA5}">
                      <a16:colId xmlns:a16="http://schemas.microsoft.com/office/drawing/2014/main" val="1348557304"/>
                    </a:ext>
                  </a:extLst>
                </a:gridCol>
                <a:gridCol w="2209800">
                  <a:extLst>
                    <a:ext uri="{9D8B030D-6E8A-4147-A177-3AD203B41FA5}">
                      <a16:colId xmlns:a16="http://schemas.microsoft.com/office/drawing/2014/main" val="3070456705"/>
                    </a:ext>
                  </a:extLst>
                </a:gridCol>
                <a:gridCol w="2209800">
                  <a:extLst>
                    <a:ext uri="{9D8B030D-6E8A-4147-A177-3AD203B41FA5}">
                      <a16:colId xmlns:a16="http://schemas.microsoft.com/office/drawing/2014/main" val="601088068"/>
                    </a:ext>
                  </a:extLst>
                </a:gridCol>
                <a:gridCol w="2209800">
                  <a:extLst>
                    <a:ext uri="{9D8B030D-6E8A-4147-A177-3AD203B41FA5}">
                      <a16:colId xmlns:a16="http://schemas.microsoft.com/office/drawing/2014/main" val="3846660940"/>
                    </a:ext>
                  </a:extLst>
                </a:gridCol>
                <a:gridCol w="2209800">
                  <a:extLst>
                    <a:ext uri="{9D8B030D-6E8A-4147-A177-3AD203B41FA5}">
                      <a16:colId xmlns:a16="http://schemas.microsoft.com/office/drawing/2014/main" val="311613139"/>
                    </a:ext>
                  </a:extLst>
                </a:gridCol>
              </a:tblGrid>
              <a:tr h="498062">
                <a:tc>
                  <a:txBody>
                    <a:bodyPr/>
                    <a:lstStyle/>
                    <a:p>
                      <a:pPr>
                        <a:buNone/>
                      </a:pPr>
                      <a:r>
                        <a:rPr lang="en-IN" sz="1400" b="1"/>
                        <a:t>Model (4-bit Quant)</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Recommended Hardware (VRAM)</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Knowledge Cutoff</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buNone/>
                      </a:pPr>
                      <a:r>
                        <a:rPr lang="en-IN" sz="1400" b="1"/>
                        <a:t>Agent Capability</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buNone/>
                      </a:pPr>
                      <a:r>
                        <a:rPr lang="en-IN" sz="1400" b="1" dirty="0"/>
                        <a:t>Best Use Case</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558253585"/>
                  </a:ext>
                </a:extLst>
              </a:tr>
              <a:tr h="647482">
                <a:tc>
                  <a:txBody>
                    <a:bodyPr/>
                    <a:lstStyle/>
                    <a:p>
                      <a:pPr>
                        <a:buNone/>
                      </a:pPr>
                      <a:r>
                        <a:rPr lang="en-IN" sz="1400" b="1"/>
                        <a:t>Gemma 4 4B</a:t>
                      </a:r>
                      <a:endParaRPr lang="en-IN" sz="140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Laptop / iGPU (~5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Early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Basic assistants, RAG, lightweight offline agents</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24273148"/>
                  </a:ext>
                </a:extLst>
              </a:tr>
              <a:tr h="796902">
                <a:tc>
                  <a:txBody>
                    <a:bodyPr/>
                    <a:lstStyle/>
                    <a:p>
                      <a:pPr>
                        <a:buNone/>
                      </a:pPr>
                      <a:r>
                        <a:rPr lang="en-IN" sz="1400" b="1" dirty="0"/>
                        <a:t>Gemma 4 12B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dirty="0"/>
                        <a:t>RTX 4070 (8–10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2026</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dirty="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General-purpose AI agents with good reasoning &amp; tool use</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22028612"/>
                  </a:ext>
                </a:extLst>
              </a:tr>
              <a:tr h="647482">
                <a:tc>
                  <a:txBody>
                    <a:bodyPr/>
                    <a:lstStyle/>
                    <a:p>
                      <a:pPr>
                        <a:buNone/>
                      </a:pPr>
                      <a:r>
                        <a:rPr lang="en-IN" sz="1400" b="1" dirty="0"/>
                        <a:t>Mistral Small 3.2 (24B)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RTX 4090 (16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Enterprise agents, multi-tool workflows, planning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27034541"/>
                  </a:ext>
                </a:extLst>
              </a:tr>
              <a:tr h="647482">
                <a:tc>
                  <a:txBody>
                    <a:bodyPr/>
                    <a:lstStyle/>
                    <a:p>
                      <a:pPr>
                        <a:buNone/>
                      </a:pPr>
                      <a:r>
                        <a:rPr lang="en-IN" sz="1400" b="1" dirty="0"/>
                        <a:t>Qwen3-Coder 32B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Workstation / Mac M-Series (20–22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Mid 2025</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Coding agents, debugging, software engineering</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165683234"/>
                  </a:ext>
                </a:extLst>
              </a:tr>
              <a:tr h="796902">
                <a:tc>
                  <a:txBody>
                    <a:bodyPr/>
                    <a:lstStyle/>
                    <a:p>
                      <a:pPr>
                        <a:buNone/>
                      </a:pPr>
                      <a:r>
                        <a:rPr lang="en-IN" sz="1400" b="1" dirty="0"/>
                        <a:t>Llama 3.3 70B</a:t>
                      </a:r>
                      <a:endParaRPr lang="en-IN" sz="1400" dirty="0"/>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en-IN" sz="1400"/>
                        <a:t>Multi-GPU / High-End Server (48+ GB)</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a:t>Late 2023*</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IN" sz="1400"/>
                        <a:t>⭐⭐⭐⭐⭐</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IN" sz="1400" dirty="0"/>
                        <a:t>Research, complex planning, multi-agent orchestration</a:t>
                      </a:r>
                    </a:p>
                  </a:txBody>
                  <a:tcPr marL="55876" marR="55876" marT="27938" marB="2793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81216395"/>
                  </a:ext>
                </a:extLst>
              </a:tr>
            </a:tbl>
          </a:graphicData>
        </a:graphic>
      </p:graphicFrame>
      <p:sp>
        <p:nvSpPr>
          <p:cNvPr id="6" name="TextBox 5">
            <a:extLst>
              <a:ext uri="{FF2B5EF4-FFF2-40B4-BE49-F238E27FC236}">
                <a16:creationId xmlns:a16="http://schemas.microsoft.com/office/drawing/2014/main" id="{FDAF922B-4B4F-0F5C-4CFB-0E6D2F50B079}"/>
              </a:ext>
            </a:extLst>
          </p:cNvPr>
          <p:cNvSpPr txBox="1"/>
          <p:nvPr/>
        </p:nvSpPr>
        <p:spPr>
          <a:xfrm>
            <a:off x="497608" y="6339348"/>
            <a:ext cx="11049002" cy="261610"/>
          </a:xfrm>
          <a:prstGeom prst="rect">
            <a:avLst/>
          </a:prstGeom>
          <a:noFill/>
        </p:spPr>
        <p:txBody>
          <a:bodyPr wrap="square">
            <a:spAutoFit/>
          </a:bodyPr>
          <a:lstStyle/>
          <a:p>
            <a:r>
              <a:rPr lang="en-IN" sz="1100" b="1" dirty="0"/>
              <a:t>Source:</a:t>
            </a:r>
            <a:r>
              <a:rPr lang="en-IN" sz="1100" dirty="0"/>
              <a:t> </a:t>
            </a:r>
            <a:r>
              <a:rPr lang="en-IN" sz="1100" i="1" dirty="0"/>
              <a:t>Compiled from official model documentation and validated using publicly available implementation benchmarks and deployment experiences.</a:t>
            </a:r>
            <a:endParaRPr lang="en-IN"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Box 5"/>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p:cNvPicPr>
            <a:picLocks noChangeAspect="1"/>
          </p:cNvPicPr>
          <p:nvPr/>
        </p:nvPicPr>
        <p:blipFill>
          <a:blip r:embed="rId2"/>
          <a:stretch>
            <a:fillRect/>
          </a:stretch>
        </p:blipFill>
        <p:spPr>
          <a:xfrm>
            <a:off x="-127000" y="-20320"/>
            <a:ext cx="12446000" cy="6858000"/>
          </a:xfrm>
          <a:prstGeom prst="rect">
            <a:avLst/>
          </a:prstGeom>
        </p:spPr>
      </p:pic>
      <p:sp>
        <p:nvSpPr>
          <p:cNvPr id="7" name="TextBox 6">
            <a:extLst>
              <a:ext uri="{FF2B5EF4-FFF2-40B4-BE49-F238E27FC236}">
                <a16:creationId xmlns:a16="http://schemas.microsoft.com/office/drawing/2014/main" id="{1F89E271-73A2-A27E-5A7A-195F2FB1D8C6}"/>
              </a:ext>
            </a:extLst>
          </p:cNvPr>
          <p:cNvSpPr txBox="1"/>
          <p:nvPr/>
        </p:nvSpPr>
        <p:spPr>
          <a:xfrm>
            <a:off x="701370" y="607695"/>
            <a:ext cx="2100255" cy="600164"/>
          </a:xfrm>
          <a:prstGeom prst="rect">
            <a:avLst/>
          </a:prstGeom>
          <a:noFill/>
        </p:spPr>
        <p:txBody>
          <a:bodyPr wrap="none" rtlCol="0">
            <a:spAutoFit/>
          </a:bodyPr>
          <a:lstStyle/>
          <a:p>
            <a:r>
              <a:rPr lang="en-IN" sz="3300" b="1" dirty="0">
                <a:latin typeface="Inter"/>
              </a:rPr>
              <a:t>Conclusion</a:t>
            </a:r>
            <a:endParaRPr lang="en-IN" sz="3300" b="1" dirty="0">
              <a:solidFill>
                <a:srgbClr val="2563EB"/>
              </a:solidFill>
              <a:latin typeface="Inter"/>
            </a:endParaRPr>
          </a:p>
        </p:txBody>
      </p:sp>
      <p:sp>
        <p:nvSpPr>
          <p:cNvPr id="8" name="TextBox 7">
            <a:extLst>
              <a:ext uri="{FF2B5EF4-FFF2-40B4-BE49-F238E27FC236}">
                <a16:creationId xmlns:a16="http://schemas.microsoft.com/office/drawing/2014/main" id="{52FFAFDB-284E-FABD-EC24-FB53EBFFF922}"/>
              </a:ext>
            </a:extLst>
          </p:cNvPr>
          <p:cNvSpPr txBox="1"/>
          <p:nvPr/>
        </p:nvSpPr>
        <p:spPr>
          <a:xfrm>
            <a:off x="701370" y="1564640"/>
            <a:ext cx="10982631" cy="2169825"/>
          </a:xfrm>
          <a:prstGeom prst="rect">
            <a:avLst/>
          </a:prstGeom>
          <a:noFill/>
        </p:spPr>
        <p:txBody>
          <a:bodyPr wrap="square" rtlCol="0">
            <a:spAutoFit/>
          </a:bodyPr>
          <a:lstStyle/>
          <a:p>
            <a:pPr algn="just"/>
            <a:r>
              <a:rPr lang="en-IN" sz="1500" dirty="0">
                <a:latin typeface="Inter"/>
              </a:rPr>
              <a:t>We are proposing an </a:t>
            </a:r>
            <a:r>
              <a:rPr lang="en-IN" sz="1500" b="1" dirty="0">
                <a:latin typeface="Inter"/>
              </a:rPr>
              <a:t>Autonomous Software Development Lifecycle (A-SDLC)</a:t>
            </a:r>
            <a:r>
              <a:rPr lang="en-IN" sz="1500" dirty="0">
                <a:latin typeface="Inter"/>
              </a:rPr>
              <a:t> framework that transforms traditional software engineering into an </a:t>
            </a:r>
            <a:r>
              <a:rPr lang="en-IN" sz="1500" b="1" dirty="0">
                <a:latin typeface="Inter"/>
              </a:rPr>
              <a:t>AI-Orchestrated Software Engineering Organization</a:t>
            </a:r>
            <a:r>
              <a:rPr lang="en-IN" sz="1500" dirty="0">
                <a:latin typeface="Inter"/>
              </a:rPr>
              <a:t>.</a:t>
            </a:r>
          </a:p>
          <a:p>
            <a:pPr algn="just"/>
            <a:endParaRPr lang="en-IN" sz="1500" dirty="0">
              <a:latin typeface="Inter"/>
            </a:endParaRPr>
          </a:p>
          <a:p>
            <a:pPr algn="just"/>
            <a:r>
              <a:rPr lang="en-IN" sz="1500" dirty="0">
                <a:latin typeface="Inter"/>
              </a:rPr>
              <a:t>Instead of isolated coding assistants, the system coordinates multiple specialized AI agents across the complete SDLC—from </a:t>
            </a:r>
            <a:r>
              <a:rPr lang="en-IN" sz="1500" b="1" dirty="0">
                <a:latin typeface="Inter"/>
              </a:rPr>
              <a:t>requirements engineering</a:t>
            </a:r>
            <a:r>
              <a:rPr lang="en-IN" sz="1500" dirty="0">
                <a:latin typeface="Inter"/>
              </a:rPr>
              <a:t> to </a:t>
            </a:r>
            <a:r>
              <a:rPr lang="en-IN" sz="1500" b="1" dirty="0">
                <a:latin typeface="Inter"/>
              </a:rPr>
              <a:t>continuous monitoring and learning</a:t>
            </a:r>
            <a:r>
              <a:rPr lang="en-IN" sz="1500" dirty="0">
                <a:latin typeface="Inter"/>
              </a:rPr>
              <a:t>.</a:t>
            </a:r>
          </a:p>
          <a:p>
            <a:pPr algn="just"/>
            <a:endParaRPr lang="en-IN" sz="1500" dirty="0">
              <a:latin typeface="Inter"/>
            </a:endParaRPr>
          </a:p>
          <a:p>
            <a:pPr algn="just"/>
            <a:endParaRPr lang="en-IN" sz="1500" dirty="0">
              <a:latin typeface="Inter"/>
            </a:endParaRPr>
          </a:p>
          <a:p>
            <a:pPr algn="just"/>
            <a:endParaRPr lang="en-IN" sz="1500" dirty="0">
              <a:latin typeface="Inter"/>
            </a:endParaRPr>
          </a:p>
          <a:p>
            <a:pPr algn="just"/>
            <a:endParaRPr lang="en-IN" sz="1500" dirty="0">
              <a:latin typeface="Inter"/>
            </a:endParaRPr>
          </a:p>
        </p:txBody>
      </p:sp>
      <p:sp>
        <p:nvSpPr>
          <p:cNvPr id="106" name="TextBox 105">
            <a:extLst>
              <a:ext uri="{FF2B5EF4-FFF2-40B4-BE49-F238E27FC236}">
                <a16:creationId xmlns:a16="http://schemas.microsoft.com/office/drawing/2014/main" id="{A0B5A693-1607-FD0D-DBB0-E8445D6CC513}"/>
              </a:ext>
            </a:extLst>
          </p:cNvPr>
          <p:cNvSpPr txBox="1"/>
          <p:nvPr/>
        </p:nvSpPr>
        <p:spPr>
          <a:xfrm>
            <a:off x="835865" y="3271837"/>
            <a:ext cx="5550693" cy="314325"/>
          </a:xfrm>
          <a:prstGeom prst="rect">
            <a:avLst/>
          </a:prstGeom>
          <a:noFill/>
        </p:spPr>
        <p:txBody>
          <a:bodyPr wrap="square" lIns="0" tIns="0" rIns="0" bIns="0" anchor="t">
            <a:spAutoFit/>
          </a:bodyPr>
          <a:lstStyle/>
          <a:p>
            <a:pPr algn="l"/>
            <a:r>
              <a:rPr sz="1650" b="1" i="0" u="none">
                <a:solidFill>
                  <a:srgbClr val="0F172A"/>
                </a:solidFill>
                <a:latin typeface="Poppins"/>
              </a:rPr>
              <a:t>Expected Outcomes</a:t>
            </a:r>
          </a:p>
        </p:txBody>
      </p:sp>
      <p:sp>
        <p:nvSpPr>
          <p:cNvPr id="108" name="TextBox 107">
            <a:extLst>
              <a:ext uri="{FF2B5EF4-FFF2-40B4-BE49-F238E27FC236}">
                <a16:creationId xmlns:a16="http://schemas.microsoft.com/office/drawing/2014/main" id="{04E7DDFE-768C-D219-C521-13495D1F11A9}"/>
              </a:ext>
            </a:extLst>
          </p:cNvPr>
          <p:cNvSpPr txBox="1"/>
          <p:nvPr/>
        </p:nvSpPr>
        <p:spPr>
          <a:xfrm>
            <a:off x="1188290" y="37766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Reduced context size and token consumption</a:t>
            </a:r>
          </a:p>
        </p:txBody>
      </p:sp>
      <p:sp>
        <p:nvSpPr>
          <p:cNvPr id="110" name="TextBox 109">
            <a:extLst>
              <a:ext uri="{FF2B5EF4-FFF2-40B4-BE49-F238E27FC236}">
                <a16:creationId xmlns:a16="http://schemas.microsoft.com/office/drawing/2014/main" id="{D7F4456A-FFC2-F6BB-C366-047FB4A94C0D}"/>
              </a:ext>
            </a:extLst>
          </p:cNvPr>
          <p:cNvSpPr txBox="1"/>
          <p:nvPr/>
        </p:nvSpPr>
        <p:spPr>
          <a:xfrm>
            <a:off x="1188290" y="41386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Faster and more accurate software development</a:t>
            </a:r>
          </a:p>
        </p:txBody>
      </p:sp>
      <p:sp>
        <p:nvSpPr>
          <p:cNvPr id="112" name="TextBox 111">
            <a:extLst>
              <a:ext uri="{FF2B5EF4-FFF2-40B4-BE49-F238E27FC236}">
                <a16:creationId xmlns:a16="http://schemas.microsoft.com/office/drawing/2014/main" id="{51FD3D4B-2D8D-1398-75A5-5798D9FC8104}"/>
              </a:ext>
            </a:extLst>
          </p:cNvPr>
          <p:cNvSpPr txBox="1"/>
          <p:nvPr/>
        </p:nvSpPr>
        <p:spPr>
          <a:xfrm>
            <a:off x="1188290" y="450056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Improved traceability across the SDLC</a:t>
            </a:r>
          </a:p>
        </p:txBody>
      </p:sp>
      <p:sp>
        <p:nvSpPr>
          <p:cNvPr id="114" name="TextBox 113">
            <a:extLst>
              <a:ext uri="{FF2B5EF4-FFF2-40B4-BE49-F238E27FC236}">
                <a16:creationId xmlns:a16="http://schemas.microsoft.com/office/drawing/2014/main" id="{E73D4014-86D0-0F9F-27DA-28FF06974CC3}"/>
              </a:ext>
            </a:extLst>
          </p:cNvPr>
          <p:cNvSpPr txBox="1"/>
          <p:nvPr/>
        </p:nvSpPr>
        <p:spPr>
          <a:xfrm>
            <a:off x="1188290" y="4862512"/>
            <a:ext cx="4933950" cy="209550"/>
          </a:xfrm>
          <a:prstGeom prst="rect">
            <a:avLst/>
          </a:prstGeom>
          <a:noFill/>
        </p:spPr>
        <p:txBody>
          <a:bodyPr wrap="square" lIns="0" tIns="0" rIns="0" bIns="0" anchor="ctr">
            <a:spAutoFit/>
          </a:bodyPr>
          <a:lstStyle/>
          <a:p>
            <a:pPr algn="l"/>
            <a:r>
              <a:rPr sz="1275" b="0" i="0" u="none">
                <a:solidFill>
                  <a:srgbClr val="334155"/>
                </a:solidFill>
                <a:latin typeface="Lato Medium"/>
              </a:rPr>
              <a:t>Persistent engineering knowledge</a:t>
            </a:r>
          </a:p>
        </p:txBody>
      </p:sp>
      <p:pic>
        <p:nvPicPr>
          <p:cNvPr id="128" name="Picture 127" descr="image.png">
            <a:extLst>
              <a:ext uri="{FF2B5EF4-FFF2-40B4-BE49-F238E27FC236}">
                <a16:creationId xmlns:a16="http://schemas.microsoft.com/office/drawing/2014/main" id="{B60B6D2B-5DE3-7090-DD1B-1B02FDFE23A0}"/>
              </a:ext>
            </a:extLst>
          </p:cNvPr>
          <p:cNvPicPr>
            <a:picLocks noChangeAspect="1"/>
          </p:cNvPicPr>
          <p:nvPr/>
        </p:nvPicPr>
        <p:blipFill>
          <a:blip r:embed="rId3"/>
          <a:stretch>
            <a:fillRect/>
          </a:stretch>
        </p:blipFill>
        <p:spPr>
          <a:xfrm>
            <a:off x="835865" y="3771900"/>
            <a:ext cx="209550" cy="219075"/>
          </a:xfrm>
          <a:prstGeom prst="rect">
            <a:avLst/>
          </a:prstGeom>
        </p:spPr>
      </p:pic>
      <p:pic>
        <p:nvPicPr>
          <p:cNvPr id="130" name="Picture 129" descr="image.png">
            <a:extLst>
              <a:ext uri="{FF2B5EF4-FFF2-40B4-BE49-F238E27FC236}">
                <a16:creationId xmlns:a16="http://schemas.microsoft.com/office/drawing/2014/main" id="{56190B3E-1981-C098-5E90-E0BEE0580BE5}"/>
              </a:ext>
            </a:extLst>
          </p:cNvPr>
          <p:cNvPicPr>
            <a:picLocks noChangeAspect="1"/>
          </p:cNvPicPr>
          <p:nvPr/>
        </p:nvPicPr>
        <p:blipFill>
          <a:blip r:embed="rId3"/>
          <a:stretch>
            <a:fillRect/>
          </a:stretch>
        </p:blipFill>
        <p:spPr>
          <a:xfrm>
            <a:off x="835865" y="4133850"/>
            <a:ext cx="209550" cy="219075"/>
          </a:xfrm>
          <a:prstGeom prst="rect">
            <a:avLst/>
          </a:prstGeom>
        </p:spPr>
      </p:pic>
      <p:pic>
        <p:nvPicPr>
          <p:cNvPr id="132" name="Picture 131" descr="image.png">
            <a:extLst>
              <a:ext uri="{FF2B5EF4-FFF2-40B4-BE49-F238E27FC236}">
                <a16:creationId xmlns:a16="http://schemas.microsoft.com/office/drawing/2014/main" id="{A4CC8115-3F4C-33B4-77DA-E981D8E77912}"/>
              </a:ext>
            </a:extLst>
          </p:cNvPr>
          <p:cNvPicPr>
            <a:picLocks noChangeAspect="1"/>
          </p:cNvPicPr>
          <p:nvPr/>
        </p:nvPicPr>
        <p:blipFill>
          <a:blip r:embed="rId3"/>
          <a:stretch>
            <a:fillRect/>
          </a:stretch>
        </p:blipFill>
        <p:spPr>
          <a:xfrm>
            <a:off x="835865" y="4495800"/>
            <a:ext cx="209550" cy="219075"/>
          </a:xfrm>
          <a:prstGeom prst="rect">
            <a:avLst/>
          </a:prstGeom>
        </p:spPr>
      </p:pic>
      <p:pic>
        <p:nvPicPr>
          <p:cNvPr id="134" name="Picture 133" descr="image.png">
            <a:extLst>
              <a:ext uri="{FF2B5EF4-FFF2-40B4-BE49-F238E27FC236}">
                <a16:creationId xmlns:a16="http://schemas.microsoft.com/office/drawing/2014/main" id="{4D4651EE-C88D-E6BA-38F1-E14847DEFDC0}"/>
              </a:ext>
            </a:extLst>
          </p:cNvPr>
          <p:cNvPicPr>
            <a:picLocks noChangeAspect="1"/>
          </p:cNvPicPr>
          <p:nvPr/>
        </p:nvPicPr>
        <p:blipFill>
          <a:blip r:embed="rId3"/>
          <a:stretch>
            <a:fillRect/>
          </a:stretch>
        </p:blipFill>
        <p:spPr>
          <a:xfrm>
            <a:off x="835865" y="4857750"/>
            <a:ext cx="209550" cy="219075"/>
          </a:xfrm>
          <a:prstGeom prst="rect">
            <a:avLst/>
          </a:prstGeom>
        </p:spPr>
      </p:pic>
      <p:sp>
        <p:nvSpPr>
          <p:cNvPr id="4" name="Rectangle 3">
            <a:extLst>
              <a:ext uri="{FF2B5EF4-FFF2-40B4-BE49-F238E27FC236}">
                <a16:creationId xmlns:a16="http://schemas.microsoft.com/office/drawing/2014/main" id="{89409D1F-C205-C268-4D1E-23F4817CFC66}"/>
              </a:ext>
            </a:extLst>
          </p:cNvPr>
          <p:cNvSpPr/>
          <p:nvPr/>
        </p:nvSpPr>
        <p:spPr>
          <a:xfrm>
            <a:off x="760362" y="1201407"/>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 name="Picture 37" descr="image.png">
            <a:extLst>
              <a:ext uri="{FF2B5EF4-FFF2-40B4-BE49-F238E27FC236}">
                <a16:creationId xmlns:a16="http://schemas.microsoft.com/office/drawing/2014/main" id="{79FB4A8F-71C5-327D-3986-3FDF98E36CBD}"/>
              </a:ext>
            </a:extLst>
          </p:cNvPr>
          <p:cNvPicPr>
            <a:picLocks noChangeAspect="1"/>
          </p:cNvPicPr>
          <p:nvPr/>
        </p:nvPicPr>
        <p:blipFill>
          <a:blip r:embed="rId2"/>
          <a:stretch>
            <a:fillRect/>
          </a:stretch>
        </p:blipFill>
        <p:spPr>
          <a:xfrm>
            <a:off x="-241877" y="-20324"/>
            <a:ext cx="12446000" cy="6858000"/>
          </a:xfrm>
          <a:prstGeom prst="rect">
            <a:avLst/>
          </a:prstGeom>
        </p:spPr>
      </p:pic>
      <p:sp>
        <p:nvSpPr>
          <p:cNvPr id="3" name="TextBox 2"/>
          <p:cNvSpPr txBox="1"/>
          <p:nvPr/>
        </p:nvSpPr>
        <p:spPr>
          <a:xfrm>
            <a:off x="495300" y="1332976"/>
            <a:ext cx="5600700" cy="246221"/>
          </a:xfrm>
          <a:prstGeom prst="rect">
            <a:avLst/>
          </a:prstGeom>
          <a:noFill/>
        </p:spPr>
        <p:txBody>
          <a:bodyPr wrap="square" lIns="0" tIns="0" rIns="0" bIns="0" anchor="t">
            <a:spAutoFit/>
          </a:bodyPr>
          <a:lstStyle/>
          <a:p>
            <a:pPr algn="l"/>
            <a:r>
              <a:rPr sz="1600" b="1" i="0" u="none" dirty="0">
                <a:latin typeface="Inter"/>
              </a:rPr>
              <a:t>Research Papers</a:t>
            </a:r>
          </a:p>
        </p:txBody>
      </p:sp>
      <p:sp>
        <p:nvSpPr>
          <p:cNvPr id="4" name="Rectangle 3"/>
          <p:cNvSpPr/>
          <p:nvPr/>
        </p:nvSpPr>
        <p:spPr>
          <a:xfrm>
            <a:off x="495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5" name="TextBox 4"/>
          <p:cNvSpPr txBox="1"/>
          <p:nvPr/>
        </p:nvSpPr>
        <p:spPr>
          <a:xfrm>
            <a:off x="6210300" y="1332976"/>
            <a:ext cx="5600700" cy="246221"/>
          </a:xfrm>
          <a:prstGeom prst="rect">
            <a:avLst/>
          </a:prstGeom>
          <a:noFill/>
        </p:spPr>
        <p:txBody>
          <a:bodyPr wrap="square" lIns="0" tIns="0" rIns="0" bIns="0" anchor="t">
            <a:spAutoFit/>
          </a:bodyPr>
          <a:lstStyle/>
          <a:p>
            <a:pPr algn="l"/>
            <a:r>
              <a:rPr lang="en-IN" sz="1600" b="1" i="0" u="none" dirty="0">
                <a:latin typeface="Inter"/>
              </a:rPr>
              <a:t>Articles &amp; Official Documentations</a:t>
            </a:r>
            <a:endParaRPr sz="1600" b="1" i="0" u="none" dirty="0">
              <a:latin typeface="Inter"/>
            </a:endParaRPr>
          </a:p>
        </p:txBody>
      </p:sp>
      <p:sp>
        <p:nvSpPr>
          <p:cNvPr id="6" name="Rectangle 5"/>
          <p:cNvSpPr/>
          <p:nvPr/>
        </p:nvSpPr>
        <p:spPr>
          <a:xfrm>
            <a:off x="6210300" y="1704451"/>
            <a:ext cx="5334000" cy="9525"/>
          </a:xfrm>
          <a:prstGeom prst="rect">
            <a:avLst/>
          </a:prstGeom>
          <a:solidFill>
            <a:srgbClr val="334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7" name="TextBox 6"/>
          <p:cNvSpPr txBox="1"/>
          <p:nvPr/>
        </p:nvSpPr>
        <p:spPr>
          <a:xfrm>
            <a:off x="495300" y="1904476"/>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sz="1400" b="0" i="0" u="none" dirty="0">
                <a:latin typeface="Inter"/>
              </a:rPr>
              <a:t> He, J., </a:t>
            </a:r>
            <a:r>
              <a:rPr sz="1400" b="0" i="0" u="none" dirty="0" err="1">
                <a:latin typeface="Inter"/>
              </a:rPr>
              <a:t>Treude</a:t>
            </a:r>
            <a:r>
              <a:rPr sz="1400" b="0" i="0" u="none" dirty="0">
                <a:latin typeface="Inter"/>
              </a:rPr>
              <a:t>, C., &amp; Lo, D. (2025). </a:t>
            </a:r>
            <a:r>
              <a:rPr sz="1400" b="0" i="1" u="none" dirty="0">
                <a:latin typeface="Inter"/>
              </a:rPr>
              <a:t>LLM-Based Multi-Agent Systems for Software Engineering: Literature Review, Vision...</a:t>
            </a:r>
            <a:r>
              <a:rPr sz="1400" b="0" i="0" u="none" dirty="0">
                <a:latin typeface="Inter"/>
              </a:rPr>
              <a:t> ACM TOSEM.</a:t>
            </a:r>
          </a:p>
        </p:txBody>
      </p:sp>
      <p:sp>
        <p:nvSpPr>
          <p:cNvPr id="8" name="TextBox 7"/>
          <p:cNvSpPr txBox="1"/>
          <p:nvPr/>
        </p:nvSpPr>
        <p:spPr>
          <a:xfrm>
            <a:off x="495300" y="2445317"/>
            <a:ext cx="5334000" cy="426541"/>
          </a:xfrm>
          <a:prstGeom prst="rect">
            <a:avLst/>
          </a:prstGeom>
          <a:noFill/>
        </p:spPr>
        <p:txBody>
          <a:bodyPr wrap="square" lIns="0" tIns="0" rIns="0" bIns="0" anchor="t">
            <a:spAutoFit/>
          </a:bodyPr>
          <a:lstStyle/>
          <a:p>
            <a:pPr algn="l">
              <a:lnSpc>
                <a:spcPts val="1679"/>
              </a:lnSpc>
            </a:pPr>
            <a:r>
              <a:rPr sz="1400" b="1" i="0" u="none">
                <a:latin typeface="Inter"/>
              </a:rPr>
              <a:t>[2]</a:t>
            </a:r>
            <a:r>
              <a:rPr sz="1400" b="0" i="0" u="none">
                <a:latin typeface="Inter"/>
              </a:rPr>
              <a:t> Apostolou, S. A., et al. (2026). </a:t>
            </a:r>
            <a:r>
              <a:rPr sz="1400" b="0" i="1" u="none">
                <a:latin typeface="Inter"/>
              </a:rPr>
              <a:t>Assistance to Autonomy: A Systematic Literature Review of Agentic AI across the SDLC</a:t>
            </a:r>
            <a:r>
              <a:rPr sz="1400" b="0" i="0" u="none">
                <a:latin typeface="Inter"/>
              </a:rPr>
              <a:t>. arXiv.</a:t>
            </a:r>
          </a:p>
        </p:txBody>
      </p:sp>
      <p:sp>
        <p:nvSpPr>
          <p:cNvPr id="9" name="TextBox 8"/>
          <p:cNvSpPr txBox="1"/>
          <p:nvPr/>
        </p:nvSpPr>
        <p:spPr>
          <a:xfrm>
            <a:off x="495300" y="29861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[3]</a:t>
            </a:r>
            <a:r>
              <a:rPr sz="1400" b="0" i="0" u="none" dirty="0">
                <a:latin typeface="Inter"/>
              </a:rPr>
              <a:t> </a:t>
            </a:r>
            <a:r>
              <a:rPr sz="1400" b="0" i="1" u="none" dirty="0">
                <a:latin typeface="Inter"/>
              </a:rPr>
              <a:t>Agentic AI in the Software Development Lifecycle: Architecture, Empirical Evidence...</a:t>
            </a:r>
            <a:r>
              <a:rPr sz="1400" b="0" i="0" u="none" dirty="0">
                <a:latin typeface="Inter"/>
              </a:rPr>
              <a:t> (2026). </a:t>
            </a:r>
            <a:r>
              <a:rPr sz="1400" b="0" i="0" u="none" dirty="0" err="1">
                <a:latin typeface="Inter"/>
              </a:rPr>
              <a:t>arXiv</a:t>
            </a:r>
            <a:r>
              <a:rPr sz="1400" b="0" i="0" u="none" dirty="0">
                <a:latin typeface="Inter"/>
              </a:rPr>
              <a:t>.</a:t>
            </a:r>
          </a:p>
        </p:txBody>
      </p:sp>
      <p:sp>
        <p:nvSpPr>
          <p:cNvPr id="10" name="TextBox 9"/>
          <p:cNvSpPr txBox="1"/>
          <p:nvPr/>
        </p:nvSpPr>
        <p:spPr>
          <a:xfrm>
            <a:off x="495300" y="3527000"/>
            <a:ext cx="5524500" cy="646908"/>
          </a:xfrm>
          <a:prstGeom prst="rect">
            <a:avLst/>
          </a:prstGeom>
          <a:noFill/>
        </p:spPr>
        <p:txBody>
          <a:bodyPr wrap="square" lIns="0" tIns="0" rIns="0" bIns="0" anchor="t">
            <a:spAutoFit/>
          </a:bodyPr>
          <a:lstStyle/>
          <a:p>
            <a:pPr algn="just">
              <a:lnSpc>
                <a:spcPts val="1679"/>
              </a:lnSpc>
            </a:pPr>
            <a:r>
              <a:rPr sz="1400" b="1" u="none" dirty="0">
                <a:latin typeface="Inter"/>
              </a:rPr>
              <a:t>[4]</a:t>
            </a:r>
            <a:r>
              <a:rPr lang="en-IN" sz="1400" b="1" u="none" dirty="0">
                <a:latin typeface="Inter"/>
              </a:rPr>
              <a:t> </a:t>
            </a:r>
            <a:r>
              <a:rPr lang="en-IN" sz="1400" b="1" dirty="0">
                <a:latin typeface="Inter"/>
              </a:rPr>
              <a:t> </a:t>
            </a:r>
            <a:r>
              <a:rPr lang="en-IN" sz="1400" i="1" dirty="0">
                <a:latin typeface="Inter"/>
              </a:rPr>
              <a:t>Veselka </a:t>
            </a:r>
            <a:r>
              <a:rPr lang="en-IN" sz="1400" i="1" dirty="0" err="1">
                <a:latin typeface="Inter"/>
              </a:rPr>
              <a:t>Sasheva</a:t>
            </a:r>
            <a:r>
              <a:rPr lang="en-IN" sz="1400" i="1" dirty="0">
                <a:latin typeface="Inter"/>
              </a:rPr>
              <a:t> Petrova-Dimitrova, “Classifications of intelligence agents and their applications,” Fundamental sciences and applications, Vol. 28, No. 1, 2022</a:t>
            </a:r>
            <a:r>
              <a:rPr lang="en-IN" sz="1200" i="1" dirty="0">
                <a:latin typeface="Inter"/>
              </a:rPr>
              <a:t>.</a:t>
            </a:r>
            <a:endParaRPr sz="1200" b="0" i="1" u="none" dirty="0">
              <a:latin typeface="Inter"/>
            </a:endParaRPr>
          </a:p>
        </p:txBody>
      </p:sp>
      <p:sp>
        <p:nvSpPr>
          <p:cNvPr id="11" name="TextBox 10"/>
          <p:cNvSpPr txBox="1"/>
          <p:nvPr/>
        </p:nvSpPr>
        <p:spPr>
          <a:xfrm>
            <a:off x="495300" y="431519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[5]</a:t>
            </a:r>
            <a:r>
              <a:rPr sz="1400" b="0" i="0" u="none" dirty="0">
                <a:latin typeface="Inter"/>
              </a:rPr>
              <a:t> Sommerville, I. </a:t>
            </a:r>
            <a:r>
              <a:rPr sz="1400" b="0" i="1" u="none" dirty="0">
                <a:latin typeface="Inter"/>
              </a:rPr>
              <a:t>Software Engineering (10th Edition)</a:t>
            </a:r>
            <a:r>
              <a:rPr sz="1400" b="0" i="0" u="none" dirty="0">
                <a:latin typeface="Inter"/>
              </a:rPr>
              <a:t>.</a:t>
            </a:r>
            <a:endParaRPr lang="en-IN" sz="1400" b="0" i="0" u="none" dirty="0">
              <a:latin typeface="Inter"/>
            </a:endParaRPr>
          </a:p>
        </p:txBody>
      </p:sp>
      <p:sp>
        <p:nvSpPr>
          <p:cNvPr id="12" name="TextBox 11"/>
          <p:cNvSpPr txBox="1"/>
          <p:nvPr/>
        </p:nvSpPr>
        <p:spPr>
          <a:xfrm>
            <a:off x="6210300" y="190447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7</a:t>
            </a:r>
            <a:r>
              <a:rPr sz="1400" b="1" i="0" u="none" dirty="0">
                <a:latin typeface="Inter"/>
              </a:rPr>
              <a:t>]</a:t>
            </a:r>
            <a:r>
              <a:rPr sz="1400" b="0" i="0" u="none" dirty="0">
                <a:latin typeface="Inter"/>
              </a:rPr>
              <a:t> </a:t>
            </a:r>
            <a:r>
              <a:rPr sz="1400" b="0" i="1" u="none" dirty="0" err="1">
                <a:latin typeface="Inter"/>
              </a:rPr>
              <a:t>LangChain</a:t>
            </a:r>
            <a:r>
              <a:rPr sz="1400" b="0" i="1" u="none" dirty="0">
                <a:latin typeface="Inter"/>
              </a:rPr>
              <a:t> Documentation</a:t>
            </a:r>
            <a:r>
              <a:rPr sz="1400" b="0" i="0" u="none" dirty="0">
                <a:latin typeface="Inter"/>
              </a:rPr>
              <a:t>.</a:t>
            </a:r>
          </a:p>
        </p:txBody>
      </p:sp>
      <p:sp>
        <p:nvSpPr>
          <p:cNvPr id="13" name="TextBox 12"/>
          <p:cNvSpPr txBox="1"/>
          <p:nvPr/>
        </p:nvSpPr>
        <p:spPr>
          <a:xfrm>
            <a:off x="6210300" y="2232046"/>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8</a:t>
            </a:r>
            <a:r>
              <a:rPr sz="1400" b="1" i="0" u="none" dirty="0">
                <a:latin typeface="Inter"/>
              </a:rPr>
              <a:t>]</a:t>
            </a:r>
            <a:r>
              <a:rPr sz="1400" b="0" i="0" u="none" dirty="0">
                <a:latin typeface="Inter"/>
              </a:rPr>
              <a:t> </a:t>
            </a:r>
            <a:r>
              <a:rPr sz="1400" b="0" i="1" u="none" dirty="0" err="1">
                <a:latin typeface="Inter"/>
              </a:rPr>
              <a:t>LangGraph</a:t>
            </a:r>
            <a:r>
              <a:rPr sz="1400" b="0" i="1" u="none" dirty="0">
                <a:latin typeface="Inter"/>
              </a:rPr>
              <a:t> Documentation</a:t>
            </a:r>
            <a:r>
              <a:rPr sz="1400" b="0" i="0" u="none" dirty="0">
                <a:latin typeface="Inter"/>
              </a:rPr>
              <a:t>.</a:t>
            </a:r>
          </a:p>
        </p:txBody>
      </p:sp>
      <p:sp>
        <p:nvSpPr>
          <p:cNvPr id="14" name="TextBox 13"/>
          <p:cNvSpPr txBox="1"/>
          <p:nvPr/>
        </p:nvSpPr>
        <p:spPr>
          <a:xfrm>
            <a:off x="6210300" y="2559617"/>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9</a:t>
            </a:r>
            <a:r>
              <a:rPr sz="1400" b="1" i="0" u="none" dirty="0">
                <a:latin typeface="Inter"/>
              </a:rPr>
              <a:t>]</a:t>
            </a:r>
            <a:r>
              <a:rPr sz="1400" b="0" i="0" u="none" dirty="0">
                <a:latin typeface="Inter"/>
              </a:rPr>
              <a:t> </a:t>
            </a:r>
            <a:r>
              <a:rPr sz="1400" b="0" i="1" u="none" dirty="0" err="1">
                <a:latin typeface="Inter"/>
              </a:rPr>
              <a:t>CrewAI</a:t>
            </a:r>
            <a:r>
              <a:rPr sz="1400" b="0" i="1" u="none" dirty="0">
                <a:latin typeface="Inter"/>
              </a:rPr>
              <a:t> Documentation</a:t>
            </a:r>
            <a:r>
              <a:rPr sz="1400" b="0" i="0" u="none" dirty="0">
                <a:latin typeface="Inter"/>
              </a:rPr>
              <a:t>.</a:t>
            </a:r>
          </a:p>
        </p:txBody>
      </p:sp>
      <p:sp>
        <p:nvSpPr>
          <p:cNvPr id="15" name="TextBox 14"/>
          <p:cNvSpPr txBox="1"/>
          <p:nvPr/>
        </p:nvSpPr>
        <p:spPr>
          <a:xfrm>
            <a:off x="6210300" y="2887188"/>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a:t>
            </a:r>
            <a:r>
              <a:rPr lang="en-IN" sz="1400" b="1" i="0" u="none" dirty="0">
                <a:latin typeface="Inter"/>
              </a:rPr>
              <a:t>10</a:t>
            </a:r>
            <a:r>
              <a:rPr sz="1400" b="1" i="0" u="none" dirty="0">
                <a:latin typeface="Inter"/>
              </a:rPr>
              <a:t>]</a:t>
            </a:r>
            <a:r>
              <a:rPr sz="1400" b="0" i="0" u="none" dirty="0">
                <a:latin typeface="Inter"/>
              </a:rPr>
              <a:t> </a:t>
            </a:r>
            <a:r>
              <a:rPr sz="1400" b="0" i="1" u="none" dirty="0">
                <a:latin typeface="Inter"/>
              </a:rPr>
              <a:t>OpenAI Agents SDK Documentation</a:t>
            </a:r>
            <a:r>
              <a:rPr sz="1400" b="0" i="0" u="none" dirty="0">
                <a:latin typeface="Inter"/>
              </a:rPr>
              <a:t>.</a:t>
            </a:r>
          </a:p>
        </p:txBody>
      </p:sp>
      <p:sp>
        <p:nvSpPr>
          <p:cNvPr id="16" name="TextBox 15"/>
          <p:cNvSpPr txBox="1"/>
          <p:nvPr/>
        </p:nvSpPr>
        <p:spPr>
          <a:xfrm>
            <a:off x="6210300" y="3214759"/>
            <a:ext cx="5334000" cy="426541"/>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1</a:t>
            </a:r>
            <a:r>
              <a:rPr sz="1400" b="1" i="0" u="none" dirty="0">
                <a:latin typeface="Inter"/>
              </a:rPr>
              <a:t>]</a:t>
            </a:r>
            <a:r>
              <a:rPr sz="1400" b="0" i="0" u="none" dirty="0">
                <a:latin typeface="Inter"/>
              </a:rPr>
              <a:t> Hong, S., et al. (2024). </a:t>
            </a:r>
            <a:r>
              <a:rPr sz="1400" b="0" i="1" u="none" dirty="0" err="1">
                <a:latin typeface="Inter"/>
              </a:rPr>
              <a:t>MetaGPT</a:t>
            </a:r>
            <a:r>
              <a:rPr sz="1400" b="0" i="1" u="none" dirty="0">
                <a:latin typeface="Inter"/>
              </a:rPr>
              <a:t>: Meta Programming for Multi-Agent Collaborative Framework</a:t>
            </a:r>
            <a:r>
              <a:rPr sz="1400" b="0" i="0" u="none" dirty="0">
                <a:latin typeface="Inter"/>
              </a:rPr>
              <a:t>.</a:t>
            </a:r>
          </a:p>
        </p:txBody>
      </p:sp>
      <p:sp>
        <p:nvSpPr>
          <p:cNvPr id="17" name="TextBox 16"/>
          <p:cNvSpPr txBox="1"/>
          <p:nvPr/>
        </p:nvSpPr>
        <p:spPr>
          <a:xfrm>
            <a:off x="6210300" y="3755600"/>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2</a:t>
            </a:r>
            <a:r>
              <a:rPr sz="1400" b="1" i="0" u="none" dirty="0">
                <a:latin typeface="Inter"/>
              </a:rPr>
              <a:t>]</a:t>
            </a:r>
            <a:r>
              <a:rPr sz="1400" b="0" i="0" u="none" dirty="0">
                <a:latin typeface="Inter"/>
              </a:rPr>
              <a:t> Qian, C., et al. (2024). </a:t>
            </a:r>
            <a:r>
              <a:rPr sz="1400" b="0" i="1" u="none" dirty="0" err="1">
                <a:latin typeface="Inter"/>
              </a:rPr>
              <a:t>ChatDev</a:t>
            </a:r>
            <a:r>
              <a:rPr sz="1400" b="0" i="1" u="none" dirty="0">
                <a:latin typeface="Inter"/>
              </a:rPr>
              <a:t>: Communicative Agents for Software Development</a:t>
            </a:r>
            <a:r>
              <a:rPr sz="1400" b="0" i="0" u="none" dirty="0">
                <a:latin typeface="Inter"/>
              </a:rPr>
              <a:t>.</a:t>
            </a:r>
          </a:p>
        </p:txBody>
      </p:sp>
      <p:sp>
        <p:nvSpPr>
          <p:cNvPr id="18" name="TextBox 17"/>
          <p:cNvSpPr txBox="1"/>
          <p:nvPr/>
        </p:nvSpPr>
        <p:spPr>
          <a:xfrm>
            <a:off x="6210300" y="4296441"/>
            <a:ext cx="5334000" cy="428900"/>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3</a:t>
            </a:r>
            <a:r>
              <a:rPr sz="1400" b="1" i="0" u="none" dirty="0">
                <a:latin typeface="Inter"/>
              </a:rPr>
              <a:t>]</a:t>
            </a:r>
            <a:r>
              <a:rPr sz="1400" b="0" i="0" u="none" dirty="0">
                <a:latin typeface="Inter"/>
              </a:rPr>
              <a:t> Yang, J., et al. (2024). </a:t>
            </a:r>
            <a:r>
              <a:rPr sz="1400" b="0" i="1" u="none" dirty="0">
                <a:latin typeface="Inter"/>
              </a:rPr>
              <a:t>SWE-Agent: Agent-Computer Interfaces Enable Automated SE</a:t>
            </a:r>
            <a:r>
              <a:rPr sz="1400" b="0" i="0" u="none" dirty="0">
                <a:latin typeface="Inter"/>
              </a:rPr>
              <a:t>.</a:t>
            </a:r>
          </a:p>
        </p:txBody>
      </p:sp>
      <p:sp>
        <p:nvSpPr>
          <p:cNvPr id="19" name="TextBox 18"/>
          <p:cNvSpPr txBox="1"/>
          <p:nvPr/>
        </p:nvSpPr>
        <p:spPr>
          <a:xfrm>
            <a:off x="6210300" y="4837283"/>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4</a:t>
            </a:r>
            <a:r>
              <a:rPr sz="1400" b="1" i="0" u="none" dirty="0">
                <a:latin typeface="Inter"/>
              </a:rPr>
              <a:t>]</a:t>
            </a:r>
            <a:r>
              <a:rPr sz="1400" b="0" i="0" u="none" dirty="0">
                <a:latin typeface="Inter"/>
              </a:rPr>
              <a:t> </a:t>
            </a:r>
            <a:r>
              <a:rPr sz="1400" b="0" i="1" u="none" dirty="0" err="1">
                <a:latin typeface="Inter"/>
              </a:rPr>
              <a:t>OpenHands</a:t>
            </a:r>
            <a:r>
              <a:rPr sz="1400" b="0" i="1" u="none" dirty="0">
                <a:latin typeface="Inter"/>
              </a:rPr>
              <a:t> Project</a:t>
            </a:r>
            <a:r>
              <a:rPr sz="1400" b="0" i="0" u="none" dirty="0">
                <a:latin typeface="Inter"/>
              </a:rPr>
              <a:t>.</a:t>
            </a:r>
          </a:p>
        </p:txBody>
      </p:sp>
      <p:sp>
        <p:nvSpPr>
          <p:cNvPr id="20" name="TextBox 19"/>
          <p:cNvSpPr txBox="1"/>
          <p:nvPr/>
        </p:nvSpPr>
        <p:spPr>
          <a:xfrm>
            <a:off x="6220132" y="5164854"/>
            <a:ext cx="5334000" cy="210892"/>
          </a:xfrm>
          <a:prstGeom prst="rect">
            <a:avLst/>
          </a:prstGeom>
          <a:noFill/>
        </p:spPr>
        <p:txBody>
          <a:bodyPr wrap="square" lIns="0" tIns="0" rIns="0" bIns="0" anchor="t">
            <a:spAutoFit/>
          </a:bodyPr>
          <a:lstStyle/>
          <a:p>
            <a:pPr algn="l">
              <a:lnSpc>
                <a:spcPts val="1679"/>
              </a:lnSpc>
            </a:pPr>
            <a:r>
              <a:rPr sz="1400" b="1" i="0" u="none" dirty="0">
                <a:latin typeface="Inter"/>
              </a:rPr>
              <a:t>[1</a:t>
            </a:r>
            <a:r>
              <a:rPr lang="en-IN" sz="1400" b="1" i="0" u="none" dirty="0">
                <a:latin typeface="Inter"/>
              </a:rPr>
              <a:t>5</a:t>
            </a:r>
            <a:r>
              <a:rPr sz="1400" b="1" i="0" u="none" dirty="0">
                <a:latin typeface="Inter"/>
              </a:rPr>
              <a:t>]</a:t>
            </a:r>
            <a:r>
              <a:rPr sz="1400" b="0" i="0" u="none" dirty="0">
                <a:latin typeface="Inter"/>
              </a:rPr>
              <a:t> Cognition AI – </a:t>
            </a:r>
            <a:r>
              <a:rPr sz="1400" b="0" i="1" u="none" dirty="0">
                <a:latin typeface="Inter"/>
              </a:rPr>
              <a:t>Devin: AI Software Engineer</a:t>
            </a:r>
            <a:r>
              <a:rPr sz="1400" b="0" i="0" u="none" dirty="0">
                <a:latin typeface="Inter"/>
              </a:rPr>
              <a:t>.</a:t>
            </a:r>
          </a:p>
        </p:txBody>
      </p:sp>
      <p:sp>
        <p:nvSpPr>
          <p:cNvPr id="35" name="TextBox 34"/>
          <p:cNvSpPr txBox="1"/>
          <p:nvPr/>
        </p:nvSpPr>
        <p:spPr>
          <a:xfrm>
            <a:off x="495300" y="484060"/>
            <a:ext cx="2230278" cy="461665"/>
          </a:xfrm>
          <a:prstGeom prst="rect">
            <a:avLst/>
          </a:prstGeom>
          <a:noFill/>
        </p:spPr>
        <p:txBody>
          <a:bodyPr wrap="square" lIns="0" tIns="0" rIns="0" bIns="0" anchor="t">
            <a:spAutoFit/>
          </a:bodyPr>
          <a:lstStyle/>
          <a:p>
            <a:pPr algn="l"/>
            <a:r>
              <a:rPr sz="3000" b="1" i="0" u="none" dirty="0">
                <a:latin typeface="Inter"/>
              </a:rPr>
              <a:t>References</a:t>
            </a:r>
          </a:p>
        </p:txBody>
      </p:sp>
      <p:sp>
        <p:nvSpPr>
          <p:cNvPr id="36" name="Rectangle 35"/>
          <p:cNvSpPr/>
          <p:nvPr/>
        </p:nvSpPr>
        <p:spPr>
          <a:xfrm>
            <a:off x="495300" y="1046035"/>
            <a:ext cx="2124075" cy="19050"/>
          </a:xfrm>
          <a:prstGeom prst="rect">
            <a:avLst/>
          </a:prstGeom>
          <a:solidFill>
            <a:srgbClr val="38BDF8"/>
          </a:solidFill>
          <a:ln>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TextBox 1">
            <a:extLst>
              <a:ext uri="{FF2B5EF4-FFF2-40B4-BE49-F238E27FC236}">
                <a16:creationId xmlns:a16="http://schemas.microsoft.com/office/drawing/2014/main" id="{6E8E62BB-505E-5A2F-08B5-EE941234AD41}"/>
              </a:ext>
            </a:extLst>
          </p:cNvPr>
          <p:cNvSpPr txBox="1"/>
          <p:nvPr/>
        </p:nvSpPr>
        <p:spPr>
          <a:xfrm>
            <a:off x="6220132" y="5497162"/>
            <a:ext cx="5334000" cy="428900"/>
          </a:xfrm>
          <a:prstGeom prst="rect">
            <a:avLst/>
          </a:prstGeom>
          <a:noFill/>
        </p:spPr>
        <p:txBody>
          <a:bodyPr wrap="square" lIns="0" tIns="0" rIns="0" bIns="0" anchor="t">
            <a:spAutoFit/>
          </a:bodyPr>
          <a:lstStyle/>
          <a:p>
            <a:pPr>
              <a:lnSpc>
                <a:spcPts val="1679"/>
              </a:lnSpc>
            </a:pPr>
            <a:r>
              <a:rPr lang="en-IN" sz="1400" b="1" dirty="0">
                <a:latin typeface="Inter"/>
              </a:rPr>
              <a:t>[16] </a:t>
            </a:r>
            <a:r>
              <a:rPr lang="en-IN" sz="1400" i="1" dirty="0">
                <a:latin typeface="Inter"/>
              </a:rPr>
              <a:t>Microsoft-copilot/for-individuals/do-more-with-ai/general-ai/understanding-ai-agents-vs-chatbots?</a:t>
            </a:r>
            <a:endParaRPr sz="1400" i="1" u="none" dirty="0">
              <a:latin typeface="Inter"/>
            </a:endParaRPr>
          </a:p>
        </p:txBody>
      </p:sp>
      <p:sp>
        <p:nvSpPr>
          <p:cNvPr id="22" name="TextBox 21">
            <a:extLst>
              <a:ext uri="{FF2B5EF4-FFF2-40B4-BE49-F238E27FC236}">
                <a16:creationId xmlns:a16="http://schemas.microsoft.com/office/drawing/2014/main" id="{58149381-955F-2B37-3862-782D5C80C1DD}"/>
              </a:ext>
            </a:extLst>
          </p:cNvPr>
          <p:cNvSpPr txBox="1"/>
          <p:nvPr/>
        </p:nvSpPr>
        <p:spPr>
          <a:xfrm>
            <a:off x="6220132" y="6006937"/>
            <a:ext cx="5334000" cy="210892"/>
          </a:xfrm>
          <a:prstGeom prst="rect">
            <a:avLst/>
          </a:prstGeom>
          <a:noFill/>
        </p:spPr>
        <p:txBody>
          <a:bodyPr wrap="square" lIns="0" tIns="0" rIns="0" bIns="0" anchor="t">
            <a:spAutoFit/>
          </a:bodyPr>
          <a:lstStyle/>
          <a:p>
            <a:pPr>
              <a:lnSpc>
                <a:spcPts val="1679"/>
              </a:lnSpc>
            </a:pPr>
            <a:r>
              <a:rPr lang="en-IN" sz="1400" b="1" dirty="0">
                <a:latin typeface="Inter"/>
              </a:rPr>
              <a:t>[17] </a:t>
            </a:r>
            <a:r>
              <a:rPr lang="en-IN" sz="1400" i="1" dirty="0">
                <a:latin typeface="Inter"/>
              </a:rPr>
              <a:t>IBM: https://www.ibm.com/think/topics/ai-agents</a:t>
            </a:r>
            <a:endParaRPr sz="1400" i="1" u="none" dirty="0">
              <a:latin typeface="Inter"/>
            </a:endParaRPr>
          </a:p>
        </p:txBody>
      </p:sp>
      <p:sp>
        <p:nvSpPr>
          <p:cNvPr id="23" name="TextBox 22">
            <a:extLst>
              <a:ext uri="{FF2B5EF4-FFF2-40B4-BE49-F238E27FC236}">
                <a16:creationId xmlns:a16="http://schemas.microsoft.com/office/drawing/2014/main" id="{A08DFA41-5778-0F5C-F51F-B44ED9727639}"/>
              </a:ext>
            </a:extLst>
          </p:cNvPr>
          <p:cNvSpPr txBox="1"/>
          <p:nvPr/>
        </p:nvSpPr>
        <p:spPr>
          <a:xfrm>
            <a:off x="6220132" y="6316860"/>
            <a:ext cx="5334000" cy="428900"/>
          </a:xfrm>
          <a:prstGeom prst="rect">
            <a:avLst/>
          </a:prstGeom>
          <a:noFill/>
        </p:spPr>
        <p:txBody>
          <a:bodyPr wrap="square" lIns="0" tIns="0" rIns="0" bIns="0" anchor="t">
            <a:spAutoFit/>
          </a:bodyPr>
          <a:lstStyle/>
          <a:p>
            <a:pPr>
              <a:lnSpc>
                <a:spcPts val="1679"/>
              </a:lnSpc>
            </a:pPr>
            <a:r>
              <a:rPr lang="en-IN" sz="1400" b="1" dirty="0">
                <a:latin typeface="Inter"/>
              </a:rPr>
              <a:t>[18] </a:t>
            </a:r>
            <a:r>
              <a:rPr lang="en-IN" sz="1400" i="1" dirty="0">
                <a:latin typeface="Inter"/>
              </a:rPr>
              <a:t>Google Cloud</a:t>
            </a:r>
            <a:r>
              <a:rPr lang="en-IN" sz="1400" b="1" dirty="0">
                <a:latin typeface="Inter"/>
              </a:rPr>
              <a:t>: </a:t>
            </a:r>
            <a:r>
              <a:rPr lang="en-IN" sz="1400" i="1" dirty="0">
                <a:latin typeface="Inter"/>
              </a:rPr>
              <a:t>cloud.google.com/discover/what-is-model-context-protocol</a:t>
            </a:r>
            <a:endParaRPr sz="1400" i="1" u="none" dirty="0">
              <a:latin typeface="Inter"/>
            </a:endParaRPr>
          </a:p>
        </p:txBody>
      </p:sp>
      <p:sp>
        <p:nvSpPr>
          <p:cNvPr id="24" name="TextBox 23">
            <a:extLst>
              <a:ext uri="{FF2B5EF4-FFF2-40B4-BE49-F238E27FC236}">
                <a16:creationId xmlns:a16="http://schemas.microsoft.com/office/drawing/2014/main" id="{1F9F5C35-8A3C-027A-CB09-1AF228A41E4B}"/>
              </a:ext>
            </a:extLst>
          </p:cNvPr>
          <p:cNvSpPr txBox="1"/>
          <p:nvPr/>
        </p:nvSpPr>
        <p:spPr>
          <a:xfrm>
            <a:off x="485468" y="4612522"/>
            <a:ext cx="5610532" cy="428900"/>
          </a:xfrm>
          <a:prstGeom prst="rect">
            <a:avLst/>
          </a:prstGeom>
          <a:noFill/>
        </p:spPr>
        <p:txBody>
          <a:bodyPr wrap="square" lIns="0" tIns="0" rIns="0" bIns="0" anchor="t">
            <a:spAutoFit/>
          </a:bodyPr>
          <a:lstStyle/>
          <a:p>
            <a:pPr>
              <a:lnSpc>
                <a:spcPts val="1679"/>
              </a:lnSpc>
            </a:pPr>
            <a:r>
              <a:rPr sz="1400" b="1" i="0" u="none" dirty="0">
                <a:latin typeface="Inter"/>
              </a:rPr>
              <a:t>[</a:t>
            </a:r>
            <a:r>
              <a:rPr lang="en-IN" sz="1400" b="1" i="0" u="none" dirty="0">
                <a:latin typeface="Inter"/>
              </a:rPr>
              <a:t>6</a:t>
            </a:r>
            <a:r>
              <a:rPr sz="1400" b="1" i="0" u="none" dirty="0">
                <a:latin typeface="Inter"/>
              </a:rPr>
              <a:t>]</a:t>
            </a:r>
            <a:r>
              <a:rPr sz="1400" b="0" i="0" u="none" dirty="0">
                <a:latin typeface="Inter"/>
              </a:rPr>
              <a:t> </a:t>
            </a:r>
            <a:r>
              <a:rPr lang="en-IN" sz="1400" dirty="0"/>
              <a:t>Yao, S., Zhao, J., Yu, D., et al. (2022). </a:t>
            </a:r>
            <a:r>
              <a:rPr lang="en-IN" sz="1400" b="1" dirty="0" err="1"/>
              <a:t>ReAct</a:t>
            </a:r>
            <a:r>
              <a:rPr lang="en-IN" sz="1400" b="1" dirty="0"/>
              <a:t>: </a:t>
            </a:r>
            <a:r>
              <a:rPr lang="en-IN" sz="1400" dirty="0"/>
              <a:t>Synergizing Reasoning and Acting in Language Models. </a:t>
            </a:r>
            <a:r>
              <a:rPr lang="en-IN" sz="1400" i="1" dirty="0" err="1"/>
              <a:t>arXiv</a:t>
            </a:r>
            <a:r>
              <a:rPr lang="en-IN" sz="1400" dirty="0"/>
              <a:t>. </a:t>
            </a:r>
            <a:r>
              <a:rPr lang="en-IN" sz="1400" dirty="0">
                <a:hlinkClick r:id="rId3"/>
              </a:rPr>
              <a:t>https://doi.org/10.48550/arxiv.2210.03629</a:t>
            </a:r>
            <a:endParaRPr lang="en-IN" sz="1400" b="0" i="0" u="none" dirty="0">
              <a:latin typeface="Inte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174B636A-EEAD-78BB-9121-0D9E5F13743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F30942B-D517-8939-2F9F-FFB3488A77E3}"/>
              </a:ext>
            </a:extLst>
          </p:cNvPr>
          <p:cNvSpPr txBox="1"/>
          <p:nvPr/>
        </p:nvSpPr>
        <p:spPr>
          <a:xfrm>
            <a:off x="1209675" y="1815554"/>
            <a:ext cx="451693" cy="1095375"/>
          </a:xfrm>
          <a:prstGeom prst="rect">
            <a:avLst/>
          </a:prstGeom>
          <a:noFill/>
        </p:spPr>
        <p:txBody>
          <a:bodyPr wrap="square" lIns="0" tIns="0" rIns="0" bIns="0" anchor="t">
            <a:spAutoFit/>
          </a:bodyPr>
          <a:lstStyle/>
          <a:p>
            <a:pPr algn="l">
              <a:lnSpc>
                <a:spcPts val="0"/>
              </a:lnSpc>
            </a:pPr>
            <a:r>
              <a:rPr sz="7500" b="0" i="0" u="none">
                <a:solidFill>
                  <a:srgbClr val="CBD5E1"/>
                </a:solidFill>
                <a:latin typeface="Arial SemiBold"/>
              </a:rPr>
              <a:t>"</a:t>
            </a:r>
          </a:p>
        </p:txBody>
      </p:sp>
      <p:pic>
        <p:nvPicPr>
          <p:cNvPr id="2" name="Picture 1" descr="image.png">
            <a:extLst>
              <a:ext uri="{FF2B5EF4-FFF2-40B4-BE49-F238E27FC236}">
                <a16:creationId xmlns:a16="http://schemas.microsoft.com/office/drawing/2014/main" id="{DAD3B9FC-D4F5-728A-3BC6-14807CFC7D41}"/>
              </a:ext>
            </a:extLst>
          </p:cNvPr>
          <p:cNvPicPr>
            <a:picLocks noChangeAspect="1"/>
          </p:cNvPicPr>
          <p:nvPr/>
        </p:nvPicPr>
        <p:blipFill>
          <a:blip r:embed="rId2"/>
          <a:stretch>
            <a:fillRect/>
          </a:stretch>
        </p:blipFill>
        <p:spPr>
          <a:xfrm>
            <a:off x="0" y="0"/>
            <a:ext cx="12192000" cy="6858000"/>
          </a:xfrm>
          <a:prstGeom prst="rect">
            <a:avLst/>
          </a:prstGeom>
        </p:spPr>
      </p:pic>
      <p:sp>
        <p:nvSpPr>
          <p:cNvPr id="7" name="TextBox 6">
            <a:extLst>
              <a:ext uri="{FF2B5EF4-FFF2-40B4-BE49-F238E27FC236}">
                <a16:creationId xmlns:a16="http://schemas.microsoft.com/office/drawing/2014/main" id="{14F4D3A6-0717-E18B-22C6-D0EBDD70B4CF}"/>
              </a:ext>
            </a:extLst>
          </p:cNvPr>
          <p:cNvSpPr txBox="1"/>
          <p:nvPr/>
        </p:nvSpPr>
        <p:spPr>
          <a:xfrm>
            <a:off x="4521530" y="2967335"/>
            <a:ext cx="3148939" cy="923330"/>
          </a:xfrm>
          <a:prstGeom prst="rect">
            <a:avLst/>
          </a:prstGeom>
          <a:noFill/>
        </p:spPr>
        <p:txBody>
          <a:bodyPr wrap="none" rtlCol="0">
            <a:spAutoFit/>
          </a:bodyPr>
          <a:lstStyle/>
          <a:p>
            <a:r>
              <a:rPr lang="en-IN" sz="5400" b="1" dirty="0">
                <a:solidFill>
                  <a:srgbClr val="2563EB"/>
                </a:solidFill>
              </a:rPr>
              <a:t>Thank You</a:t>
            </a:r>
          </a:p>
        </p:txBody>
      </p:sp>
    </p:spTree>
    <p:extLst>
      <p:ext uri="{BB962C8B-B14F-4D97-AF65-F5344CB8AC3E}">
        <p14:creationId xmlns:p14="http://schemas.microsoft.com/office/powerpoint/2010/main" val="411120295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930</TotalTime>
  <Words>2744</Words>
  <Application>Microsoft Office PowerPoint</Application>
  <PresentationFormat>Widescreen</PresentationFormat>
  <Paragraphs>331</Paragraphs>
  <Slides>20</Slides>
  <Notes>0</Notes>
  <HiddenSlides>0</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20</vt:i4>
      </vt:variant>
    </vt:vector>
  </HeadingPairs>
  <TitlesOfParts>
    <vt:vector size="34" baseType="lpstr">
      <vt:lpstr>anthropicSerif</vt:lpstr>
      <vt:lpstr>Arial</vt:lpstr>
      <vt:lpstr>Arial SemiBold</vt:lpstr>
      <vt:lpstr>Calibri</vt:lpstr>
      <vt:lpstr>Fira Code</vt:lpstr>
      <vt:lpstr>Google Sans Text</vt:lpstr>
      <vt:lpstr>Inter</vt:lpstr>
      <vt:lpstr>Inter Medium</vt:lpstr>
      <vt:lpstr>Inter SemiBold</vt:lpstr>
      <vt:lpstr>Lato Medium</vt:lpstr>
      <vt:lpstr>monospace</vt:lpstr>
      <vt:lpstr>Poppins</vt:lpstr>
      <vt:lpstr>Poppins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Abhishek Raj</cp:lastModifiedBy>
  <cp:revision>18</cp:revision>
  <dcterms:created xsi:type="dcterms:W3CDTF">2013-01-27T09:14:16Z</dcterms:created>
  <dcterms:modified xsi:type="dcterms:W3CDTF">2026-08-10T09:52:40Z</dcterms:modified>
  <cp:category/>
</cp:coreProperties>
</file>