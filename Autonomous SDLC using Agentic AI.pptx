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1" r:id="rId6"/>
    <p:sldId id="260" r:id="rId7"/>
    <p:sldId id="262" r:id="rId8"/>
    <p:sldId id="267" r:id="rId9"/>
    <p:sldId id="264" r:id="rId10"/>
    <p:sldId id="265" r:id="rId11"/>
    <p:sldId id="268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563E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1003" autoAdjust="0"/>
    <p:restoredTop sz="94660"/>
  </p:normalViewPr>
  <p:slideViewPr>
    <p:cSldViewPr snapToGrid="0" snapToObjects="1">
      <p:cViewPr>
        <p:scale>
          <a:sx n="85" d="100"/>
          <a:sy n="85" d="100"/>
        </p:scale>
        <p:origin x="317" y="-101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10" Type="http://schemas.openxmlformats.org/officeDocument/2006/relationships/image" Target="../media/image10.png"/><Relationship Id="rId4" Type="http://schemas.openxmlformats.org/officeDocument/2006/relationships/image" Target="../media/image4.png"/><Relationship Id="rId9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2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3" Type="http://schemas.openxmlformats.org/officeDocument/2006/relationships/image" Target="../media/image14.png"/><Relationship Id="rId7" Type="http://schemas.openxmlformats.org/officeDocument/2006/relationships/image" Target="../media/image18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10" Type="http://schemas.openxmlformats.org/officeDocument/2006/relationships/image" Target="../media/image21.png"/><Relationship Id="rId4" Type="http://schemas.openxmlformats.org/officeDocument/2006/relationships/image" Target="../media/image15.png"/><Relationship Id="rId9" Type="http://schemas.openxmlformats.org/officeDocument/2006/relationships/image" Target="../media/image20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95275" y="2363241"/>
            <a:ext cx="11601450" cy="1401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5520"/>
              </a:lnSpc>
            </a:pPr>
            <a:r>
              <a:rPr sz="4800" b="1" i="0" u="none" dirty="0">
                <a:solidFill>
                  <a:srgbClr val="0F172A"/>
                </a:solidFill>
                <a:latin typeface="Inter"/>
              </a:rPr>
              <a:t>Autonomous SDLC</a:t>
            </a:r>
            <a:r>
              <a:rPr dirty="0"/>
              <a:t>
</a:t>
            </a:r>
            <a:r>
              <a:rPr sz="4800" b="1" i="0" u="none" dirty="0">
                <a:solidFill>
                  <a:srgbClr val="0F172A"/>
                </a:solidFill>
                <a:latin typeface="Inter"/>
              </a:rPr>
              <a:t> using </a:t>
            </a:r>
            <a:r>
              <a:rPr sz="4800" b="1" i="0" u="none" dirty="0">
                <a:solidFill>
                  <a:srgbClr val="2563EB"/>
                </a:solidFill>
                <a:latin typeface="Inter"/>
              </a:rPr>
              <a:t>Agentic AI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71500" y="3955702"/>
            <a:ext cx="11049000" cy="3961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3120"/>
              </a:lnSpc>
            </a:pPr>
            <a:r>
              <a:rPr sz="1950" b="0" i="0" u="none">
                <a:solidFill>
                  <a:srgbClr val="64748B"/>
                </a:solidFill>
                <a:latin typeface="Inter Medium"/>
              </a:rPr>
              <a:t>Building an Adaptive AI Software Engineering Organization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190539" y="1711982"/>
            <a:ext cx="9013639" cy="2659025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15591" y="1317946"/>
            <a:ext cx="10848822" cy="49244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just">
              <a:defRPr sz="2000"/>
            </a:pPr>
            <a:r>
              <a:rPr lang="en-US" sz="1600" dirty="0">
                <a:latin typeface="Inter"/>
              </a:rPr>
              <a:t>The Traditional Software Development Life Cycle (SDLC) is the structured framework that engineering teams follow to plan, design, build, test, and deploy software applications from initial concept. 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71500" y="542032"/>
            <a:ext cx="11601450" cy="514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300" b="1" i="0" u="none" dirty="0">
                <a:solidFill>
                  <a:srgbClr val="0F172A"/>
                </a:solidFill>
                <a:latin typeface="Inter"/>
              </a:rPr>
              <a:t>The Friction of </a:t>
            </a:r>
            <a:r>
              <a:rPr sz="3300" b="1" i="0" u="none" dirty="0">
                <a:solidFill>
                  <a:srgbClr val="2563EB"/>
                </a:solidFill>
                <a:latin typeface="Inter"/>
              </a:rPr>
              <a:t>Traditional SDLC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0F3CF981-F4E7-6250-EC53-D95CA12BD3A0}"/>
              </a:ext>
            </a:extLst>
          </p:cNvPr>
          <p:cNvSpPr txBox="1"/>
          <p:nvPr/>
        </p:nvSpPr>
        <p:spPr>
          <a:xfrm>
            <a:off x="615591" y="4185837"/>
            <a:ext cx="10848822" cy="172354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just">
              <a:defRPr sz="2000"/>
            </a:pPr>
            <a:r>
              <a:rPr lang="en-IN" sz="1600" dirty="0">
                <a:latin typeface="Inter"/>
              </a:rPr>
              <a:t>This Manual SDLC execution creates severe friction—engineers waste most of their time on administrative handoffs, environment setups, regression testing, and ticketing overhead instead of writing core logic.</a:t>
            </a:r>
          </a:p>
          <a:p>
            <a:pPr algn="just">
              <a:defRPr sz="2000"/>
            </a:pPr>
            <a:endParaRPr lang="en-IN" sz="1600" b="1" dirty="0">
              <a:latin typeface="Inter"/>
            </a:endParaRPr>
          </a:p>
          <a:p>
            <a:pPr algn="just">
              <a:defRPr sz="2000"/>
            </a:pPr>
            <a:r>
              <a:rPr lang="en-US" sz="1600" b="1" dirty="0">
                <a:solidFill>
                  <a:schemeClr val="accent1">
                    <a:lumMod val="50000"/>
                  </a:schemeClr>
                </a:solidFill>
                <a:latin typeface="Inter"/>
              </a:rPr>
              <a:t>So, Our Aim is to automate the Traditional SDLC </a:t>
            </a:r>
            <a:r>
              <a:rPr lang="en-IN" sz="1600" b="1" dirty="0">
                <a:solidFill>
                  <a:schemeClr val="accent1">
                    <a:lumMod val="50000"/>
                  </a:schemeClr>
                </a:solidFill>
                <a:latin typeface="Inter"/>
              </a:rPr>
              <a:t>with Agentic AI, </a:t>
            </a:r>
            <a:r>
              <a:rPr lang="en-IN" sz="1600" dirty="0">
                <a:latin typeface="Inter"/>
              </a:rPr>
              <a:t>which will replaces these static bottlenecks with continuous, self-healing pipelines that autonomously execute tests, patch build failures, flag vulnerabilities, and manage releases. This </a:t>
            </a:r>
            <a:r>
              <a:rPr lang="en-IN" sz="1600" b="1" dirty="0">
                <a:latin typeface="Inter"/>
              </a:rPr>
              <a:t>eliminates human error, compresses cycle times from months to hours, and frees development teams to focus on high-value architecture and innovation.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71500" y="1657350"/>
            <a:ext cx="11049000" cy="609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0" i="0" u="none">
                <a:solidFill>
                  <a:srgbClr val="334155"/>
                </a:solidFill>
                <a:latin typeface="Inter"/>
              </a:rPr>
              <a:t>Agentic AI consists of autonomous AI agents capable of planning, reasoning, using tools, maintaining memory, and collaborating to achieve complex goals.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71500" y="2457450"/>
            <a:ext cx="11049000" cy="3295650"/>
          </a:xfrm>
          <a:prstGeom prst="roundRect">
            <a:avLst>
              <a:gd name="adj" fmla="val 0"/>
            </a:avLst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11195504"/>
              </p:ext>
            </p:extLst>
          </p:nvPr>
        </p:nvGraphicFramePr>
        <p:xfrm>
          <a:off x="571500" y="2457450"/>
          <a:ext cx="11039473" cy="3295650"/>
        </p:xfrm>
        <a:graphic>
          <a:graphicData uri="http://schemas.openxmlformats.org/drawingml/2006/table">
            <a:tbl>
              <a:tblPr firstRow="1" bandRow="1">
                <a:effectLst/>
                <a:tableStyleId>{5C22544A-7EE6-4342-B048-85BDC9FD1C3A}</a:tableStyleId>
              </a:tblPr>
              <a:tblGrid>
                <a:gridCol w="18591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14292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03738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59130">
                <a:tc>
                  <a:txBody>
                    <a:bodyPr/>
                    <a:lstStyle/>
                    <a:p>
                      <a:pPr algn="l"/>
                      <a:r>
                        <a:rPr sz="1500" b="0" i="0" u="none">
                          <a:solidFill>
                            <a:srgbClr val="0F172A"/>
                          </a:solidFill>
                          <a:latin typeface="Inter SemiBold"/>
                        </a:rPr>
                        <a:t>Capability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0" i="0" u="none" dirty="0">
                          <a:solidFill>
                            <a:srgbClr val="0F172A"/>
                          </a:solidFill>
                          <a:latin typeface="Inter SemiBold"/>
                        </a:rPr>
                        <a:t>Standard Chatbot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0" i="0" u="none">
                          <a:solidFill>
                            <a:srgbClr val="0F172A"/>
                          </a:solidFill>
                          <a:latin typeface="Inter SemiBold"/>
                        </a:rPr>
                        <a:t>Agentic AI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59130">
                <a:tc>
                  <a:txBody>
                    <a:bodyPr/>
                    <a:lstStyle/>
                    <a:p>
                      <a:pPr algn="l"/>
                      <a:r>
                        <a:rPr sz="1500" b="1" i="0" u="none">
                          <a:solidFill>
                            <a:srgbClr val="334155"/>
                          </a:solidFill>
                          <a:latin typeface="Inter"/>
                        </a:rPr>
                        <a:t>Execution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0" i="0" u="none">
                          <a:solidFill>
                            <a:srgbClr val="334155"/>
                          </a:solidFill>
                          <a:latin typeface="Inter"/>
                        </a:rPr>
                        <a:t>Passive (Answers queries)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0" i="0" u="none">
                          <a:solidFill>
                            <a:srgbClr val="334155"/>
                          </a:solidFill>
                          <a:latin typeface="Inter"/>
                        </a:rPr>
                        <a:t>Autonomous (Acts &amp; Uses Tools)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59130">
                <a:tc>
                  <a:txBody>
                    <a:bodyPr/>
                    <a:lstStyle/>
                    <a:p>
                      <a:pPr algn="l"/>
                      <a:r>
                        <a:rPr sz="1500" b="1" i="0" u="none">
                          <a:solidFill>
                            <a:srgbClr val="334155"/>
                          </a:solidFill>
                          <a:latin typeface="Inter"/>
                        </a:rPr>
                        <a:t>Workflow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0" i="0" u="none">
                          <a:solidFill>
                            <a:srgbClr val="334155"/>
                          </a:solidFill>
                          <a:latin typeface="Inter"/>
                        </a:rPr>
                        <a:t>Single-step generation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0" i="0" u="none">
                          <a:solidFill>
                            <a:srgbClr val="334155"/>
                          </a:solidFill>
                          <a:latin typeface="Inter"/>
                        </a:rPr>
                        <a:t>Multi-step reasoning &amp; execution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59130">
                <a:tc>
                  <a:txBody>
                    <a:bodyPr/>
                    <a:lstStyle/>
                    <a:p>
                      <a:pPr algn="l"/>
                      <a:r>
                        <a:rPr sz="1500" b="1" i="0" u="none">
                          <a:solidFill>
                            <a:srgbClr val="334155"/>
                          </a:solidFill>
                          <a:latin typeface="Inter"/>
                        </a:rPr>
                        <a:t>Context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0" i="0" u="none">
                          <a:solidFill>
                            <a:srgbClr val="334155"/>
                          </a:solidFill>
                          <a:latin typeface="Inter"/>
                        </a:rPr>
                        <a:t>No Memory (Session bound)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0" i="0" u="none">
                          <a:solidFill>
                            <a:srgbClr val="334155"/>
                          </a:solidFill>
                          <a:latin typeface="Inter"/>
                        </a:rPr>
                        <a:t>Persistent Memory (Context aware)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59130">
                <a:tc>
                  <a:txBody>
                    <a:bodyPr/>
                    <a:lstStyle/>
                    <a:p>
                      <a:pPr algn="l"/>
                      <a:r>
                        <a:rPr sz="1500" b="1" i="0" u="none">
                          <a:solidFill>
                            <a:srgbClr val="334155"/>
                          </a:solidFill>
                          <a:latin typeface="Inter"/>
                        </a:rPr>
                        <a:t>Strategy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0" i="0" u="none">
                          <a:solidFill>
                            <a:srgbClr val="334155"/>
                          </a:solidFill>
                          <a:latin typeface="Inter"/>
                        </a:rPr>
                        <a:t>No Planning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0" i="0" u="none" dirty="0">
                          <a:solidFill>
                            <a:srgbClr val="334155"/>
                          </a:solidFill>
                          <a:latin typeface="Inter"/>
                        </a:rPr>
                        <a:t>Goal Planning &amp; Reflection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6" name="Rectangle 5"/>
          <p:cNvSpPr/>
          <p:nvPr/>
        </p:nvSpPr>
        <p:spPr>
          <a:xfrm>
            <a:off x="576262" y="3109912"/>
            <a:ext cx="185916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2435423" y="3109912"/>
            <a:ext cx="4142928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6578351" y="3109912"/>
            <a:ext cx="5037385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576262" y="3767137"/>
            <a:ext cx="185916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2435423" y="3767137"/>
            <a:ext cx="4142928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6578351" y="3767137"/>
            <a:ext cx="5037385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576262" y="4424362"/>
            <a:ext cx="185916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2435423" y="4424362"/>
            <a:ext cx="4142928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6578351" y="4424362"/>
            <a:ext cx="5037385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576262" y="5081587"/>
            <a:ext cx="185916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2435423" y="5081587"/>
            <a:ext cx="4142928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6578351" y="5081587"/>
            <a:ext cx="5037385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571500" y="571500"/>
            <a:ext cx="11601450" cy="514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300" b="1" i="0" u="none">
                <a:solidFill>
                  <a:srgbClr val="0F172A"/>
                </a:solidFill>
                <a:latin typeface="Inter"/>
              </a:rPr>
              <a:t>Beyond Code Generation: </a:t>
            </a:r>
            <a:r>
              <a:rPr sz="3300" b="1" i="0" u="none">
                <a:solidFill>
                  <a:srgbClr val="2563EB"/>
                </a:solidFill>
                <a:latin typeface="Inter"/>
              </a:rPr>
              <a:t>Agentic AI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571500" y="375720"/>
            <a:ext cx="11601450" cy="514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300" b="1" i="0" u="none" dirty="0">
                <a:solidFill>
                  <a:srgbClr val="0F172A"/>
                </a:solidFill>
                <a:latin typeface="Inter"/>
              </a:rPr>
              <a:t>Agentic </a:t>
            </a:r>
            <a:r>
              <a:rPr sz="3300" b="1" i="0" u="none" dirty="0">
                <a:solidFill>
                  <a:srgbClr val="2563EB"/>
                </a:solidFill>
                <a:latin typeface="Inter"/>
              </a:rPr>
              <a:t>Frameworks</a:t>
            </a:r>
          </a:p>
        </p:txBody>
      </p:sp>
      <p:graphicFrame>
        <p:nvGraphicFramePr>
          <p:cNvPr id="19" name="Table 18">
            <a:extLst>
              <a:ext uri="{FF2B5EF4-FFF2-40B4-BE49-F238E27FC236}">
                <a16:creationId xmlns:a16="http://schemas.microsoft.com/office/drawing/2014/main" id="{129F9555-D699-C3C4-1F84-8A79F8D652A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04690624"/>
              </p:ext>
            </p:extLst>
          </p:nvPr>
        </p:nvGraphicFramePr>
        <p:xfrm>
          <a:off x="571500" y="1063176"/>
          <a:ext cx="10951908" cy="5419104"/>
        </p:xfrm>
        <a:graphic>
          <a:graphicData uri="http://schemas.openxmlformats.org/drawingml/2006/table">
            <a:tbl>
              <a:tblPr/>
              <a:tblGrid>
                <a:gridCol w="1825318">
                  <a:extLst>
                    <a:ext uri="{9D8B030D-6E8A-4147-A177-3AD203B41FA5}">
                      <a16:colId xmlns:a16="http://schemas.microsoft.com/office/drawing/2014/main" val="3296468212"/>
                    </a:ext>
                  </a:extLst>
                </a:gridCol>
                <a:gridCol w="1825318">
                  <a:extLst>
                    <a:ext uri="{9D8B030D-6E8A-4147-A177-3AD203B41FA5}">
                      <a16:colId xmlns:a16="http://schemas.microsoft.com/office/drawing/2014/main" val="2433383122"/>
                    </a:ext>
                  </a:extLst>
                </a:gridCol>
                <a:gridCol w="1825318">
                  <a:extLst>
                    <a:ext uri="{9D8B030D-6E8A-4147-A177-3AD203B41FA5}">
                      <a16:colId xmlns:a16="http://schemas.microsoft.com/office/drawing/2014/main" val="3440802060"/>
                    </a:ext>
                  </a:extLst>
                </a:gridCol>
                <a:gridCol w="1749527">
                  <a:extLst>
                    <a:ext uri="{9D8B030D-6E8A-4147-A177-3AD203B41FA5}">
                      <a16:colId xmlns:a16="http://schemas.microsoft.com/office/drawing/2014/main" val="313064993"/>
                    </a:ext>
                  </a:extLst>
                </a:gridCol>
                <a:gridCol w="1901109">
                  <a:extLst>
                    <a:ext uri="{9D8B030D-6E8A-4147-A177-3AD203B41FA5}">
                      <a16:colId xmlns:a16="http://schemas.microsoft.com/office/drawing/2014/main" val="1155137944"/>
                    </a:ext>
                  </a:extLst>
                </a:gridCol>
                <a:gridCol w="1825318">
                  <a:extLst>
                    <a:ext uri="{9D8B030D-6E8A-4147-A177-3AD203B41FA5}">
                      <a16:colId xmlns:a16="http://schemas.microsoft.com/office/drawing/2014/main" val="2842996800"/>
                    </a:ext>
                  </a:extLst>
                </a:gridCol>
              </a:tblGrid>
              <a:tr h="468216">
                <a:tc>
                  <a:txBody>
                    <a:bodyPr/>
                    <a:lstStyle/>
                    <a:p>
                      <a:pPr marL="0" marR="0" algn="ctr" rtl="0">
                        <a:spcAft>
                          <a:spcPts val="2400"/>
                        </a:spcAft>
                        <a:buNone/>
                      </a:pPr>
                      <a:r>
                        <a:rPr lang="en-IN" sz="1500" b="1" dirty="0">
                          <a:solidFill>
                            <a:srgbClr val="1F1F1F"/>
                          </a:solidFill>
                          <a:effectLst/>
                          <a:latin typeface="Inter"/>
                        </a:rPr>
                        <a:t>Framework</a:t>
                      </a:r>
                      <a:endParaRPr lang="en-IN" sz="1500" dirty="0">
                        <a:solidFill>
                          <a:srgbClr val="1F1F1F"/>
                        </a:solidFill>
                        <a:effectLst/>
                        <a:latin typeface="Inter"/>
                      </a:endParaRPr>
                    </a:p>
                  </a:txBody>
                  <a:tcPr marL="24868" marR="24868" marT="16579" marB="16579" anchor="ctr">
                    <a:lnL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 rtl="0">
                        <a:spcAft>
                          <a:spcPts val="2400"/>
                        </a:spcAft>
                        <a:buNone/>
                      </a:pPr>
                      <a:r>
                        <a:rPr lang="en-IN" sz="1500" b="1" dirty="0">
                          <a:solidFill>
                            <a:srgbClr val="1F1F1F"/>
                          </a:solidFill>
                          <a:effectLst/>
                          <a:latin typeface="Inter"/>
                        </a:rPr>
                        <a:t>Execution Model</a:t>
                      </a:r>
                      <a:endParaRPr lang="en-IN" sz="1500" dirty="0">
                        <a:solidFill>
                          <a:srgbClr val="1F1F1F"/>
                        </a:solidFill>
                        <a:effectLst/>
                        <a:latin typeface="Inter"/>
                      </a:endParaRPr>
                    </a:p>
                  </a:txBody>
                  <a:tcPr marL="24868" marR="24868" marT="16579" marB="16579" anchor="ctr">
                    <a:lnL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 rtl="0">
                        <a:spcAft>
                          <a:spcPts val="2400"/>
                        </a:spcAft>
                        <a:buNone/>
                      </a:pPr>
                      <a:r>
                        <a:rPr lang="en-IN" sz="1500" b="1" dirty="0">
                          <a:solidFill>
                            <a:srgbClr val="1F1F1F"/>
                          </a:solidFill>
                          <a:effectLst/>
                          <a:latin typeface="Inter"/>
                        </a:rPr>
                        <a:t>Core Strengths</a:t>
                      </a:r>
                      <a:endParaRPr lang="en-IN" sz="1500" dirty="0">
                        <a:solidFill>
                          <a:srgbClr val="1F1F1F"/>
                        </a:solidFill>
                        <a:effectLst/>
                        <a:latin typeface="Inter"/>
                      </a:endParaRPr>
                    </a:p>
                  </a:txBody>
                  <a:tcPr marL="24868" marR="24868" marT="16579" marB="16579" anchor="ctr">
                    <a:lnL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 rtl="0">
                        <a:spcAft>
                          <a:spcPts val="2400"/>
                        </a:spcAft>
                        <a:buNone/>
                      </a:pPr>
                      <a:r>
                        <a:rPr lang="en-IN" sz="1500" b="1" dirty="0">
                          <a:solidFill>
                            <a:srgbClr val="1F1F1F"/>
                          </a:solidFill>
                          <a:effectLst/>
                          <a:latin typeface="Inter"/>
                        </a:rPr>
                        <a:t>Key Limitations</a:t>
                      </a:r>
                      <a:endParaRPr lang="en-IN" sz="1500" dirty="0">
                        <a:solidFill>
                          <a:srgbClr val="1F1F1F"/>
                        </a:solidFill>
                        <a:effectLst/>
                        <a:latin typeface="Inter"/>
                      </a:endParaRPr>
                    </a:p>
                  </a:txBody>
                  <a:tcPr marL="24868" marR="24868" marT="16579" marB="16579" anchor="ctr">
                    <a:lnL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 rtl="0">
                        <a:spcAft>
                          <a:spcPts val="2400"/>
                        </a:spcAft>
                        <a:buNone/>
                      </a:pPr>
                      <a:r>
                        <a:rPr lang="en-IN" sz="1500" b="1" dirty="0">
                          <a:solidFill>
                            <a:srgbClr val="1F1F1F"/>
                          </a:solidFill>
                          <a:effectLst/>
                          <a:latin typeface="Inter"/>
                        </a:rPr>
                        <a:t>Ideal Use Cases</a:t>
                      </a:r>
                      <a:endParaRPr lang="en-IN" sz="1500" dirty="0">
                        <a:solidFill>
                          <a:srgbClr val="1F1F1F"/>
                        </a:solidFill>
                        <a:effectLst/>
                        <a:latin typeface="Inter"/>
                      </a:endParaRPr>
                    </a:p>
                  </a:txBody>
                  <a:tcPr marL="24868" marR="24868" marT="16579" marB="16579" anchor="ctr">
                    <a:lnL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 rtl="0">
                        <a:spcAft>
                          <a:spcPts val="2400"/>
                        </a:spcAft>
                        <a:buNone/>
                      </a:pPr>
                      <a:r>
                        <a:rPr lang="en-IN" sz="1500" b="1" dirty="0">
                          <a:solidFill>
                            <a:srgbClr val="1F1F1F"/>
                          </a:solidFill>
                          <a:effectLst/>
                          <a:latin typeface="Inter"/>
                        </a:rPr>
                        <a:t>Offline / Local Capability</a:t>
                      </a:r>
                      <a:endParaRPr lang="en-IN" sz="1500" dirty="0">
                        <a:solidFill>
                          <a:srgbClr val="1F1F1F"/>
                        </a:solidFill>
                        <a:effectLst/>
                        <a:latin typeface="Inter"/>
                      </a:endParaRPr>
                    </a:p>
                  </a:txBody>
                  <a:tcPr marL="24868" marR="24868" marT="16579" marB="16579" anchor="ctr">
                    <a:lnL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36376244"/>
                  </a:ext>
                </a:extLst>
              </a:tr>
              <a:tr h="1123048">
                <a:tc>
                  <a:txBody>
                    <a:bodyPr/>
                    <a:lstStyle/>
                    <a:p>
                      <a:pPr marL="0" marR="0" algn="ctr" rtl="0">
                        <a:spcAft>
                          <a:spcPts val="2400"/>
                        </a:spcAft>
                        <a:buNone/>
                      </a:pPr>
                      <a:r>
                        <a:rPr lang="en-IN" sz="1500" b="1" dirty="0" err="1">
                          <a:solidFill>
                            <a:srgbClr val="1F1F1F"/>
                          </a:solidFill>
                          <a:effectLst/>
                          <a:latin typeface="Inter"/>
                        </a:rPr>
                        <a:t>LangChain</a:t>
                      </a:r>
                      <a:endParaRPr lang="en-IN" sz="1500" dirty="0">
                        <a:solidFill>
                          <a:srgbClr val="1F1F1F"/>
                        </a:solidFill>
                        <a:effectLst/>
                        <a:latin typeface="Inter"/>
                      </a:endParaRPr>
                    </a:p>
                  </a:txBody>
                  <a:tcPr marL="24868" marR="24868" marT="16579" marB="16579" anchor="ctr">
                    <a:lnL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rtl="0">
                        <a:spcAft>
                          <a:spcPts val="2400"/>
                        </a:spcAft>
                        <a:buNone/>
                      </a:pPr>
                      <a:r>
                        <a:rPr lang="en-IN" sz="1400" dirty="0">
                          <a:solidFill>
                            <a:srgbClr val="1F1F1F"/>
                          </a:solidFill>
                          <a:effectLst/>
                          <a:latin typeface="Inter"/>
                        </a:rPr>
                        <a:t>Chained Prompting &amp; Tools</a:t>
                      </a:r>
                    </a:p>
                  </a:txBody>
                  <a:tcPr marL="24868" marR="24868" marT="16579" marB="16579" anchor="ctr">
                    <a:lnL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rtl="0">
                        <a:spcAft>
                          <a:spcPts val="2400"/>
                        </a:spcAft>
                        <a:buNone/>
                      </a:pPr>
                      <a:r>
                        <a:rPr lang="en-IN" sz="1400">
                          <a:solidFill>
                            <a:srgbClr val="1F1F1F"/>
                          </a:solidFill>
                          <a:effectLst/>
                          <a:latin typeface="Inter"/>
                        </a:rPr>
                        <a:t>Rich toolset, extensive RAG ecosystem, vast API integrations</a:t>
                      </a:r>
                    </a:p>
                  </a:txBody>
                  <a:tcPr marL="24868" marR="24868" marT="16579" marB="16579" anchor="ctr">
                    <a:lnL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rtl="0">
                        <a:spcAft>
                          <a:spcPts val="2400"/>
                        </a:spcAft>
                        <a:buNone/>
                      </a:pPr>
                      <a:r>
                        <a:rPr lang="en-IN" sz="1400" dirty="0">
                          <a:solidFill>
                            <a:srgbClr val="1F1F1F"/>
                          </a:solidFill>
                          <a:effectLst/>
                          <a:latin typeface="Inter"/>
                        </a:rPr>
                        <a:t>Workflow complexity at scale, abstractions can hide errors</a:t>
                      </a:r>
                    </a:p>
                  </a:txBody>
                  <a:tcPr marL="24868" marR="24868" marT="16579" marB="16579" anchor="ctr">
                    <a:lnL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rtl="0">
                        <a:spcAft>
                          <a:spcPts val="2400"/>
                        </a:spcAft>
                        <a:buNone/>
                      </a:pPr>
                      <a:r>
                        <a:rPr lang="en-IN" sz="1400">
                          <a:solidFill>
                            <a:srgbClr val="1F1F1F"/>
                          </a:solidFill>
                          <a:effectLst/>
                          <a:latin typeface="Inter"/>
                        </a:rPr>
                        <a:t>General LLM applications, retrieval-augmented generation</a:t>
                      </a:r>
                    </a:p>
                  </a:txBody>
                  <a:tcPr marL="24868" marR="24868" marT="16579" marB="16579" anchor="ctr">
                    <a:lnL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rtl="0">
                        <a:spcAft>
                          <a:spcPts val="2400"/>
                        </a:spcAft>
                        <a:buNone/>
                      </a:pPr>
                      <a:r>
                        <a:rPr lang="en-IN" sz="1400" b="1" dirty="0">
                          <a:solidFill>
                            <a:srgbClr val="1F1F1F"/>
                          </a:solidFill>
                          <a:effectLst/>
                          <a:latin typeface="Inter"/>
                        </a:rPr>
                        <a:t>Excellent:</a:t>
                      </a:r>
                      <a:r>
                        <a:rPr lang="en-IN" sz="1400" dirty="0">
                          <a:solidFill>
                            <a:srgbClr val="1F1F1F"/>
                          </a:solidFill>
                          <a:effectLst/>
                          <a:latin typeface="Inter"/>
                        </a:rPr>
                        <a:t> Natively connects to local LLMs (</a:t>
                      </a:r>
                      <a:r>
                        <a:rPr lang="en-IN" sz="1400" dirty="0" err="1">
                          <a:solidFill>
                            <a:srgbClr val="1F1F1F"/>
                          </a:solidFill>
                          <a:effectLst/>
                          <a:latin typeface="Inter"/>
                        </a:rPr>
                        <a:t>Ollama</a:t>
                      </a:r>
                      <a:r>
                        <a:rPr lang="en-IN" sz="1400" dirty="0">
                          <a:solidFill>
                            <a:srgbClr val="1F1F1F"/>
                          </a:solidFill>
                          <a:effectLst/>
                          <a:latin typeface="Inter"/>
                        </a:rPr>
                        <a:t>, Llama.cpp) and local vector stores (Chroma).</a:t>
                      </a:r>
                    </a:p>
                  </a:txBody>
                  <a:tcPr marL="24868" marR="24868" marT="16579" marB="16579" anchor="ctr">
                    <a:lnL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33084250"/>
                  </a:ext>
                </a:extLst>
              </a:tr>
              <a:tr h="1123048">
                <a:tc>
                  <a:txBody>
                    <a:bodyPr/>
                    <a:lstStyle/>
                    <a:p>
                      <a:pPr marL="0" marR="0" algn="ctr" rtl="0">
                        <a:spcAft>
                          <a:spcPts val="2400"/>
                        </a:spcAft>
                        <a:buNone/>
                      </a:pPr>
                      <a:r>
                        <a:rPr lang="en-IN" sz="1500" b="1" dirty="0" err="1">
                          <a:solidFill>
                            <a:srgbClr val="1F1F1F"/>
                          </a:solidFill>
                          <a:effectLst/>
                          <a:latin typeface="Inter"/>
                        </a:rPr>
                        <a:t>LangGraph</a:t>
                      </a:r>
                      <a:endParaRPr lang="en-IN" sz="1500" dirty="0">
                        <a:solidFill>
                          <a:srgbClr val="1F1F1F"/>
                        </a:solidFill>
                        <a:effectLst/>
                        <a:latin typeface="Inter"/>
                      </a:endParaRPr>
                    </a:p>
                  </a:txBody>
                  <a:tcPr marL="24868" marR="24868" marT="16579" marB="16579" anchor="ctr">
                    <a:lnL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rtl="0">
                        <a:spcAft>
                          <a:spcPts val="2400"/>
                        </a:spcAft>
                        <a:buNone/>
                      </a:pPr>
                      <a:r>
                        <a:rPr lang="en-IN" sz="1400" dirty="0">
                          <a:solidFill>
                            <a:srgbClr val="1F1F1F"/>
                          </a:solidFill>
                          <a:effectLst/>
                          <a:latin typeface="Inter"/>
                        </a:rPr>
                        <a:t>Stateful Graph Orchestration</a:t>
                      </a:r>
                    </a:p>
                  </a:txBody>
                  <a:tcPr marL="24868" marR="24868" marT="16579" marB="16579" anchor="ctr">
                    <a:lnL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rtl="0">
                        <a:spcAft>
                          <a:spcPts val="2400"/>
                        </a:spcAft>
                        <a:buNone/>
                      </a:pPr>
                      <a:r>
                        <a:rPr lang="en-IN" sz="1400" dirty="0">
                          <a:solidFill>
                            <a:srgbClr val="1F1F1F"/>
                          </a:solidFill>
                          <a:effectLst/>
                          <a:latin typeface="Inter"/>
                        </a:rPr>
                        <a:t>Cycles and loops, robust state persistence, time-travel debugging</a:t>
                      </a:r>
                    </a:p>
                  </a:txBody>
                  <a:tcPr marL="24868" marR="24868" marT="16579" marB="16579" anchor="ctr">
                    <a:lnL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rtl="0">
                        <a:spcAft>
                          <a:spcPts val="2400"/>
                        </a:spcAft>
                        <a:buNone/>
                      </a:pPr>
                      <a:r>
                        <a:rPr lang="en-IN" sz="1400" dirty="0">
                          <a:solidFill>
                            <a:srgbClr val="1F1F1F"/>
                          </a:solidFill>
                          <a:effectLst/>
                          <a:latin typeface="Inter"/>
                        </a:rPr>
                        <a:t>Steeper learning curve, excessive setup for simple tasks</a:t>
                      </a:r>
                    </a:p>
                  </a:txBody>
                  <a:tcPr marL="24868" marR="24868" marT="16579" marB="16579" anchor="ctr">
                    <a:lnL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rtl="0">
                        <a:spcAft>
                          <a:spcPts val="2400"/>
                        </a:spcAft>
                        <a:buNone/>
                      </a:pPr>
                      <a:r>
                        <a:rPr lang="en-IN" sz="1400">
                          <a:solidFill>
                            <a:srgbClr val="1F1F1F"/>
                          </a:solidFill>
                          <a:effectLst/>
                          <a:latin typeface="Inter"/>
                        </a:rPr>
                        <a:t>Production-grade multi-agent systems, human-in-the-loop control</a:t>
                      </a:r>
                    </a:p>
                  </a:txBody>
                  <a:tcPr marL="24868" marR="24868" marT="16579" marB="16579" anchor="ctr">
                    <a:lnL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rtl="0">
                        <a:spcAft>
                          <a:spcPts val="2400"/>
                        </a:spcAft>
                        <a:buNone/>
                      </a:pPr>
                      <a:r>
                        <a:rPr lang="en-IN" sz="1400" b="1">
                          <a:solidFill>
                            <a:srgbClr val="1F1F1F"/>
                          </a:solidFill>
                          <a:effectLst/>
                          <a:latin typeface="Inter"/>
                        </a:rPr>
                        <a:t>Excellent:</a:t>
                      </a:r>
                      <a:r>
                        <a:rPr lang="en-IN" sz="1400">
                          <a:solidFill>
                            <a:srgbClr val="1F1F1F"/>
                          </a:solidFill>
                          <a:effectLst/>
                          <a:latin typeface="Inter"/>
                        </a:rPr>
                        <a:t> Inherits LangChain's local capabilities; operates entirely offline with self-hosted models.</a:t>
                      </a:r>
                    </a:p>
                  </a:txBody>
                  <a:tcPr marL="24868" marR="24868" marT="16579" marB="16579" anchor="ctr">
                    <a:lnL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87860845"/>
                  </a:ext>
                </a:extLst>
              </a:tr>
              <a:tr h="1341325">
                <a:tc>
                  <a:txBody>
                    <a:bodyPr/>
                    <a:lstStyle/>
                    <a:p>
                      <a:pPr marL="0" marR="0" algn="ctr" rtl="0">
                        <a:spcAft>
                          <a:spcPts val="2400"/>
                        </a:spcAft>
                        <a:buNone/>
                      </a:pPr>
                      <a:r>
                        <a:rPr lang="en-IN" sz="1500" b="1" dirty="0" err="1">
                          <a:solidFill>
                            <a:srgbClr val="1F1F1F"/>
                          </a:solidFill>
                          <a:effectLst/>
                          <a:latin typeface="Inter"/>
                        </a:rPr>
                        <a:t>CrewAI</a:t>
                      </a:r>
                      <a:endParaRPr lang="en-IN" sz="1500" dirty="0">
                        <a:solidFill>
                          <a:srgbClr val="1F1F1F"/>
                        </a:solidFill>
                        <a:effectLst/>
                        <a:latin typeface="Inter"/>
                      </a:endParaRPr>
                    </a:p>
                  </a:txBody>
                  <a:tcPr marL="24868" marR="24868" marT="16579" marB="16579" anchor="ctr">
                    <a:lnL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rtl="0">
                        <a:spcAft>
                          <a:spcPts val="2400"/>
                        </a:spcAft>
                        <a:buNone/>
                      </a:pPr>
                      <a:r>
                        <a:rPr lang="en-IN" sz="1400">
                          <a:solidFill>
                            <a:srgbClr val="1F1F1F"/>
                          </a:solidFill>
                          <a:effectLst/>
                          <a:latin typeface="Inter"/>
                        </a:rPr>
                        <a:t>Role-based Team Collaboration</a:t>
                      </a:r>
                    </a:p>
                  </a:txBody>
                  <a:tcPr marL="24868" marR="24868" marT="16579" marB="16579" anchor="ctr">
                    <a:lnL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rtl="0">
                        <a:spcAft>
                          <a:spcPts val="2400"/>
                        </a:spcAft>
                        <a:buNone/>
                      </a:pPr>
                      <a:r>
                        <a:rPr lang="en-IN" sz="1400" dirty="0">
                          <a:solidFill>
                            <a:srgbClr val="1F1F1F"/>
                          </a:solidFill>
                          <a:effectLst/>
                          <a:latin typeface="Inter"/>
                        </a:rPr>
                        <a:t>Easy setup, intuitive agent personas, automatic task delegation</a:t>
                      </a:r>
                    </a:p>
                  </a:txBody>
                  <a:tcPr marL="24868" marR="24868" marT="16579" marB="16579" anchor="ctr">
                    <a:lnL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rtl="0">
                        <a:spcAft>
                          <a:spcPts val="2400"/>
                        </a:spcAft>
                        <a:buNone/>
                      </a:pPr>
                      <a:r>
                        <a:rPr lang="en-IN" sz="1400" dirty="0">
                          <a:solidFill>
                            <a:srgbClr val="1F1F1F"/>
                          </a:solidFill>
                          <a:effectLst/>
                          <a:latin typeface="Inter"/>
                        </a:rPr>
                        <a:t>Limited dynamic branching and complex workflow flow control</a:t>
                      </a:r>
                    </a:p>
                  </a:txBody>
                  <a:tcPr marL="24868" marR="24868" marT="16579" marB="16579" anchor="ctr">
                    <a:lnL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rtl="0">
                        <a:spcAft>
                          <a:spcPts val="2400"/>
                        </a:spcAft>
                        <a:buNone/>
                      </a:pPr>
                      <a:r>
                        <a:rPr lang="en-IN" sz="1400" dirty="0">
                          <a:solidFill>
                            <a:srgbClr val="1F1F1F"/>
                          </a:solidFill>
                          <a:effectLst/>
                          <a:latin typeface="Inter"/>
                        </a:rPr>
                        <a:t>Autonomous research pipelines, content creation, structured teams</a:t>
                      </a:r>
                    </a:p>
                  </a:txBody>
                  <a:tcPr marL="24868" marR="24868" marT="16579" marB="16579" anchor="ctr">
                    <a:lnL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rtl="0">
                        <a:spcAft>
                          <a:spcPts val="2400"/>
                        </a:spcAft>
                        <a:buNone/>
                      </a:pPr>
                      <a:r>
                        <a:rPr lang="en-IN" sz="1400" b="1" dirty="0">
                          <a:solidFill>
                            <a:srgbClr val="1F1F1F"/>
                          </a:solidFill>
                          <a:effectLst/>
                          <a:latin typeface="Inter"/>
                        </a:rPr>
                        <a:t>Strong:</a:t>
                      </a:r>
                      <a:r>
                        <a:rPr lang="en-IN" sz="1400" dirty="0">
                          <a:solidFill>
                            <a:srgbClr val="1F1F1F"/>
                          </a:solidFill>
                          <a:effectLst/>
                          <a:latin typeface="Inter"/>
                        </a:rPr>
                        <a:t> Explicitly supports local execution by binding agents to local endpoints via </a:t>
                      </a:r>
                      <a:r>
                        <a:rPr lang="en-IN" sz="1400" dirty="0" err="1">
                          <a:solidFill>
                            <a:srgbClr val="1F1F1F"/>
                          </a:solidFill>
                          <a:effectLst/>
                          <a:latin typeface="Inter"/>
                        </a:rPr>
                        <a:t>Ollama</a:t>
                      </a:r>
                      <a:r>
                        <a:rPr lang="en-IN" sz="1400" dirty="0">
                          <a:solidFill>
                            <a:srgbClr val="1F1F1F"/>
                          </a:solidFill>
                          <a:effectLst/>
                          <a:latin typeface="Inter"/>
                        </a:rPr>
                        <a:t> or </a:t>
                      </a:r>
                      <a:r>
                        <a:rPr lang="en-IN" sz="1400" dirty="0" err="1">
                          <a:solidFill>
                            <a:srgbClr val="1F1F1F"/>
                          </a:solidFill>
                          <a:effectLst/>
                          <a:latin typeface="Inter"/>
                        </a:rPr>
                        <a:t>LiteLLM</a:t>
                      </a:r>
                      <a:r>
                        <a:rPr lang="en-IN" sz="1400" dirty="0">
                          <a:solidFill>
                            <a:srgbClr val="1F1F1F"/>
                          </a:solidFill>
                          <a:effectLst/>
                          <a:latin typeface="Inter"/>
                        </a:rPr>
                        <a:t>.</a:t>
                      </a:r>
                    </a:p>
                  </a:txBody>
                  <a:tcPr marL="24868" marR="24868" marT="16579" marB="16579" anchor="ctr">
                    <a:lnL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56865933"/>
                  </a:ext>
                </a:extLst>
              </a:tr>
              <a:tr h="1341325">
                <a:tc>
                  <a:txBody>
                    <a:bodyPr/>
                    <a:lstStyle/>
                    <a:p>
                      <a:pPr marL="0" marR="0" algn="ctr" rtl="0">
                        <a:spcAft>
                          <a:spcPts val="2400"/>
                        </a:spcAft>
                        <a:buNone/>
                      </a:pPr>
                      <a:r>
                        <a:rPr lang="en-IN" sz="1500" b="1" dirty="0">
                          <a:solidFill>
                            <a:srgbClr val="1F1F1F"/>
                          </a:solidFill>
                          <a:effectLst/>
                          <a:latin typeface="Inter"/>
                        </a:rPr>
                        <a:t>OpenAI Agents SDK</a:t>
                      </a:r>
                      <a:endParaRPr lang="en-IN" sz="1500" dirty="0">
                        <a:solidFill>
                          <a:srgbClr val="1F1F1F"/>
                        </a:solidFill>
                        <a:effectLst/>
                        <a:latin typeface="Inter"/>
                      </a:endParaRPr>
                    </a:p>
                  </a:txBody>
                  <a:tcPr marL="24868" marR="24868" marT="16579" marB="16579" anchor="ctr">
                    <a:lnL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rtl="0">
                        <a:spcAft>
                          <a:spcPts val="2400"/>
                        </a:spcAft>
                        <a:buNone/>
                      </a:pPr>
                      <a:r>
                        <a:rPr lang="en-IN" sz="1400">
                          <a:solidFill>
                            <a:srgbClr val="1F1F1F"/>
                          </a:solidFill>
                          <a:effectLst/>
                          <a:latin typeface="Inter"/>
                        </a:rPr>
                        <a:t>Lightweight Handoffs &amp; Guardrails</a:t>
                      </a:r>
                    </a:p>
                  </a:txBody>
                  <a:tcPr marL="24868" marR="24868" marT="16579" marB="16579" anchor="ctr">
                    <a:lnL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rtl="0">
                        <a:spcAft>
                          <a:spcPts val="2400"/>
                        </a:spcAft>
                        <a:buNone/>
                      </a:pPr>
                      <a:r>
                        <a:rPr lang="en-IN" sz="1400">
                          <a:solidFill>
                            <a:srgbClr val="1F1F1F"/>
                          </a:solidFill>
                          <a:effectLst/>
                          <a:latin typeface="Inter"/>
                        </a:rPr>
                        <a:t>Minimal abstractions, built-in tracing, standardized routing primitives</a:t>
                      </a:r>
                    </a:p>
                  </a:txBody>
                  <a:tcPr marL="24868" marR="24868" marT="16579" marB="16579" anchor="ctr">
                    <a:lnL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rtl="0">
                        <a:spcAft>
                          <a:spcPts val="2400"/>
                        </a:spcAft>
                        <a:buNone/>
                      </a:pPr>
                      <a:r>
                        <a:rPr lang="en-IN" sz="1400" dirty="0">
                          <a:solidFill>
                            <a:srgbClr val="1F1F1F"/>
                          </a:solidFill>
                          <a:effectLst/>
                          <a:latin typeface="Inter"/>
                        </a:rPr>
                        <a:t>Lacks built-in persistent long-term memory or native graph structures</a:t>
                      </a:r>
                    </a:p>
                  </a:txBody>
                  <a:tcPr marL="24868" marR="24868" marT="16579" marB="16579" anchor="ctr">
                    <a:lnL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rtl="0">
                        <a:spcAft>
                          <a:spcPts val="2400"/>
                        </a:spcAft>
                        <a:buNone/>
                      </a:pPr>
                      <a:r>
                        <a:rPr lang="en-IN" sz="1400" dirty="0">
                          <a:solidFill>
                            <a:srgbClr val="1F1F1F"/>
                          </a:solidFill>
                          <a:effectLst/>
                          <a:latin typeface="Inter"/>
                        </a:rPr>
                        <a:t>Rapid deployment of production agents, voice pipelines, clear delegation</a:t>
                      </a:r>
                    </a:p>
                  </a:txBody>
                  <a:tcPr marL="24868" marR="24868" marT="16579" marB="16579" anchor="ctr">
                    <a:lnL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rtl="0">
                        <a:spcAft>
                          <a:spcPts val="2400"/>
                        </a:spcAft>
                        <a:buNone/>
                      </a:pPr>
                      <a:r>
                        <a:rPr lang="en-IN" sz="1400" b="1" dirty="0">
                          <a:solidFill>
                            <a:srgbClr val="1F1F1F"/>
                          </a:solidFill>
                          <a:effectLst/>
                          <a:latin typeface="Inter"/>
                        </a:rPr>
                        <a:t>Very Good:</a:t>
                      </a:r>
                      <a:r>
                        <a:rPr lang="en-IN" sz="1400" dirty="0">
                          <a:solidFill>
                            <a:srgbClr val="1F1F1F"/>
                          </a:solidFill>
                          <a:effectLst/>
                          <a:latin typeface="Inter"/>
                        </a:rPr>
                        <a:t> Provider-agnostic design allows it to run offline by routing to local models via the Chat Completions API.</a:t>
                      </a:r>
                    </a:p>
                  </a:txBody>
                  <a:tcPr marL="24868" marR="24868" marT="16579" marB="16579" anchor="ctr">
                    <a:lnL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38199989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71120" y="-12025"/>
            <a:ext cx="12301220" cy="6858000"/>
          </a:xfrm>
          <a:prstGeom prst="rect">
            <a:avLst/>
          </a:prstGeom>
        </p:spPr>
      </p:pic>
      <p:sp>
        <p:nvSpPr>
          <p:cNvPr id="37" name="Rectangle: Rounded Corners 36">
            <a:extLst>
              <a:ext uri="{FF2B5EF4-FFF2-40B4-BE49-F238E27FC236}">
                <a16:creationId xmlns:a16="http://schemas.microsoft.com/office/drawing/2014/main" id="{3140C37B-D52A-8E41-CE37-9FB27AC870E6}"/>
              </a:ext>
            </a:extLst>
          </p:cNvPr>
          <p:cNvSpPr/>
          <p:nvPr/>
        </p:nvSpPr>
        <p:spPr>
          <a:xfrm>
            <a:off x="762000" y="5419562"/>
            <a:ext cx="4502150" cy="595623"/>
          </a:xfrm>
          <a:prstGeom prst="roundRect">
            <a:avLst/>
          </a:prstGeom>
          <a:solidFill>
            <a:schemeClr val="bg1">
              <a:lumMod val="95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endParaRPr lang="en-IN" dirty="0"/>
          </a:p>
        </p:txBody>
      </p:sp>
      <p:sp>
        <p:nvSpPr>
          <p:cNvPr id="35" name="Rectangle: Rounded Corners 34">
            <a:extLst>
              <a:ext uri="{FF2B5EF4-FFF2-40B4-BE49-F238E27FC236}">
                <a16:creationId xmlns:a16="http://schemas.microsoft.com/office/drawing/2014/main" id="{8EADB9D7-CABA-C15E-65E0-02CBC0788E5D}"/>
              </a:ext>
            </a:extLst>
          </p:cNvPr>
          <p:cNvSpPr/>
          <p:nvPr/>
        </p:nvSpPr>
        <p:spPr>
          <a:xfrm>
            <a:off x="762000" y="4000743"/>
            <a:ext cx="4502150" cy="1233999"/>
          </a:xfrm>
          <a:prstGeom prst="roundRect">
            <a:avLst/>
          </a:prstGeom>
          <a:solidFill>
            <a:schemeClr val="bg1">
              <a:lumMod val="95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endParaRPr lang="en-IN" dirty="0"/>
          </a:p>
        </p:txBody>
      </p:sp>
      <p:sp>
        <p:nvSpPr>
          <p:cNvPr id="33" name="Rectangle: Rounded Corners 32">
            <a:extLst>
              <a:ext uri="{FF2B5EF4-FFF2-40B4-BE49-F238E27FC236}">
                <a16:creationId xmlns:a16="http://schemas.microsoft.com/office/drawing/2014/main" id="{CE2CCB64-612D-62FF-FD45-08A7D393C5E6}"/>
              </a:ext>
            </a:extLst>
          </p:cNvPr>
          <p:cNvSpPr/>
          <p:nvPr/>
        </p:nvSpPr>
        <p:spPr>
          <a:xfrm>
            <a:off x="762000" y="3263846"/>
            <a:ext cx="4502150" cy="568436"/>
          </a:xfrm>
          <a:prstGeom prst="roundRect">
            <a:avLst/>
          </a:prstGeom>
          <a:solidFill>
            <a:schemeClr val="bg1">
              <a:lumMod val="95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endParaRPr lang="en-IN" dirty="0"/>
          </a:p>
        </p:txBody>
      </p:sp>
      <p:sp>
        <p:nvSpPr>
          <p:cNvPr id="31" name="Rectangle: Rounded Corners 30">
            <a:extLst>
              <a:ext uri="{FF2B5EF4-FFF2-40B4-BE49-F238E27FC236}">
                <a16:creationId xmlns:a16="http://schemas.microsoft.com/office/drawing/2014/main" id="{A36B0AC3-D7D0-B89C-6F21-AAB4BB83F14C}"/>
              </a:ext>
            </a:extLst>
          </p:cNvPr>
          <p:cNvSpPr/>
          <p:nvPr/>
        </p:nvSpPr>
        <p:spPr>
          <a:xfrm>
            <a:off x="762000" y="1890340"/>
            <a:ext cx="4502150" cy="1219272"/>
          </a:xfrm>
          <a:prstGeom prst="roundRect">
            <a:avLst/>
          </a:prstGeom>
          <a:solidFill>
            <a:schemeClr val="bg1">
              <a:lumMod val="95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endParaRPr lang="en-IN" dirty="0"/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34125" y="1409700"/>
            <a:ext cx="5286375" cy="4605485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89095" y="2060080"/>
            <a:ext cx="304800" cy="30480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08145" y="2615059"/>
            <a:ext cx="304800" cy="30480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89095" y="3385000"/>
            <a:ext cx="304800" cy="3048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89095" y="4162780"/>
            <a:ext cx="304800" cy="30480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89095" y="4651456"/>
            <a:ext cx="304800" cy="30480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89095" y="5543427"/>
            <a:ext cx="304800" cy="3048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73037" y="1028700"/>
            <a:ext cx="5286375" cy="609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0" i="0" u="none" dirty="0">
                <a:solidFill>
                  <a:srgbClr val="475569"/>
                </a:solidFill>
                <a:latin typeface="Inter"/>
              </a:rPr>
              <a:t>A modular pipeline with integrated </a:t>
            </a:r>
            <a:r>
              <a:rPr sz="1500" b="1" i="0" u="none" dirty="0">
                <a:solidFill>
                  <a:srgbClr val="475569"/>
                </a:solidFill>
                <a:latin typeface="Inter"/>
              </a:rPr>
              <a:t>Human-in-the-Loop (HITL)</a:t>
            </a:r>
            <a:r>
              <a:rPr sz="1500" b="0" i="0" u="none" dirty="0">
                <a:solidFill>
                  <a:srgbClr val="475569"/>
                </a:solidFill>
                <a:latin typeface="Inter"/>
              </a:rPr>
              <a:t> governance gates to ensure enterprise safety.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32622" y="1854145"/>
            <a:ext cx="4930616" cy="295275"/>
          </a:xfrm>
          <a:prstGeom prst="rect">
            <a:avLst/>
          </a:prstGeom>
          <a:noFill/>
        </p:spPr>
        <p:txBody>
          <a:bodyPr wrap="square" lIns="242738" tIns="0" rIns="0" bIns="0" anchor="t">
            <a:spAutoFit/>
          </a:bodyPr>
          <a:lstStyle/>
          <a:p>
            <a:pPr algn="l"/>
            <a:r>
              <a:rPr sz="1950" b="0" i="0" u="none" dirty="0">
                <a:solidFill>
                  <a:srgbClr val="2563EB"/>
                </a:solidFill>
                <a:latin typeface="Inter SemiBold"/>
              </a:rPr>
              <a:t>Continuous Loop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781011" y="2349446"/>
            <a:ext cx="4695825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1" i="0" u="none" dirty="0">
                <a:solidFill>
                  <a:srgbClr val="334155"/>
                </a:solidFill>
                <a:latin typeface="Inter"/>
              </a:rPr>
              <a:t>7. Monitoring &amp; Learning:</a:t>
            </a:r>
            <a:r>
              <a:rPr sz="1500" b="0" i="0" u="none" dirty="0">
                <a:solidFill>
                  <a:srgbClr val="334155"/>
                </a:solidFill>
                <a:latin typeface="Inter"/>
              </a:rPr>
              <a:t> Consumes production logs, metrics, and user feedback to detect errors and optimize prompts.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781011" y="3406721"/>
            <a:ext cx="4695825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1" i="0" u="none" dirty="0">
                <a:solidFill>
                  <a:srgbClr val="334155"/>
                </a:solidFill>
                <a:latin typeface="Inter"/>
              </a:rPr>
              <a:t>8. Organizational Memory:</a:t>
            </a:r>
            <a:r>
              <a:rPr sz="1500" b="0" i="0" u="none" dirty="0">
                <a:solidFill>
                  <a:srgbClr val="334155"/>
                </a:solidFill>
                <a:latin typeface="Inter"/>
              </a:rPr>
              <a:t> Captures all requirements,</a:t>
            </a:r>
            <a:endParaRPr lang="en-IN" sz="1500" b="0" i="0" u="none" dirty="0">
              <a:solidFill>
                <a:srgbClr val="334155"/>
              </a:solidFill>
              <a:latin typeface="Inter"/>
            </a:endParaRPr>
          </a:p>
          <a:p>
            <a:pPr algn="l">
              <a:lnSpc>
                <a:spcPts val="2400"/>
              </a:lnSpc>
            </a:pPr>
            <a:r>
              <a:rPr sz="1500" b="0" i="0" u="none" dirty="0">
                <a:solidFill>
                  <a:srgbClr val="334155"/>
                </a:solidFill>
                <a:latin typeface="Inter"/>
              </a:rPr>
              <a:t>code, reviews, and bug fixes into a Knowledge Graph for cross-sprint learning.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231970" y="3123601"/>
            <a:ext cx="19050" cy="142875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1231970" y="3838858"/>
            <a:ext cx="19050" cy="142875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1231970" y="5257677"/>
            <a:ext cx="19050" cy="142875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781011" y="1892246"/>
            <a:ext cx="242738" cy="247650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1536770" y="2104324"/>
            <a:ext cx="2095500" cy="2308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0" i="0" u="none" dirty="0">
                <a:solidFill>
                  <a:srgbClr val="1E293B"/>
                </a:solidFill>
                <a:latin typeface="Inter Medium"/>
              </a:rPr>
              <a:t>Requirement Engineering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555820" y="2653159"/>
            <a:ext cx="20955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0" i="0" u="none">
                <a:solidFill>
                  <a:srgbClr val="1E293B"/>
                </a:solidFill>
                <a:latin typeface="Inter Medium"/>
              </a:rPr>
              <a:t>Planning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816980" y="2694674"/>
            <a:ext cx="1047750" cy="1905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0" i="0" u="none" dirty="0">
                <a:solidFill>
                  <a:srgbClr val="16A34A"/>
                </a:solidFill>
                <a:latin typeface="Inter SemiBold"/>
              </a:rPr>
              <a:t>HITL Approval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536770" y="3423100"/>
            <a:ext cx="20955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0" i="0" u="none">
                <a:solidFill>
                  <a:srgbClr val="1E293B"/>
                </a:solidFill>
                <a:latin typeface="Inter Medium"/>
              </a:rPr>
              <a:t>Architecture &amp; Design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832295" y="3442150"/>
            <a:ext cx="1047750" cy="1905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0" i="0" u="none">
                <a:solidFill>
                  <a:srgbClr val="16A34A"/>
                </a:solidFill>
                <a:latin typeface="Inter SemiBold"/>
              </a:rPr>
              <a:t>HITL Approval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536770" y="4200880"/>
            <a:ext cx="20955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0" i="0" u="none">
                <a:solidFill>
                  <a:srgbClr val="1E293B"/>
                </a:solidFill>
                <a:latin typeface="Inter Medium"/>
              </a:rPr>
              <a:t>Development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509875" y="4650569"/>
            <a:ext cx="2550014" cy="46166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500" b="0" i="0" u="none" dirty="0">
                <a:solidFill>
                  <a:srgbClr val="1E293B"/>
                </a:solidFill>
                <a:latin typeface="Inter Medium"/>
              </a:rPr>
              <a:t>Verification (</a:t>
            </a:r>
            <a:r>
              <a:rPr lang="en-IN" sz="1500" dirty="0"/>
              <a:t>Quality Assurance (Testing)</a:t>
            </a:r>
            <a:r>
              <a:rPr sz="1500" b="0" i="0" u="none" dirty="0">
                <a:solidFill>
                  <a:srgbClr val="1E293B"/>
                </a:solidFill>
                <a:latin typeface="Inter Medium"/>
              </a:rPr>
              <a:t>/Security)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536770" y="5581527"/>
            <a:ext cx="20955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0" i="0" u="none">
                <a:solidFill>
                  <a:srgbClr val="1E293B"/>
                </a:solidFill>
                <a:latin typeface="Inter Medium"/>
              </a:rPr>
              <a:t>Deployment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71500" y="323850"/>
            <a:ext cx="11601450" cy="514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300" b="1" i="0" u="none" dirty="0">
                <a:solidFill>
                  <a:srgbClr val="0F172A"/>
                </a:solidFill>
                <a:latin typeface="Inter"/>
              </a:rPr>
              <a:t>Proposed Architecture: </a:t>
            </a:r>
            <a:r>
              <a:rPr sz="3300" b="1" i="0" u="none" dirty="0">
                <a:solidFill>
                  <a:srgbClr val="2563EB"/>
                </a:solidFill>
                <a:latin typeface="Inter"/>
              </a:rPr>
              <a:t>Modu</a:t>
            </a:r>
            <a:r>
              <a:rPr lang="en-IN" sz="3300" b="1" i="0" u="none" dirty="0">
                <a:solidFill>
                  <a:srgbClr val="2563EB"/>
                </a:solidFill>
                <a:latin typeface="Inter"/>
              </a:rPr>
              <a:t>lar</a:t>
            </a:r>
            <a:r>
              <a:rPr sz="3300" b="1" i="0" u="none" dirty="0">
                <a:solidFill>
                  <a:srgbClr val="2563EB"/>
                </a:solidFill>
                <a:latin typeface="Inter"/>
              </a:rPr>
              <a:t> Pipeline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0D8EC028-5D16-CAD3-E5F3-8A9A85590BA4}"/>
              </a:ext>
            </a:extLst>
          </p:cNvPr>
          <p:cNvSpPr txBox="1"/>
          <p:nvPr/>
        </p:nvSpPr>
        <p:spPr>
          <a:xfrm>
            <a:off x="3895047" y="4923758"/>
            <a:ext cx="1047750" cy="1905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0" i="0" u="none" dirty="0">
                <a:solidFill>
                  <a:srgbClr val="16A34A"/>
                </a:solidFill>
                <a:latin typeface="Inter SemiBold"/>
              </a:rPr>
              <a:t>HITL Approval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B8EED8D0-6A02-FEF3-83D7-CFE4AC8EE770}"/>
              </a:ext>
            </a:extLst>
          </p:cNvPr>
          <p:cNvSpPr txBox="1"/>
          <p:nvPr/>
        </p:nvSpPr>
        <p:spPr>
          <a:xfrm>
            <a:off x="3832295" y="5686757"/>
            <a:ext cx="1047750" cy="1905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0" i="0" u="none" dirty="0">
                <a:solidFill>
                  <a:srgbClr val="16A34A"/>
                </a:solidFill>
                <a:latin typeface="Inter SemiBold"/>
              </a:rPr>
              <a:t>HITL Approval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03242" y="1224731"/>
            <a:ext cx="11049000" cy="609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0" i="0" u="none" dirty="0">
                <a:solidFill>
                  <a:srgbClr val="334155"/>
                </a:solidFill>
                <a:latin typeface="Inter"/>
              </a:rPr>
              <a:t>While highly capable, existing autonomous systems index heavily on code generation, lacking end-to-end SDLC orchestration and organizational memory.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61972" y="2119312"/>
            <a:ext cx="11049000" cy="3295650"/>
          </a:xfrm>
          <a:prstGeom prst="roundRect">
            <a:avLst>
              <a:gd name="adj" fmla="val 0"/>
            </a:avLst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26560691"/>
              </p:ext>
            </p:extLst>
          </p:nvPr>
        </p:nvGraphicFramePr>
        <p:xfrm>
          <a:off x="561972" y="2119312"/>
          <a:ext cx="11039472" cy="32956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3919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3970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5195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7546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9898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93417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659130">
                <a:tc>
                  <a:txBody>
                    <a:bodyPr/>
                    <a:lstStyle/>
                    <a:p>
                      <a:pPr algn="l"/>
                      <a:r>
                        <a:rPr sz="1500" b="0" i="0" u="none">
                          <a:solidFill>
                            <a:srgbClr val="0F172A"/>
                          </a:solidFill>
                          <a:latin typeface="Inter SemiBold"/>
                        </a:rPr>
                        <a:t>System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0" i="0" u="none">
                          <a:solidFill>
                            <a:srgbClr val="0F172A"/>
                          </a:solidFill>
                          <a:latin typeface="Inter SemiBold"/>
                        </a:rPr>
                        <a:t>Requirements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0" i="0" u="none">
                          <a:solidFill>
                            <a:srgbClr val="0F172A"/>
                          </a:solidFill>
                          <a:latin typeface="Inter SemiBold"/>
                        </a:rPr>
                        <a:t>Design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0" i="0" u="none">
                          <a:solidFill>
                            <a:srgbClr val="0F172A"/>
                          </a:solidFill>
                          <a:latin typeface="Inter SemiBold"/>
                        </a:rPr>
                        <a:t>Coding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0" i="0" u="none">
                          <a:solidFill>
                            <a:srgbClr val="0F172A"/>
                          </a:solidFill>
                          <a:latin typeface="Inter SemiBold"/>
                        </a:rPr>
                        <a:t>Testing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0" i="0" u="none">
                          <a:solidFill>
                            <a:srgbClr val="0F172A"/>
                          </a:solidFill>
                          <a:latin typeface="Inter SemiBold"/>
                        </a:rPr>
                        <a:t>Deployment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59130">
                <a:tc>
                  <a:txBody>
                    <a:bodyPr/>
                    <a:lstStyle/>
                    <a:p>
                      <a:pPr algn="l"/>
                      <a:r>
                        <a:rPr sz="1500" b="1" i="0" u="none">
                          <a:solidFill>
                            <a:srgbClr val="334155"/>
                          </a:solidFill>
                          <a:latin typeface="Inter"/>
                        </a:rPr>
                        <a:t>Devin / OpenHands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0" i="0" u="none">
                          <a:solidFill>
                            <a:srgbClr val="F59E0B"/>
                          </a:solidFill>
                          <a:latin typeface="Inter"/>
                        </a:rPr>
                        <a:t>Partial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0" i="0" u="none">
                          <a:solidFill>
                            <a:srgbClr val="F59E0B"/>
                          </a:solidFill>
                          <a:latin typeface="Inter"/>
                        </a:rPr>
                        <a:t>Partial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0" i="0" u="none">
                          <a:solidFill>
                            <a:srgbClr val="16A34A"/>
                          </a:solidFill>
                          <a:latin typeface="Inter"/>
                        </a:rPr>
                        <a:t>Yes</a:t>
                      </a:r>
                    </a:p>
                  </a:txBody>
                  <a:tcPr marL="28575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0" i="0" u="none">
                          <a:solidFill>
                            <a:srgbClr val="16A34A"/>
                          </a:solidFill>
                          <a:latin typeface="Inter"/>
                        </a:rPr>
                        <a:t>Yes</a:t>
                      </a:r>
                    </a:p>
                  </a:txBody>
                  <a:tcPr marL="28575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0" i="0" u="none">
                          <a:solidFill>
                            <a:srgbClr val="F59E0B"/>
                          </a:solidFill>
                          <a:latin typeface="Inter"/>
                        </a:rPr>
                        <a:t>Partial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59130">
                <a:tc>
                  <a:txBody>
                    <a:bodyPr/>
                    <a:lstStyle/>
                    <a:p>
                      <a:pPr algn="l"/>
                      <a:r>
                        <a:rPr sz="1500" b="1" i="0" u="none">
                          <a:solidFill>
                            <a:srgbClr val="334155"/>
                          </a:solidFill>
                          <a:latin typeface="Inter"/>
                        </a:rPr>
                        <a:t>MetaGPT / ChatDev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0" i="0" u="none" dirty="0">
                          <a:solidFill>
                            <a:srgbClr val="16A34A"/>
                          </a:solidFill>
                          <a:latin typeface="Inter"/>
                        </a:rPr>
                        <a:t>Yes</a:t>
                      </a:r>
                    </a:p>
                  </a:txBody>
                  <a:tcPr marL="28575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0" i="0" u="none">
                          <a:solidFill>
                            <a:srgbClr val="16A34A"/>
                          </a:solidFill>
                          <a:latin typeface="Inter"/>
                        </a:rPr>
                        <a:t>Yes</a:t>
                      </a:r>
                    </a:p>
                  </a:txBody>
                  <a:tcPr marL="28575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0" i="0" u="none">
                          <a:solidFill>
                            <a:srgbClr val="16A34A"/>
                          </a:solidFill>
                          <a:latin typeface="Inter"/>
                        </a:rPr>
                        <a:t>Yes</a:t>
                      </a:r>
                    </a:p>
                  </a:txBody>
                  <a:tcPr marL="28575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0" i="0" u="none" dirty="0">
                          <a:solidFill>
                            <a:srgbClr val="F59E0B"/>
                          </a:solidFill>
                          <a:latin typeface="Inter"/>
                        </a:rPr>
                        <a:t>Partial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0" i="0" u="none">
                          <a:solidFill>
                            <a:srgbClr val="EF4444"/>
                          </a:solidFill>
                          <a:latin typeface="Inter"/>
                        </a:rPr>
                        <a:t>No</a:t>
                      </a:r>
                    </a:p>
                  </a:txBody>
                  <a:tcPr marL="257175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59130">
                <a:tc>
                  <a:txBody>
                    <a:bodyPr/>
                    <a:lstStyle/>
                    <a:p>
                      <a:pPr algn="l"/>
                      <a:r>
                        <a:rPr sz="1500" b="1" i="0" u="none">
                          <a:solidFill>
                            <a:srgbClr val="334155"/>
                          </a:solidFill>
                          <a:latin typeface="Inter"/>
                        </a:rPr>
                        <a:t>SWE-Agent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0" i="0" u="none">
                          <a:solidFill>
                            <a:srgbClr val="EF4444"/>
                          </a:solidFill>
                          <a:latin typeface="Inter"/>
                        </a:rPr>
                        <a:t>No</a:t>
                      </a:r>
                    </a:p>
                  </a:txBody>
                  <a:tcPr marL="257175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0" i="0" u="none">
                          <a:solidFill>
                            <a:srgbClr val="EF4444"/>
                          </a:solidFill>
                          <a:latin typeface="Inter"/>
                        </a:rPr>
                        <a:t>No</a:t>
                      </a:r>
                    </a:p>
                  </a:txBody>
                  <a:tcPr marL="257175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0" i="0" u="none">
                          <a:solidFill>
                            <a:srgbClr val="16A34A"/>
                          </a:solidFill>
                          <a:latin typeface="Inter"/>
                        </a:rPr>
                        <a:t>Yes</a:t>
                      </a:r>
                    </a:p>
                  </a:txBody>
                  <a:tcPr marL="28575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0" i="0" u="none">
                          <a:solidFill>
                            <a:srgbClr val="16A34A"/>
                          </a:solidFill>
                          <a:latin typeface="Inter"/>
                        </a:rPr>
                        <a:t>Yes</a:t>
                      </a:r>
                    </a:p>
                  </a:txBody>
                  <a:tcPr marL="28575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0" i="0" u="none">
                          <a:solidFill>
                            <a:srgbClr val="EF4444"/>
                          </a:solidFill>
                          <a:latin typeface="Inter"/>
                        </a:rPr>
                        <a:t>No</a:t>
                      </a:r>
                    </a:p>
                  </a:txBody>
                  <a:tcPr marL="257175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59130">
                <a:tc>
                  <a:txBody>
                    <a:bodyPr/>
                    <a:lstStyle/>
                    <a:p>
                      <a:pPr algn="l"/>
                      <a:r>
                        <a:rPr sz="1500" b="1" i="0" u="none">
                          <a:solidFill>
                            <a:srgbClr val="334155"/>
                          </a:solidFill>
                          <a:latin typeface="Inter"/>
                        </a:rPr>
                        <a:t>Proposed System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0" i="0" u="none" dirty="0">
                          <a:solidFill>
                            <a:srgbClr val="16A34A"/>
                          </a:solidFill>
                          <a:latin typeface="Inter"/>
                        </a:rPr>
                        <a:t>Yes</a:t>
                      </a:r>
                    </a:p>
                  </a:txBody>
                  <a:tcPr marL="28575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0" i="0" u="none">
                          <a:solidFill>
                            <a:srgbClr val="16A34A"/>
                          </a:solidFill>
                          <a:latin typeface="Inter"/>
                        </a:rPr>
                        <a:t>Yes</a:t>
                      </a:r>
                    </a:p>
                  </a:txBody>
                  <a:tcPr marL="28575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0" i="0" u="none">
                          <a:solidFill>
                            <a:srgbClr val="16A34A"/>
                          </a:solidFill>
                          <a:latin typeface="Inter"/>
                        </a:rPr>
                        <a:t>Yes</a:t>
                      </a:r>
                    </a:p>
                  </a:txBody>
                  <a:tcPr marL="28575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0" i="0" u="none">
                          <a:solidFill>
                            <a:srgbClr val="16A34A"/>
                          </a:solidFill>
                          <a:latin typeface="Inter"/>
                        </a:rPr>
                        <a:t>Yes</a:t>
                      </a:r>
                    </a:p>
                  </a:txBody>
                  <a:tcPr marL="28575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0" i="0" u="none" dirty="0">
                          <a:solidFill>
                            <a:srgbClr val="16A34A"/>
                          </a:solidFill>
                          <a:latin typeface="Inter"/>
                        </a:rPr>
                        <a:t>Yes</a:t>
                      </a:r>
                    </a:p>
                  </a:txBody>
                  <a:tcPr marL="28575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6" name="Rectangle 5"/>
          <p:cNvSpPr/>
          <p:nvPr/>
        </p:nvSpPr>
        <p:spPr>
          <a:xfrm>
            <a:off x="566734" y="2771774"/>
            <a:ext cx="2839194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3405928" y="2771774"/>
            <a:ext cx="2139701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5545630" y="2771774"/>
            <a:ext cx="1351954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6897585" y="2771774"/>
            <a:ext cx="1375469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8273054" y="2771774"/>
            <a:ext cx="1398984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9672039" y="2771774"/>
            <a:ext cx="193417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566734" y="3428999"/>
            <a:ext cx="2839194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3405928" y="3428999"/>
            <a:ext cx="2139701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5545630" y="3428999"/>
            <a:ext cx="1351954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6897585" y="3428999"/>
            <a:ext cx="1375469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8273054" y="3428999"/>
            <a:ext cx="1398984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9672039" y="3428999"/>
            <a:ext cx="193417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566734" y="4086224"/>
            <a:ext cx="2839194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3405928" y="4086224"/>
            <a:ext cx="2139701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5545630" y="4086224"/>
            <a:ext cx="1351954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6897585" y="4086224"/>
            <a:ext cx="1375469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8273054" y="4086224"/>
            <a:ext cx="1398984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9672039" y="4086224"/>
            <a:ext cx="193417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566734" y="4743449"/>
            <a:ext cx="2839194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3405928" y="4743449"/>
            <a:ext cx="2139701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5545630" y="4743449"/>
            <a:ext cx="1351954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6897585" y="4743449"/>
            <a:ext cx="1375469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8273054" y="4743449"/>
            <a:ext cx="1398984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9672039" y="4743449"/>
            <a:ext cx="193417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TextBox 61"/>
          <p:cNvSpPr txBox="1"/>
          <p:nvPr/>
        </p:nvSpPr>
        <p:spPr>
          <a:xfrm>
            <a:off x="571500" y="571500"/>
            <a:ext cx="11601450" cy="514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300" b="1" i="0" u="none" dirty="0">
                <a:solidFill>
                  <a:srgbClr val="0F172A"/>
                </a:solidFill>
                <a:latin typeface="Inter"/>
              </a:rPr>
              <a:t>Identifying the </a:t>
            </a:r>
            <a:r>
              <a:rPr sz="3300" b="1" i="0" u="none" dirty="0">
                <a:solidFill>
                  <a:srgbClr val="2563EB"/>
                </a:solidFill>
                <a:latin typeface="Inter"/>
              </a:rPr>
              <a:t>Gap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1657350"/>
            <a:ext cx="5334000" cy="462915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86500" y="1657350"/>
            <a:ext cx="5334000" cy="462915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62025" y="2047875"/>
            <a:ext cx="4780597" cy="295275"/>
          </a:xfrm>
          <a:prstGeom prst="rect">
            <a:avLst/>
          </a:prstGeom>
          <a:noFill/>
        </p:spPr>
        <p:txBody>
          <a:bodyPr wrap="square" lIns="309413" tIns="0" rIns="0" bIns="0" anchor="t">
            <a:spAutoFit/>
          </a:bodyPr>
          <a:lstStyle/>
          <a:p>
            <a:pPr algn="l"/>
            <a:r>
              <a:rPr sz="1950" b="0" i="0" u="none">
                <a:solidFill>
                  <a:srgbClr val="EF4444"/>
                </a:solidFill>
                <a:latin typeface="Inter SemiBold"/>
              </a:rPr>
              <a:t>Traditional: Fixed Agents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2025" y="2486025"/>
            <a:ext cx="455295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0" i="0" u="none">
                <a:solidFill>
                  <a:srgbClr val="334155"/>
                </a:solidFill>
                <a:latin typeface="Inter"/>
              </a:rPr>
              <a:t>Standard agentic systems rely on rigid, hardcoded workflows (e.g., always Planner → Developer → Tester).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677025" y="2047875"/>
            <a:ext cx="4780597" cy="295275"/>
          </a:xfrm>
          <a:prstGeom prst="rect">
            <a:avLst/>
          </a:prstGeom>
          <a:noFill/>
        </p:spPr>
        <p:txBody>
          <a:bodyPr wrap="square" lIns="309413" tIns="0" rIns="0" bIns="0" anchor="t">
            <a:spAutoFit/>
          </a:bodyPr>
          <a:lstStyle/>
          <a:p>
            <a:pPr algn="l"/>
            <a:r>
              <a:rPr sz="1950" b="0" i="0" u="none">
                <a:solidFill>
                  <a:srgbClr val="16A34A"/>
                </a:solidFill>
                <a:latin typeface="Inter SemiBold"/>
              </a:rPr>
              <a:t>Proposed: Dynamic Generation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677025" y="2486025"/>
            <a:ext cx="455295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0" i="0" u="none">
                <a:solidFill>
                  <a:srgbClr val="334155"/>
                </a:solidFill>
                <a:latin typeface="Inter"/>
              </a:rPr>
              <a:t>The Orchestrator analyzes project complexity, risk, and size before execution to spawn agents on-the-fly.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47775" y="3543300"/>
            <a:ext cx="4267200" cy="304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0" i="0" u="none">
                <a:solidFill>
                  <a:srgbClr val="334155"/>
                </a:solidFill>
                <a:latin typeface="Inter"/>
              </a:rPr>
              <a:t>Inefficient for small tasks (over-engineered).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47775" y="4019550"/>
            <a:ext cx="4267200" cy="609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0" i="0" u="none">
                <a:solidFill>
                  <a:srgbClr val="334155"/>
                </a:solidFill>
                <a:latin typeface="Inter"/>
              </a:rPr>
              <a:t>Lacks specialized roles (Security, DevOps) for complex enterprise apps.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62775" y="3543300"/>
            <a:ext cx="4267200" cy="304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1" i="0" u="none">
                <a:solidFill>
                  <a:srgbClr val="334155"/>
                </a:solidFill>
                <a:latin typeface="Inter"/>
              </a:rPr>
              <a:t>Small Script:</a:t>
            </a:r>
            <a:r>
              <a:rPr sz="1500" b="0" i="0" u="none">
                <a:solidFill>
                  <a:srgbClr val="334155"/>
                </a:solidFill>
                <a:latin typeface="Inter"/>
              </a:rPr>
              <a:t> Spawns Planner + Developer.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62775" y="4019550"/>
            <a:ext cx="4267200" cy="609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1" i="0" u="none">
                <a:solidFill>
                  <a:srgbClr val="334155"/>
                </a:solidFill>
                <a:latin typeface="Inter"/>
              </a:rPr>
              <a:t>Enterprise App:</a:t>
            </a:r>
            <a:r>
              <a:rPr sz="1500" b="0" i="0" u="none">
                <a:solidFill>
                  <a:srgbClr val="334155"/>
                </a:solidFill>
                <a:latin typeface="Inter"/>
              </a:rPr>
              <a:t> Spawns Architect, Backend, Frontend, Security, QA, DevOps.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62775" y="4800600"/>
            <a:ext cx="4267200" cy="609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0" i="0" u="none">
                <a:solidFill>
                  <a:srgbClr val="334155"/>
                </a:solidFill>
                <a:latin typeface="Inter"/>
              </a:rPr>
              <a:t>Agents are retired when tasks complete, saving compute.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2025" y="3600450"/>
            <a:ext cx="76200" cy="2095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79"/>
              </a:lnSpc>
            </a:pPr>
            <a:r>
              <a:rPr sz="1050" b="0" i="0" u="none">
                <a:solidFill>
                  <a:srgbClr val="2563EB"/>
                </a:solidFill>
                <a:latin typeface="Inter"/>
              </a:rPr>
              <a:t>■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2025" y="4076700"/>
            <a:ext cx="76200" cy="2095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79"/>
              </a:lnSpc>
            </a:pPr>
            <a:r>
              <a:rPr sz="1050" b="0" i="0" u="none">
                <a:solidFill>
                  <a:srgbClr val="2563EB"/>
                </a:solidFill>
                <a:latin typeface="Inter"/>
              </a:rPr>
              <a:t>■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77025" y="3600450"/>
            <a:ext cx="76200" cy="2095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79"/>
              </a:lnSpc>
            </a:pPr>
            <a:r>
              <a:rPr sz="1050" b="0" i="0" u="none">
                <a:solidFill>
                  <a:srgbClr val="2563EB"/>
                </a:solidFill>
                <a:latin typeface="Inter"/>
              </a:rPr>
              <a:t>■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77025" y="4076700"/>
            <a:ext cx="76200" cy="2095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79"/>
              </a:lnSpc>
            </a:pPr>
            <a:r>
              <a:rPr sz="1050" b="0" i="0" u="none">
                <a:solidFill>
                  <a:srgbClr val="2563EB"/>
                </a:solidFill>
                <a:latin typeface="Inter"/>
              </a:rPr>
              <a:t>■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77025" y="4857750"/>
            <a:ext cx="76200" cy="2095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79"/>
              </a:lnSpc>
            </a:pPr>
            <a:r>
              <a:rPr sz="1050" b="0" i="0" u="none">
                <a:solidFill>
                  <a:srgbClr val="2563EB"/>
                </a:solidFill>
                <a:latin typeface="Inter"/>
              </a:rPr>
              <a:t>■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71500" y="571500"/>
            <a:ext cx="11601450" cy="514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300" b="1" i="0" u="none">
                <a:solidFill>
                  <a:srgbClr val="0F172A"/>
                </a:solidFill>
                <a:latin typeface="Inter"/>
              </a:rPr>
              <a:t>Core Innovation: </a:t>
            </a:r>
            <a:r>
              <a:rPr sz="3300" b="1" i="0" u="none">
                <a:solidFill>
                  <a:srgbClr val="2563EB"/>
                </a:solidFill>
                <a:latin typeface="Inter"/>
              </a:rPr>
              <a:t>Adaptive Team Generation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651025" y="374970"/>
            <a:ext cx="10001250" cy="98488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l" defTabSz="457200" rtl="0" eaLnBrk="1" fontAlgn="auto" latinLnBrk="0" hangingPunct="1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3200" b="1" i="0" u="none" strike="noStrike" kern="1200" cap="none" spc="0" normalizeH="0" baseline="0" noProof="0" dirty="0">
                <a:ln>
                  <a:noFill/>
                </a:ln>
                <a:solidFill>
                  <a:srgbClr val="0F172A"/>
                </a:solidFill>
                <a:effectLst/>
                <a:uLnTx/>
                <a:uFillTx/>
                <a:latin typeface="Inter"/>
              </a:rPr>
              <a:t>Core Innovation:</a:t>
            </a:r>
            <a:r>
              <a:rPr lang="en-IN" sz="3200" dirty="0">
                <a:solidFill>
                  <a:prstClr val="black"/>
                </a:solidFill>
                <a:latin typeface="Inter"/>
              </a:rPr>
              <a:t> </a:t>
            </a:r>
            <a:r>
              <a:rPr kumimoji="0" sz="3200" b="1" i="0" u="none" strike="noStrike" kern="1200" cap="none" spc="0" normalizeH="0" baseline="0" noProof="0" dirty="0">
                <a:ln>
                  <a:noFill/>
                </a:ln>
                <a:solidFill>
                  <a:srgbClr val="2563EB"/>
                </a:solidFill>
                <a:effectLst/>
                <a:uLnTx/>
                <a:uFillTx/>
                <a:latin typeface="Inter"/>
              </a:rPr>
              <a:t>Hierarchical Software Knowledge Graph (HSKG)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1025" y="1690379"/>
            <a:ext cx="3365450" cy="55399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l" defTabSz="457200" rtl="0" eaLnBrk="1" fontAlgn="auto" latinLnBrk="0" hangingPunct="1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b="0" i="0" u="none" strike="noStrike" kern="1200" cap="none" spc="0" normalizeH="0" baseline="0" noProof="0" dirty="0">
                <a:ln>
                  <a:noFill/>
                </a:ln>
                <a:solidFill>
                  <a:srgbClr val="475569"/>
                </a:solidFill>
                <a:effectLst/>
                <a:uLnTx/>
                <a:uFillTx/>
                <a:latin typeface="Inter Medium"/>
                <a:ea typeface="+mn-ea"/>
                <a:cs typeface="+mn-cs"/>
              </a:rPr>
              <a:t>Beyond Traditional Memory:</a:t>
            </a:r>
            <a:endParaRPr kumimoji="0" lang="en-IN" b="0" i="0" u="none" strike="noStrike" kern="1200" cap="none" spc="0" normalizeH="0" baseline="0" noProof="0" dirty="0">
              <a:ln>
                <a:noFill/>
              </a:ln>
              <a:solidFill>
                <a:srgbClr val="475569"/>
              </a:solidFill>
              <a:effectLst/>
              <a:uLnTx/>
              <a:uFillTx/>
              <a:latin typeface="Inter Medium"/>
              <a:ea typeface="+mn-ea"/>
              <a:cs typeface="+mn-cs"/>
            </a:endParaRPr>
          </a:p>
          <a:p>
            <a:pPr marL="0" marR="0" lvl="0" indent="0" algn="l" defTabSz="457200" rtl="0" eaLnBrk="1" fontAlgn="auto" latinLnBrk="0" hangingPunct="1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b="0" i="0" u="none" strike="noStrike" kern="1200" cap="none" spc="0" normalizeH="0" baseline="0" noProof="0" dirty="0">
                <a:ln>
                  <a:noFill/>
                </a:ln>
                <a:solidFill>
                  <a:srgbClr val="475569"/>
                </a:solidFill>
                <a:effectLst/>
                <a:uLnTx/>
                <a:uFillTx/>
                <a:latin typeface="Inter Medium"/>
                <a:ea typeface="+mn-ea"/>
                <a:cs typeface="+mn-cs"/>
              </a:rPr>
              <a:t>A Context-Aware Project Memory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8371" y="3188730"/>
            <a:ext cx="4141834" cy="89716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ts val="24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500" b="1" i="0" u="none" strike="noStrike" kern="1200" cap="none" spc="0" normalizeH="0" baseline="0" noProof="0" dirty="0">
                <a:ln>
                  <a:noFill/>
                </a:ln>
                <a:solidFill>
                  <a:srgbClr val="334155"/>
                </a:solidFill>
                <a:effectLst/>
                <a:uLnTx/>
                <a:uFillTx/>
                <a:latin typeface="Inter"/>
                <a:ea typeface="+mn-ea"/>
                <a:cs typeface="+mn-cs"/>
              </a:rPr>
              <a:t>The Problem:</a:t>
            </a:r>
            <a:r>
              <a:rPr kumimoji="0" sz="1500" b="0" i="0" u="none" strike="noStrike" kern="1200" cap="none" spc="0" normalizeH="0" baseline="0" noProof="0" dirty="0">
                <a:ln>
                  <a:noFill/>
                </a:ln>
                <a:solidFill>
                  <a:srgbClr val="334155"/>
                </a:solidFill>
                <a:effectLst/>
                <a:uLnTx/>
                <a:uFillTx/>
                <a:latin typeface="Inter"/>
                <a:ea typeface="+mn-ea"/>
                <a:cs typeface="+mn-cs"/>
              </a:rPr>
              <a:t> Current AI agents retrieve entire repositories or large documents, resulting in high token consumption and irrelevant context.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1025" y="4335808"/>
            <a:ext cx="3884104" cy="120494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ts val="24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500" b="1" i="0" u="none" strike="noStrike" kern="1200" cap="none" spc="0" normalizeH="0" baseline="0" noProof="0" dirty="0">
                <a:ln>
                  <a:noFill/>
                </a:ln>
                <a:solidFill>
                  <a:srgbClr val="334155"/>
                </a:solidFill>
                <a:effectLst/>
                <a:uLnTx/>
                <a:uFillTx/>
                <a:latin typeface="Inter"/>
                <a:ea typeface="+mn-ea"/>
                <a:cs typeface="+mn-cs"/>
              </a:rPr>
              <a:t>Our Solution:</a:t>
            </a:r>
            <a:r>
              <a:rPr kumimoji="0" sz="1500" b="0" i="0" u="none" strike="noStrike" kern="1200" cap="none" spc="0" normalizeH="0" baseline="0" noProof="0" dirty="0">
                <a:ln>
                  <a:noFill/>
                </a:ln>
                <a:solidFill>
                  <a:srgbClr val="334155"/>
                </a:solidFill>
                <a:effectLst/>
                <a:uLnTx/>
                <a:uFillTx/>
                <a:latin typeface="Inter"/>
                <a:ea typeface="+mn-ea"/>
                <a:cs typeface="+mn-cs"/>
              </a:rPr>
              <a:t> Our proposed HSKG stores the software project as a hierarchical graph, enabling agents to retrieve only the smallest relevant subgraph required for a task.</a:t>
            </a:r>
          </a:p>
        </p:txBody>
      </p:sp>
      <p:pic>
        <p:nvPicPr>
          <p:cNvPr id="8" name="Picture 7" descr="image.png">
            <a:extLst>
              <a:ext uri="{FF2B5EF4-FFF2-40B4-BE49-F238E27FC236}">
                <a16:creationId xmlns:a16="http://schemas.microsoft.com/office/drawing/2014/main" id="{C8894353-4957-A2E0-39B0-543F843E4B2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40205" y="922135"/>
            <a:ext cx="3365450" cy="5418667"/>
          </a:xfrm>
          <a:prstGeom prst="rect">
            <a:avLst/>
          </a:prstGeom>
        </p:spPr>
      </p:pic>
      <p:pic>
        <p:nvPicPr>
          <p:cNvPr id="10" name="Picture 9" descr="image.png">
            <a:extLst>
              <a:ext uri="{FF2B5EF4-FFF2-40B4-BE49-F238E27FC236}">
                <a16:creationId xmlns:a16="http://schemas.microsoft.com/office/drawing/2014/main" id="{CECFA41D-13C9-DCB9-66E2-F0072055DA3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10731" y="962373"/>
            <a:ext cx="3365599" cy="5418667"/>
          </a:xfrm>
          <a:prstGeom prst="rect">
            <a:avLst/>
          </a:prstGeom>
        </p:spPr>
      </p:pic>
      <p:pic>
        <p:nvPicPr>
          <p:cNvPr id="12" name="Picture 11" descr="image.png">
            <a:extLst>
              <a:ext uri="{FF2B5EF4-FFF2-40B4-BE49-F238E27FC236}">
                <a16:creationId xmlns:a16="http://schemas.microsoft.com/office/drawing/2014/main" id="{A9C44036-61A8-EAFF-080D-463D5EB47DA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09641" y="2157653"/>
            <a:ext cx="2774900" cy="1905000"/>
          </a:xfrm>
          <a:prstGeom prst="rect">
            <a:avLst/>
          </a:prstGeom>
        </p:spPr>
      </p:pic>
      <p:pic>
        <p:nvPicPr>
          <p:cNvPr id="14" name="Picture 13" descr="image.png">
            <a:extLst>
              <a:ext uri="{FF2B5EF4-FFF2-40B4-BE49-F238E27FC236}">
                <a16:creationId xmlns:a16="http://schemas.microsoft.com/office/drawing/2014/main" id="{F43C9D70-D90B-24BB-82BB-1FE1034C86B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32189" y="2059766"/>
            <a:ext cx="2775049" cy="695325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C12D879C-E449-8EE8-C292-2DEF48407B4B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8658223" y="2953129"/>
            <a:ext cx="2775049" cy="867202"/>
          </a:xfrm>
          <a:prstGeom prst="rect">
            <a:avLst/>
          </a:prstGeom>
        </p:spPr>
      </p:pic>
      <p:pic>
        <p:nvPicPr>
          <p:cNvPr id="18" name="Picture 17" descr="image.png">
            <a:extLst>
              <a:ext uri="{FF2B5EF4-FFF2-40B4-BE49-F238E27FC236}">
                <a16:creationId xmlns:a16="http://schemas.microsoft.com/office/drawing/2014/main" id="{3450BF5F-ACC6-1481-77A0-89F91D2119A1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109641" y="1281353"/>
            <a:ext cx="476250" cy="476250"/>
          </a:xfrm>
          <a:prstGeom prst="rect">
            <a:avLst/>
          </a:prstGeom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F2BC2538-76AC-5EA5-9CD1-0F4C45DCC710}"/>
              </a:ext>
            </a:extLst>
          </p:cNvPr>
          <p:cNvSpPr txBox="1"/>
          <p:nvPr/>
        </p:nvSpPr>
        <p:spPr>
          <a:xfrm>
            <a:off x="5728766" y="1352790"/>
            <a:ext cx="1608901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0" i="0" u="none" dirty="0">
                <a:solidFill>
                  <a:srgbClr val="0F172A"/>
                </a:solidFill>
                <a:latin typeface="Poppins SemiBold"/>
              </a:rPr>
              <a:t>Project Graph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FF81CDCC-DDC8-74B1-835F-DEF5155317C5}"/>
              </a:ext>
            </a:extLst>
          </p:cNvPr>
          <p:cNvSpPr txBox="1"/>
          <p:nvPr/>
        </p:nvSpPr>
        <p:spPr>
          <a:xfrm>
            <a:off x="5262041" y="2329103"/>
            <a:ext cx="605872" cy="21377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1" i="0" u="none">
                <a:solidFill>
                  <a:srgbClr val="2563EB"/>
                </a:solidFill>
                <a:latin typeface="monospace"/>
              </a:rPr>
              <a:t>Project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AA13F7FD-E8AF-B22C-71D4-B2B1E68640E6}"/>
              </a:ext>
            </a:extLst>
          </p:cNvPr>
          <p:cNvSpPr txBox="1"/>
          <p:nvPr/>
        </p:nvSpPr>
        <p:spPr>
          <a:xfrm>
            <a:off x="5452541" y="2538653"/>
            <a:ext cx="2157172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0" i="0" u="none" dirty="0">
                <a:solidFill>
                  <a:srgbClr val="0F172A"/>
                </a:solidFill>
                <a:latin typeface="monospace"/>
              </a:rPr>
              <a:t>Authentication</a:t>
            </a:r>
            <a:r>
              <a:rPr dirty="0"/>
              <a:t>
</a:t>
            </a:r>
            <a:r>
              <a:rPr sz="1200" b="0" i="0" u="none" dirty="0">
                <a:solidFill>
                  <a:srgbClr val="0F172A"/>
                </a:solidFill>
                <a:latin typeface="monospace"/>
              </a:rPr>
              <a:t>    Login, Register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87B79403-EE1D-2590-3964-5B017F6ECAA7}"/>
              </a:ext>
            </a:extLst>
          </p:cNvPr>
          <p:cNvSpPr txBox="1"/>
          <p:nvPr/>
        </p:nvSpPr>
        <p:spPr>
          <a:xfrm>
            <a:off x="5452541" y="2995853"/>
            <a:ext cx="2157172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0" i="0" u="none">
                <a:solidFill>
                  <a:srgbClr val="0F172A"/>
                </a:solidFill>
                <a:latin typeface="monospace"/>
              </a:rPr>
              <a:t>Inventory</a:t>
            </a:r>
            <a:r>
              <a:t>
</a:t>
            </a:r>
            <a:r>
              <a:rPr sz="1200" b="0" i="0" u="none">
                <a:solidFill>
                  <a:srgbClr val="0F172A"/>
                </a:solidFill>
                <a:latin typeface="monospace"/>
              </a:rPr>
              <a:t>    Product, Stock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FC3AFB7E-1C71-262A-88A1-0636E38B5FF1}"/>
              </a:ext>
            </a:extLst>
          </p:cNvPr>
          <p:cNvSpPr txBox="1"/>
          <p:nvPr/>
        </p:nvSpPr>
        <p:spPr>
          <a:xfrm>
            <a:off x="5563098" y="3453053"/>
            <a:ext cx="2157172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0" i="0" u="none" dirty="0">
                <a:solidFill>
                  <a:srgbClr val="0F172A"/>
                </a:solidFill>
                <a:latin typeface="monospace"/>
              </a:rPr>
              <a:t>Invoice</a:t>
            </a:r>
            <a:r>
              <a:rPr dirty="0"/>
              <a:t>
</a:t>
            </a:r>
            <a:r>
              <a:rPr sz="1200" b="0" i="0" u="none" dirty="0">
                <a:solidFill>
                  <a:srgbClr val="0F172A"/>
                </a:solidFill>
                <a:latin typeface="monospace"/>
              </a:rPr>
              <a:t>    Create, Payment</a:t>
            </a:r>
          </a:p>
        </p:txBody>
      </p:sp>
      <p:pic>
        <p:nvPicPr>
          <p:cNvPr id="30" name="Picture 29" descr="image.png">
            <a:extLst>
              <a:ext uri="{FF2B5EF4-FFF2-40B4-BE49-F238E27FC236}">
                <a16:creationId xmlns:a16="http://schemas.microsoft.com/office/drawing/2014/main" id="{61E5B721-F27F-9A91-2215-100B6E6A7F34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632189" y="1183466"/>
            <a:ext cx="476250" cy="476250"/>
          </a:xfrm>
          <a:prstGeom prst="rect">
            <a:avLst/>
          </a:prstGeom>
        </p:spPr>
      </p:pic>
      <p:sp>
        <p:nvSpPr>
          <p:cNvPr id="32" name="TextBox 31">
            <a:extLst>
              <a:ext uri="{FF2B5EF4-FFF2-40B4-BE49-F238E27FC236}">
                <a16:creationId xmlns:a16="http://schemas.microsoft.com/office/drawing/2014/main" id="{92D2E74F-B994-818F-03DF-284A4E268508}"/>
              </a:ext>
            </a:extLst>
          </p:cNvPr>
          <p:cNvSpPr txBox="1"/>
          <p:nvPr/>
        </p:nvSpPr>
        <p:spPr>
          <a:xfrm>
            <a:off x="9269076" y="1321591"/>
            <a:ext cx="2155924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0" i="0" u="none" dirty="0">
                <a:solidFill>
                  <a:srgbClr val="0F172A"/>
                </a:solidFill>
                <a:latin typeface="Poppins SemiBold"/>
              </a:rPr>
              <a:t>Context</a:t>
            </a:r>
            <a:r>
              <a:rPr lang="en-IN" sz="1800" b="0" i="0" u="none" dirty="0">
                <a:solidFill>
                  <a:srgbClr val="0F172A"/>
                </a:solidFill>
                <a:latin typeface="Poppins SemiBold"/>
              </a:rPr>
              <a:t>-</a:t>
            </a:r>
            <a:r>
              <a:rPr sz="1800" b="0" i="0" u="none" dirty="0">
                <a:solidFill>
                  <a:srgbClr val="0F172A"/>
                </a:solidFill>
                <a:latin typeface="Poppins SemiBold"/>
              </a:rPr>
              <a:t>Aware</a:t>
            </a:r>
          </a:p>
        </p:txBody>
      </p:sp>
      <p:pic>
        <p:nvPicPr>
          <p:cNvPr id="34" name="Picture 33" descr="image.png">
            <a:extLst>
              <a:ext uri="{FF2B5EF4-FFF2-40B4-BE49-F238E27FC236}">
                <a16:creationId xmlns:a16="http://schemas.microsoft.com/office/drawing/2014/main" id="{882A0E9C-DFF4-A7E1-CF68-679BD9791604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219178" y="1405178"/>
            <a:ext cx="257175" cy="228600"/>
          </a:xfrm>
          <a:prstGeom prst="rect">
            <a:avLst/>
          </a:prstGeom>
        </p:spPr>
      </p:pic>
      <p:sp>
        <p:nvSpPr>
          <p:cNvPr id="36" name="TextBox 35">
            <a:extLst>
              <a:ext uri="{FF2B5EF4-FFF2-40B4-BE49-F238E27FC236}">
                <a16:creationId xmlns:a16="http://schemas.microsoft.com/office/drawing/2014/main" id="{43E909B9-3386-C9EC-DD9B-F9AD6805D318}"/>
              </a:ext>
            </a:extLst>
          </p:cNvPr>
          <p:cNvSpPr txBox="1"/>
          <p:nvPr/>
        </p:nvSpPr>
        <p:spPr>
          <a:xfrm>
            <a:off x="5262041" y="2538653"/>
            <a:ext cx="466725" cy="21076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0" i="0" u="none" dirty="0">
                <a:solidFill>
                  <a:srgbClr val="94A3B8"/>
                </a:solidFill>
                <a:latin typeface="monospace"/>
              </a:rPr>
              <a:t>├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F698F0DB-254F-2D40-2AD9-A970CA668489}"/>
              </a:ext>
            </a:extLst>
          </p:cNvPr>
          <p:cNvSpPr txBox="1"/>
          <p:nvPr/>
        </p:nvSpPr>
        <p:spPr>
          <a:xfrm>
            <a:off x="5262041" y="2995853"/>
            <a:ext cx="306597" cy="21076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0" i="0" u="none" dirty="0">
                <a:solidFill>
                  <a:srgbClr val="94A3B8"/>
                </a:solidFill>
                <a:latin typeface="monospace"/>
              </a:rPr>
              <a:t>├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1BD22A3C-922F-6B77-4B7C-BBEDDC1C654D}"/>
              </a:ext>
            </a:extLst>
          </p:cNvPr>
          <p:cNvSpPr txBox="1"/>
          <p:nvPr/>
        </p:nvSpPr>
        <p:spPr>
          <a:xfrm>
            <a:off x="5262041" y="3453053"/>
            <a:ext cx="306597" cy="21377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0" i="0" u="none" dirty="0">
                <a:solidFill>
                  <a:srgbClr val="94A3B8"/>
                </a:solidFill>
                <a:latin typeface="monospace"/>
              </a:rPr>
              <a:t>└── </a:t>
            </a:r>
          </a:p>
        </p:txBody>
      </p:sp>
      <p:pic>
        <p:nvPicPr>
          <p:cNvPr id="42" name="Picture 41" descr="image.png">
            <a:extLst>
              <a:ext uri="{FF2B5EF4-FFF2-40B4-BE49-F238E27FC236}">
                <a16:creationId xmlns:a16="http://schemas.microsoft.com/office/drawing/2014/main" id="{1D2CA2AD-8227-4D6B-04FF-8A120F7E02C9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756014" y="1307291"/>
            <a:ext cx="228600" cy="228600"/>
          </a:xfrm>
          <a:prstGeom prst="rect">
            <a:avLst/>
          </a:prstGeom>
        </p:spPr>
      </p:pic>
      <p:sp>
        <p:nvSpPr>
          <p:cNvPr id="44" name="TextBox 43">
            <a:extLst>
              <a:ext uri="{FF2B5EF4-FFF2-40B4-BE49-F238E27FC236}">
                <a16:creationId xmlns:a16="http://schemas.microsoft.com/office/drawing/2014/main" id="{AFE40426-94BF-0EC7-C272-59D3C5005D5D}"/>
              </a:ext>
            </a:extLst>
          </p:cNvPr>
          <p:cNvSpPr txBox="1"/>
          <p:nvPr/>
        </p:nvSpPr>
        <p:spPr>
          <a:xfrm>
            <a:off x="9653002" y="2240741"/>
            <a:ext cx="694036" cy="1731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125" b="1" i="0" u="none">
                <a:solidFill>
                  <a:srgbClr val="334155"/>
                </a:solidFill>
                <a:latin typeface="Inter"/>
              </a:rPr>
              <a:t>Instead of: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6C0AE494-88C7-BA10-3B01-D4B27A084DF8}"/>
              </a:ext>
            </a:extLst>
          </p:cNvPr>
          <p:cNvSpPr txBox="1"/>
          <p:nvPr/>
        </p:nvSpPr>
        <p:spPr>
          <a:xfrm>
            <a:off x="5003950" y="4209758"/>
            <a:ext cx="2837960" cy="18158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1600" b="1" dirty="0"/>
              <a:t>Purpose</a:t>
            </a:r>
            <a:endParaRPr lang="en-IN" sz="1600" dirty="0"/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600" dirty="0"/>
              <a:t>Represents the complete SDLC structure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600" dirty="0"/>
              <a:t>Maintains hierarchy between project components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600" dirty="0"/>
              <a:t>Enables modular navigation 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12D4B858-718C-3FEB-4BCC-04D8417C0C8D}"/>
              </a:ext>
            </a:extLst>
          </p:cNvPr>
          <p:cNvSpPr txBox="1"/>
          <p:nvPr/>
        </p:nvSpPr>
        <p:spPr>
          <a:xfrm>
            <a:off x="8632189" y="4433948"/>
            <a:ext cx="2792811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1600" b="1" dirty="0"/>
              <a:t>Benefits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1600" dirty="0"/>
              <a:t>Minimal context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1600" dirty="0"/>
              <a:t>Lower token usage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1600" dirty="0"/>
              <a:t>Faster reasoning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1600" dirty="0"/>
              <a:t>Better accuracy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1600" dirty="0"/>
              <a:t>Reduced hallucination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71500" y="1325909"/>
            <a:ext cx="11049000" cy="609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0" i="0" u="none" dirty="0">
                <a:solidFill>
                  <a:srgbClr val="334155"/>
                </a:solidFill>
                <a:latin typeface="Inter"/>
              </a:rPr>
              <a:t>Deploying via offline models ensures data privacy. Model selection is based on VRAM footprint and training data freshness (crucial for modern API syntax).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71500" y="2259359"/>
            <a:ext cx="11049000" cy="3295650"/>
          </a:xfrm>
          <a:prstGeom prst="roundRect">
            <a:avLst>
              <a:gd name="adj" fmla="val 0"/>
            </a:avLst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10588914"/>
              </p:ext>
            </p:extLst>
          </p:nvPr>
        </p:nvGraphicFramePr>
        <p:xfrm>
          <a:off x="571500" y="2259359"/>
          <a:ext cx="11039473" cy="32956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1631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51502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9785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51028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659130">
                <a:tc>
                  <a:txBody>
                    <a:bodyPr/>
                    <a:lstStyle/>
                    <a:p>
                      <a:pPr algn="l"/>
                      <a:r>
                        <a:rPr sz="1500" b="0" i="0" u="none">
                          <a:solidFill>
                            <a:srgbClr val="0F172A"/>
                          </a:solidFill>
                          <a:latin typeface="Inter SemiBold"/>
                        </a:rPr>
                        <a:t>Model Tier (4-bit Quant)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0" i="0" u="none">
                          <a:solidFill>
                            <a:srgbClr val="0F172A"/>
                          </a:solidFill>
                          <a:latin typeface="Inter SemiBold"/>
                        </a:rPr>
                        <a:t>Target Hardware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0" i="0" u="none">
                          <a:solidFill>
                            <a:srgbClr val="0F172A"/>
                          </a:solidFill>
                          <a:latin typeface="Inter SemiBold"/>
                        </a:rPr>
                        <a:t>VRAM Reqd.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0" i="0" u="none">
                          <a:solidFill>
                            <a:srgbClr val="0F172A"/>
                          </a:solidFill>
                          <a:latin typeface="Inter SemiBold"/>
                        </a:rPr>
                        <a:t>Knowledge Cutoff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59130">
                <a:tc>
                  <a:txBody>
                    <a:bodyPr/>
                    <a:lstStyle/>
                    <a:p>
                      <a:pPr algn="l"/>
                      <a:r>
                        <a:rPr sz="1500" b="1" i="0" u="none">
                          <a:solidFill>
                            <a:srgbClr val="334155"/>
                          </a:solidFill>
                          <a:latin typeface="Inter"/>
                        </a:rPr>
                        <a:t>Gemma 4 E4B</a:t>
                      </a:r>
                      <a:r>
                        <a:rPr sz="1500" b="0" i="0" u="none">
                          <a:solidFill>
                            <a:srgbClr val="334155"/>
                          </a:solidFill>
                          <a:latin typeface="Inter"/>
                        </a:rPr>
                        <a:t> (4B)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0" i="0" u="none" dirty="0">
                          <a:solidFill>
                            <a:srgbClr val="334155"/>
                          </a:solidFill>
                          <a:latin typeface="Inter"/>
                        </a:rPr>
                        <a:t>Laptops / Integrated GPU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0" i="0" u="none">
                          <a:solidFill>
                            <a:srgbClr val="334155"/>
                          </a:solidFill>
                          <a:latin typeface="Inter"/>
                        </a:rPr>
                        <a:t>~5 GB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0" i="0" u="none">
                          <a:solidFill>
                            <a:srgbClr val="334155"/>
                          </a:solidFill>
                          <a:latin typeface="Inter"/>
                        </a:rPr>
                        <a:t>Early 2026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59130">
                <a:tc>
                  <a:txBody>
                    <a:bodyPr/>
                    <a:lstStyle/>
                    <a:p>
                      <a:pPr algn="l"/>
                      <a:r>
                        <a:rPr sz="1500" b="1" i="0" u="none">
                          <a:solidFill>
                            <a:srgbClr val="334155"/>
                          </a:solidFill>
                          <a:latin typeface="Inter"/>
                        </a:rPr>
                        <a:t>Gemma 4 12B</a:t>
                      </a:r>
                      <a:r>
                        <a:rPr sz="1500" b="0" i="0" u="none">
                          <a:solidFill>
                            <a:srgbClr val="334155"/>
                          </a:solidFill>
                          <a:latin typeface="Inter"/>
                        </a:rPr>
                        <a:t> (12B)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0" i="0" u="none">
                          <a:solidFill>
                            <a:srgbClr val="334155"/>
                          </a:solidFill>
                          <a:latin typeface="Inter"/>
                        </a:rPr>
                        <a:t>Consumer GPU (RTX 4070)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0" i="0" u="none">
                          <a:solidFill>
                            <a:srgbClr val="334155"/>
                          </a:solidFill>
                          <a:latin typeface="Inter"/>
                        </a:rPr>
                        <a:t>8-10 GB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0" i="0" u="none" dirty="0">
                          <a:solidFill>
                            <a:srgbClr val="334155"/>
                          </a:solidFill>
                          <a:latin typeface="Inter"/>
                        </a:rPr>
                        <a:t>Mid 2026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59130">
                <a:tc>
                  <a:txBody>
                    <a:bodyPr/>
                    <a:lstStyle/>
                    <a:p>
                      <a:pPr algn="l"/>
                      <a:r>
                        <a:rPr sz="1500" b="1" i="0" u="none" dirty="0">
                          <a:solidFill>
                            <a:srgbClr val="334155"/>
                          </a:solidFill>
                          <a:latin typeface="Inter"/>
                        </a:rPr>
                        <a:t>Mistral Small 3.2</a:t>
                      </a:r>
                      <a:r>
                        <a:rPr sz="1500" b="0" i="0" u="none" dirty="0">
                          <a:solidFill>
                            <a:srgbClr val="334155"/>
                          </a:solidFill>
                          <a:latin typeface="Inter"/>
                        </a:rPr>
                        <a:t> (24B)</a:t>
                      </a:r>
                      <a:r>
                        <a:rPr lang="en-IN" sz="1500" b="0" i="0" u="none" dirty="0">
                          <a:solidFill>
                            <a:srgbClr val="334155"/>
                          </a:solidFill>
                          <a:latin typeface="Inter"/>
                        </a:rPr>
                        <a:t> or</a:t>
                      </a:r>
                    </a:p>
                    <a:p>
                      <a:pPr algn="l"/>
                      <a:r>
                        <a:rPr lang="en-IN" sz="1600" b="1" dirty="0"/>
                        <a:t>Gemma 4 </a:t>
                      </a:r>
                      <a:r>
                        <a:rPr lang="en-IN" sz="1600" dirty="0"/>
                        <a:t>(26B A4B)</a:t>
                      </a:r>
                      <a:endParaRPr sz="1500" b="0" i="0" u="none" dirty="0">
                        <a:solidFill>
                          <a:srgbClr val="334155"/>
                        </a:solidFill>
                        <a:latin typeface="Inter"/>
                      </a:endParaRP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0" i="0" u="none" dirty="0">
                          <a:solidFill>
                            <a:srgbClr val="334155"/>
                          </a:solidFill>
                          <a:latin typeface="Inter"/>
                        </a:rPr>
                        <a:t>High-End (RTX 4090)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0" i="0" u="none">
                          <a:solidFill>
                            <a:srgbClr val="334155"/>
                          </a:solidFill>
                          <a:latin typeface="Inter"/>
                        </a:rPr>
                        <a:t>16 GB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0" i="0" u="none" dirty="0">
                          <a:solidFill>
                            <a:srgbClr val="334155"/>
                          </a:solidFill>
                          <a:latin typeface="Inter"/>
                        </a:rPr>
                        <a:t>Mid 2025</a:t>
                      </a:r>
                      <a:endParaRPr lang="en-IN" sz="1500" b="0" i="0" u="none" dirty="0">
                        <a:solidFill>
                          <a:srgbClr val="334155"/>
                        </a:solidFill>
                        <a:latin typeface="Inter"/>
                      </a:endParaRPr>
                    </a:p>
                    <a:p>
                      <a:pPr algn="l"/>
                      <a:r>
                        <a:rPr lang="en-IN" sz="1500" b="0" i="0" u="none" dirty="0">
                          <a:solidFill>
                            <a:srgbClr val="334155"/>
                          </a:solidFill>
                          <a:latin typeface="Inter"/>
                        </a:rPr>
                        <a:t>Early 2026</a:t>
                      </a:r>
                      <a:endParaRPr sz="1500" b="0" i="0" u="none" dirty="0">
                        <a:solidFill>
                          <a:srgbClr val="334155"/>
                        </a:solidFill>
                        <a:latin typeface="Inter"/>
                      </a:endParaRP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59130">
                <a:tc>
                  <a:txBody>
                    <a:bodyPr/>
                    <a:lstStyle/>
                    <a:p>
                      <a:pPr algn="l"/>
                      <a:r>
                        <a:rPr sz="1500" b="1" i="0" u="none">
                          <a:solidFill>
                            <a:srgbClr val="334155"/>
                          </a:solidFill>
                          <a:latin typeface="Inter"/>
                        </a:rPr>
                        <a:t>Qwen3-Coder</a:t>
                      </a:r>
                      <a:r>
                        <a:rPr sz="1500" b="0" i="0" u="none">
                          <a:solidFill>
                            <a:srgbClr val="334155"/>
                          </a:solidFill>
                          <a:latin typeface="Inter"/>
                        </a:rPr>
                        <a:t> (32B)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0" i="0" u="none" dirty="0">
                          <a:solidFill>
                            <a:srgbClr val="334155"/>
                          </a:solidFill>
                          <a:latin typeface="Inter"/>
                        </a:rPr>
                        <a:t>Workstation / Mac M-Max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0" i="0" u="none">
                          <a:solidFill>
                            <a:srgbClr val="334155"/>
                          </a:solidFill>
                          <a:latin typeface="Inter"/>
                        </a:rPr>
                        <a:t>20-22 GB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0" i="0" u="none" dirty="0">
                          <a:solidFill>
                            <a:srgbClr val="334155"/>
                          </a:solidFill>
                          <a:latin typeface="Inter"/>
                        </a:rPr>
                        <a:t>Mid 2025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576262" y="2911822"/>
            <a:ext cx="3116312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3692574" y="2911822"/>
            <a:ext cx="3515022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7207597" y="2911822"/>
            <a:ext cx="1897856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9105453" y="2911822"/>
            <a:ext cx="2510283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576262" y="3569047"/>
            <a:ext cx="3116312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3692574" y="3569047"/>
            <a:ext cx="3515022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7207597" y="3569047"/>
            <a:ext cx="1897856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9105453" y="3569047"/>
            <a:ext cx="2510283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576262" y="4226272"/>
            <a:ext cx="3116312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3692574" y="4226272"/>
            <a:ext cx="3515022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7207597" y="4226272"/>
            <a:ext cx="1897856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9105453" y="4226272"/>
            <a:ext cx="2510283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576262" y="4883497"/>
            <a:ext cx="3116312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3692574" y="4883497"/>
            <a:ext cx="3515022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7207597" y="4883497"/>
            <a:ext cx="1897856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9105453" y="4883497"/>
            <a:ext cx="2510283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571500" y="571498"/>
            <a:ext cx="11601450" cy="514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300" b="1" i="0" u="none" dirty="0">
                <a:solidFill>
                  <a:srgbClr val="0F172A"/>
                </a:solidFill>
                <a:latin typeface="Inter"/>
              </a:rPr>
              <a:t>Local Offline </a:t>
            </a:r>
            <a:r>
              <a:rPr sz="3300" b="1" i="0" u="none" dirty="0">
                <a:solidFill>
                  <a:srgbClr val="2563EB"/>
                </a:solidFill>
                <a:latin typeface="Inter"/>
              </a:rPr>
              <a:t>Execution Strategy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/>
          <p:cNvSpPr txBox="1"/>
          <p:nvPr/>
        </p:nvSpPr>
        <p:spPr>
          <a:xfrm>
            <a:off x="1209675" y="1815554"/>
            <a:ext cx="451693" cy="10953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0"/>
              </a:lnSpc>
            </a:pPr>
            <a:r>
              <a:rPr sz="7500" b="0" i="0" u="none">
                <a:solidFill>
                  <a:srgbClr val="CBD5E1"/>
                </a:solidFill>
                <a:latin typeface="Arial SemiBold"/>
              </a:rPr>
              <a:t>"</a:t>
            </a:r>
          </a:p>
        </p:txBody>
      </p:sp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27000" y="-20320"/>
            <a:ext cx="12446000" cy="685800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1F89E271-73A2-A27E-5A7A-195F2FB1D8C6}"/>
              </a:ext>
            </a:extLst>
          </p:cNvPr>
          <p:cNvSpPr txBox="1"/>
          <p:nvPr/>
        </p:nvSpPr>
        <p:spPr>
          <a:xfrm>
            <a:off x="701370" y="607695"/>
            <a:ext cx="2100255" cy="6001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3300" b="1" dirty="0">
                <a:latin typeface="Inter"/>
              </a:rPr>
              <a:t>Conclusion</a:t>
            </a:r>
            <a:endParaRPr lang="en-IN" sz="3300" b="1" dirty="0">
              <a:solidFill>
                <a:srgbClr val="2563EB"/>
              </a:solidFill>
              <a:latin typeface="Inter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2FFAFDB-284E-FABD-EC24-FB53EBFFF922}"/>
              </a:ext>
            </a:extLst>
          </p:cNvPr>
          <p:cNvSpPr txBox="1"/>
          <p:nvPr/>
        </p:nvSpPr>
        <p:spPr>
          <a:xfrm>
            <a:off x="701370" y="1564640"/>
            <a:ext cx="10982631" cy="21698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IN" sz="1500" dirty="0">
                <a:latin typeface="Inter"/>
              </a:rPr>
              <a:t>We are proposing an </a:t>
            </a:r>
            <a:r>
              <a:rPr lang="en-IN" sz="1500" b="1" dirty="0">
                <a:latin typeface="Inter"/>
              </a:rPr>
              <a:t>Autonomous Software Development Lifecycle (A-SDLC)</a:t>
            </a:r>
            <a:r>
              <a:rPr lang="en-IN" sz="1500" dirty="0">
                <a:latin typeface="Inter"/>
              </a:rPr>
              <a:t> framework that transforms traditional software engineering into an </a:t>
            </a:r>
            <a:r>
              <a:rPr lang="en-IN" sz="1500" b="1" dirty="0">
                <a:latin typeface="Inter"/>
              </a:rPr>
              <a:t>AI-Orchestrated Software Engineering Organization</a:t>
            </a:r>
            <a:r>
              <a:rPr lang="en-IN" sz="1500" dirty="0">
                <a:latin typeface="Inter"/>
              </a:rPr>
              <a:t>.</a:t>
            </a:r>
          </a:p>
          <a:p>
            <a:pPr algn="just"/>
            <a:endParaRPr lang="en-IN" sz="1500" dirty="0">
              <a:latin typeface="Inter"/>
            </a:endParaRPr>
          </a:p>
          <a:p>
            <a:pPr algn="just"/>
            <a:r>
              <a:rPr lang="en-IN" sz="1500" dirty="0">
                <a:latin typeface="Inter"/>
              </a:rPr>
              <a:t>Instead of isolated coding assistants, the system coordinates multiple specialized AI agents across the complete SDLC—from </a:t>
            </a:r>
            <a:r>
              <a:rPr lang="en-IN" sz="1500" b="1" dirty="0">
                <a:latin typeface="Inter"/>
              </a:rPr>
              <a:t>requirements engineering</a:t>
            </a:r>
            <a:r>
              <a:rPr lang="en-IN" sz="1500" dirty="0">
                <a:latin typeface="Inter"/>
              </a:rPr>
              <a:t> to </a:t>
            </a:r>
            <a:r>
              <a:rPr lang="en-IN" sz="1500" b="1" dirty="0">
                <a:latin typeface="Inter"/>
              </a:rPr>
              <a:t>continuous monitoring and learning</a:t>
            </a:r>
            <a:r>
              <a:rPr lang="en-IN" sz="1500" dirty="0">
                <a:latin typeface="Inter"/>
              </a:rPr>
              <a:t>.</a:t>
            </a:r>
          </a:p>
          <a:p>
            <a:pPr algn="just"/>
            <a:endParaRPr lang="en-IN" sz="1500" dirty="0">
              <a:latin typeface="Inter"/>
            </a:endParaRPr>
          </a:p>
          <a:p>
            <a:pPr algn="just"/>
            <a:endParaRPr lang="en-IN" sz="1500" dirty="0">
              <a:latin typeface="Inter"/>
            </a:endParaRPr>
          </a:p>
          <a:p>
            <a:pPr algn="just"/>
            <a:endParaRPr lang="en-IN" sz="1500" dirty="0">
              <a:latin typeface="Inter"/>
            </a:endParaRPr>
          </a:p>
          <a:p>
            <a:pPr algn="just"/>
            <a:endParaRPr lang="en-IN" sz="1500" dirty="0">
              <a:latin typeface="Inter"/>
            </a:endParaRPr>
          </a:p>
        </p:txBody>
      </p:sp>
      <p:sp>
        <p:nvSpPr>
          <p:cNvPr id="106" name="TextBox 105">
            <a:extLst>
              <a:ext uri="{FF2B5EF4-FFF2-40B4-BE49-F238E27FC236}">
                <a16:creationId xmlns:a16="http://schemas.microsoft.com/office/drawing/2014/main" id="{A0B5A693-1607-FD0D-DBB0-E8445D6CC513}"/>
              </a:ext>
            </a:extLst>
          </p:cNvPr>
          <p:cNvSpPr txBox="1"/>
          <p:nvPr/>
        </p:nvSpPr>
        <p:spPr>
          <a:xfrm>
            <a:off x="835865" y="3271837"/>
            <a:ext cx="5550693" cy="3143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50" b="1" i="0" u="none">
                <a:solidFill>
                  <a:srgbClr val="0F172A"/>
                </a:solidFill>
                <a:latin typeface="Poppins"/>
              </a:rPr>
              <a:t>Expected Outcomes</a:t>
            </a:r>
          </a:p>
        </p:txBody>
      </p:sp>
      <p:sp>
        <p:nvSpPr>
          <p:cNvPr id="108" name="TextBox 107">
            <a:extLst>
              <a:ext uri="{FF2B5EF4-FFF2-40B4-BE49-F238E27FC236}">
                <a16:creationId xmlns:a16="http://schemas.microsoft.com/office/drawing/2014/main" id="{04E7DDFE-768C-D219-C521-13495D1F11A9}"/>
              </a:ext>
            </a:extLst>
          </p:cNvPr>
          <p:cNvSpPr txBox="1"/>
          <p:nvPr/>
        </p:nvSpPr>
        <p:spPr>
          <a:xfrm>
            <a:off x="1188290" y="3776662"/>
            <a:ext cx="4933950" cy="20955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75" b="0" i="0" u="none">
                <a:solidFill>
                  <a:srgbClr val="334155"/>
                </a:solidFill>
                <a:latin typeface="Lato Medium"/>
              </a:rPr>
              <a:t>Reduced context size and token consumption</a:t>
            </a:r>
          </a:p>
        </p:txBody>
      </p:sp>
      <p:sp>
        <p:nvSpPr>
          <p:cNvPr id="110" name="TextBox 109">
            <a:extLst>
              <a:ext uri="{FF2B5EF4-FFF2-40B4-BE49-F238E27FC236}">
                <a16:creationId xmlns:a16="http://schemas.microsoft.com/office/drawing/2014/main" id="{D7F4456A-FFC2-F6BB-C366-047FB4A94C0D}"/>
              </a:ext>
            </a:extLst>
          </p:cNvPr>
          <p:cNvSpPr txBox="1"/>
          <p:nvPr/>
        </p:nvSpPr>
        <p:spPr>
          <a:xfrm>
            <a:off x="1188290" y="4138612"/>
            <a:ext cx="4933950" cy="20955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75" b="0" i="0" u="none">
                <a:solidFill>
                  <a:srgbClr val="334155"/>
                </a:solidFill>
                <a:latin typeface="Lato Medium"/>
              </a:rPr>
              <a:t>Faster and more accurate software development</a:t>
            </a:r>
          </a:p>
        </p:txBody>
      </p:sp>
      <p:sp>
        <p:nvSpPr>
          <p:cNvPr id="112" name="TextBox 111">
            <a:extLst>
              <a:ext uri="{FF2B5EF4-FFF2-40B4-BE49-F238E27FC236}">
                <a16:creationId xmlns:a16="http://schemas.microsoft.com/office/drawing/2014/main" id="{51FD3D4B-2D8D-1398-75A5-5798D9FC8104}"/>
              </a:ext>
            </a:extLst>
          </p:cNvPr>
          <p:cNvSpPr txBox="1"/>
          <p:nvPr/>
        </p:nvSpPr>
        <p:spPr>
          <a:xfrm>
            <a:off x="1188290" y="4500562"/>
            <a:ext cx="4933950" cy="20955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75" b="0" i="0" u="none">
                <a:solidFill>
                  <a:srgbClr val="334155"/>
                </a:solidFill>
                <a:latin typeface="Lato Medium"/>
              </a:rPr>
              <a:t>Improved traceability across the SDLC</a:t>
            </a:r>
          </a:p>
        </p:txBody>
      </p:sp>
      <p:sp>
        <p:nvSpPr>
          <p:cNvPr id="114" name="TextBox 113">
            <a:extLst>
              <a:ext uri="{FF2B5EF4-FFF2-40B4-BE49-F238E27FC236}">
                <a16:creationId xmlns:a16="http://schemas.microsoft.com/office/drawing/2014/main" id="{E73D4014-86D0-0F9F-27DA-28FF06974CC3}"/>
              </a:ext>
            </a:extLst>
          </p:cNvPr>
          <p:cNvSpPr txBox="1"/>
          <p:nvPr/>
        </p:nvSpPr>
        <p:spPr>
          <a:xfrm>
            <a:off x="1188290" y="4862512"/>
            <a:ext cx="4933950" cy="20955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75" b="0" i="0" u="none">
                <a:solidFill>
                  <a:srgbClr val="334155"/>
                </a:solidFill>
                <a:latin typeface="Lato Medium"/>
              </a:rPr>
              <a:t>Persistent engineering knowledge</a:t>
            </a:r>
          </a:p>
        </p:txBody>
      </p:sp>
      <p:pic>
        <p:nvPicPr>
          <p:cNvPr id="128" name="Picture 127" descr="image.png">
            <a:extLst>
              <a:ext uri="{FF2B5EF4-FFF2-40B4-BE49-F238E27FC236}">
                <a16:creationId xmlns:a16="http://schemas.microsoft.com/office/drawing/2014/main" id="{B60B6D2B-5DE3-7090-DD1B-1B02FDFE23A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5865" y="3771900"/>
            <a:ext cx="209550" cy="219075"/>
          </a:xfrm>
          <a:prstGeom prst="rect">
            <a:avLst/>
          </a:prstGeom>
        </p:spPr>
      </p:pic>
      <p:pic>
        <p:nvPicPr>
          <p:cNvPr id="130" name="Picture 129" descr="image.png">
            <a:extLst>
              <a:ext uri="{FF2B5EF4-FFF2-40B4-BE49-F238E27FC236}">
                <a16:creationId xmlns:a16="http://schemas.microsoft.com/office/drawing/2014/main" id="{56190B3E-1981-C098-5E90-E0BEE0580BE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5865" y="4133850"/>
            <a:ext cx="209550" cy="219075"/>
          </a:xfrm>
          <a:prstGeom prst="rect">
            <a:avLst/>
          </a:prstGeom>
        </p:spPr>
      </p:pic>
      <p:pic>
        <p:nvPicPr>
          <p:cNvPr id="132" name="Picture 131" descr="image.png">
            <a:extLst>
              <a:ext uri="{FF2B5EF4-FFF2-40B4-BE49-F238E27FC236}">
                <a16:creationId xmlns:a16="http://schemas.microsoft.com/office/drawing/2014/main" id="{A4CC8115-3F4C-33B4-77DA-E981D8E7791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5865" y="4495800"/>
            <a:ext cx="209550" cy="219075"/>
          </a:xfrm>
          <a:prstGeom prst="rect">
            <a:avLst/>
          </a:prstGeom>
        </p:spPr>
      </p:pic>
      <p:pic>
        <p:nvPicPr>
          <p:cNvPr id="134" name="Picture 133" descr="image.png">
            <a:extLst>
              <a:ext uri="{FF2B5EF4-FFF2-40B4-BE49-F238E27FC236}">
                <a16:creationId xmlns:a16="http://schemas.microsoft.com/office/drawing/2014/main" id="{4D4651EE-C88D-E6BA-38F1-E14847DEFDC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5865" y="4857750"/>
            <a:ext cx="209550" cy="219075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74B636A-EEAD-78BB-9121-0D9E5F1374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AF30942B-D517-8939-2F9F-FFB3488A77E3}"/>
              </a:ext>
            </a:extLst>
          </p:cNvPr>
          <p:cNvSpPr txBox="1"/>
          <p:nvPr/>
        </p:nvSpPr>
        <p:spPr>
          <a:xfrm>
            <a:off x="1209675" y="1815554"/>
            <a:ext cx="451693" cy="10953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0"/>
              </a:lnSpc>
            </a:pPr>
            <a:r>
              <a:rPr sz="7500" b="0" i="0" u="none">
                <a:solidFill>
                  <a:srgbClr val="CBD5E1"/>
                </a:solidFill>
                <a:latin typeface="Arial SemiBold"/>
              </a:rPr>
              <a:t>"</a:t>
            </a:r>
          </a:p>
        </p:txBody>
      </p:sp>
      <p:pic>
        <p:nvPicPr>
          <p:cNvPr id="2" name="Picture 1" descr="image.png">
            <a:extLst>
              <a:ext uri="{FF2B5EF4-FFF2-40B4-BE49-F238E27FC236}">
                <a16:creationId xmlns:a16="http://schemas.microsoft.com/office/drawing/2014/main" id="{DAD3B9FC-D4F5-728A-3BC6-14807CFC7D4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14F4D3A6-0717-E18B-22C6-D0EBDD70B4CF}"/>
              </a:ext>
            </a:extLst>
          </p:cNvPr>
          <p:cNvSpPr txBox="1"/>
          <p:nvPr/>
        </p:nvSpPr>
        <p:spPr>
          <a:xfrm>
            <a:off x="4521530" y="2967335"/>
            <a:ext cx="3148939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5400" b="1" dirty="0">
                <a:solidFill>
                  <a:srgbClr val="2563EB"/>
                </a:solidFill>
              </a:rPr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411120295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135</TotalTime>
  <Words>1023</Words>
  <Application>Microsoft Office PowerPoint</Application>
  <PresentationFormat>Widescreen</PresentationFormat>
  <Paragraphs>181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22" baseType="lpstr">
      <vt:lpstr>Arial</vt:lpstr>
      <vt:lpstr>Arial SemiBold</vt:lpstr>
      <vt:lpstr>Calibri</vt:lpstr>
      <vt:lpstr>Inter</vt:lpstr>
      <vt:lpstr>Inter Medium</vt:lpstr>
      <vt:lpstr>Inter SemiBold</vt:lpstr>
      <vt:lpstr>Lato Medium</vt:lpstr>
      <vt:lpstr>monospace</vt:lpstr>
      <vt:lpstr>Poppins</vt:lpstr>
      <vt:lpstr>Poppins SemiBold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Abhishek Raj</cp:lastModifiedBy>
  <cp:revision>2</cp:revision>
  <dcterms:created xsi:type="dcterms:W3CDTF">2013-01-27T09:14:16Z</dcterms:created>
  <dcterms:modified xsi:type="dcterms:W3CDTF">2026-08-06T13:00:30Z</dcterms:modified>
  <cp:category/>
</cp:coreProperties>
</file>